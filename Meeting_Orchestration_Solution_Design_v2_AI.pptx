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frame: this is a future-state solution design for modernising how Relationship Managers book customer meetings. Built entirely on Microsoft technologies. Audience is exec, technology leadership and the architecture review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arc: we start with the business case, show the current pain, then the target state, the UX, and progressively deeper technical layers, closing on security, NFRs and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one-slide story for executives. Problem: fragmented, manual, slow. Vision: one action. Solution: Power Platform orchestration on top of Outlook as source of truth. Value: RM time back, faster booking, better CX.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Metrics are placeholders — the client fills these from baseline data. Frame each as a benefit hypothesis to be validated in discovery. Note future AI readiness as a strategic option, not a day-one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true as-is, decisions and all — ten core steps across four active teams (Team Assistant sits in the lane but only handles lunches, intermediaries and complex meetings). Three decision points and two rework loops are the story: if the customer can't make any of the three dates the RM deletes all provisional holds and restarts at step 4; if the partner isn't available the flow also restarts at step 4. Known-to-partner short-circuits the partner phase — No creates the CRM invite directly, Yes emails the EA to check the partner. Every diamond is a place the process can stall or repeat; every envelope is a manual email. That fragility is what the future state removes.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the pain into three lenses the board cares about: efficiency, experience, governance. The right column reframes it as the cost of the status quo — placeholder figures the client baselines.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left to right, then down. The RM performs one action; Power Automate runs the numbered sequence. Step 2 is the AI assist — Azure OpenAI recommends the best room and time and drafts the invitation in one house style, which the RM approves in the same sitting. The async band is the customer's selection. Outlook stays the source of truth; Dataverse takes one write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swimlane grammar as the as-is slide. Follow the numbered path — ten steps, three of them customer touches. Step 4 is the AI assist: once Graph resolves availability, Azure OpenAI recommends the best slot and drafts the invitation, and the RM reviews before the link goes out. The tech chip on each step names the component. An automated CRM partner-flag check auto-includes the partner as an attendee — the manual EA email and rework loop from the as-is are gone. The orange line of visibility marks everything customers and RMs never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exists to challenge our own recommendation. Same swimlane grammar as the previous slide so you can compare step for step. Everything here is admin configuration only — no code, no flows, no Dataverse. Copilot in Outlook finds the time and drafts the invite; an Outlook scheduling poll or a Bookings page lets the customer choose; the event, the Teams link and the confirmation are all product behaviour. An ops shared mailbox added as an attendee gets the fan-out for free, and Purview logs the mailbox activity. Be honest with the room: this genuinely removes most of the as-is pain — the 12 handoffs collapse to a poll, the emails largely disappear, and it costs nothing because Copilot is already deployed. The four boxes at the bottom are what is left over, and the real question for us is whether those four are worth a bespoke build or whether they can be absorbed by process and discipline.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process-excellence answer to every what-if. The as-is dies on these: a customer who can't make any date, a partner who's unavailable, no room, a late decline. In the future state none of them is a dead end — the flow detects the exception, responds automatically, and there is always a named human fallback so nothing stalls silently. The last row matters for governance: incomplete CRM data never causes a silent skip; the RM is always prompted.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live, clickable prototype of the Power Apps CodeApp — a React/TypeScript code-first app hosted on Power Platform. Click the rail to move between the eight screens, or follow the primary buttons through the RM flow: Dashboard, New Meeting, Suggested Slots, the customer-facing Booking Page, Confirmation, Timeline and History. Encourage the audience to click through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Buy before build — be direct with the board. The scheduling engine itself is out-of-the-box: findMeetingTimes is the product feature. Bookings and scheduling polls were assessed and fail on rooms, multi-attendee sets and the CRM-driven partner condition. The custom surface is deliberately thin. Bookings plus a flow trigger remains a legitimate phase-0 pilot for the ops fan-out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High-level logical architecture, layered. Experience at the top, Entra spanning identity across everything, orchestration in the middle, Graph as the integration boundary, systems of record below with Outlook as source of truth, and cross-cutting observability. Product tiles use Microsoft platform components.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the numbered data flow. Key architectural principles are called out at the bottom: Outlook is authoritative, Graph is the only integration boundary, and Dynamics receives a write only at the end — a thin audit record, never workflow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UML sequence with the AI step in place. After Graph returns ranked slots (msg 4), the app calls Azure OpenAI to recommend the best slot and draft the invitation (msgs 5–6); the RM reviews and sends (msg 7). The AI call sits in the RM's synchronous session, before send — never in the async transactional path below the wait band. Event creation is one Graph call with the room as a resource attendee.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orchestration in detail. One trigger, deterministic actions, a condition for the partner path, and a try/catch scope with retry policy for resilience. Notifications fan out in parallel. Everything here is deterministic — no AI in the critical path. Audit is the final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decisions the architecture board will scrutinise. Left: exactly how Graph is used — standard endpoints, nothing exotic. Right: why Dynamics stays lightweight — the Head of Technology's explicit constraint. Dynamics holds customer data and a thin audit record, never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data model that backs the thin-Dynamics principle from the previous slide. Five custom msol_ tables hold orchestration state and audit only — Outlook stays the calendar system of record, Dynamics owns the customer. Meeting is the aggregate root; ProposedSlot, MeetingAttendee and OrchestrationEvent hang off it. OrchestrationEvent is an immutable audit trail with restrict-delete. Room is bookable-resource reference data. Standard system columns and global choice sets are omitted for space — the full field-level schema is in the accompanying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by design for a private bank. Entra ID is the backbone. Emphasise least-privilege Graph scopes, RBAC by persona, managed identities for flows, secrets in Key Vault, full audit logging, and compliance controls appropriate to private banking.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NFR scorecard. Targets are placeholders for the client's own SLAs. The point is coverage — every quality attribute the review board expects, mapped to a concrete platform capability.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net-new licence line — Power Apps premium for booking personas only. Everything else rides existing Microsoft 365, Dynamics and near-free Azure. Right side is the delivery governance the review board expects: environments, managed solutions, pipelines, DLP.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Standard RAID coverage. Each risk carries a concrete mitigation. Assumptions and dependencies are what discovery must validate before the ARB signs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this as the lowest-effort, highest-consistency AI step — deliberately not autonomous. It solves a real problem the board will recognise: every RM handles bookings in their own style, with no SOP. One Azure OpenAI action in the flow recommends the best room and time, then drafts the invitation in one approved house style. The RM reviews and sends. No new infrastructure, human-in-the-loop, pennies per booking.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in three horizons. Now is the deterministic MVP. Next deepens the experience. Later introduces AI — but only where it adds genuine value, and always outside the deterministic transaction path. This directly answers the brief's AI-strategy challenge.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single idea: the RM does one thing, everything else is orchestrated. Recap the value and state the next step — a discovery phase to baseline the placeholder metrics and confirm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sv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8287999" cy="10286999"/>
          </a:xfrm>
          <a:prstGeom prst="rect">
            <a:avLst/>
          </a:prstGeom>
          <a:gradFill rotWithShape="1">
            <a:gsLst>
              <a:gs pos="0">
                <a:srgbClr val="1C5C43">
                  <a:alpha val="100000"/>
                </a:srgbClr>
              </a:gs>
              <a:gs pos="55000">
                <a:srgbClr val="0D2E22">
                  <a:alpha val="100000"/>
                </a:srgbClr>
              </a:gs>
              <a:gs pos="100000">
                <a:srgbClr val="08221A">
                  <a:alpha val="100000"/>
                </a:srgbClr>
              </a:gs>
            </a:gsLst>
            <a:path path="circle">
              <a:fillToRect l="82000" t="0" r="18000" b="100000"/>
            </a:path>
          </a:gradFill>
          <a:ln/>
        </p:spPr>
      </p:sp>
      <p:sp>
        <p:nvSpPr>
          <p:cNvPr id="3" name="Text 1"/>
          <p:cNvSpPr/>
          <p:nvPr/>
        </p:nvSpPr>
        <p:spPr>
          <a:xfrm>
            <a:off x="952500" y="914330"/>
            <a:ext cx="5210437" cy="340659"/>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C8A45C"/>
                </a:solidFill>
                <a:latin typeface="IBM Plex Mono" pitchFamily="34" charset="0"/>
                <a:ea typeface="IBM Plex Mono" pitchFamily="34" charset="-122"/>
                <a:cs typeface="IBM Plex Mono" pitchFamily="34" charset="-120"/>
              </a:rPr>
              <a:t>FUTURE-STATE SOLUTION DESIGN</a:t>
            </a:r>
            <a:endParaRPr lang="en-US" sz="1800" dirty="0"/>
          </a:p>
        </p:txBody>
      </p:sp>
      <p:sp>
        <p:nvSpPr>
          <p:cNvPr id="4" name="Shape 2"/>
          <p:cNvSpPr/>
          <p:nvPr/>
        </p:nvSpPr>
        <p:spPr>
          <a:xfrm>
            <a:off x="13009678" y="914330"/>
            <a:ext cx="4325821" cy="443683"/>
          </a:xfrm>
          <a:prstGeom prst="roundRect">
            <a:avLst>
              <a:gd name="adj" fmla="val 50000"/>
            </a:avLst>
          </a:prstGeom>
          <a:ln w="11206">
            <a:solidFill>
              <a:srgbClr val="2C5F49"/>
            </a:solidFill>
            <a:prstDash val="solid"/>
          </a:ln>
        </p:spPr>
      </p:sp>
      <p:sp>
        <p:nvSpPr>
          <p:cNvPr id="5" name="Text 3"/>
          <p:cNvSpPr/>
          <p:nvPr/>
        </p:nvSpPr>
        <p:spPr>
          <a:xfrm>
            <a:off x="13192334" y="1001736"/>
            <a:ext cx="4090283" cy="306971"/>
          </a:xfrm>
          <a:prstGeom prst="rect">
            <a:avLst/>
          </a:prstGeom>
          <a:noFill/>
          <a:ln/>
        </p:spPr>
        <p:txBody>
          <a:bodyPr wrap="square" lIns="25400" tIns="25400" rIns="25400" bIns="25400" rtlCol="0" anchor="t">
            <a:normAutofit/>
          </a:bodyPr>
          <a:lstStyle/>
          <a:p>
            <a:pPr algn="l" indent="0" marL="0">
              <a:buNone/>
            </a:pPr>
            <a:r>
              <a:rPr lang="en-US" sz="1650" spc="165" kern="0" dirty="0">
                <a:solidFill>
                  <a:srgbClr val="B9C4A8"/>
                </a:solidFill>
                <a:latin typeface="IBM Plex Mono" pitchFamily="34" charset="0"/>
                <a:ea typeface="IBM Plex Mono" pitchFamily="34" charset="-122"/>
                <a:cs typeface="IBM Plex Mono" pitchFamily="34" charset="-120"/>
              </a:rPr>
              <a:t>CONFIDENTIAL · ILLUSTRATIVE</a:t>
            </a:r>
            <a:endParaRPr lang="en-US" sz="1650" dirty="0"/>
          </a:p>
        </p:txBody>
      </p:sp>
      <p:sp>
        <p:nvSpPr>
          <p:cNvPr id="6" name="Text 4"/>
          <p:cNvSpPr/>
          <p:nvPr/>
        </p:nvSpPr>
        <p:spPr>
          <a:xfrm>
            <a:off x="952500" y="3242352"/>
            <a:ext cx="11772899" cy="1741394"/>
          </a:xfrm>
          <a:prstGeom prst="rect">
            <a:avLst/>
          </a:prstGeom>
          <a:noFill/>
          <a:ln/>
        </p:spPr>
        <p:txBody>
          <a:bodyPr wrap="square" lIns="25400" tIns="25400" rIns="25400" bIns="25400" rtlCol="0" anchor="t">
            <a:normAutofit/>
          </a:bodyPr>
          <a:lstStyle/>
          <a:p>
            <a:pPr algn="l" indent="0" marL="0">
              <a:lnSpc>
                <a:spcPct val="86700"/>
              </a:lnSpc>
              <a:buNone/>
            </a:pPr>
            <a:r>
              <a:rPr lang="en-US" sz="6600" b="1" spc="-132" kern="0" dirty="0">
                <a:solidFill>
                  <a:srgbClr val="EFF2E4"/>
                </a:solidFill>
                <a:latin typeface="Public Sans" pitchFamily="34" charset="0"/>
                <a:ea typeface="Public Sans" pitchFamily="34" charset="-122"/>
                <a:cs typeface="Public Sans" pitchFamily="34" charset="-120"/>
              </a:rPr>
              <a:t>Private Banking Meeting Orchestration</a:t>
            </a:r>
            <a:endParaRPr lang="en-US" sz="6600" dirty="0"/>
          </a:p>
        </p:txBody>
      </p:sp>
      <p:sp>
        <p:nvSpPr>
          <p:cNvPr id="7" name="Text 5"/>
          <p:cNvSpPr/>
          <p:nvPr/>
        </p:nvSpPr>
        <p:spPr>
          <a:xfrm>
            <a:off x="952500" y="5212311"/>
            <a:ext cx="10006964" cy="1382806"/>
          </a:xfrm>
          <a:prstGeom prst="rect">
            <a:avLst/>
          </a:prstGeom>
          <a:noFill/>
          <a:ln/>
        </p:spPr>
        <p:txBody>
          <a:bodyPr wrap="square" lIns="25400" tIns="25400" rIns="25400" bIns="25400" rtlCol="0" anchor="t">
            <a:normAutofit/>
          </a:bodyPr>
          <a:lstStyle/>
          <a:p>
            <a:pPr algn="l" indent="0" marL="0">
              <a:lnSpc>
                <a:spcPct val="119000"/>
              </a:lnSpc>
              <a:buNone/>
            </a:pPr>
            <a:r>
              <a:rPr lang="en-US" sz="2550" dirty="0">
                <a:solidFill>
                  <a:srgbClr val="DFE7CF"/>
                </a:solidFill>
                <a:latin typeface="Public Sans" pitchFamily="34" charset="0"/>
                <a:ea typeface="Public Sans" pitchFamily="34" charset="-122"/>
                <a:cs typeface="Public Sans" pitchFamily="34" charset="-120"/>
              </a:rPr>
              <a:t>A single intelligent booking experience that turns ten manual steps into one action — engineered on Microsoft Power Platform, Graph and Azure.</a:t>
            </a:r>
            <a:endParaRPr lang="en-US" sz="2550" dirty="0"/>
          </a:p>
        </p:txBody>
      </p:sp>
      <p:sp>
        <p:nvSpPr>
          <p:cNvPr id="8" name="Shape 6"/>
          <p:cNvSpPr/>
          <p:nvPr/>
        </p:nvSpPr>
        <p:spPr>
          <a:xfrm>
            <a:off x="952500" y="8441356"/>
            <a:ext cx="16382999" cy="11206"/>
          </a:xfrm>
          <a:prstGeom prst="rect">
            <a:avLst/>
          </a:prstGeom>
          <a:solidFill>
            <a:srgbClr val="2C5F49"/>
          </a:solidFill>
          <a:ln/>
        </p:spPr>
      </p:sp>
      <p:sp>
        <p:nvSpPr>
          <p:cNvPr id="9" name="Text 7"/>
          <p:cNvSpPr/>
          <p:nvPr/>
        </p:nvSpPr>
        <p:spPr>
          <a:xfrm>
            <a:off x="952500" y="8700142"/>
            <a:ext cx="10740787" cy="710453"/>
          </a:xfrm>
          <a:prstGeom prst="rect">
            <a:avLst/>
          </a:prstGeom>
          <a:noFill/>
          <a:ln/>
        </p:spPr>
        <p:txBody>
          <a:bodyPr wrap="square" lIns="25400" tIns="25400" rIns="25400" bIns="25400" rtlCol="0" anchor="t">
            <a:normAutofit/>
          </a:bodyPr>
          <a:lstStyle/>
          <a:p>
            <a:pPr algn="l" indent="0" marL="0">
              <a:lnSpc>
                <a:spcPct val="127500"/>
              </a:lnSpc>
              <a:buNone/>
            </a:pPr>
            <a:r>
              <a:rPr lang="en-US" sz="1800" dirty="0">
                <a:solidFill>
                  <a:srgbClr val="B9C4A8"/>
                </a:solidFill>
                <a:latin typeface="Public Sans" pitchFamily="34" charset="0"/>
                <a:ea typeface="Public Sans" pitchFamily="34" charset="-122"/>
                <a:cs typeface="Public Sans" pitchFamily="34" charset="-120"/>
              </a:rPr>
              <a:t>Prepared for Executive Stakeholders · Technology Leadership · Enterprise Architecture Review Board</a:t>
            </a:r>
            <a:endParaRPr lang="en-US" sz="1800" dirty="0"/>
          </a:p>
        </p:txBody>
      </p:sp>
      <p:sp>
        <p:nvSpPr>
          <p:cNvPr id="10" name="Shape 8"/>
          <p:cNvSpPr/>
          <p:nvPr/>
        </p:nvSpPr>
        <p:spPr>
          <a:xfrm>
            <a:off x="11380448" y="8704694"/>
            <a:ext cx="1810275" cy="667801"/>
          </a:xfrm>
          <a:prstGeom prst="roundRect">
            <a:avLst>
              <a:gd name="adj" fmla="val 11411"/>
            </a:avLst>
          </a:prstGeom>
          <a:ln w="11206">
            <a:solidFill>
              <a:srgbClr val="2C5F49"/>
            </a:solidFill>
            <a:prstDash val="solid"/>
          </a:ln>
        </p:spPr>
      </p:sp>
      <p:sp>
        <p:nvSpPr>
          <p:cNvPr id="11" name="Text 9"/>
          <p:cNvSpPr/>
          <p:nvPr/>
        </p:nvSpPr>
        <p:spPr>
          <a:xfrm>
            <a:off x="11505954" y="8792100"/>
            <a:ext cx="1635463" cy="531089"/>
          </a:xfrm>
          <a:prstGeom prst="rect">
            <a:avLst/>
          </a:prstGeom>
          <a:noFill/>
          <a:ln/>
        </p:spPr>
        <p:txBody>
          <a:bodyPr wrap="square" lIns="25400" tIns="25400" rIns="25400" bIns="25400" rtlCol="0" anchor="t">
            <a:normAutofit/>
          </a:bodyPr>
          <a:lstStyle/>
          <a:p>
            <a:pPr algn="l" indent="0" marL="0">
              <a:buNone/>
            </a:pPr>
            <a:r>
              <a:rPr lang="en-US" sz="1500" dirty="0">
                <a:solidFill>
                  <a:srgbClr val="A9B795"/>
                </a:solidFill>
                <a:latin typeface="IBM Plex Mono" pitchFamily="34" charset="0"/>
                <a:ea typeface="IBM Plex Mono" pitchFamily="34" charset="-122"/>
                <a:cs typeface="IBM Plex Mono" pitchFamily="34" charset="-120"/>
              </a:rPr>
              <a:t>Power Platform</a:t>
            </a:r>
            <a:endParaRPr lang="en-US" sz="1500" dirty="0"/>
          </a:p>
        </p:txBody>
      </p:sp>
      <p:sp>
        <p:nvSpPr>
          <p:cNvPr id="12" name="Shape 10"/>
          <p:cNvSpPr/>
          <p:nvPr/>
        </p:nvSpPr>
        <p:spPr>
          <a:xfrm>
            <a:off x="13285974" y="8704694"/>
            <a:ext cx="1921459" cy="667801"/>
          </a:xfrm>
          <a:prstGeom prst="roundRect">
            <a:avLst>
              <a:gd name="adj" fmla="val 11411"/>
            </a:avLst>
          </a:prstGeom>
          <a:ln w="11206">
            <a:solidFill>
              <a:srgbClr val="2C5F49"/>
            </a:solidFill>
            <a:prstDash val="solid"/>
          </a:ln>
        </p:spPr>
      </p:sp>
      <p:sp>
        <p:nvSpPr>
          <p:cNvPr id="13" name="Text 11"/>
          <p:cNvSpPr/>
          <p:nvPr/>
        </p:nvSpPr>
        <p:spPr>
          <a:xfrm>
            <a:off x="13411480" y="8792100"/>
            <a:ext cx="1746647" cy="531089"/>
          </a:xfrm>
          <a:prstGeom prst="rect">
            <a:avLst/>
          </a:prstGeom>
          <a:noFill/>
          <a:ln/>
        </p:spPr>
        <p:txBody>
          <a:bodyPr wrap="square" lIns="25400" tIns="25400" rIns="25400" bIns="25400" rtlCol="0" anchor="t">
            <a:normAutofit/>
          </a:bodyPr>
          <a:lstStyle/>
          <a:p>
            <a:pPr algn="l" indent="0" marL="0">
              <a:buNone/>
            </a:pPr>
            <a:r>
              <a:rPr lang="en-US" sz="1500" dirty="0">
                <a:solidFill>
                  <a:srgbClr val="A9B795"/>
                </a:solidFill>
                <a:latin typeface="IBM Plex Mono" pitchFamily="34" charset="0"/>
                <a:ea typeface="IBM Plex Mono" pitchFamily="34" charset="-122"/>
                <a:cs typeface="IBM Plex Mono" pitchFamily="34" charset="-120"/>
              </a:rPr>
              <a:t>Microsoft Graph</a:t>
            </a:r>
            <a:endParaRPr lang="en-US" sz="1500" dirty="0"/>
          </a:p>
        </p:txBody>
      </p:sp>
      <p:sp>
        <p:nvSpPr>
          <p:cNvPr id="14" name="Shape 12"/>
          <p:cNvSpPr/>
          <p:nvPr/>
        </p:nvSpPr>
        <p:spPr>
          <a:xfrm>
            <a:off x="15302682" y="8704694"/>
            <a:ext cx="2032817" cy="667801"/>
          </a:xfrm>
          <a:prstGeom prst="roundRect">
            <a:avLst>
              <a:gd name="adj" fmla="val 11411"/>
            </a:avLst>
          </a:prstGeom>
          <a:ln w="11206">
            <a:solidFill>
              <a:srgbClr val="2C5F49"/>
            </a:solidFill>
            <a:prstDash val="solid"/>
          </a:ln>
        </p:spPr>
      </p:sp>
      <p:sp>
        <p:nvSpPr>
          <p:cNvPr id="15" name="Text 13"/>
          <p:cNvSpPr/>
          <p:nvPr/>
        </p:nvSpPr>
        <p:spPr>
          <a:xfrm>
            <a:off x="15428188" y="8792100"/>
            <a:ext cx="1858005" cy="531089"/>
          </a:xfrm>
          <a:prstGeom prst="rect">
            <a:avLst/>
          </a:prstGeom>
          <a:noFill/>
          <a:ln/>
        </p:spPr>
        <p:txBody>
          <a:bodyPr wrap="square" lIns="25400" tIns="25400" rIns="25400" bIns="25400" rtlCol="0" anchor="t">
            <a:normAutofit/>
          </a:bodyPr>
          <a:lstStyle/>
          <a:p>
            <a:pPr algn="l" indent="0" marL="0">
              <a:buNone/>
            </a:pPr>
            <a:r>
              <a:rPr lang="en-US" sz="1500" dirty="0">
                <a:solidFill>
                  <a:srgbClr val="A9B795"/>
                </a:solidFill>
                <a:latin typeface="IBM Plex Mono" pitchFamily="34" charset="0"/>
                <a:ea typeface="IBM Plex Mono" pitchFamily="34" charset="-122"/>
                <a:cs typeface="IBM Plex Mono" pitchFamily="34" charset="-120"/>
              </a:rPr>
              <a:t>Azure · Entra ID</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723830"/>
            <a:ext cx="18021299" cy="340659"/>
          </a:xfrm>
          <a:prstGeom prst="rect">
            <a:avLst/>
          </a:prstGeom>
          <a:noFill/>
          <a:ln/>
        </p:spPr>
        <p:txBody>
          <a:bodyPr wrap="square" lIns="25400" tIns="25400" rIns="25400" bIns="25400" rtlCol="0" anchor="t">
            <a:normAutofit/>
          </a:bodyPr>
          <a:lstStyle/>
          <a:p>
            <a:pPr algn="l" indent="0" marL="0">
              <a:buNone/>
            </a:pPr>
            <a:r>
              <a:rPr lang="en-US" sz="1800" b="1" spc="216" kern="0" dirty="0">
                <a:solidFill>
                  <a:srgbClr val="1C5C43"/>
                </a:solidFill>
                <a:latin typeface="IBM Plex Mono" pitchFamily="34" charset="0"/>
                <a:ea typeface="IBM Plex Mono" pitchFamily="34" charset="-122"/>
                <a:cs typeface="IBM Plex Mono" pitchFamily="34" charset="-120"/>
              </a:rPr>
              <a:t>CONTENTS</a:t>
            </a:r>
            <a:endParaRPr lang="en-US" sz="1800" dirty="0"/>
          </a:p>
        </p:txBody>
      </p:sp>
      <p:sp>
        <p:nvSpPr>
          <p:cNvPr id="3" name="Text 1"/>
          <p:cNvSpPr/>
          <p:nvPr/>
        </p:nvSpPr>
        <p:spPr>
          <a:xfrm>
            <a:off x="952500" y="1159634"/>
            <a:ext cx="18021299" cy="665629"/>
          </a:xfrm>
          <a:prstGeom prst="rect">
            <a:avLst/>
          </a:prstGeom>
          <a:noFill/>
          <a:ln/>
        </p:spPr>
        <p:txBody>
          <a:bodyPr wrap="square" lIns="25400" tIns="25400" rIns="25400" bIns="25400" rtlCol="0" anchor="t">
            <a:normAutofit/>
          </a:bodyPr>
          <a:lstStyle/>
          <a:p>
            <a:pPr algn="l" indent="0" marL="0">
              <a:buNone/>
            </a:pPr>
            <a:r>
              <a:rPr lang="en-US" sz="4200" b="1" spc="-42" kern="0" dirty="0">
                <a:solidFill>
                  <a:srgbClr val="0D2E22"/>
                </a:solidFill>
                <a:latin typeface="Public Sans" pitchFamily="34" charset="0"/>
                <a:ea typeface="Public Sans" pitchFamily="34" charset="-122"/>
                <a:cs typeface="Public Sans" pitchFamily="34" charset="-120"/>
              </a:rPr>
              <a:t>What this design covers</a:t>
            </a:r>
            <a:endParaRPr lang="en-US" sz="4200" dirty="0"/>
          </a:p>
        </p:txBody>
      </p:sp>
      <p:sp>
        <p:nvSpPr>
          <p:cNvPr id="4" name="Shape 2"/>
          <p:cNvSpPr/>
          <p:nvPr/>
        </p:nvSpPr>
        <p:spPr>
          <a:xfrm>
            <a:off x="952500" y="2721629"/>
            <a:ext cx="7848670" cy="11206"/>
          </a:xfrm>
          <a:prstGeom prst="rect">
            <a:avLst/>
          </a:prstGeom>
          <a:solidFill>
            <a:srgbClr val="E6EBF1"/>
          </a:solidFill>
          <a:ln/>
        </p:spPr>
      </p:sp>
      <p:sp>
        <p:nvSpPr>
          <p:cNvPr id="5" name="Text 3"/>
          <p:cNvSpPr/>
          <p:nvPr/>
        </p:nvSpPr>
        <p:spPr>
          <a:xfrm>
            <a:off x="952500" y="2244328"/>
            <a:ext cx="495195" cy="363071"/>
          </a:xfrm>
          <a:prstGeom prst="rect">
            <a:avLst/>
          </a:prstGeom>
          <a:noFill/>
          <a:ln/>
        </p:spPr>
        <p:txBody>
          <a:bodyPr wrap="square" lIns="25400" tIns="25400" rIns="25400" bIns="25400" rtlCol="0" anchor="t">
            <a:normAutofit/>
          </a:bodyPr>
          <a:lstStyle/>
          <a:p>
            <a:pPr algn="l" indent="0" marL="0">
              <a:buNone/>
            </a:pPr>
            <a:r>
              <a:rPr lang="en-US" sz="1950" b="1" dirty="0">
                <a:solidFill>
                  <a:srgbClr val="9AA7B6"/>
                </a:solidFill>
                <a:latin typeface="IBM Plex Mono" pitchFamily="34" charset="0"/>
                <a:ea typeface="IBM Plex Mono" pitchFamily="34" charset="-122"/>
                <a:cs typeface="IBM Plex Mono" pitchFamily="34" charset="-120"/>
              </a:rPr>
              <a:t>01</a:t>
            </a:r>
            <a:endParaRPr lang="en-US" sz="1950" dirty="0"/>
          </a:p>
        </p:txBody>
      </p:sp>
      <p:sp>
        <p:nvSpPr>
          <p:cNvPr id="6" name="Text 4"/>
          <p:cNvSpPr/>
          <p:nvPr/>
        </p:nvSpPr>
        <p:spPr>
          <a:xfrm>
            <a:off x="1580905" y="2244328"/>
            <a:ext cx="5273803" cy="363071"/>
          </a:xfrm>
          <a:prstGeom prst="rect">
            <a:avLst/>
          </a:prstGeom>
          <a:noFill/>
          <a:ln/>
        </p:spPr>
        <p:txBody>
          <a:bodyPr wrap="square" lIns="25400" tIns="25400" rIns="25400" bIns="25400" rtlCol="0" anchor="t">
            <a:normAutofit/>
          </a:bodyPr>
          <a:lstStyle/>
          <a:p>
            <a:pPr algn="l" indent="0" marL="0">
              <a:buNone/>
            </a:pPr>
            <a:r>
              <a:rPr lang="en-US" sz="2175" b="1" dirty="0">
                <a:solidFill>
                  <a:srgbClr val="0D2E22"/>
                </a:solidFill>
                <a:latin typeface="Public Sans" pitchFamily="34" charset="0"/>
                <a:ea typeface="Public Sans" pitchFamily="34" charset="-122"/>
                <a:cs typeface="Public Sans" pitchFamily="34" charset="-120"/>
              </a:rPr>
              <a:t>Executive summary &amp; business value</a:t>
            </a:r>
            <a:endParaRPr lang="en-US" sz="2175" dirty="0"/>
          </a:p>
        </p:txBody>
      </p:sp>
      <p:sp>
        <p:nvSpPr>
          <p:cNvPr id="7" name="Shape 5"/>
          <p:cNvSpPr/>
          <p:nvPr/>
        </p:nvSpPr>
        <p:spPr>
          <a:xfrm>
            <a:off x="9486830" y="2721629"/>
            <a:ext cx="7848670" cy="11206"/>
          </a:xfrm>
          <a:prstGeom prst="rect">
            <a:avLst/>
          </a:prstGeom>
          <a:solidFill>
            <a:srgbClr val="E6EBF1"/>
          </a:solidFill>
          <a:ln/>
        </p:spPr>
      </p:sp>
      <p:sp>
        <p:nvSpPr>
          <p:cNvPr id="8" name="Text 6"/>
          <p:cNvSpPr/>
          <p:nvPr/>
        </p:nvSpPr>
        <p:spPr>
          <a:xfrm>
            <a:off x="9486830" y="2244328"/>
            <a:ext cx="495195" cy="363071"/>
          </a:xfrm>
          <a:prstGeom prst="rect">
            <a:avLst/>
          </a:prstGeom>
          <a:noFill/>
          <a:ln/>
        </p:spPr>
        <p:txBody>
          <a:bodyPr wrap="square" lIns="25400" tIns="25400" rIns="25400" bIns="25400" rtlCol="0" anchor="t">
            <a:normAutofit/>
          </a:bodyPr>
          <a:lstStyle/>
          <a:p>
            <a:pPr algn="l" indent="0" marL="0">
              <a:buNone/>
            </a:pPr>
            <a:r>
              <a:rPr lang="en-US" sz="1950" b="1" dirty="0">
                <a:solidFill>
                  <a:srgbClr val="9AA7B6"/>
                </a:solidFill>
                <a:latin typeface="IBM Plex Mono" pitchFamily="34" charset="0"/>
                <a:ea typeface="IBM Plex Mono" pitchFamily="34" charset="-122"/>
                <a:cs typeface="IBM Plex Mono" pitchFamily="34" charset="-120"/>
              </a:rPr>
              <a:t>02</a:t>
            </a:r>
            <a:endParaRPr lang="en-US" sz="1950" dirty="0"/>
          </a:p>
        </p:txBody>
      </p:sp>
      <p:sp>
        <p:nvSpPr>
          <p:cNvPr id="9" name="Text 7"/>
          <p:cNvSpPr/>
          <p:nvPr/>
        </p:nvSpPr>
        <p:spPr>
          <a:xfrm>
            <a:off x="10115234" y="2244328"/>
            <a:ext cx="5263210" cy="363071"/>
          </a:xfrm>
          <a:prstGeom prst="rect">
            <a:avLst/>
          </a:prstGeom>
          <a:noFill/>
          <a:ln/>
        </p:spPr>
        <p:txBody>
          <a:bodyPr wrap="square" lIns="25400" tIns="25400" rIns="25400" bIns="25400" rtlCol="0" anchor="t">
            <a:normAutofit/>
          </a:bodyPr>
          <a:lstStyle/>
          <a:p>
            <a:pPr algn="l" indent="0" marL="0">
              <a:buNone/>
            </a:pPr>
            <a:r>
              <a:rPr lang="en-US" sz="2175" b="1" dirty="0">
                <a:solidFill>
                  <a:srgbClr val="0D2E22"/>
                </a:solidFill>
                <a:latin typeface="Public Sans" pitchFamily="34" charset="0"/>
                <a:ea typeface="Public Sans" pitchFamily="34" charset="-122"/>
                <a:cs typeface="Public Sans" pitchFamily="34" charset="-120"/>
              </a:rPr>
              <a:t>Current state — as-is process &amp; pain</a:t>
            </a:r>
            <a:endParaRPr lang="en-US" sz="2175" dirty="0"/>
          </a:p>
        </p:txBody>
      </p:sp>
      <p:sp>
        <p:nvSpPr>
          <p:cNvPr id="10" name="Shape 8"/>
          <p:cNvSpPr/>
          <p:nvPr/>
        </p:nvSpPr>
        <p:spPr>
          <a:xfrm>
            <a:off x="952500" y="3400635"/>
            <a:ext cx="7848670" cy="11206"/>
          </a:xfrm>
          <a:prstGeom prst="rect">
            <a:avLst/>
          </a:prstGeom>
          <a:solidFill>
            <a:srgbClr val="E6EBF1"/>
          </a:solidFill>
          <a:ln/>
        </p:spPr>
      </p:sp>
      <p:sp>
        <p:nvSpPr>
          <p:cNvPr id="11" name="Text 9"/>
          <p:cNvSpPr/>
          <p:nvPr/>
        </p:nvSpPr>
        <p:spPr>
          <a:xfrm>
            <a:off x="952500" y="2923334"/>
            <a:ext cx="495195" cy="363071"/>
          </a:xfrm>
          <a:prstGeom prst="rect">
            <a:avLst/>
          </a:prstGeom>
          <a:noFill/>
          <a:ln/>
        </p:spPr>
        <p:txBody>
          <a:bodyPr wrap="square" lIns="25400" tIns="25400" rIns="25400" bIns="25400" rtlCol="0" anchor="t">
            <a:normAutofit/>
          </a:bodyPr>
          <a:lstStyle/>
          <a:p>
            <a:pPr algn="l" indent="0" marL="0">
              <a:buNone/>
            </a:pPr>
            <a:r>
              <a:rPr lang="en-US" sz="1950" b="1" dirty="0">
                <a:solidFill>
                  <a:srgbClr val="9AA7B6"/>
                </a:solidFill>
                <a:latin typeface="IBM Plex Mono" pitchFamily="34" charset="0"/>
                <a:ea typeface="IBM Plex Mono" pitchFamily="34" charset="-122"/>
                <a:cs typeface="IBM Plex Mono" pitchFamily="34" charset="-120"/>
              </a:rPr>
              <a:t>03</a:t>
            </a:r>
            <a:endParaRPr lang="en-US" sz="1950" dirty="0"/>
          </a:p>
        </p:txBody>
      </p:sp>
      <p:sp>
        <p:nvSpPr>
          <p:cNvPr id="12" name="Text 10"/>
          <p:cNvSpPr/>
          <p:nvPr/>
        </p:nvSpPr>
        <p:spPr>
          <a:xfrm>
            <a:off x="1580905" y="2923334"/>
            <a:ext cx="6190006" cy="363071"/>
          </a:xfrm>
          <a:prstGeom prst="rect">
            <a:avLst/>
          </a:prstGeom>
          <a:noFill/>
          <a:ln/>
        </p:spPr>
        <p:txBody>
          <a:bodyPr wrap="square" lIns="25400" tIns="25400" rIns="25400" bIns="25400" rtlCol="0" anchor="t">
            <a:normAutofit/>
          </a:bodyPr>
          <a:lstStyle/>
          <a:p>
            <a:pPr algn="l" indent="0" marL="0">
              <a:buNone/>
            </a:pPr>
            <a:r>
              <a:rPr lang="en-US" sz="2175" b="1" dirty="0">
                <a:solidFill>
                  <a:srgbClr val="0D2E22"/>
                </a:solidFill>
                <a:latin typeface="Public Sans" pitchFamily="34" charset="0"/>
                <a:ea typeface="Public Sans" pitchFamily="34" charset="-122"/>
                <a:cs typeface="Public Sans" pitchFamily="34" charset="-120"/>
              </a:rPr>
              <a:t>Future state — operating model &amp; journeys</a:t>
            </a:r>
            <a:endParaRPr lang="en-US" sz="2175" dirty="0"/>
          </a:p>
        </p:txBody>
      </p:sp>
      <p:sp>
        <p:nvSpPr>
          <p:cNvPr id="13" name="Shape 11"/>
          <p:cNvSpPr/>
          <p:nvPr/>
        </p:nvSpPr>
        <p:spPr>
          <a:xfrm>
            <a:off x="9486830" y="3400635"/>
            <a:ext cx="7848670" cy="11206"/>
          </a:xfrm>
          <a:prstGeom prst="rect">
            <a:avLst/>
          </a:prstGeom>
          <a:solidFill>
            <a:srgbClr val="E6EBF1"/>
          </a:solidFill>
          <a:ln/>
        </p:spPr>
      </p:sp>
      <p:sp>
        <p:nvSpPr>
          <p:cNvPr id="14" name="Text 12"/>
          <p:cNvSpPr/>
          <p:nvPr/>
        </p:nvSpPr>
        <p:spPr>
          <a:xfrm>
            <a:off x="9486830" y="2923334"/>
            <a:ext cx="495195" cy="363071"/>
          </a:xfrm>
          <a:prstGeom prst="rect">
            <a:avLst/>
          </a:prstGeom>
          <a:noFill/>
          <a:ln/>
        </p:spPr>
        <p:txBody>
          <a:bodyPr wrap="square" lIns="25400" tIns="25400" rIns="25400" bIns="25400" rtlCol="0" anchor="t">
            <a:normAutofit/>
          </a:bodyPr>
          <a:lstStyle/>
          <a:p>
            <a:pPr algn="l" indent="0" marL="0">
              <a:buNone/>
            </a:pPr>
            <a:r>
              <a:rPr lang="en-US" sz="1950" b="1" dirty="0">
                <a:solidFill>
                  <a:srgbClr val="9AA7B6"/>
                </a:solidFill>
                <a:latin typeface="IBM Plex Mono" pitchFamily="34" charset="0"/>
                <a:ea typeface="IBM Plex Mono" pitchFamily="34" charset="-122"/>
                <a:cs typeface="IBM Plex Mono" pitchFamily="34" charset="-120"/>
              </a:rPr>
              <a:t>04</a:t>
            </a:r>
            <a:endParaRPr lang="en-US" sz="1950" dirty="0"/>
          </a:p>
        </p:txBody>
      </p:sp>
      <p:sp>
        <p:nvSpPr>
          <p:cNvPr id="15" name="Text 13"/>
          <p:cNvSpPr/>
          <p:nvPr/>
        </p:nvSpPr>
        <p:spPr>
          <a:xfrm>
            <a:off x="10115234" y="2923334"/>
            <a:ext cx="5914009" cy="363071"/>
          </a:xfrm>
          <a:prstGeom prst="rect">
            <a:avLst/>
          </a:prstGeom>
          <a:noFill/>
          <a:ln/>
        </p:spPr>
        <p:txBody>
          <a:bodyPr wrap="square" lIns="25400" tIns="25400" rIns="25400" bIns="25400" rtlCol="0" anchor="t">
            <a:normAutofit/>
          </a:bodyPr>
          <a:lstStyle/>
          <a:p>
            <a:pPr algn="l" indent="0" marL="0">
              <a:buNone/>
            </a:pPr>
            <a:r>
              <a:rPr lang="en-US" sz="2175" b="1" dirty="0">
                <a:solidFill>
                  <a:srgbClr val="0D2E22"/>
                </a:solidFill>
                <a:latin typeface="Public Sans" pitchFamily="34" charset="0"/>
                <a:ea typeface="Public Sans" pitchFamily="34" charset="-122"/>
                <a:cs typeface="Public Sans" pitchFamily="34" charset="-120"/>
              </a:rPr>
              <a:t>User experience — Power Apps CodeApp</a:t>
            </a:r>
            <a:endParaRPr lang="en-US" sz="2175" dirty="0"/>
          </a:p>
        </p:txBody>
      </p:sp>
      <p:sp>
        <p:nvSpPr>
          <p:cNvPr id="16" name="Shape 14"/>
          <p:cNvSpPr/>
          <p:nvPr/>
        </p:nvSpPr>
        <p:spPr>
          <a:xfrm>
            <a:off x="952500" y="4079641"/>
            <a:ext cx="7848670" cy="11206"/>
          </a:xfrm>
          <a:prstGeom prst="rect">
            <a:avLst/>
          </a:prstGeom>
          <a:solidFill>
            <a:srgbClr val="E6EBF1"/>
          </a:solidFill>
          <a:ln/>
        </p:spPr>
      </p:sp>
      <p:sp>
        <p:nvSpPr>
          <p:cNvPr id="17" name="Text 15"/>
          <p:cNvSpPr/>
          <p:nvPr/>
        </p:nvSpPr>
        <p:spPr>
          <a:xfrm>
            <a:off x="952500" y="3602341"/>
            <a:ext cx="495195" cy="363071"/>
          </a:xfrm>
          <a:prstGeom prst="rect">
            <a:avLst/>
          </a:prstGeom>
          <a:noFill/>
          <a:ln/>
        </p:spPr>
        <p:txBody>
          <a:bodyPr wrap="square" lIns="25400" tIns="25400" rIns="25400" bIns="25400" rtlCol="0" anchor="t">
            <a:normAutofit/>
          </a:bodyPr>
          <a:lstStyle/>
          <a:p>
            <a:pPr algn="l" indent="0" marL="0">
              <a:buNone/>
            </a:pPr>
            <a:r>
              <a:rPr lang="en-US" sz="1950" b="1" dirty="0">
                <a:solidFill>
                  <a:srgbClr val="9AA7B6"/>
                </a:solidFill>
                <a:latin typeface="IBM Plex Mono" pitchFamily="34" charset="0"/>
                <a:ea typeface="IBM Plex Mono" pitchFamily="34" charset="-122"/>
                <a:cs typeface="IBM Plex Mono" pitchFamily="34" charset="-120"/>
              </a:rPr>
              <a:t>05</a:t>
            </a:r>
            <a:endParaRPr lang="en-US" sz="1950" dirty="0"/>
          </a:p>
        </p:txBody>
      </p:sp>
      <p:sp>
        <p:nvSpPr>
          <p:cNvPr id="18" name="Text 16"/>
          <p:cNvSpPr/>
          <p:nvPr/>
        </p:nvSpPr>
        <p:spPr>
          <a:xfrm>
            <a:off x="1580905" y="3602341"/>
            <a:ext cx="6180184" cy="363071"/>
          </a:xfrm>
          <a:prstGeom prst="rect">
            <a:avLst/>
          </a:prstGeom>
          <a:noFill/>
          <a:ln/>
        </p:spPr>
        <p:txBody>
          <a:bodyPr wrap="square" lIns="25400" tIns="25400" rIns="25400" bIns="25400" rtlCol="0" anchor="t">
            <a:normAutofit/>
          </a:bodyPr>
          <a:lstStyle/>
          <a:p>
            <a:pPr algn="l" indent="0" marL="0">
              <a:buNone/>
            </a:pPr>
            <a:r>
              <a:rPr lang="en-US" sz="2175" b="1" dirty="0">
                <a:solidFill>
                  <a:srgbClr val="0D2E22"/>
                </a:solidFill>
                <a:latin typeface="Public Sans" pitchFamily="34" charset="0"/>
                <a:ea typeface="Public Sans" pitchFamily="34" charset="-122"/>
                <a:cs typeface="Public Sans" pitchFamily="34" charset="-120"/>
              </a:rPr>
              <a:t>Options, solution &amp; integration architecture</a:t>
            </a:r>
            <a:endParaRPr lang="en-US" sz="2175" dirty="0"/>
          </a:p>
        </p:txBody>
      </p:sp>
      <p:sp>
        <p:nvSpPr>
          <p:cNvPr id="19" name="Shape 17"/>
          <p:cNvSpPr/>
          <p:nvPr/>
        </p:nvSpPr>
        <p:spPr>
          <a:xfrm>
            <a:off x="9486830" y="4079641"/>
            <a:ext cx="7848670" cy="11206"/>
          </a:xfrm>
          <a:prstGeom prst="rect">
            <a:avLst/>
          </a:prstGeom>
          <a:solidFill>
            <a:srgbClr val="E6EBF1"/>
          </a:solidFill>
          <a:ln/>
        </p:spPr>
      </p:sp>
      <p:sp>
        <p:nvSpPr>
          <p:cNvPr id="20" name="Text 18"/>
          <p:cNvSpPr/>
          <p:nvPr/>
        </p:nvSpPr>
        <p:spPr>
          <a:xfrm>
            <a:off x="9486830" y="3602341"/>
            <a:ext cx="495195" cy="363071"/>
          </a:xfrm>
          <a:prstGeom prst="rect">
            <a:avLst/>
          </a:prstGeom>
          <a:noFill/>
          <a:ln/>
        </p:spPr>
        <p:txBody>
          <a:bodyPr wrap="square" lIns="25400" tIns="25400" rIns="25400" bIns="25400" rtlCol="0" anchor="t">
            <a:normAutofit/>
          </a:bodyPr>
          <a:lstStyle/>
          <a:p>
            <a:pPr algn="l" indent="0" marL="0">
              <a:buNone/>
            </a:pPr>
            <a:r>
              <a:rPr lang="en-US" sz="1950" b="1" dirty="0">
                <a:solidFill>
                  <a:srgbClr val="9AA7B6"/>
                </a:solidFill>
                <a:latin typeface="IBM Plex Mono" pitchFamily="34" charset="0"/>
                <a:ea typeface="IBM Plex Mono" pitchFamily="34" charset="-122"/>
                <a:cs typeface="IBM Plex Mono" pitchFamily="34" charset="-120"/>
              </a:rPr>
              <a:t>06</a:t>
            </a:r>
            <a:endParaRPr lang="en-US" sz="1950" dirty="0"/>
          </a:p>
        </p:txBody>
      </p:sp>
      <p:sp>
        <p:nvSpPr>
          <p:cNvPr id="21" name="Text 19"/>
          <p:cNvSpPr/>
          <p:nvPr/>
        </p:nvSpPr>
        <p:spPr>
          <a:xfrm>
            <a:off x="10115234" y="3602341"/>
            <a:ext cx="7004324" cy="363071"/>
          </a:xfrm>
          <a:prstGeom prst="rect">
            <a:avLst/>
          </a:prstGeom>
          <a:noFill/>
          <a:ln/>
        </p:spPr>
        <p:txBody>
          <a:bodyPr wrap="square" lIns="25400" tIns="25400" rIns="25400" bIns="25400" rtlCol="0" anchor="t">
            <a:normAutofit/>
          </a:bodyPr>
          <a:lstStyle/>
          <a:p>
            <a:pPr algn="l" indent="0" marL="0">
              <a:buNone/>
            </a:pPr>
            <a:r>
              <a:rPr lang="en-US" sz="2175" b="1" dirty="0">
                <a:solidFill>
                  <a:srgbClr val="0D2E22"/>
                </a:solidFill>
                <a:latin typeface="Public Sans" pitchFamily="34" charset="0"/>
                <a:ea typeface="Public Sans" pitchFamily="34" charset="-122"/>
                <a:cs typeface="Public Sans" pitchFamily="34" charset="-120"/>
              </a:rPr>
              <a:t>Sequence flows &amp; Power Automate orchestration</a:t>
            </a:r>
            <a:endParaRPr lang="en-US" sz="2175" dirty="0"/>
          </a:p>
        </p:txBody>
      </p:sp>
      <p:sp>
        <p:nvSpPr>
          <p:cNvPr id="22" name="Shape 20"/>
          <p:cNvSpPr/>
          <p:nvPr/>
        </p:nvSpPr>
        <p:spPr>
          <a:xfrm>
            <a:off x="952500" y="4758648"/>
            <a:ext cx="7848670" cy="11206"/>
          </a:xfrm>
          <a:prstGeom prst="rect">
            <a:avLst/>
          </a:prstGeom>
          <a:solidFill>
            <a:srgbClr val="E6EBF1"/>
          </a:solidFill>
          <a:ln/>
        </p:spPr>
      </p:sp>
      <p:sp>
        <p:nvSpPr>
          <p:cNvPr id="23" name="Text 21"/>
          <p:cNvSpPr/>
          <p:nvPr/>
        </p:nvSpPr>
        <p:spPr>
          <a:xfrm>
            <a:off x="952500" y="4281347"/>
            <a:ext cx="495195" cy="363071"/>
          </a:xfrm>
          <a:prstGeom prst="rect">
            <a:avLst/>
          </a:prstGeom>
          <a:noFill/>
          <a:ln/>
        </p:spPr>
        <p:txBody>
          <a:bodyPr wrap="square" lIns="25400" tIns="25400" rIns="25400" bIns="25400" rtlCol="0" anchor="t">
            <a:normAutofit/>
          </a:bodyPr>
          <a:lstStyle/>
          <a:p>
            <a:pPr algn="l" indent="0" marL="0">
              <a:buNone/>
            </a:pPr>
            <a:r>
              <a:rPr lang="en-US" sz="1950" b="1" dirty="0">
                <a:solidFill>
                  <a:srgbClr val="9AA7B6"/>
                </a:solidFill>
                <a:latin typeface="IBM Plex Mono" pitchFamily="34" charset="0"/>
                <a:ea typeface="IBM Plex Mono" pitchFamily="34" charset="-122"/>
                <a:cs typeface="IBM Plex Mono" pitchFamily="34" charset="-120"/>
              </a:rPr>
              <a:t>07</a:t>
            </a:r>
            <a:endParaRPr lang="en-US" sz="1950" dirty="0"/>
          </a:p>
        </p:txBody>
      </p:sp>
      <p:sp>
        <p:nvSpPr>
          <p:cNvPr id="24" name="Text 22"/>
          <p:cNvSpPr/>
          <p:nvPr/>
        </p:nvSpPr>
        <p:spPr>
          <a:xfrm>
            <a:off x="1580905" y="4281347"/>
            <a:ext cx="5939047" cy="363071"/>
          </a:xfrm>
          <a:prstGeom prst="rect">
            <a:avLst/>
          </a:prstGeom>
          <a:noFill/>
          <a:ln/>
        </p:spPr>
        <p:txBody>
          <a:bodyPr wrap="square" lIns="25400" tIns="25400" rIns="25400" bIns="25400" rtlCol="0" anchor="t">
            <a:normAutofit/>
          </a:bodyPr>
          <a:lstStyle/>
          <a:p>
            <a:pPr algn="l" indent="0" marL="0">
              <a:buNone/>
            </a:pPr>
            <a:r>
              <a:rPr lang="en-US" sz="2175" b="1" dirty="0">
                <a:solidFill>
                  <a:srgbClr val="0D2E22"/>
                </a:solidFill>
                <a:latin typeface="Public Sans" pitchFamily="34" charset="0"/>
                <a:ea typeface="Public Sans" pitchFamily="34" charset="-122"/>
                <a:cs typeface="Public Sans" pitchFamily="34" charset="-120"/>
              </a:rPr>
              <a:t>Graph usage &amp; lightweight Dynamics 365</a:t>
            </a:r>
            <a:endParaRPr lang="en-US" sz="2175" dirty="0"/>
          </a:p>
        </p:txBody>
      </p:sp>
      <p:sp>
        <p:nvSpPr>
          <p:cNvPr id="25" name="Shape 23"/>
          <p:cNvSpPr/>
          <p:nvPr/>
        </p:nvSpPr>
        <p:spPr>
          <a:xfrm>
            <a:off x="9486830" y="4758648"/>
            <a:ext cx="7848670" cy="11206"/>
          </a:xfrm>
          <a:prstGeom prst="rect">
            <a:avLst/>
          </a:prstGeom>
          <a:solidFill>
            <a:srgbClr val="E6EBF1"/>
          </a:solidFill>
          <a:ln/>
        </p:spPr>
      </p:sp>
      <p:sp>
        <p:nvSpPr>
          <p:cNvPr id="26" name="Text 24"/>
          <p:cNvSpPr/>
          <p:nvPr/>
        </p:nvSpPr>
        <p:spPr>
          <a:xfrm>
            <a:off x="9486830" y="4281347"/>
            <a:ext cx="495195" cy="363071"/>
          </a:xfrm>
          <a:prstGeom prst="rect">
            <a:avLst/>
          </a:prstGeom>
          <a:noFill/>
          <a:ln/>
        </p:spPr>
        <p:txBody>
          <a:bodyPr wrap="square" lIns="25400" tIns="25400" rIns="25400" bIns="25400" rtlCol="0" anchor="t">
            <a:normAutofit/>
          </a:bodyPr>
          <a:lstStyle/>
          <a:p>
            <a:pPr algn="l" indent="0" marL="0">
              <a:buNone/>
            </a:pPr>
            <a:r>
              <a:rPr lang="en-US" sz="1950" b="1" dirty="0">
                <a:solidFill>
                  <a:srgbClr val="9AA7B6"/>
                </a:solidFill>
                <a:latin typeface="IBM Plex Mono" pitchFamily="34" charset="0"/>
                <a:ea typeface="IBM Plex Mono" pitchFamily="34" charset="-122"/>
                <a:cs typeface="IBM Plex Mono" pitchFamily="34" charset="-120"/>
              </a:rPr>
              <a:t>08</a:t>
            </a:r>
            <a:endParaRPr lang="en-US" sz="1950" dirty="0"/>
          </a:p>
        </p:txBody>
      </p:sp>
      <p:sp>
        <p:nvSpPr>
          <p:cNvPr id="27" name="Text 25"/>
          <p:cNvSpPr/>
          <p:nvPr/>
        </p:nvSpPr>
        <p:spPr>
          <a:xfrm>
            <a:off x="10115234" y="4281347"/>
            <a:ext cx="5066757" cy="363071"/>
          </a:xfrm>
          <a:prstGeom prst="rect">
            <a:avLst/>
          </a:prstGeom>
          <a:noFill/>
          <a:ln/>
        </p:spPr>
        <p:txBody>
          <a:bodyPr wrap="square" lIns="25400" tIns="25400" rIns="25400" bIns="25400" rtlCol="0" anchor="t">
            <a:normAutofit/>
          </a:bodyPr>
          <a:lstStyle/>
          <a:p>
            <a:pPr algn="l" indent="0" marL="0">
              <a:buNone/>
            </a:pPr>
            <a:r>
              <a:rPr lang="en-US" sz="2175" b="1" dirty="0">
                <a:solidFill>
                  <a:srgbClr val="0D2E22"/>
                </a:solidFill>
                <a:latin typeface="Public Sans" pitchFamily="34" charset="0"/>
                <a:ea typeface="Public Sans" pitchFamily="34" charset="-122"/>
                <a:cs typeface="Public Sans" pitchFamily="34" charset="-120"/>
              </a:rPr>
              <a:t>Security, NFRs, delivery &amp; roadmap</a:t>
            </a:r>
            <a:endParaRPr lang="en-US" sz="217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723830"/>
            <a:ext cx="18021299" cy="340659"/>
          </a:xfrm>
          <a:prstGeom prst="rect">
            <a:avLst/>
          </a:prstGeom>
          <a:noFill/>
          <a:ln/>
        </p:spPr>
        <p:txBody>
          <a:bodyPr wrap="square" lIns="25400" tIns="25400" rIns="25400" bIns="25400" rtlCol="0" anchor="t">
            <a:normAutofit/>
          </a:bodyPr>
          <a:lstStyle/>
          <a:p>
            <a:pPr algn="l" indent="0" marL="0">
              <a:buNone/>
            </a:pPr>
            <a:r>
              <a:rPr lang="en-US" sz="1800" b="1" spc="216" kern="0" dirty="0">
                <a:solidFill>
                  <a:srgbClr val="1C5C43"/>
                </a:solidFill>
                <a:latin typeface="IBM Plex Mono" pitchFamily="34" charset="0"/>
                <a:ea typeface="IBM Plex Mono" pitchFamily="34" charset="-122"/>
                <a:cs typeface="IBM Plex Mono" pitchFamily="34" charset="-120"/>
              </a:rPr>
              <a:t>01 · EXECUTIVE SUMMARY</a:t>
            </a:r>
            <a:endParaRPr lang="en-US" sz="1800" dirty="0"/>
          </a:p>
        </p:txBody>
      </p:sp>
      <p:sp>
        <p:nvSpPr>
          <p:cNvPr id="3" name="Text 1"/>
          <p:cNvSpPr/>
          <p:nvPr/>
        </p:nvSpPr>
        <p:spPr>
          <a:xfrm>
            <a:off x="952500" y="1159634"/>
            <a:ext cx="18021299" cy="665629"/>
          </a:xfrm>
          <a:prstGeom prst="rect">
            <a:avLst/>
          </a:prstGeom>
          <a:noFill/>
          <a:ln/>
        </p:spPr>
        <p:txBody>
          <a:bodyPr wrap="square" lIns="25400" tIns="25400" rIns="25400" bIns="25400" rtlCol="0" anchor="t">
            <a:normAutofit/>
          </a:bodyPr>
          <a:lstStyle/>
          <a:p>
            <a:pPr algn="l" indent="0" marL="0">
              <a:buNone/>
            </a:pPr>
            <a:r>
              <a:rPr lang="en-US" sz="4200" b="1" spc="-42" kern="0" dirty="0">
                <a:solidFill>
                  <a:srgbClr val="0D2E22"/>
                </a:solidFill>
                <a:latin typeface="Public Sans" pitchFamily="34" charset="0"/>
                <a:ea typeface="Public Sans" pitchFamily="34" charset="-122"/>
                <a:cs typeface="Public Sans" pitchFamily="34" charset="-120"/>
              </a:rPr>
              <a:t>From ten manual steps to one click</a:t>
            </a:r>
            <a:endParaRPr lang="en-US" sz="4200" dirty="0"/>
          </a:p>
        </p:txBody>
      </p:sp>
      <p:sp>
        <p:nvSpPr>
          <p:cNvPr id="4" name="Shape 2"/>
          <p:cNvSpPr/>
          <p:nvPr/>
        </p:nvSpPr>
        <p:spPr>
          <a:xfrm>
            <a:off x="952500" y="2168163"/>
            <a:ext cx="8086795" cy="3649966"/>
          </a:xfrm>
          <a:prstGeom prst="roundRect">
            <a:avLst>
              <a:gd name="adj" fmla="val 3653"/>
            </a:avLst>
          </a:prstGeom>
          <a:ln w="11206">
            <a:solidFill>
              <a:srgbClr val="DBE2EA"/>
            </a:solidFill>
            <a:prstDash val="solid"/>
          </a:ln>
        </p:spPr>
      </p:sp>
      <p:sp>
        <p:nvSpPr>
          <p:cNvPr id="5" name="Text 3"/>
          <p:cNvSpPr/>
          <p:nvPr/>
        </p:nvSpPr>
        <p:spPr>
          <a:xfrm>
            <a:off x="1287451" y="2484029"/>
            <a:ext cx="8158583" cy="295835"/>
          </a:xfrm>
          <a:prstGeom prst="rect">
            <a:avLst/>
          </a:prstGeom>
          <a:noFill/>
          <a:ln/>
        </p:spPr>
        <p:txBody>
          <a:bodyPr wrap="square" lIns="25400" tIns="25400" rIns="25400" bIns="25400" rtlCol="0" anchor="t">
            <a:normAutofit/>
          </a:bodyPr>
          <a:lstStyle/>
          <a:p>
            <a:pPr algn="l" indent="0" marL="0">
              <a:buNone/>
            </a:pPr>
            <a:r>
              <a:rPr lang="en-US" sz="1575" b="1" spc="126" kern="0" dirty="0">
                <a:solidFill>
                  <a:srgbClr val="B4690E"/>
                </a:solidFill>
                <a:latin typeface="IBM Plex Mono" pitchFamily="34" charset="0"/>
                <a:ea typeface="IBM Plex Mono" pitchFamily="34" charset="-122"/>
                <a:cs typeface="IBM Plex Mono" pitchFamily="34" charset="-120"/>
              </a:rPr>
              <a:t>PROBLEM</a:t>
            </a:r>
            <a:endParaRPr lang="en-US" sz="1575" dirty="0"/>
          </a:p>
        </p:txBody>
      </p:sp>
      <p:sp>
        <p:nvSpPr>
          <p:cNvPr id="6" name="Text 4"/>
          <p:cNvSpPr/>
          <p:nvPr/>
        </p:nvSpPr>
        <p:spPr>
          <a:xfrm>
            <a:off x="1287451" y="2875009"/>
            <a:ext cx="7639400" cy="1472453"/>
          </a:xfrm>
          <a:prstGeom prst="rect">
            <a:avLst/>
          </a:prstGeom>
          <a:noFill/>
          <a:ln/>
        </p:spPr>
        <p:txBody>
          <a:bodyPr wrap="square" lIns="25400" tIns="25400" rIns="25400" bIns="25400" rtlCol="0" anchor="t">
            <a:normAutofit/>
          </a:bodyPr>
          <a:lstStyle/>
          <a:p>
            <a:pPr algn="l" indent="0" marL="0">
              <a:lnSpc>
                <a:spcPct val="119000"/>
              </a:lnSpc>
              <a:buNone/>
            </a:pPr>
            <a:r>
              <a:rPr lang="en-US" sz="2025" dirty="0">
                <a:solidFill>
                  <a:srgbClr val="33404F"/>
                </a:solidFill>
                <a:latin typeface="Public Sans" pitchFamily="34" charset="0"/>
                <a:ea typeface="Public Sans" pitchFamily="34" charset="-122"/>
                <a:cs typeface="Public Sans" pitchFamily="34" charset="-120"/>
              </a:rPr>
              <a:t>Booking one meeting takes ~10 manual steps and 6–8 emails across RMs, Executive Assistants, Reception, Catering and Housekeeping — slow, error-prone and invisible to the business.</a:t>
            </a:r>
            <a:endParaRPr lang="en-US" sz="2025" dirty="0"/>
          </a:p>
        </p:txBody>
      </p:sp>
      <p:sp>
        <p:nvSpPr>
          <p:cNvPr id="7" name="Shape 5"/>
          <p:cNvSpPr/>
          <p:nvPr/>
        </p:nvSpPr>
        <p:spPr>
          <a:xfrm>
            <a:off x="9248705" y="2168163"/>
            <a:ext cx="8086795" cy="3649966"/>
          </a:xfrm>
          <a:prstGeom prst="roundRect">
            <a:avLst>
              <a:gd name="adj" fmla="val 3653"/>
            </a:avLst>
          </a:prstGeom>
          <a:ln w="11206">
            <a:solidFill>
              <a:srgbClr val="DBE2EA"/>
            </a:solidFill>
            <a:prstDash val="solid"/>
          </a:ln>
        </p:spPr>
      </p:sp>
      <p:sp>
        <p:nvSpPr>
          <p:cNvPr id="8" name="Text 6"/>
          <p:cNvSpPr/>
          <p:nvPr/>
        </p:nvSpPr>
        <p:spPr>
          <a:xfrm>
            <a:off x="9583655" y="2484029"/>
            <a:ext cx="8158583" cy="295835"/>
          </a:xfrm>
          <a:prstGeom prst="rect">
            <a:avLst/>
          </a:prstGeom>
          <a:noFill/>
          <a:ln/>
        </p:spPr>
        <p:txBody>
          <a:bodyPr wrap="square" lIns="25400" tIns="25400" rIns="25400" bIns="25400" rtlCol="0" anchor="t">
            <a:normAutofit/>
          </a:bodyPr>
          <a:lstStyle/>
          <a:p>
            <a:pPr algn="l" indent="0" marL="0">
              <a:buNone/>
            </a:pPr>
            <a:r>
              <a:rPr lang="en-US" sz="1575" b="1" spc="126" kern="0" dirty="0">
                <a:solidFill>
                  <a:srgbClr val="1C5C43"/>
                </a:solidFill>
                <a:latin typeface="IBM Plex Mono" pitchFamily="34" charset="0"/>
                <a:ea typeface="IBM Plex Mono" pitchFamily="34" charset="-122"/>
                <a:cs typeface="IBM Plex Mono" pitchFamily="34" charset="-120"/>
              </a:rPr>
              <a:t>VISION</a:t>
            </a:r>
            <a:endParaRPr lang="en-US" sz="1575" dirty="0"/>
          </a:p>
        </p:txBody>
      </p:sp>
      <p:sp>
        <p:nvSpPr>
          <p:cNvPr id="9" name="Text 7"/>
          <p:cNvSpPr/>
          <p:nvPr/>
        </p:nvSpPr>
        <p:spPr>
          <a:xfrm>
            <a:off x="9583655" y="2875009"/>
            <a:ext cx="7639400" cy="1113865"/>
          </a:xfrm>
          <a:prstGeom prst="rect">
            <a:avLst/>
          </a:prstGeom>
          <a:noFill/>
          <a:ln/>
        </p:spPr>
        <p:txBody>
          <a:bodyPr wrap="square" lIns="25400" tIns="25400" rIns="25400" bIns="25400" rtlCol="0" anchor="t">
            <a:normAutofit/>
          </a:bodyPr>
          <a:lstStyle/>
          <a:p>
            <a:pPr algn="l" indent="0" marL="0">
              <a:lnSpc>
                <a:spcPct val="119000"/>
              </a:lnSpc>
              <a:buNone/>
            </a:pPr>
            <a:r>
              <a:rPr lang="en-US" sz="2025" dirty="0">
                <a:solidFill>
                  <a:srgbClr val="33404F"/>
                </a:solidFill>
                <a:latin typeface="Public Sans" pitchFamily="34" charset="0"/>
                <a:ea typeface="Public Sans" pitchFamily="34" charset="-122"/>
                <a:cs typeface="Public Sans" pitchFamily="34" charset="-120"/>
              </a:rPr>
              <a:t>The RM performs a single task — open the app, enter a few details, press </a:t>
            </a:r>
            <a:pPr algn="l" indent="0" marL="0">
              <a:lnSpc>
                <a:spcPct val="119000"/>
              </a:lnSpc>
              <a:buNone/>
            </a:pPr>
            <a:r>
              <a:rPr lang="en-US" sz="2025" b="1" dirty="0">
                <a:solidFill>
                  <a:srgbClr val="33404F"/>
                </a:solidFill>
                <a:latin typeface="Public Sans" pitchFamily="34" charset="0"/>
                <a:ea typeface="Public Sans" pitchFamily="34" charset="-122"/>
                <a:cs typeface="Public Sans" pitchFamily="34" charset="-120"/>
              </a:rPr>
              <a:t>Create Meeting </a:t>
            </a:r>
            <a:pPr algn="l" indent="0" marL="0">
              <a:lnSpc>
                <a:spcPct val="119000"/>
              </a:lnSpc>
              <a:buNone/>
            </a:pPr>
            <a:r>
              <a:rPr lang="en-US" sz="2025" dirty="0">
                <a:solidFill>
                  <a:srgbClr val="33404F"/>
                </a:solidFill>
                <a:latin typeface="Public Sans" pitchFamily="34" charset="0"/>
                <a:ea typeface="Public Sans" pitchFamily="34" charset="-122"/>
                <a:cs typeface="Public Sans" pitchFamily="34" charset="-120"/>
              </a:rPr>
              <a:t>. Availability, options, booking, notifications and audit all happen automatically.</a:t>
            </a:r>
            <a:endParaRPr lang="en-US" sz="2025" dirty="0"/>
          </a:p>
        </p:txBody>
      </p:sp>
      <p:sp>
        <p:nvSpPr>
          <p:cNvPr id="10" name="Shape 8"/>
          <p:cNvSpPr/>
          <p:nvPr/>
        </p:nvSpPr>
        <p:spPr>
          <a:xfrm>
            <a:off x="952500" y="6027538"/>
            <a:ext cx="8086795" cy="3649966"/>
          </a:xfrm>
          <a:prstGeom prst="roundRect">
            <a:avLst>
              <a:gd name="adj" fmla="val 3653"/>
            </a:avLst>
          </a:prstGeom>
          <a:ln w="11206">
            <a:solidFill>
              <a:srgbClr val="DBE2EA"/>
            </a:solidFill>
            <a:prstDash val="solid"/>
          </a:ln>
        </p:spPr>
      </p:sp>
      <p:sp>
        <p:nvSpPr>
          <p:cNvPr id="11" name="Text 9"/>
          <p:cNvSpPr/>
          <p:nvPr/>
        </p:nvSpPr>
        <p:spPr>
          <a:xfrm>
            <a:off x="1287451" y="6343405"/>
            <a:ext cx="8158583" cy="295835"/>
          </a:xfrm>
          <a:prstGeom prst="rect">
            <a:avLst/>
          </a:prstGeom>
          <a:noFill/>
          <a:ln/>
        </p:spPr>
        <p:txBody>
          <a:bodyPr wrap="square" lIns="25400" tIns="25400" rIns="25400" bIns="25400" rtlCol="0" anchor="t">
            <a:normAutofit/>
          </a:bodyPr>
          <a:lstStyle/>
          <a:p>
            <a:pPr algn="l" indent="0" marL="0">
              <a:buNone/>
            </a:pPr>
            <a:r>
              <a:rPr lang="en-US" sz="1575" b="1" spc="126" kern="0" dirty="0">
                <a:solidFill>
                  <a:srgbClr val="742774"/>
                </a:solidFill>
                <a:latin typeface="IBM Plex Mono" pitchFamily="34" charset="0"/>
                <a:ea typeface="IBM Plex Mono" pitchFamily="34" charset="-122"/>
                <a:cs typeface="IBM Plex Mono" pitchFamily="34" charset="-120"/>
              </a:rPr>
              <a:t>SOLUTION</a:t>
            </a:r>
            <a:endParaRPr lang="en-US" sz="1575" dirty="0"/>
          </a:p>
        </p:txBody>
      </p:sp>
      <p:sp>
        <p:nvSpPr>
          <p:cNvPr id="12" name="Text 10"/>
          <p:cNvSpPr/>
          <p:nvPr/>
        </p:nvSpPr>
        <p:spPr>
          <a:xfrm>
            <a:off x="1287451" y="6734385"/>
            <a:ext cx="7639400" cy="1472453"/>
          </a:xfrm>
          <a:prstGeom prst="rect">
            <a:avLst/>
          </a:prstGeom>
          <a:noFill/>
          <a:ln/>
        </p:spPr>
        <p:txBody>
          <a:bodyPr wrap="square" lIns="25400" tIns="25400" rIns="25400" bIns="25400" rtlCol="0" anchor="t">
            <a:normAutofit/>
          </a:bodyPr>
          <a:lstStyle/>
          <a:p>
            <a:pPr algn="l" indent="0" marL="0">
              <a:lnSpc>
                <a:spcPct val="119000"/>
              </a:lnSpc>
              <a:buNone/>
            </a:pPr>
            <a:r>
              <a:rPr lang="en-US" sz="2025" dirty="0">
                <a:solidFill>
                  <a:srgbClr val="33404F"/>
                </a:solidFill>
                <a:latin typeface="Public Sans" pitchFamily="34" charset="0"/>
                <a:ea typeface="Public Sans" pitchFamily="34" charset="-122"/>
                <a:cs typeface="Public Sans" pitchFamily="34" charset="-120"/>
              </a:rPr>
              <a:t>A Power Apps CodeApp front end, Microsoft Graph for availability, and Power Automate for event-driven orchestration — with Outlook as the scheduling source of truth and Dynamics kept deliberately lightweight.</a:t>
            </a:r>
            <a:endParaRPr lang="en-US" sz="2025" dirty="0"/>
          </a:p>
        </p:txBody>
      </p:sp>
      <p:sp>
        <p:nvSpPr>
          <p:cNvPr id="13" name="Shape 11"/>
          <p:cNvSpPr/>
          <p:nvPr/>
        </p:nvSpPr>
        <p:spPr>
          <a:xfrm>
            <a:off x="9248705" y="6027538"/>
            <a:ext cx="8086795" cy="3649966"/>
          </a:xfrm>
          <a:prstGeom prst="roundRect">
            <a:avLst>
              <a:gd name="adj" fmla="val 3653"/>
            </a:avLst>
          </a:prstGeom>
          <a:ln w="11206">
            <a:solidFill>
              <a:srgbClr val="DBE2EA"/>
            </a:solidFill>
            <a:prstDash val="solid"/>
          </a:ln>
        </p:spPr>
      </p:sp>
      <p:sp>
        <p:nvSpPr>
          <p:cNvPr id="14" name="Text 12"/>
          <p:cNvSpPr/>
          <p:nvPr/>
        </p:nvSpPr>
        <p:spPr>
          <a:xfrm>
            <a:off x="9583655" y="6343405"/>
            <a:ext cx="8158583" cy="295835"/>
          </a:xfrm>
          <a:prstGeom prst="rect">
            <a:avLst/>
          </a:prstGeom>
          <a:noFill/>
          <a:ln/>
        </p:spPr>
        <p:txBody>
          <a:bodyPr wrap="square" lIns="25400" tIns="25400" rIns="25400" bIns="25400" rtlCol="0" anchor="t">
            <a:normAutofit/>
          </a:bodyPr>
          <a:lstStyle/>
          <a:p>
            <a:pPr algn="l" indent="0" marL="0">
              <a:buNone/>
            </a:pPr>
            <a:r>
              <a:rPr lang="en-US" sz="1575" b="1" spc="126" kern="0" dirty="0">
                <a:solidFill>
                  <a:srgbClr val="107C41"/>
                </a:solidFill>
                <a:latin typeface="IBM Plex Mono" pitchFamily="34" charset="0"/>
                <a:ea typeface="IBM Plex Mono" pitchFamily="34" charset="-122"/>
                <a:cs typeface="IBM Plex Mono" pitchFamily="34" charset="-120"/>
              </a:rPr>
              <a:t>VALUE</a:t>
            </a:r>
            <a:endParaRPr lang="en-US" sz="1575" dirty="0"/>
          </a:p>
        </p:txBody>
      </p:sp>
      <p:sp>
        <p:nvSpPr>
          <p:cNvPr id="15" name="Text 13"/>
          <p:cNvSpPr/>
          <p:nvPr/>
        </p:nvSpPr>
        <p:spPr>
          <a:xfrm>
            <a:off x="9583655" y="6734385"/>
            <a:ext cx="7639400" cy="1113865"/>
          </a:xfrm>
          <a:prstGeom prst="rect">
            <a:avLst/>
          </a:prstGeom>
          <a:noFill/>
          <a:ln/>
        </p:spPr>
        <p:txBody>
          <a:bodyPr wrap="square" lIns="25400" tIns="25400" rIns="25400" bIns="25400" rtlCol="0" anchor="t">
            <a:normAutofit/>
          </a:bodyPr>
          <a:lstStyle/>
          <a:p>
            <a:pPr algn="l" indent="0" marL="0">
              <a:lnSpc>
                <a:spcPct val="119000"/>
              </a:lnSpc>
              <a:buNone/>
            </a:pPr>
            <a:r>
              <a:rPr lang="en-US" sz="2025" dirty="0">
                <a:solidFill>
                  <a:srgbClr val="33404F"/>
                </a:solidFill>
                <a:latin typeface="Public Sans" pitchFamily="34" charset="0"/>
                <a:ea typeface="Public Sans" pitchFamily="34" charset="-122"/>
                <a:cs typeface="Public Sans" pitchFamily="34" charset="-120"/>
              </a:rPr>
              <a:t>RM administration collapses, booking cycle time drops from days to minutes, manual emails disappear, and every meeting becomes consistent, auditable and AI-ready.</a:t>
            </a:r>
            <a:endParaRPr lang="en-US" sz="202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952500" y="723830"/>
            <a:ext cx="18021299" cy="340659"/>
          </a:xfrm>
          <a:prstGeom prst="rect">
            <a:avLst/>
          </a:prstGeom>
          <a:noFill/>
          <a:ln/>
        </p:spPr>
        <p:txBody>
          <a:bodyPr wrap="square" lIns="25400" tIns="25400" rIns="25400" bIns="25400" rtlCol="0" anchor="t">
            <a:normAutofit/>
          </a:bodyPr>
          <a:lstStyle/>
          <a:p>
            <a:pPr algn="l" indent="0" marL="0">
              <a:buNone/>
            </a:pPr>
            <a:r>
              <a:rPr lang="en-US" sz="1800" b="1" spc="216" kern="0" dirty="0">
                <a:solidFill>
                  <a:srgbClr val="1C5C43"/>
                </a:solidFill>
                <a:latin typeface="IBM Plex Mono" pitchFamily="34" charset="0"/>
                <a:ea typeface="IBM Plex Mono" pitchFamily="34" charset="-122"/>
                <a:cs typeface="IBM Plex Mono" pitchFamily="34" charset="-120"/>
              </a:rPr>
              <a:t>01 · BUSINESS VALUE</a:t>
            </a:r>
            <a:endParaRPr lang="en-US" sz="1800" dirty="0"/>
          </a:p>
        </p:txBody>
      </p:sp>
      <p:sp>
        <p:nvSpPr>
          <p:cNvPr id="3" name="Text 1"/>
          <p:cNvSpPr/>
          <p:nvPr/>
        </p:nvSpPr>
        <p:spPr>
          <a:xfrm>
            <a:off x="952500" y="1159634"/>
            <a:ext cx="18021299" cy="665629"/>
          </a:xfrm>
          <a:prstGeom prst="rect">
            <a:avLst/>
          </a:prstGeom>
          <a:noFill/>
          <a:ln/>
        </p:spPr>
        <p:txBody>
          <a:bodyPr wrap="square" lIns="25400" tIns="25400" rIns="25400" bIns="25400" rtlCol="0" anchor="t">
            <a:normAutofit/>
          </a:bodyPr>
          <a:lstStyle/>
          <a:p>
            <a:pPr algn="l" indent="0" marL="0">
              <a:buNone/>
            </a:pPr>
            <a:r>
              <a:rPr lang="en-US" sz="4200" b="1" spc="-42" kern="0" dirty="0">
                <a:solidFill>
                  <a:srgbClr val="0D2E22"/>
                </a:solidFill>
                <a:latin typeface="Public Sans" pitchFamily="34" charset="0"/>
                <a:ea typeface="Public Sans" pitchFamily="34" charset="-122"/>
                <a:cs typeface="Public Sans" pitchFamily="34" charset="-120"/>
              </a:rPr>
              <a:t>The value case</a:t>
            </a:r>
            <a:endParaRPr lang="en-US" sz="4200" dirty="0"/>
          </a:p>
        </p:txBody>
      </p:sp>
      <p:sp>
        <p:nvSpPr>
          <p:cNvPr id="4" name="Text 2"/>
          <p:cNvSpPr/>
          <p:nvPr/>
        </p:nvSpPr>
        <p:spPr>
          <a:xfrm>
            <a:off x="952500" y="1901323"/>
            <a:ext cx="18021299" cy="318247"/>
          </a:xfrm>
          <a:prstGeom prst="rect">
            <a:avLst/>
          </a:prstGeom>
          <a:noFill/>
          <a:ln/>
        </p:spPr>
        <p:txBody>
          <a:bodyPr wrap="square" lIns="25400" tIns="25400" rIns="25400" bIns="25400" rtlCol="0" anchor="t">
            <a:normAutofit/>
          </a:bodyPr>
          <a:lstStyle/>
          <a:p>
            <a:pPr algn="l" indent="0" marL="0">
              <a:buNone/>
            </a:pPr>
            <a:r>
              <a:rPr lang="en-US" sz="1875" dirty="0">
                <a:solidFill>
                  <a:srgbClr val="5B6675"/>
                </a:solidFill>
                <a:latin typeface="Public Sans" pitchFamily="34" charset="0"/>
                <a:ea typeface="Public Sans" pitchFamily="34" charset="-122"/>
                <a:cs typeface="Public Sans" pitchFamily="34" charset="-120"/>
              </a:rPr>
              <a:t>Directional estimates — to be baselined and confirmed during discovery.</a:t>
            </a:r>
            <a:endParaRPr lang="en-US" sz="1875" dirty="0"/>
          </a:p>
        </p:txBody>
      </p:sp>
      <p:sp>
        <p:nvSpPr>
          <p:cNvPr id="5" name="Shape 3"/>
          <p:cNvSpPr/>
          <p:nvPr/>
        </p:nvSpPr>
        <p:spPr>
          <a:xfrm>
            <a:off x="952500" y="2505215"/>
            <a:ext cx="5333999" cy="3496410"/>
          </a:xfrm>
          <a:prstGeom prst="roundRect">
            <a:avLst>
              <a:gd name="adj" fmla="val 3814"/>
            </a:avLst>
          </a:prstGeom>
          <a:solidFill>
            <a:srgbClr val="FFFFFF"/>
          </a:solidFill>
          <a:ln w="11206">
            <a:solidFill>
              <a:srgbClr val="E0E6ED"/>
            </a:solidFill>
            <a:prstDash val="solid"/>
          </a:ln>
        </p:spPr>
      </p:sp>
      <p:sp>
        <p:nvSpPr>
          <p:cNvPr id="6" name="Text 4"/>
          <p:cNvSpPr/>
          <p:nvPr/>
        </p:nvSpPr>
        <p:spPr>
          <a:xfrm>
            <a:off x="1268366" y="2802171"/>
            <a:ext cx="5172495" cy="755276"/>
          </a:xfrm>
          <a:prstGeom prst="rect">
            <a:avLst/>
          </a:prstGeom>
          <a:noFill/>
          <a:ln/>
        </p:spPr>
        <p:txBody>
          <a:bodyPr wrap="square" lIns="25400" tIns="25400" rIns="25400" bIns="25400" rtlCol="0" anchor="t">
            <a:normAutofit/>
          </a:bodyPr>
          <a:lstStyle/>
          <a:p>
            <a:pPr algn="l" indent="0" marL="0">
              <a:buNone/>
            </a:pPr>
            <a:r>
              <a:rPr lang="en-US" sz="4800" b="1" spc="-96" kern="0" dirty="0">
                <a:solidFill>
                  <a:srgbClr val="1C5C43"/>
                </a:solidFill>
                <a:latin typeface="Public Sans" pitchFamily="34" charset="0"/>
                <a:ea typeface="Public Sans" pitchFamily="34" charset="-122"/>
                <a:cs typeface="Public Sans" pitchFamily="34" charset="-120"/>
              </a:rPr>
              <a:t>30–40%</a:t>
            </a:r>
            <a:pPr algn="l" indent="0" marL="0">
              <a:buNone/>
            </a:pPr>
            <a:r>
              <a:rPr lang="en-US" sz="2250" b="1" spc="-96" kern="0" dirty="0">
                <a:solidFill>
                  <a:srgbClr val="9AA7B6"/>
                </a:solidFill>
                <a:latin typeface="Public Sans" pitchFamily="34" charset="0"/>
                <a:ea typeface="Public Sans" pitchFamily="34" charset="-122"/>
                <a:cs typeface="Public Sans" pitchFamily="34" charset="-120"/>
              </a:rPr>
              <a:t>est.</a:t>
            </a:r>
            <a:endParaRPr lang="en-US" sz="4800" dirty="0"/>
          </a:p>
        </p:txBody>
      </p:sp>
      <p:sp>
        <p:nvSpPr>
          <p:cNvPr id="7" name="Text 5"/>
          <p:cNvSpPr/>
          <p:nvPr/>
        </p:nvSpPr>
        <p:spPr>
          <a:xfrm>
            <a:off x="1268366" y="4851972"/>
            <a:ext cx="5172495" cy="340659"/>
          </a:xfrm>
          <a:prstGeom prst="rect">
            <a:avLst/>
          </a:prstGeom>
          <a:noFill/>
          <a:ln/>
        </p:spPr>
        <p:txBody>
          <a:bodyPr wrap="square" lIns="25400" tIns="25400" rIns="25400" bIns="25400" rtlCol="0" anchor="t">
            <a:normAutofit/>
          </a:bodyPr>
          <a:lstStyle/>
          <a:p>
            <a:pPr algn="l" indent="0" marL="0">
              <a:buNone/>
            </a:pPr>
            <a:r>
              <a:rPr lang="en-US" sz="2025" b="1" dirty="0">
                <a:solidFill>
                  <a:srgbClr val="0D2E22"/>
                </a:solidFill>
                <a:latin typeface="Public Sans" pitchFamily="34" charset="0"/>
                <a:ea typeface="Public Sans" pitchFamily="34" charset="-122"/>
                <a:cs typeface="Public Sans" pitchFamily="34" charset="-120"/>
              </a:rPr>
              <a:t>Reduced RM administration</a:t>
            </a:r>
            <a:endParaRPr lang="en-US" sz="2025" dirty="0"/>
          </a:p>
        </p:txBody>
      </p:sp>
      <p:sp>
        <p:nvSpPr>
          <p:cNvPr id="8" name="Text 6"/>
          <p:cNvSpPr/>
          <p:nvPr/>
        </p:nvSpPr>
        <p:spPr>
          <a:xfrm>
            <a:off x="1268366" y="5211610"/>
            <a:ext cx="4843336" cy="531159"/>
          </a:xfrm>
          <a:prstGeom prst="rect">
            <a:avLst/>
          </a:prstGeom>
          <a:noFill/>
          <a:ln/>
        </p:spPr>
        <p:txBody>
          <a:bodyPr wrap="square" lIns="25400" tIns="25400" rIns="25400" bIns="25400" rtlCol="0" anchor="t">
            <a:normAutofit/>
          </a:bodyPr>
          <a:lstStyle/>
          <a:p>
            <a:pPr algn="l" indent="0" marL="0">
              <a:buNone/>
            </a:pPr>
            <a:r>
              <a:rPr lang="en-US" sz="1650" dirty="0">
                <a:solidFill>
                  <a:srgbClr val="5B6675"/>
                </a:solidFill>
                <a:latin typeface="Public Sans" pitchFamily="34" charset="0"/>
                <a:ea typeface="Public Sans" pitchFamily="34" charset="-122"/>
                <a:cs typeface="Public Sans" pitchFamily="34" charset="-120"/>
              </a:rPr>
              <a:t>Hours per RM per week returned to servicing customers.</a:t>
            </a:r>
            <a:endParaRPr lang="en-US" sz="1650" dirty="0"/>
          </a:p>
        </p:txBody>
      </p:sp>
      <p:sp>
        <p:nvSpPr>
          <p:cNvPr id="9" name="Shape 7"/>
          <p:cNvSpPr/>
          <p:nvPr/>
        </p:nvSpPr>
        <p:spPr>
          <a:xfrm>
            <a:off x="6476999" y="2505215"/>
            <a:ext cx="5333999" cy="3496410"/>
          </a:xfrm>
          <a:prstGeom prst="roundRect">
            <a:avLst>
              <a:gd name="adj" fmla="val 3814"/>
            </a:avLst>
          </a:prstGeom>
          <a:solidFill>
            <a:srgbClr val="FFFFFF"/>
          </a:solidFill>
          <a:ln w="11206">
            <a:solidFill>
              <a:srgbClr val="E0E6ED"/>
            </a:solidFill>
            <a:prstDash val="solid"/>
          </a:ln>
        </p:spPr>
      </p:sp>
      <p:sp>
        <p:nvSpPr>
          <p:cNvPr id="10" name="Text 8"/>
          <p:cNvSpPr/>
          <p:nvPr/>
        </p:nvSpPr>
        <p:spPr>
          <a:xfrm>
            <a:off x="6792866" y="2802171"/>
            <a:ext cx="5172495" cy="755276"/>
          </a:xfrm>
          <a:prstGeom prst="rect">
            <a:avLst/>
          </a:prstGeom>
          <a:noFill/>
          <a:ln/>
        </p:spPr>
        <p:txBody>
          <a:bodyPr wrap="square" lIns="25400" tIns="25400" rIns="25400" bIns="25400" rtlCol="0" anchor="t">
            <a:normAutofit/>
          </a:bodyPr>
          <a:lstStyle/>
          <a:p>
            <a:pPr algn="l" indent="0" marL="0">
              <a:buNone/>
            </a:pPr>
            <a:r>
              <a:rPr lang="en-US" sz="4800" b="1" spc="-96" kern="0" dirty="0">
                <a:solidFill>
                  <a:srgbClr val="1C5C43"/>
                </a:solidFill>
                <a:latin typeface="Public Sans" pitchFamily="34" charset="0"/>
                <a:ea typeface="Public Sans" pitchFamily="34" charset="-122"/>
                <a:cs typeface="Public Sans" pitchFamily="34" charset="-120"/>
              </a:rPr>
              <a:t>2–5 days</a:t>
            </a:r>
            <a:pPr algn="l" indent="0" marL="0">
              <a:buNone/>
            </a:pPr>
            <a:r>
              <a:rPr lang="en-US" sz="2550" b="1" spc="-96" kern="0" dirty="0">
                <a:solidFill>
                  <a:srgbClr val="9AA7B6"/>
                </a:solidFill>
                <a:latin typeface="Public Sans" pitchFamily="34" charset="0"/>
                <a:ea typeface="Public Sans" pitchFamily="34" charset="-122"/>
                <a:cs typeface="Public Sans" pitchFamily="34" charset="-120"/>
              </a:rPr>
              <a:t>→ mins</a:t>
            </a:r>
            <a:endParaRPr lang="en-US" sz="4800" dirty="0"/>
          </a:p>
        </p:txBody>
      </p:sp>
      <p:sp>
        <p:nvSpPr>
          <p:cNvPr id="11" name="Text 9"/>
          <p:cNvSpPr/>
          <p:nvPr/>
        </p:nvSpPr>
        <p:spPr>
          <a:xfrm>
            <a:off x="6792866" y="5098501"/>
            <a:ext cx="5172495" cy="340659"/>
          </a:xfrm>
          <a:prstGeom prst="rect">
            <a:avLst/>
          </a:prstGeom>
          <a:noFill/>
          <a:ln/>
        </p:spPr>
        <p:txBody>
          <a:bodyPr wrap="square" lIns="25400" tIns="25400" rIns="25400" bIns="25400" rtlCol="0" anchor="t">
            <a:normAutofit/>
          </a:bodyPr>
          <a:lstStyle/>
          <a:p>
            <a:pPr algn="l" indent="0" marL="0">
              <a:buNone/>
            </a:pPr>
            <a:r>
              <a:rPr lang="en-US" sz="2025" b="1" dirty="0">
                <a:solidFill>
                  <a:srgbClr val="0D2E22"/>
                </a:solidFill>
                <a:latin typeface="Public Sans" pitchFamily="34" charset="0"/>
                <a:ea typeface="Public Sans" pitchFamily="34" charset="-122"/>
                <a:cs typeface="Public Sans" pitchFamily="34" charset="-120"/>
              </a:rPr>
              <a:t>Faster booking cycle</a:t>
            </a:r>
            <a:endParaRPr lang="en-US" sz="2025" dirty="0"/>
          </a:p>
        </p:txBody>
      </p:sp>
      <p:sp>
        <p:nvSpPr>
          <p:cNvPr id="12" name="Text 10"/>
          <p:cNvSpPr/>
          <p:nvPr/>
        </p:nvSpPr>
        <p:spPr>
          <a:xfrm>
            <a:off x="6792866" y="5458140"/>
            <a:ext cx="5172495" cy="284629"/>
          </a:xfrm>
          <a:prstGeom prst="rect">
            <a:avLst/>
          </a:prstGeom>
          <a:noFill/>
          <a:ln/>
        </p:spPr>
        <p:txBody>
          <a:bodyPr wrap="square" lIns="25400" tIns="25400" rIns="25400" bIns="25400" rtlCol="0" anchor="t">
            <a:normAutofit/>
          </a:bodyPr>
          <a:lstStyle/>
          <a:p>
            <a:pPr algn="l" indent="0" marL="0">
              <a:buNone/>
            </a:pPr>
            <a:r>
              <a:rPr lang="en-US" sz="1650" dirty="0">
                <a:solidFill>
                  <a:srgbClr val="5B6675"/>
                </a:solidFill>
                <a:latin typeface="Public Sans" pitchFamily="34" charset="0"/>
                <a:ea typeface="Public Sans" pitchFamily="34" charset="-122"/>
                <a:cs typeface="Public Sans" pitchFamily="34" charset="-120"/>
              </a:rPr>
              <a:t>Time from request to confirmed meeting.</a:t>
            </a:r>
            <a:endParaRPr lang="en-US" sz="1650" dirty="0"/>
          </a:p>
        </p:txBody>
      </p:sp>
      <p:sp>
        <p:nvSpPr>
          <p:cNvPr id="13" name="Shape 11"/>
          <p:cNvSpPr/>
          <p:nvPr/>
        </p:nvSpPr>
        <p:spPr>
          <a:xfrm>
            <a:off x="12001499" y="2505215"/>
            <a:ext cx="5333999" cy="3496410"/>
          </a:xfrm>
          <a:prstGeom prst="roundRect">
            <a:avLst>
              <a:gd name="adj" fmla="val 3814"/>
            </a:avLst>
          </a:prstGeom>
          <a:solidFill>
            <a:srgbClr val="FFFFFF"/>
          </a:solidFill>
          <a:ln w="11206">
            <a:solidFill>
              <a:srgbClr val="E0E6ED"/>
            </a:solidFill>
            <a:prstDash val="solid"/>
          </a:ln>
        </p:spPr>
      </p:sp>
      <p:sp>
        <p:nvSpPr>
          <p:cNvPr id="14" name="Text 12"/>
          <p:cNvSpPr/>
          <p:nvPr/>
        </p:nvSpPr>
        <p:spPr>
          <a:xfrm>
            <a:off x="12317366" y="2802171"/>
            <a:ext cx="5172495" cy="766482"/>
          </a:xfrm>
          <a:prstGeom prst="rect">
            <a:avLst/>
          </a:prstGeom>
          <a:noFill/>
          <a:ln/>
        </p:spPr>
        <p:txBody>
          <a:bodyPr wrap="square" lIns="25400" tIns="25400" rIns="25400" bIns="25400" rtlCol="0" anchor="t">
            <a:normAutofit/>
          </a:bodyPr>
          <a:lstStyle/>
          <a:p>
            <a:pPr algn="l" indent="0" marL="0">
              <a:buNone/>
            </a:pPr>
            <a:r>
              <a:rPr lang="en-US" sz="4800" b="1" spc="-96" kern="0" dirty="0">
                <a:solidFill>
                  <a:srgbClr val="1C5C43"/>
                </a:solidFill>
                <a:latin typeface="Public Sans" pitchFamily="34" charset="0"/>
                <a:ea typeface="Public Sans" pitchFamily="34" charset="-122"/>
                <a:cs typeface="Public Sans" pitchFamily="34" charset="-120"/>
              </a:rPr>
              <a:t>6–8 → 0</a:t>
            </a:r>
            <a:endParaRPr lang="en-US" sz="4800" dirty="0"/>
          </a:p>
        </p:txBody>
      </p:sp>
      <p:sp>
        <p:nvSpPr>
          <p:cNvPr id="15" name="Text 13"/>
          <p:cNvSpPr/>
          <p:nvPr/>
        </p:nvSpPr>
        <p:spPr>
          <a:xfrm>
            <a:off x="12317366" y="4851972"/>
            <a:ext cx="5172495" cy="340659"/>
          </a:xfrm>
          <a:prstGeom prst="rect">
            <a:avLst/>
          </a:prstGeom>
          <a:noFill/>
          <a:ln/>
        </p:spPr>
        <p:txBody>
          <a:bodyPr wrap="square" lIns="25400" tIns="25400" rIns="25400" bIns="25400" rtlCol="0" anchor="t">
            <a:normAutofit/>
          </a:bodyPr>
          <a:lstStyle/>
          <a:p>
            <a:pPr algn="l" indent="0" marL="0">
              <a:buNone/>
            </a:pPr>
            <a:r>
              <a:rPr lang="en-US" sz="2025" b="1" dirty="0">
                <a:solidFill>
                  <a:srgbClr val="0D2E22"/>
                </a:solidFill>
                <a:latin typeface="Public Sans" pitchFamily="34" charset="0"/>
                <a:ea typeface="Public Sans" pitchFamily="34" charset="-122"/>
                <a:cs typeface="Public Sans" pitchFamily="34" charset="-120"/>
              </a:rPr>
              <a:t>Manual emails eliminated</a:t>
            </a:r>
            <a:endParaRPr lang="en-US" sz="2025" dirty="0"/>
          </a:p>
        </p:txBody>
      </p:sp>
      <p:sp>
        <p:nvSpPr>
          <p:cNvPr id="16" name="Text 14"/>
          <p:cNvSpPr/>
          <p:nvPr/>
        </p:nvSpPr>
        <p:spPr>
          <a:xfrm>
            <a:off x="12317366" y="5211610"/>
            <a:ext cx="4843336" cy="531159"/>
          </a:xfrm>
          <a:prstGeom prst="rect">
            <a:avLst/>
          </a:prstGeom>
          <a:noFill/>
          <a:ln/>
        </p:spPr>
        <p:txBody>
          <a:bodyPr wrap="square" lIns="25400" tIns="25400" rIns="25400" bIns="25400" rtlCol="0" anchor="t">
            <a:normAutofit/>
          </a:bodyPr>
          <a:lstStyle/>
          <a:p>
            <a:pPr algn="l" indent="0" marL="0">
              <a:buNone/>
            </a:pPr>
            <a:r>
              <a:rPr lang="en-US" sz="1650" dirty="0">
                <a:solidFill>
                  <a:srgbClr val="5B6675"/>
                </a:solidFill>
                <a:latin typeface="Public Sans" pitchFamily="34" charset="0"/>
                <a:ea typeface="Public Sans" pitchFamily="34" charset="-122"/>
                <a:cs typeface="Public Sans" pitchFamily="34" charset="-120"/>
              </a:rPr>
              <a:t>Per meeting, replaced by automated notifications.</a:t>
            </a:r>
            <a:endParaRPr lang="en-US" sz="1650" dirty="0"/>
          </a:p>
        </p:txBody>
      </p:sp>
      <p:sp>
        <p:nvSpPr>
          <p:cNvPr id="17" name="Shape 15"/>
          <p:cNvSpPr/>
          <p:nvPr/>
        </p:nvSpPr>
        <p:spPr>
          <a:xfrm>
            <a:off x="952500" y="6192125"/>
            <a:ext cx="5333999" cy="3485204"/>
          </a:xfrm>
          <a:prstGeom prst="roundRect">
            <a:avLst>
              <a:gd name="adj" fmla="val 3826"/>
            </a:avLst>
          </a:prstGeom>
          <a:solidFill>
            <a:srgbClr val="FFFFFF"/>
          </a:solidFill>
          <a:ln w="11206">
            <a:solidFill>
              <a:srgbClr val="E0E6ED"/>
            </a:solidFill>
            <a:prstDash val="solid"/>
          </a:ln>
        </p:spPr>
      </p:sp>
      <p:sp>
        <p:nvSpPr>
          <p:cNvPr id="18" name="Text 16"/>
          <p:cNvSpPr/>
          <p:nvPr/>
        </p:nvSpPr>
        <p:spPr>
          <a:xfrm>
            <a:off x="1268366" y="6489081"/>
            <a:ext cx="5172495" cy="755276"/>
          </a:xfrm>
          <a:prstGeom prst="rect">
            <a:avLst/>
          </a:prstGeom>
          <a:noFill/>
          <a:ln/>
        </p:spPr>
        <p:txBody>
          <a:bodyPr wrap="square" lIns="25400" tIns="25400" rIns="25400" bIns="25400" rtlCol="0" anchor="t">
            <a:normAutofit/>
          </a:bodyPr>
          <a:lstStyle/>
          <a:p>
            <a:pPr algn="l" indent="0" marL="0">
              <a:buNone/>
            </a:pPr>
            <a:r>
              <a:rPr lang="en-US" sz="4800" b="1" spc="-96" kern="0" dirty="0">
                <a:solidFill>
                  <a:srgbClr val="1C5C43"/>
                </a:solidFill>
                <a:latin typeface="Public Sans" pitchFamily="34" charset="0"/>
                <a:ea typeface="Public Sans" pitchFamily="34" charset="-122"/>
                <a:cs typeface="Public Sans" pitchFamily="34" charset="-120"/>
              </a:rPr>
              <a:t>~90%</a:t>
            </a:r>
            <a:pPr algn="l" indent="0" marL="0">
              <a:buNone/>
            </a:pPr>
            <a:r>
              <a:rPr lang="en-US" sz="2250" b="1" spc="-96" kern="0" dirty="0">
                <a:solidFill>
                  <a:srgbClr val="9AA7B6"/>
                </a:solidFill>
                <a:latin typeface="Public Sans" pitchFamily="34" charset="0"/>
                <a:ea typeface="Public Sans" pitchFamily="34" charset="-122"/>
                <a:cs typeface="Public Sans" pitchFamily="34" charset="-120"/>
              </a:rPr>
              <a:t>est.</a:t>
            </a:r>
            <a:endParaRPr lang="en-US" sz="4800" dirty="0"/>
          </a:p>
        </p:txBody>
      </p:sp>
      <p:sp>
        <p:nvSpPr>
          <p:cNvPr id="19" name="Text 17"/>
          <p:cNvSpPr/>
          <p:nvPr/>
        </p:nvSpPr>
        <p:spPr>
          <a:xfrm>
            <a:off x="1268366" y="8774205"/>
            <a:ext cx="5172495" cy="340659"/>
          </a:xfrm>
          <a:prstGeom prst="rect">
            <a:avLst/>
          </a:prstGeom>
          <a:noFill/>
          <a:ln/>
        </p:spPr>
        <p:txBody>
          <a:bodyPr wrap="square" lIns="25400" tIns="25400" rIns="25400" bIns="25400" rtlCol="0" anchor="t">
            <a:normAutofit/>
          </a:bodyPr>
          <a:lstStyle/>
          <a:p>
            <a:pPr algn="l" indent="0" marL="0">
              <a:buNone/>
            </a:pPr>
            <a:r>
              <a:rPr lang="en-US" sz="2025" b="1" dirty="0">
                <a:solidFill>
                  <a:srgbClr val="0D2E22"/>
                </a:solidFill>
                <a:latin typeface="Public Sans" pitchFamily="34" charset="0"/>
                <a:ea typeface="Public Sans" pitchFamily="34" charset="-122"/>
                <a:cs typeface="Public Sans" pitchFamily="34" charset="-120"/>
              </a:rPr>
              <a:t>Reduced human error</a:t>
            </a:r>
            <a:endParaRPr lang="en-US" sz="2025" dirty="0"/>
          </a:p>
        </p:txBody>
      </p:sp>
      <p:sp>
        <p:nvSpPr>
          <p:cNvPr id="20" name="Text 18"/>
          <p:cNvSpPr/>
          <p:nvPr/>
        </p:nvSpPr>
        <p:spPr>
          <a:xfrm>
            <a:off x="1268366" y="9133844"/>
            <a:ext cx="5172495" cy="284629"/>
          </a:xfrm>
          <a:prstGeom prst="rect">
            <a:avLst/>
          </a:prstGeom>
          <a:noFill/>
          <a:ln/>
        </p:spPr>
        <p:txBody>
          <a:bodyPr wrap="square" lIns="25400" tIns="25400" rIns="25400" bIns="25400" rtlCol="0" anchor="t">
            <a:normAutofit/>
          </a:bodyPr>
          <a:lstStyle/>
          <a:p>
            <a:pPr algn="l" indent="0" marL="0">
              <a:buNone/>
            </a:pPr>
            <a:r>
              <a:rPr lang="en-US" sz="1650" dirty="0">
                <a:solidFill>
                  <a:srgbClr val="5B6675"/>
                </a:solidFill>
                <a:latin typeface="Public Sans" pitchFamily="34" charset="0"/>
                <a:ea typeface="Public Sans" pitchFamily="34" charset="-122"/>
                <a:cs typeface="Public Sans" pitchFamily="34" charset="-120"/>
              </a:rPr>
              <a:t>Double-bookings, missed handoffs and rework.</a:t>
            </a:r>
            <a:endParaRPr lang="en-US" sz="1650" dirty="0"/>
          </a:p>
        </p:txBody>
      </p:sp>
      <p:sp>
        <p:nvSpPr>
          <p:cNvPr id="21" name="Shape 19"/>
          <p:cNvSpPr/>
          <p:nvPr/>
        </p:nvSpPr>
        <p:spPr>
          <a:xfrm>
            <a:off x="6476999" y="6192125"/>
            <a:ext cx="5333999" cy="3485204"/>
          </a:xfrm>
          <a:prstGeom prst="roundRect">
            <a:avLst>
              <a:gd name="adj" fmla="val 3826"/>
            </a:avLst>
          </a:prstGeom>
          <a:solidFill>
            <a:srgbClr val="FFFFFF"/>
          </a:solidFill>
          <a:ln w="11206">
            <a:solidFill>
              <a:srgbClr val="E0E6ED"/>
            </a:solidFill>
            <a:prstDash val="solid"/>
          </a:ln>
        </p:spPr>
      </p:sp>
      <p:sp>
        <p:nvSpPr>
          <p:cNvPr id="22" name="Text 20"/>
          <p:cNvSpPr/>
          <p:nvPr/>
        </p:nvSpPr>
        <p:spPr>
          <a:xfrm>
            <a:off x="6792866" y="6489081"/>
            <a:ext cx="5172495" cy="755276"/>
          </a:xfrm>
          <a:prstGeom prst="rect">
            <a:avLst/>
          </a:prstGeom>
          <a:noFill/>
          <a:ln/>
        </p:spPr>
        <p:txBody>
          <a:bodyPr wrap="square" lIns="25400" tIns="25400" rIns="25400" bIns="25400" rtlCol="0" anchor="t">
            <a:normAutofit/>
          </a:bodyPr>
          <a:lstStyle/>
          <a:p>
            <a:pPr algn="l" indent="0" marL="0">
              <a:buNone/>
            </a:pPr>
            <a:r>
              <a:rPr lang="en-US" sz="4800" b="1" spc="-96" kern="0" dirty="0">
                <a:solidFill>
                  <a:srgbClr val="1C5C43"/>
                </a:solidFill>
                <a:latin typeface="Public Sans" pitchFamily="34" charset="0"/>
                <a:ea typeface="Public Sans" pitchFamily="34" charset="-122"/>
                <a:cs typeface="Public Sans" pitchFamily="34" charset="-120"/>
              </a:rPr>
              <a:t>+10 pts</a:t>
            </a:r>
            <a:pPr algn="l" indent="0" marL="0">
              <a:buNone/>
            </a:pPr>
            <a:r>
              <a:rPr lang="en-US" sz="2250" b="1" spc="-96" kern="0" dirty="0">
                <a:solidFill>
                  <a:srgbClr val="9AA7B6"/>
                </a:solidFill>
                <a:latin typeface="Public Sans" pitchFamily="34" charset="0"/>
                <a:ea typeface="Public Sans" pitchFamily="34" charset="-122"/>
                <a:cs typeface="Public Sans" pitchFamily="34" charset="-120"/>
              </a:rPr>
              <a:t>est.</a:t>
            </a:r>
            <a:endParaRPr lang="en-US" sz="4800" dirty="0"/>
          </a:p>
        </p:txBody>
      </p:sp>
      <p:sp>
        <p:nvSpPr>
          <p:cNvPr id="23" name="Text 21"/>
          <p:cNvSpPr/>
          <p:nvPr/>
        </p:nvSpPr>
        <p:spPr>
          <a:xfrm>
            <a:off x="6792866" y="8774205"/>
            <a:ext cx="5172495" cy="340659"/>
          </a:xfrm>
          <a:prstGeom prst="rect">
            <a:avLst/>
          </a:prstGeom>
          <a:noFill/>
          <a:ln/>
        </p:spPr>
        <p:txBody>
          <a:bodyPr wrap="square" lIns="25400" tIns="25400" rIns="25400" bIns="25400" rtlCol="0" anchor="t">
            <a:normAutofit/>
          </a:bodyPr>
          <a:lstStyle/>
          <a:p>
            <a:pPr algn="l" indent="0" marL="0">
              <a:buNone/>
            </a:pPr>
            <a:r>
              <a:rPr lang="en-US" sz="2025" b="1" dirty="0">
                <a:solidFill>
                  <a:srgbClr val="0D2E22"/>
                </a:solidFill>
                <a:latin typeface="Public Sans" pitchFamily="34" charset="0"/>
                <a:ea typeface="Public Sans" pitchFamily="34" charset="-122"/>
                <a:cs typeface="Public Sans" pitchFamily="34" charset="-120"/>
              </a:rPr>
              <a:t>Improved customer experience</a:t>
            </a:r>
            <a:endParaRPr lang="en-US" sz="2025" dirty="0"/>
          </a:p>
        </p:txBody>
      </p:sp>
      <p:sp>
        <p:nvSpPr>
          <p:cNvPr id="24" name="Text 22"/>
          <p:cNvSpPr/>
          <p:nvPr/>
        </p:nvSpPr>
        <p:spPr>
          <a:xfrm>
            <a:off x="6792866" y="9133844"/>
            <a:ext cx="5172495" cy="284629"/>
          </a:xfrm>
          <a:prstGeom prst="rect">
            <a:avLst/>
          </a:prstGeom>
          <a:noFill/>
          <a:ln/>
        </p:spPr>
        <p:txBody>
          <a:bodyPr wrap="square" lIns="25400" tIns="25400" rIns="25400" bIns="25400" rtlCol="0" anchor="t">
            <a:normAutofit/>
          </a:bodyPr>
          <a:lstStyle/>
          <a:p>
            <a:pPr algn="l" indent="0" marL="0">
              <a:buNone/>
            </a:pPr>
            <a:r>
              <a:rPr lang="en-US" sz="1650" dirty="0">
                <a:solidFill>
                  <a:srgbClr val="5B6675"/>
                </a:solidFill>
                <a:latin typeface="Public Sans" pitchFamily="34" charset="0"/>
                <a:ea typeface="Public Sans" pitchFamily="34" charset="-122"/>
                <a:cs typeface="Public Sans" pitchFamily="34" charset="-120"/>
              </a:rPr>
              <a:t>Branded self-service booking; CSAT uplift.</a:t>
            </a:r>
            <a:endParaRPr lang="en-US" sz="1650" dirty="0"/>
          </a:p>
        </p:txBody>
      </p:sp>
      <p:sp>
        <p:nvSpPr>
          <p:cNvPr id="25" name="Shape 23"/>
          <p:cNvSpPr/>
          <p:nvPr/>
        </p:nvSpPr>
        <p:spPr>
          <a:xfrm>
            <a:off x="12001499" y="6192125"/>
            <a:ext cx="5333999" cy="3485204"/>
          </a:xfrm>
          <a:prstGeom prst="roundRect">
            <a:avLst>
              <a:gd name="adj" fmla="val 3826"/>
            </a:avLst>
          </a:prstGeom>
          <a:solidFill>
            <a:srgbClr val="FFFFFF"/>
          </a:solidFill>
          <a:ln w="11206">
            <a:solidFill>
              <a:srgbClr val="E0E6ED"/>
            </a:solidFill>
            <a:prstDash val="solid"/>
          </a:ln>
        </p:spPr>
      </p:sp>
      <p:sp>
        <p:nvSpPr>
          <p:cNvPr id="26" name="Text 24"/>
          <p:cNvSpPr/>
          <p:nvPr/>
        </p:nvSpPr>
        <p:spPr>
          <a:xfrm>
            <a:off x="12317366" y="6489081"/>
            <a:ext cx="5172495" cy="755276"/>
          </a:xfrm>
          <a:prstGeom prst="rect">
            <a:avLst/>
          </a:prstGeom>
          <a:noFill/>
          <a:ln/>
        </p:spPr>
        <p:txBody>
          <a:bodyPr wrap="square" lIns="25400" tIns="25400" rIns="25400" bIns="25400" rtlCol="0" anchor="t">
            <a:normAutofit/>
          </a:bodyPr>
          <a:lstStyle/>
          <a:p>
            <a:pPr algn="l" indent="0" marL="0">
              <a:buNone/>
            </a:pPr>
            <a:r>
              <a:rPr lang="en-US" sz="4800" b="1" spc="-96" kern="0" dirty="0">
                <a:solidFill>
                  <a:srgbClr val="1C5C43"/>
                </a:solidFill>
                <a:latin typeface="Public Sans" pitchFamily="34" charset="0"/>
                <a:ea typeface="Public Sans" pitchFamily="34" charset="-122"/>
                <a:cs typeface="Public Sans" pitchFamily="34" charset="-120"/>
              </a:rPr>
              <a:t>100%</a:t>
            </a:r>
            <a:endParaRPr lang="en-US" sz="4800" dirty="0"/>
          </a:p>
        </p:txBody>
      </p:sp>
      <p:sp>
        <p:nvSpPr>
          <p:cNvPr id="27" name="Text 25"/>
          <p:cNvSpPr/>
          <p:nvPr/>
        </p:nvSpPr>
        <p:spPr>
          <a:xfrm>
            <a:off x="12317366" y="8527676"/>
            <a:ext cx="5172495" cy="340659"/>
          </a:xfrm>
          <a:prstGeom prst="rect">
            <a:avLst/>
          </a:prstGeom>
          <a:noFill/>
          <a:ln/>
        </p:spPr>
        <p:txBody>
          <a:bodyPr wrap="square" lIns="25400" tIns="25400" rIns="25400" bIns="25400" rtlCol="0" anchor="t">
            <a:normAutofit/>
          </a:bodyPr>
          <a:lstStyle/>
          <a:p>
            <a:pPr algn="l" indent="0" marL="0">
              <a:buNone/>
            </a:pPr>
            <a:r>
              <a:rPr lang="en-US" sz="2025" b="1" dirty="0">
                <a:solidFill>
                  <a:srgbClr val="0D2E22"/>
                </a:solidFill>
                <a:latin typeface="Public Sans" pitchFamily="34" charset="0"/>
                <a:ea typeface="Public Sans" pitchFamily="34" charset="-122"/>
                <a:cs typeface="Public Sans" pitchFamily="34" charset="-120"/>
              </a:rPr>
              <a:t>Visibility &amp; auditability</a:t>
            </a:r>
            <a:endParaRPr lang="en-US" sz="2025" dirty="0"/>
          </a:p>
        </p:txBody>
      </p:sp>
      <p:sp>
        <p:nvSpPr>
          <p:cNvPr id="28" name="Text 26"/>
          <p:cNvSpPr/>
          <p:nvPr/>
        </p:nvSpPr>
        <p:spPr>
          <a:xfrm>
            <a:off x="12317366" y="8887315"/>
            <a:ext cx="4843336" cy="531159"/>
          </a:xfrm>
          <a:prstGeom prst="rect">
            <a:avLst/>
          </a:prstGeom>
          <a:noFill/>
          <a:ln/>
        </p:spPr>
        <p:txBody>
          <a:bodyPr wrap="square" lIns="25400" tIns="25400" rIns="25400" bIns="25400" rtlCol="0" anchor="t">
            <a:normAutofit/>
          </a:bodyPr>
          <a:lstStyle/>
          <a:p>
            <a:pPr algn="l" indent="0" marL="0">
              <a:buNone/>
            </a:pPr>
            <a:r>
              <a:rPr lang="en-US" sz="1650" dirty="0">
                <a:solidFill>
                  <a:srgbClr val="5B6675"/>
                </a:solidFill>
                <a:latin typeface="Public Sans" pitchFamily="34" charset="0"/>
                <a:ea typeface="Public Sans" pitchFamily="34" charset="-122"/>
                <a:cs typeface="Public Sans" pitchFamily="34" charset="-120"/>
              </a:rPr>
              <a:t>Every booking tracked end-to-end; AI-ready data foundation.</a:t>
            </a:r>
            <a:endParaRPr lang="en-US" sz="1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23830" y="418995"/>
            <a:ext cx="10194376" cy="284629"/>
          </a:xfrm>
          <a:prstGeom prst="rect">
            <a:avLst/>
          </a:prstGeom>
          <a:noFill/>
          <a:ln/>
        </p:spPr>
        <p:txBody>
          <a:bodyPr wrap="square" lIns="25400" tIns="25400" rIns="25400" bIns="25400" rtlCol="0" anchor="t">
            <a:normAutofit/>
          </a:bodyPr>
          <a:lstStyle/>
          <a:p>
            <a:pPr algn="l" indent="0" marL="0">
              <a:buNone/>
            </a:pPr>
            <a:r>
              <a:rPr lang="en-US" sz="1500" b="1" spc="180" kern="0" dirty="0">
                <a:solidFill>
                  <a:srgbClr val="1C5C43"/>
                </a:solidFill>
                <a:latin typeface="IBM Plex Mono" pitchFamily="34" charset="0"/>
                <a:ea typeface="IBM Plex Mono" pitchFamily="34" charset="-122"/>
                <a:cs typeface="IBM Plex Mono" pitchFamily="34" charset="-120"/>
              </a:rPr>
              <a:t>02 · CURRENT STATE</a:t>
            </a:r>
            <a:endParaRPr lang="en-US" sz="1500" dirty="0"/>
          </a:p>
        </p:txBody>
      </p:sp>
      <p:sp>
        <p:nvSpPr>
          <p:cNvPr id="3" name="Text 1"/>
          <p:cNvSpPr/>
          <p:nvPr/>
        </p:nvSpPr>
        <p:spPr>
          <a:xfrm>
            <a:off x="723830" y="741689"/>
            <a:ext cx="10194376" cy="508747"/>
          </a:xfrm>
          <a:prstGeom prst="rect">
            <a:avLst/>
          </a:prstGeom>
          <a:noFill/>
          <a:ln/>
        </p:spPr>
        <p:txBody>
          <a:bodyPr wrap="square" lIns="25400" tIns="25400" rIns="25400" bIns="25400" rtlCol="0" anchor="t">
            <a:normAutofit/>
          </a:bodyPr>
          <a:lstStyle/>
          <a:p>
            <a:pPr algn="l" indent="0" marL="0">
              <a:buNone/>
            </a:pPr>
            <a:r>
              <a:rPr lang="en-US" sz="3150" b="1" spc="-31" kern="0" dirty="0">
                <a:solidFill>
                  <a:srgbClr val="0D2E22"/>
                </a:solidFill>
                <a:latin typeface="Public Sans" pitchFamily="34" charset="0"/>
                <a:ea typeface="Public Sans" pitchFamily="34" charset="-122"/>
                <a:cs typeface="Public Sans" pitchFamily="34" charset="-120"/>
              </a:rPr>
              <a:t>As-is booking process — swimlane with decisions</a:t>
            </a:r>
            <a:endParaRPr lang="en-US" sz="3150" dirty="0"/>
          </a:p>
        </p:txBody>
      </p:sp>
      <p:sp>
        <p:nvSpPr>
          <p:cNvPr id="4" name="Shape 2"/>
          <p:cNvSpPr/>
          <p:nvPr/>
        </p:nvSpPr>
        <p:spPr>
          <a:xfrm>
            <a:off x="12344155" y="843943"/>
            <a:ext cx="2174992" cy="368393"/>
          </a:xfrm>
          <a:prstGeom prst="roundRect">
            <a:avLst>
              <a:gd name="adj" fmla="val 20684"/>
            </a:avLst>
          </a:prstGeom>
          <a:solidFill>
            <a:srgbClr val="EDF1E0"/>
          </a:solidFill>
          <a:ln w="11206">
            <a:solidFill>
              <a:srgbClr val="DBE6CD"/>
            </a:solidFill>
            <a:prstDash val="solid"/>
          </a:ln>
        </p:spPr>
      </p:sp>
      <p:sp>
        <p:nvSpPr>
          <p:cNvPr id="5" name="Text 3"/>
          <p:cNvSpPr/>
          <p:nvPr/>
        </p:nvSpPr>
        <p:spPr>
          <a:xfrm>
            <a:off x="12460136" y="921824"/>
            <a:ext cx="2019230" cy="250732"/>
          </a:xfrm>
          <a:prstGeom prst="rect">
            <a:avLst/>
          </a:prstGeom>
          <a:noFill/>
          <a:ln/>
        </p:spPr>
        <p:txBody>
          <a:bodyPr wrap="square" lIns="25400" tIns="25400" rIns="25400" bIns="25400" rtlCol="0" anchor="t">
            <a:normAutofit/>
          </a:bodyPr>
          <a:lstStyle/>
          <a:p>
            <a:pPr algn="l" indent="0" marL="0">
              <a:buNone/>
            </a:pPr>
            <a:r>
              <a:rPr lang="en-US" sz="1275" b="1" dirty="0">
                <a:solidFill>
                  <a:srgbClr val="1C5C43"/>
                </a:solidFill>
                <a:latin typeface="IBM Plex Mono" pitchFamily="34" charset="0"/>
                <a:ea typeface="IBM Plex Mono" pitchFamily="34" charset="-122"/>
                <a:cs typeface="IBM Plex Mono" pitchFamily="34" charset="-120"/>
              </a:rPr>
              <a:t>10 steps · 3–4 teams</a:t>
            </a:r>
            <a:endParaRPr lang="en-US" sz="1275" dirty="0"/>
          </a:p>
        </p:txBody>
      </p:sp>
      <p:sp>
        <p:nvSpPr>
          <p:cNvPr id="6" name="Shape 4"/>
          <p:cNvSpPr/>
          <p:nvPr/>
        </p:nvSpPr>
        <p:spPr>
          <a:xfrm>
            <a:off x="14595310" y="843943"/>
            <a:ext cx="1300583" cy="368393"/>
          </a:xfrm>
          <a:prstGeom prst="roundRect">
            <a:avLst>
              <a:gd name="adj" fmla="val 20684"/>
            </a:avLst>
          </a:prstGeom>
          <a:solidFill>
            <a:srgbClr val="FDF6EA"/>
          </a:solidFill>
          <a:ln w="11206">
            <a:solidFill>
              <a:srgbClr val="E0C58A"/>
            </a:solidFill>
            <a:prstDash val="solid"/>
          </a:ln>
        </p:spPr>
      </p:sp>
      <p:sp>
        <p:nvSpPr>
          <p:cNvPr id="7" name="Text 5"/>
          <p:cNvSpPr/>
          <p:nvPr/>
        </p:nvSpPr>
        <p:spPr>
          <a:xfrm>
            <a:off x="14711291" y="921824"/>
            <a:ext cx="1144821" cy="250732"/>
          </a:xfrm>
          <a:prstGeom prst="rect">
            <a:avLst/>
          </a:prstGeom>
          <a:noFill/>
          <a:ln/>
        </p:spPr>
        <p:txBody>
          <a:bodyPr wrap="square" lIns="25400" tIns="25400" rIns="25400" bIns="25400" rtlCol="0" anchor="t">
            <a:normAutofit/>
          </a:bodyPr>
          <a:lstStyle/>
          <a:p>
            <a:pPr algn="l" indent="0" marL="0">
              <a:buNone/>
            </a:pPr>
            <a:r>
              <a:rPr lang="en-US" sz="1275" b="1" dirty="0">
                <a:solidFill>
                  <a:srgbClr val="8A5410"/>
                </a:solidFill>
                <a:latin typeface="IBM Plex Mono" pitchFamily="34" charset="0"/>
                <a:ea typeface="IBM Plex Mono" pitchFamily="34" charset="-122"/>
                <a:cs typeface="IBM Plex Mono" pitchFamily="34" charset="-120"/>
              </a:rPr>
              <a:t>3 decisions</a:t>
            </a:r>
            <a:endParaRPr lang="en-US" sz="1275" dirty="0"/>
          </a:p>
        </p:txBody>
      </p:sp>
      <p:sp>
        <p:nvSpPr>
          <p:cNvPr id="8" name="Shape 6"/>
          <p:cNvSpPr/>
          <p:nvPr/>
        </p:nvSpPr>
        <p:spPr>
          <a:xfrm>
            <a:off x="15972059" y="843943"/>
            <a:ext cx="1592111" cy="368393"/>
          </a:xfrm>
          <a:prstGeom prst="roundRect">
            <a:avLst>
              <a:gd name="adj" fmla="val 20684"/>
            </a:avLst>
          </a:prstGeom>
          <a:solidFill>
            <a:srgbClr val="FBF1E3"/>
          </a:solidFill>
          <a:ln w="11206">
            <a:solidFill>
              <a:srgbClr val="ECCFA3"/>
            </a:solidFill>
            <a:prstDash val="solid"/>
          </a:ln>
        </p:spPr>
      </p:sp>
      <p:sp>
        <p:nvSpPr>
          <p:cNvPr id="9" name="Text 7"/>
          <p:cNvSpPr/>
          <p:nvPr/>
        </p:nvSpPr>
        <p:spPr>
          <a:xfrm>
            <a:off x="16088040" y="921824"/>
            <a:ext cx="1436349" cy="250732"/>
          </a:xfrm>
          <a:prstGeom prst="rect">
            <a:avLst/>
          </a:prstGeom>
          <a:noFill/>
          <a:ln/>
        </p:spPr>
        <p:txBody>
          <a:bodyPr wrap="square" lIns="25400" tIns="25400" rIns="25400" bIns="25400" rtlCol="0" anchor="t">
            <a:normAutofit/>
          </a:bodyPr>
          <a:lstStyle/>
          <a:p>
            <a:pPr algn="l" indent="0" marL="0">
              <a:buNone/>
            </a:pPr>
            <a:r>
              <a:rPr lang="en-US" sz="1275" b="1" dirty="0">
                <a:solidFill>
                  <a:srgbClr val="B4690E"/>
                </a:solidFill>
                <a:latin typeface="IBM Plex Mono" pitchFamily="34" charset="0"/>
                <a:ea typeface="IBM Plex Mono" pitchFamily="34" charset="-122"/>
                <a:cs typeface="IBM Plex Mono" pitchFamily="34" charset="-120"/>
              </a:rPr>
              <a:t>2 rework loops</a:t>
            </a:r>
            <a:endParaRPr lang="en-US" sz="1275" dirty="0"/>
          </a:p>
        </p:txBody>
      </p:sp>
      <p:sp>
        <p:nvSpPr>
          <p:cNvPr id="10" name="Text 8"/>
          <p:cNvSpPr/>
          <p:nvPr/>
        </p:nvSpPr>
        <p:spPr>
          <a:xfrm>
            <a:off x="2857500" y="1981165"/>
            <a:ext cx="929773" cy="206188"/>
          </a:xfrm>
          <a:prstGeom prst="rect">
            <a:avLst/>
          </a:prstGeom>
          <a:noFill/>
          <a:ln/>
        </p:spPr>
        <p:txBody>
          <a:bodyPr wrap="square" lIns="25400" tIns="25400" rIns="25400" bIns="25400" rtlCol="0" anchor="t">
            <a:normAutofit/>
          </a:bodyPr>
          <a:lstStyle/>
          <a:p>
            <a:pPr algn="l" indent="0" marL="0">
              <a:buNone/>
            </a:pPr>
            <a:r>
              <a:rPr lang="en-US" sz="1050" b="1" spc="42" kern="0" dirty="0">
                <a:solidFill>
                  <a:srgbClr val="8996A6"/>
                </a:solidFill>
                <a:latin typeface="IBM Plex Mono" pitchFamily="34" charset="0"/>
                <a:ea typeface="IBM Plex Mono" pitchFamily="34" charset="-122"/>
                <a:cs typeface="IBM Plex Mono" pitchFamily="34" charset="-120"/>
              </a:rPr>
              <a:t>INITIATION</a:t>
            </a:r>
            <a:endParaRPr lang="en-US" sz="1050" dirty="0"/>
          </a:p>
        </p:txBody>
      </p:sp>
      <p:sp>
        <p:nvSpPr>
          <p:cNvPr id="11" name="Text 9"/>
          <p:cNvSpPr/>
          <p:nvPr/>
        </p:nvSpPr>
        <p:spPr>
          <a:xfrm>
            <a:off x="5905499" y="1981165"/>
            <a:ext cx="1100488" cy="206188"/>
          </a:xfrm>
          <a:prstGeom prst="rect">
            <a:avLst/>
          </a:prstGeom>
          <a:noFill/>
          <a:ln/>
        </p:spPr>
        <p:txBody>
          <a:bodyPr wrap="square" lIns="25400" tIns="25400" rIns="25400" bIns="25400" rtlCol="0" anchor="t">
            <a:normAutofit/>
          </a:bodyPr>
          <a:lstStyle/>
          <a:p>
            <a:pPr algn="l" indent="0" marL="0">
              <a:buNone/>
            </a:pPr>
            <a:r>
              <a:rPr lang="en-US" sz="1050" b="1" spc="42" kern="0" dirty="0">
                <a:solidFill>
                  <a:srgbClr val="8996A6"/>
                </a:solidFill>
                <a:latin typeface="IBM Plex Mono" pitchFamily="34" charset="0"/>
                <a:ea typeface="IBM Plex Mono" pitchFamily="34" charset="-122"/>
                <a:cs typeface="IBM Plex Mono" pitchFamily="34" charset="-120"/>
              </a:rPr>
              <a:t>AVAILABILITY</a:t>
            </a:r>
            <a:endParaRPr lang="en-US" sz="1050" dirty="0"/>
          </a:p>
        </p:txBody>
      </p:sp>
      <p:sp>
        <p:nvSpPr>
          <p:cNvPr id="12" name="Text 10"/>
          <p:cNvSpPr/>
          <p:nvPr/>
        </p:nvSpPr>
        <p:spPr>
          <a:xfrm>
            <a:off x="9524999" y="1981165"/>
            <a:ext cx="929773" cy="206188"/>
          </a:xfrm>
          <a:prstGeom prst="rect">
            <a:avLst/>
          </a:prstGeom>
          <a:noFill/>
          <a:ln/>
        </p:spPr>
        <p:txBody>
          <a:bodyPr wrap="square" lIns="25400" tIns="25400" rIns="25400" bIns="25400" rtlCol="0" anchor="t">
            <a:normAutofit/>
          </a:bodyPr>
          <a:lstStyle/>
          <a:p>
            <a:pPr algn="l" indent="0" marL="0">
              <a:buNone/>
            </a:pPr>
            <a:r>
              <a:rPr lang="en-US" sz="1050" b="1" spc="42" kern="0" dirty="0">
                <a:solidFill>
                  <a:srgbClr val="8996A6"/>
                </a:solidFill>
                <a:latin typeface="IBM Plex Mono" pitchFamily="34" charset="0"/>
                <a:ea typeface="IBM Plex Mono" pitchFamily="34" charset="-122"/>
                <a:cs typeface="IBM Plex Mono" pitchFamily="34" charset="-120"/>
              </a:rPr>
              <a:t>ATTENDANCE</a:t>
            </a:r>
            <a:endParaRPr lang="en-US" sz="1050" dirty="0"/>
          </a:p>
        </p:txBody>
      </p:sp>
      <p:sp>
        <p:nvSpPr>
          <p:cNvPr id="13" name="Text 11"/>
          <p:cNvSpPr/>
          <p:nvPr/>
        </p:nvSpPr>
        <p:spPr>
          <a:xfrm>
            <a:off x="14001749" y="1981165"/>
            <a:ext cx="1971465" cy="206188"/>
          </a:xfrm>
          <a:prstGeom prst="rect">
            <a:avLst/>
          </a:prstGeom>
          <a:noFill/>
          <a:ln/>
        </p:spPr>
        <p:txBody>
          <a:bodyPr wrap="square" lIns="25400" tIns="25400" rIns="25400" bIns="25400" rtlCol="0" anchor="t">
            <a:normAutofit/>
          </a:bodyPr>
          <a:lstStyle/>
          <a:p>
            <a:pPr algn="l" indent="0" marL="0">
              <a:buNone/>
            </a:pPr>
            <a:r>
              <a:rPr lang="en-US" sz="1050" b="1" spc="42" kern="0" dirty="0">
                <a:solidFill>
                  <a:srgbClr val="8996A6"/>
                </a:solidFill>
                <a:latin typeface="IBM Plex Mono" pitchFamily="34" charset="0"/>
                <a:ea typeface="IBM Plex Mono" pitchFamily="34" charset="-122"/>
                <a:cs typeface="IBM Plex Mono" pitchFamily="34" charset="-120"/>
              </a:rPr>
              <a:t>PARTNER · IF REQUIRED</a:t>
            </a:r>
            <a:endParaRPr lang="en-US" sz="1050" dirty="0"/>
          </a:p>
        </p:txBody>
      </p:sp>
      <p:sp>
        <p:nvSpPr>
          <p:cNvPr id="14" name="Text 12"/>
          <p:cNvSpPr/>
          <p:nvPr/>
        </p:nvSpPr>
        <p:spPr>
          <a:xfrm>
            <a:off x="16382999" y="1981165"/>
            <a:ext cx="1100488" cy="206188"/>
          </a:xfrm>
          <a:prstGeom prst="rect">
            <a:avLst/>
          </a:prstGeom>
          <a:noFill/>
          <a:ln/>
        </p:spPr>
        <p:txBody>
          <a:bodyPr wrap="square" lIns="25400" tIns="25400" rIns="25400" bIns="25400" rtlCol="0" anchor="t">
            <a:normAutofit/>
          </a:bodyPr>
          <a:lstStyle/>
          <a:p>
            <a:pPr algn="l" indent="0" marL="0">
              <a:buNone/>
            </a:pPr>
            <a:r>
              <a:rPr lang="en-US" sz="1050" b="1" spc="42" kern="0" dirty="0">
                <a:solidFill>
                  <a:srgbClr val="8996A6"/>
                </a:solidFill>
                <a:latin typeface="IBM Plex Mono" pitchFamily="34" charset="0"/>
                <a:ea typeface="IBM Plex Mono" pitchFamily="34" charset="-122"/>
                <a:cs typeface="IBM Plex Mono" pitchFamily="34" charset="-120"/>
              </a:rPr>
              <a:t>CONFIRMATION</a:t>
            </a:r>
            <a:endParaRPr lang="en-US" sz="1050" dirty="0"/>
          </a:p>
        </p:txBody>
      </p:sp>
      <p:sp>
        <p:nvSpPr>
          <p:cNvPr id="15" name="Shape 13"/>
          <p:cNvSpPr/>
          <p:nvPr/>
        </p:nvSpPr>
        <p:spPr>
          <a:xfrm>
            <a:off x="723830" y="2381250"/>
            <a:ext cx="17011579" cy="1409665"/>
          </a:xfrm>
          <a:prstGeom prst="roundRect">
            <a:avLst>
              <a:gd name="adj" fmla="val 8108"/>
            </a:avLst>
          </a:prstGeom>
          <a:solidFill>
            <a:srgbClr val="F5F8FA"/>
          </a:solidFill>
          <a:ln/>
        </p:spPr>
      </p:sp>
      <p:sp>
        <p:nvSpPr>
          <p:cNvPr id="16" name="Shape 14"/>
          <p:cNvSpPr/>
          <p:nvPr/>
        </p:nvSpPr>
        <p:spPr>
          <a:xfrm>
            <a:off x="723830" y="3847995"/>
            <a:ext cx="17011579" cy="1409665"/>
          </a:xfrm>
          <a:prstGeom prst="roundRect">
            <a:avLst>
              <a:gd name="adj" fmla="val 8108"/>
            </a:avLst>
          </a:prstGeom>
          <a:solidFill>
            <a:srgbClr val="FAFBFD"/>
          </a:solidFill>
          <a:ln/>
        </p:spPr>
      </p:sp>
      <p:sp>
        <p:nvSpPr>
          <p:cNvPr id="17" name="Shape 15"/>
          <p:cNvSpPr/>
          <p:nvPr/>
        </p:nvSpPr>
        <p:spPr>
          <a:xfrm>
            <a:off x="723830" y="5314915"/>
            <a:ext cx="17011579" cy="1409665"/>
          </a:xfrm>
          <a:prstGeom prst="roundRect">
            <a:avLst>
              <a:gd name="adj" fmla="val 8108"/>
            </a:avLst>
          </a:prstGeom>
          <a:solidFill>
            <a:srgbClr val="F5F8FA"/>
          </a:solidFill>
          <a:ln/>
        </p:spPr>
      </p:sp>
      <p:sp>
        <p:nvSpPr>
          <p:cNvPr id="18" name="Shape 16"/>
          <p:cNvSpPr/>
          <p:nvPr/>
        </p:nvSpPr>
        <p:spPr>
          <a:xfrm>
            <a:off x="723830" y="6781659"/>
            <a:ext cx="17011579" cy="1409665"/>
          </a:xfrm>
          <a:prstGeom prst="roundRect">
            <a:avLst>
              <a:gd name="adj" fmla="val 8108"/>
            </a:avLst>
          </a:prstGeom>
          <a:solidFill>
            <a:srgbClr val="FAFBFD"/>
          </a:solidFill>
          <a:ln/>
        </p:spPr>
      </p:sp>
      <p:sp>
        <p:nvSpPr>
          <p:cNvPr id="19" name="Shape 17"/>
          <p:cNvSpPr/>
          <p:nvPr/>
        </p:nvSpPr>
        <p:spPr>
          <a:xfrm>
            <a:off x="723830" y="8248580"/>
            <a:ext cx="17011579" cy="1409665"/>
          </a:xfrm>
          <a:prstGeom prst="roundRect">
            <a:avLst>
              <a:gd name="adj" fmla="val 8108"/>
            </a:avLst>
          </a:prstGeom>
          <a:solidFill>
            <a:srgbClr val="F5F8FA"/>
          </a:solidFill>
          <a:ln/>
        </p:spPr>
      </p:sp>
      <p:sp>
        <p:nvSpPr>
          <p:cNvPr id="20" name="Shape 18"/>
          <p:cNvSpPr/>
          <p:nvPr/>
        </p:nvSpPr>
        <p:spPr>
          <a:xfrm>
            <a:off x="857075" y="3038370"/>
            <a:ext cx="95250" cy="95250"/>
          </a:xfrm>
          <a:prstGeom prst="ellipse">
            <a:avLst/>
          </a:prstGeom>
          <a:solidFill>
            <a:srgbClr val="0B7A75"/>
          </a:solidFill>
          <a:ln/>
        </p:spPr>
      </p:sp>
      <p:sp>
        <p:nvSpPr>
          <p:cNvPr id="21" name="Text 19"/>
          <p:cNvSpPr/>
          <p:nvPr/>
        </p:nvSpPr>
        <p:spPr>
          <a:xfrm>
            <a:off x="1037945" y="3001951"/>
            <a:ext cx="747327" cy="206188"/>
          </a:xfrm>
          <a:prstGeom prst="rect">
            <a:avLst/>
          </a:prstGeom>
          <a:noFill/>
          <a:ln/>
        </p:spPr>
        <p:txBody>
          <a:bodyPr wrap="square" lIns="25400" tIns="25400" rIns="25400" bIns="25400" rtlCol="0" anchor="t">
            <a:normAutofit/>
          </a:bodyPr>
          <a:lstStyle/>
          <a:p>
            <a:pPr algn="l" indent="0" marL="0">
              <a:lnSpc>
                <a:spcPct val="106250"/>
              </a:lnSpc>
              <a:buNone/>
            </a:pPr>
            <a:r>
              <a:rPr lang="en-US" sz="1125" b="1" dirty="0">
                <a:solidFill>
                  <a:srgbClr val="0B7A75"/>
                </a:solidFill>
                <a:latin typeface="Public Sans" pitchFamily="34" charset="0"/>
                <a:ea typeface="Public Sans" pitchFamily="34" charset="-122"/>
                <a:cs typeface="Public Sans" pitchFamily="34" charset="-120"/>
              </a:rPr>
              <a:t>Customer</a:t>
            </a:r>
            <a:endParaRPr lang="en-US" sz="1125" dirty="0"/>
          </a:p>
        </p:txBody>
      </p:sp>
      <p:sp>
        <p:nvSpPr>
          <p:cNvPr id="22" name="Shape 20"/>
          <p:cNvSpPr/>
          <p:nvPr/>
        </p:nvSpPr>
        <p:spPr>
          <a:xfrm>
            <a:off x="857075" y="4505115"/>
            <a:ext cx="95250" cy="95250"/>
          </a:xfrm>
          <a:prstGeom prst="ellipse">
            <a:avLst/>
          </a:prstGeom>
          <a:solidFill>
            <a:srgbClr val="1C5C43"/>
          </a:solidFill>
          <a:ln/>
        </p:spPr>
      </p:sp>
      <p:sp>
        <p:nvSpPr>
          <p:cNvPr id="23" name="Text 21"/>
          <p:cNvSpPr/>
          <p:nvPr/>
        </p:nvSpPr>
        <p:spPr>
          <a:xfrm>
            <a:off x="1037945" y="4468696"/>
            <a:ext cx="1240211" cy="206188"/>
          </a:xfrm>
          <a:prstGeom prst="rect">
            <a:avLst/>
          </a:prstGeom>
          <a:noFill/>
          <a:ln/>
        </p:spPr>
        <p:txBody>
          <a:bodyPr wrap="square" lIns="25400" tIns="25400" rIns="25400" bIns="25400" rtlCol="0" anchor="t">
            <a:normAutofit/>
          </a:bodyPr>
          <a:lstStyle/>
          <a:p>
            <a:pPr algn="l" indent="0" marL="0">
              <a:lnSpc>
                <a:spcPct val="106250"/>
              </a:lnSpc>
              <a:buNone/>
            </a:pPr>
            <a:r>
              <a:rPr lang="en-US" sz="1125" b="1" dirty="0">
                <a:solidFill>
                  <a:srgbClr val="1C5C43"/>
                </a:solidFill>
                <a:latin typeface="Public Sans" pitchFamily="34" charset="0"/>
                <a:ea typeface="Public Sans" pitchFamily="34" charset="-122"/>
                <a:cs typeface="Public Sans" pitchFamily="34" charset="-120"/>
              </a:rPr>
              <a:t>Relationship Mgr</a:t>
            </a:r>
            <a:endParaRPr lang="en-US" sz="1125" dirty="0"/>
          </a:p>
        </p:txBody>
      </p:sp>
      <p:sp>
        <p:nvSpPr>
          <p:cNvPr id="24" name="Shape 22"/>
          <p:cNvSpPr/>
          <p:nvPr/>
        </p:nvSpPr>
        <p:spPr>
          <a:xfrm>
            <a:off x="857075" y="5972034"/>
            <a:ext cx="95250" cy="95250"/>
          </a:xfrm>
          <a:prstGeom prst="ellipse">
            <a:avLst/>
          </a:prstGeom>
          <a:solidFill>
            <a:srgbClr val="5B6B52"/>
          </a:solidFill>
          <a:ln/>
        </p:spPr>
      </p:sp>
      <p:sp>
        <p:nvSpPr>
          <p:cNvPr id="25" name="Text 23"/>
          <p:cNvSpPr/>
          <p:nvPr/>
        </p:nvSpPr>
        <p:spPr>
          <a:xfrm>
            <a:off x="1037945" y="5935616"/>
            <a:ext cx="1122899" cy="206188"/>
          </a:xfrm>
          <a:prstGeom prst="rect">
            <a:avLst/>
          </a:prstGeom>
          <a:noFill/>
          <a:ln/>
        </p:spPr>
        <p:txBody>
          <a:bodyPr wrap="square" lIns="25400" tIns="25400" rIns="25400" bIns="25400" rtlCol="0" anchor="t">
            <a:normAutofit/>
          </a:bodyPr>
          <a:lstStyle/>
          <a:p>
            <a:pPr algn="l" indent="0" marL="0">
              <a:lnSpc>
                <a:spcPct val="106250"/>
              </a:lnSpc>
              <a:buNone/>
            </a:pPr>
            <a:r>
              <a:rPr lang="en-US" sz="1125" b="1" dirty="0">
                <a:solidFill>
                  <a:srgbClr val="5B6B52"/>
                </a:solidFill>
                <a:latin typeface="Public Sans" pitchFamily="34" charset="0"/>
                <a:ea typeface="Public Sans" pitchFamily="34" charset="-122"/>
                <a:cs typeface="Public Sans" pitchFamily="34" charset="-120"/>
              </a:rPr>
              <a:t>Team Assistant</a:t>
            </a:r>
            <a:endParaRPr lang="en-US" sz="1125" dirty="0"/>
          </a:p>
        </p:txBody>
      </p:sp>
      <p:sp>
        <p:nvSpPr>
          <p:cNvPr id="26" name="Shape 24"/>
          <p:cNvSpPr/>
          <p:nvPr/>
        </p:nvSpPr>
        <p:spPr>
          <a:xfrm>
            <a:off x="857075" y="7438780"/>
            <a:ext cx="95250" cy="95250"/>
          </a:xfrm>
          <a:prstGeom prst="ellipse">
            <a:avLst/>
          </a:prstGeom>
          <a:solidFill>
            <a:srgbClr val="B4690E"/>
          </a:solidFill>
          <a:ln/>
        </p:spPr>
      </p:sp>
      <p:sp>
        <p:nvSpPr>
          <p:cNvPr id="27" name="Text 25"/>
          <p:cNvSpPr/>
          <p:nvPr/>
        </p:nvSpPr>
        <p:spPr>
          <a:xfrm>
            <a:off x="1037945" y="7402360"/>
            <a:ext cx="1149338" cy="206188"/>
          </a:xfrm>
          <a:prstGeom prst="rect">
            <a:avLst/>
          </a:prstGeom>
          <a:noFill/>
          <a:ln/>
        </p:spPr>
        <p:txBody>
          <a:bodyPr wrap="square" lIns="25400" tIns="25400" rIns="25400" bIns="25400" rtlCol="0" anchor="t">
            <a:normAutofit/>
          </a:bodyPr>
          <a:lstStyle/>
          <a:p>
            <a:pPr algn="l" indent="0" marL="0">
              <a:lnSpc>
                <a:spcPct val="106250"/>
              </a:lnSpc>
              <a:buNone/>
            </a:pPr>
            <a:r>
              <a:rPr lang="en-US" sz="1125" b="1" dirty="0">
                <a:solidFill>
                  <a:srgbClr val="B4690E"/>
                </a:solidFill>
                <a:latin typeface="Public Sans" pitchFamily="34" charset="0"/>
                <a:ea typeface="Public Sans" pitchFamily="34" charset="-122"/>
                <a:cs typeface="Public Sans" pitchFamily="34" charset="-120"/>
              </a:rPr>
              <a:t>Catering &amp; FOH</a:t>
            </a:r>
            <a:endParaRPr lang="en-US" sz="1125" dirty="0"/>
          </a:p>
        </p:txBody>
      </p:sp>
      <p:sp>
        <p:nvSpPr>
          <p:cNvPr id="28" name="Shape 26"/>
          <p:cNvSpPr/>
          <p:nvPr/>
        </p:nvSpPr>
        <p:spPr>
          <a:xfrm>
            <a:off x="857075" y="8905699"/>
            <a:ext cx="95250" cy="95250"/>
          </a:xfrm>
          <a:prstGeom prst="ellipse">
            <a:avLst/>
          </a:prstGeom>
          <a:solidFill>
            <a:srgbClr val="742774"/>
          </a:solidFill>
          <a:ln/>
        </p:spPr>
      </p:sp>
      <p:sp>
        <p:nvSpPr>
          <p:cNvPr id="29" name="Text 27"/>
          <p:cNvSpPr/>
          <p:nvPr/>
        </p:nvSpPr>
        <p:spPr>
          <a:xfrm>
            <a:off x="1037945" y="8785236"/>
            <a:ext cx="1533840" cy="374276"/>
          </a:xfrm>
          <a:prstGeom prst="rect">
            <a:avLst/>
          </a:prstGeom>
          <a:noFill/>
          <a:ln/>
        </p:spPr>
        <p:txBody>
          <a:bodyPr wrap="square" lIns="25400" tIns="25400" rIns="25400" bIns="25400" rtlCol="0" anchor="t">
            <a:normAutofit/>
          </a:bodyPr>
          <a:lstStyle/>
          <a:p>
            <a:pPr algn="l" indent="0" marL="0">
              <a:lnSpc>
                <a:spcPct val="106250"/>
              </a:lnSpc>
              <a:buNone/>
            </a:pPr>
            <a:r>
              <a:rPr lang="en-US" sz="1125" b="1" dirty="0">
                <a:solidFill>
                  <a:srgbClr val="742774"/>
                </a:solidFill>
                <a:latin typeface="Public Sans" pitchFamily="34" charset="0"/>
                <a:ea typeface="Public Sans" pitchFamily="34" charset="-122"/>
                <a:cs typeface="Public Sans" pitchFamily="34" charset="-120"/>
              </a:rPr>
              <a:t>Exec Assistants · Partners</a:t>
            </a:r>
            <a:endParaRPr lang="en-US" sz="1125" dirty="0"/>
          </a:p>
        </p:txBody>
      </p:sp>
      <p:pic>
        <p:nvPicPr>
          <p:cNvPr id="30"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8287999" cy="10286999"/>
          </a:xfrm>
          <a:prstGeom prst="rect">
            <a:avLst/>
          </a:prstGeom>
        </p:spPr>
      </p:pic>
      <p:sp>
        <p:nvSpPr>
          <p:cNvPr id="31" name="Shape 28"/>
          <p:cNvSpPr/>
          <p:nvPr/>
        </p:nvSpPr>
        <p:spPr>
          <a:xfrm rot="2700000">
            <a:off x="10267915" y="2609745"/>
            <a:ext cx="952500" cy="952500"/>
          </a:xfrm>
          <a:prstGeom prst="roundRect">
            <a:avLst>
              <a:gd name="adj" fmla="val 12000"/>
            </a:avLst>
          </a:prstGeom>
          <a:solidFill>
            <a:srgbClr val="FDF6EA"/>
          </a:solidFill>
          <a:ln w="16809">
            <a:solidFill>
              <a:srgbClr val="C8A45C"/>
            </a:solidFill>
            <a:prstDash val="solid"/>
          </a:ln>
          <a:effectLst>
            <a:outerShdw sx="100000" sy="100000" kx="0" ky="0" algn="bl" rotWithShape="0" blurRad="57150" dist="19050" dir="5400000">
              <a:srgbClr val="785014">
                <a:alpha val="12000"/>
              </a:srgbClr>
            </a:outerShdw>
          </a:effectLst>
        </p:spPr>
      </p:sp>
      <p:sp>
        <p:nvSpPr>
          <p:cNvPr id="32" name="Text 29"/>
          <p:cNvSpPr/>
          <p:nvPr/>
        </p:nvSpPr>
        <p:spPr>
          <a:xfrm>
            <a:off x="10115479" y="2819330"/>
            <a:ext cx="1257195" cy="571430"/>
          </a:xfrm>
          <a:prstGeom prst="rect">
            <a:avLst/>
          </a:prstGeom>
          <a:noFill/>
          <a:ln/>
        </p:spPr>
        <p:txBody>
          <a:bodyPr wrap="square" lIns="25400" tIns="25400" rIns="25400" bIns="25400" rtlCol="0" anchor="ctr">
            <a:normAutofit/>
          </a:bodyPr>
          <a:lstStyle/>
          <a:p>
            <a:pPr algn="ctr" indent="0" marL="0">
              <a:lnSpc>
                <a:spcPct val="97750"/>
              </a:lnSpc>
              <a:buNone/>
            </a:pPr>
            <a:r>
              <a:rPr lang="en-US" sz="1050" b="1" dirty="0">
                <a:solidFill>
                  <a:srgbClr val="8A5410"/>
                </a:solidFill>
                <a:latin typeface="Public Sans" pitchFamily="34" charset="0"/>
                <a:ea typeface="Public Sans" pitchFamily="34" charset="-122"/>
                <a:cs typeface="Public Sans" pitchFamily="34" charset="-120"/>
              </a:rPr>
              <a:t>Able to attend?</a:t>
            </a:r>
            <a:endParaRPr lang="en-US" sz="1050" dirty="0"/>
          </a:p>
        </p:txBody>
      </p:sp>
      <p:sp>
        <p:nvSpPr>
          <p:cNvPr id="33" name="Shape 30"/>
          <p:cNvSpPr/>
          <p:nvPr/>
        </p:nvSpPr>
        <p:spPr>
          <a:xfrm rot="2700000">
            <a:off x="13982664" y="4076665"/>
            <a:ext cx="952500" cy="952500"/>
          </a:xfrm>
          <a:prstGeom prst="roundRect">
            <a:avLst>
              <a:gd name="adj" fmla="val 12000"/>
            </a:avLst>
          </a:prstGeom>
          <a:solidFill>
            <a:srgbClr val="FDF6EA"/>
          </a:solidFill>
          <a:ln w="16809">
            <a:solidFill>
              <a:srgbClr val="C8A45C"/>
            </a:solidFill>
            <a:prstDash val="solid"/>
          </a:ln>
          <a:effectLst>
            <a:outerShdw sx="100000" sy="100000" kx="0" ky="0" algn="bl" rotWithShape="0" blurRad="57150" dist="19050" dir="5400000">
              <a:srgbClr val="785014">
                <a:alpha val="12000"/>
              </a:srgbClr>
            </a:outerShdw>
          </a:effectLst>
        </p:spPr>
      </p:sp>
      <p:sp>
        <p:nvSpPr>
          <p:cNvPr id="34" name="Text 31"/>
          <p:cNvSpPr/>
          <p:nvPr/>
        </p:nvSpPr>
        <p:spPr>
          <a:xfrm>
            <a:off x="13830229" y="4286250"/>
            <a:ext cx="1257195" cy="571430"/>
          </a:xfrm>
          <a:prstGeom prst="rect">
            <a:avLst/>
          </a:prstGeom>
          <a:noFill/>
          <a:ln/>
        </p:spPr>
        <p:txBody>
          <a:bodyPr wrap="square" lIns="25400" tIns="25400" rIns="25400" bIns="25400" rtlCol="0" anchor="ctr">
            <a:normAutofit/>
          </a:bodyPr>
          <a:lstStyle/>
          <a:p>
            <a:pPr algn="ctr" indent="0" marL="0">
              <a:lnSpc>
                <a:spcPct val="97750"/>
              </a:lnSpc>
              <a:buNone/>
            </a:pPr>
            <a:r>
              <a:rPr lang="en-US" sz="1050" b="1" dirty="0">
                <a:solidFill>
                  <a:srgbClr val="8A5410"/>
                </a:solidFill>
                <a:latin typeface="Public Sans" pitchFamily="34" charset="0"/>
                <a:ea typeface="Public Sans" pitchFamily="34" charset="-122"/>
                <a:cs typeface="Public Sans" pitchFamily="34" charset="-120"/>
              </a:rPr>
              <a:t>Known to partner?</a:t>
            </a:r>
            <a:endParaRPr lang="en-US" sz="1050" dirty="0"/>
          </a:p>
        </p:txBody>
      </p:sp>
      <p:sp>
        <p:nvSpPr>
          <p:cNvPr id="35" name="Shape 32"/>
          <p:cNvSpPr/>
          <p:nvPr/>
        </p:nvSpPr>
        <p:spPr>
          <a:xfrm rot="2700000">
            <a:off x="15220914" y="8477250"/>
            <a:ext cx="952500" cy="952500"/>
          </a:xfrm>
          <a:prstGeom prst="roundRect">
            <a:avLst>
              <a:gd name="adj" fmla="val 12000"/>
            </a:avLst>
          </a:prstGeom>
          <a:solidFill>
            <a:srgbClr val="FDF6EA"/>
          </a:solidFill>
          <a:ln w="16809">
            <a:solidFill>
              <a:srgbClr val="C8A45C"/>
            </a:solidFill>
            <a:prstDash val="solid"/>
          </a:ln>
          <a:effectLst>
            <a:outerShdw sx="100000" sy="100000" kx="0" ky="0" algn="bl" rotWithShape="0" blurRad="57150" dist="19050" dir="5400000">
              <a:srgbClr val="785014">
                <a:alpha val="12000"/>
              </a:srgbClr>
            </a:outerShdw>
          </a:effectLst>
        </p:spPr>
      </p:sp>
      <p:sp>
        <p:nvSpPr>
          <p:cNvPr id="36" name="Text 33"/>
          <p:cNvSpPr/>
          <p:nvPr/>
        </p:nvSpPr>
        <p:spPr>
          <a:xfrm>
            <a:off x="15068479" y="8686659"/>
            <a:ext cx="1257195" cy="571430"/>
          </a:xfrm>
          <a:prstGeom prst="rect">
            <a:avLst/>
          </a:prstGeom>
          <a:noFill/>
          <a:ln/>
        </p:spPr>
        <p:txBody>
          <a:bodyPr wrap="square" lIns="25400" tIns="25400" rIns="25400" bIns="25400" rtlCol="0" anchor="ctr">
            <a:normAutofit/>
          </a:bodyPr>
          <a:lstStyle/>
          <a:p>
            <a:pPr algn="ctr" indent="0" marL="0">
              <a:lnSpc>
                <a:spcPct val="97750"/>
              </a:lnSpc>
              <a:buNone/>
            </a:pPr>
            <a:r>
              <a:rPr lang="en-US" sz="1050" b="1" dirty="0">
                <a:solidFill>
                  <a:srgbClr val="8A5410"/>
                </a:solidFill>
                <a:latin typeface="Public Sans" pitchFamily="34" charset="0"/>
                <a:ea typeface="Public Sans" pitchFamily="34" charset="-122"/>
                <a:cs typeface="Public Sans" pitchFamily="34" charset="-120"/>
              </a:rPr>
              <a:t>Partner available?</a:t>
            </a:r>
            <a:endParaRPr lang="en-US" sz="1050" dirty="0"/>
          </a:p>
        </p:txBody>
      </p:sp>
      <p:sp>
        <p:nvSpPr>
          <p:cNvPr id="37" name="Shape 34"/>
          <p:cNvSpPr/>
          <p:nvPr/>
        </p:nvSpPr>
        <p:spPr>
          <a:xfrm>
            <a:off x="2743165" y="2667000"/>
            <a:ext cx="1143000" cy="838165"/>
          </a:xfrm>
          <a:prstGeom prst="roundRect">
            <a:avLst>
              <a:gd name="adj" fmla="val 11364"/>
            </a:avLst>
          </a:prstGeom>
          <a:solidFill>
            <a:srgbClr val="E6F4F2"/>
          </a:solidFill>
          <a:ln w="11206">
            <a:solidFill>
              <a:srgbClr val="BFE0DC"/>
            </a:solidFill>
            <a:prstDash val="solid"/>
          </a:ln>
        </p:spPr>
      </p:sp>
      <p:sp>
        <p:nvSpPr>
          <p:cNvPr id="38" name="Shape 35"/>
          <p:cNvSpPr/>
          <p:nvPr/>
        </p:nvSpPr>
        <p:spPr>
          <a:xfrm>
            <a:off x="2640211" y="2564046"/>
            <a:ext cx="266665" cy="266665"/>
          </a:xfrm>
          <a:prstGeom prst="ellipse">
            <a:avLst/>
          </a:prstGeom>
          <a:solidFill>
            <a:srgbClr val="0D2E22"/>
          </a:solidFill>
          <a:ln/>
        </p:spPr>
      </p:sp>
      <p:sp>
        <p:nvSpPr>
          <p:cNvPr id="39" name="Text 36"/>
          <p:cNvSpPr/>
          <p:nvPr/>
        </p:nvSpPr>
        <p:spPr>
          <a:xfrm>
            <a:off x="2602111" y="2564046"/>
            <a:ext cx="342865" cy="304765"/>
          </a:xfrm>
          <a:prstGeom prst="rect">
            <a:avLst/>
          </a:prstGeom>
          <a:noFill/>
          <a:ln/>
        </p:spPr>
        <p:txBody>
          <a:bodyPr wrap="square" lIns="25400" tIns="25400" rIns="25400" bIns="25400" rtlCol="0" anchor="ctr">
            <a:normAutofit/>
          </a:bodyPr>
          <a:lstStyle/>
          <a:p>
            <a:pPr algn="ctr" indent="0" marL="0">
              <a:buNone/>
            </a:pPr>
            <a:r>
              <a:rPr lang="en-US" sz="1050" b="1" dirty="0">
                <a:solidFill>
                  <a:srgbClr val="FFFFFF"/>
                </a:solidFill>
                <a:latin typeface="IBM Plex Mono" pitchFamily="34" charset="0"/>
                <a:ea typeface="IBM Plex Mono" pitchFamily="34" charset="-122"/>
                <a:cs typeface="IBM Plex Mono" pitchFamily="34" charset="-120"/>
              </a:rPr>
              <a:t>1</a:t>
            </a:r>
            <a:endParaRPr lang="en-US" sz="1050" dirty="0"/>
          </a:p>
        </p:txBody>
      </p:sp>
      <p:sp>
        <p:nvSpPr>
          <p:cNvPr id="40" name="Text 37"/>
          <p:cNvSpPr/>
          <p:nvPr/>
        </p:nvSpPr>
        <p:spPr>
          <a:xfrm>
            <a:off x="2792436" y="2929112"/>
            <a:ext cx="1044458" cy="351865"/>
          </a:xfrm>
          <a:prstGeom prst="rect">
            <a:avLst/>
          </a:prstGeom>
          <a:noFill/>
          <a:ln/>
        </p:spPr>
        <p:txBody>
          <a:bodyPr wrap="square" lIns="25400" tIns="25400" rIns="25400" bIns="25400" rtlCol="0" anchor="t">
            <a:normAutofit/>
          </a:bodyPr>
          <a:lstStyle/>
          <a:p>
            <a:pPr algn="ctr" indent="0" marL="0">
              <a:lnSpc>
                <a:spcPct val="102000"/>
              </a:lnSpc>
              <a:buNone/>
            </a:pPr>
            <a:r>
              <a:rPr lang="en-US" sz="1050" b="1" dirty="0">
                <a:solidFill>
                  <a:srgbClr val="0D2E22"/>
                </a:solidFill>
                <a:latin typeface="Public Sans" pitchFamily="34" charset="0"/>
                <a:ea typeface="Public Sans" pitchFamily="34" charset="-122"/>
                <a:cs typeface="Public Sans" pitchFamily="34" charset="-120"/>
              </a:rPr>
              <a:t>Requests meeting</a:t>
            </a:r>
            <a:endParaRPr lang="en-US" sz="1050" dirty="0"/>
          </a:p>
        </p:txBody>
      </p:sp>
      <p:sp>
        <p:nvSpPr>
          <p:cNvPr id="41" name="Shape 38"/>
          <p:cNvSpPr/>
          <p:nvPr/>
        </p:nvSpPr>
        <p:spPr>
          <a:xfrm>
            <a:off x="2762250" y="4133745"/>
            <a:ext cx="1047750" cy="838165"/>
          </a:xfrm>
          <a:prstGeom prst="roundRect">
            <a:avLst>
              <a:gd name="adj" fmla="val 11364"/>
            </a:avLst>
          </a:prstGeom>
          <a:solidFill>
            <a:srgbClr val="EDF1E0"/>
          </a:solidFill>
          <a:ln w="11206">
            <a:solidFill>
              <a:srgbClr val="DBE6CD"/>
            </a:solidFill>
            <a:prstDash val="solid"/>
          </a:ln>
        </p:spPr>
      </p:sp>
      <p:sp>
        <p:nvSpPr>
          <p:cNvPr id="42" name="Shape 39"/>
          <p:cNvSpPr/>
          <p:nvPr/>
        </p:nvSpPr>
        <p:spPr>
          <a:xfrm>
            <a:off x="2659296" y="4030791"/>
            <a:ext cx="266665" cy="266665"/>
          </a:xfrm>
          <a:prstGeom prst="ellipse">
            <a:avLst/>
          </a:prstGeom>
          <a:solidFill>
            <a:srgbClr val="0D2E22"/>
          </a:solidFill>
          <a:ln/>
        </p:spPr>
      </p:sp>
      <p:sp>
        <p:nvSpPr>
          <p:cNvPr id="43" name="Text 40"/>
          <p:cNvSpPr/>
          <p:nvPr/>
        </p:nvSpPr>
        <p:spPr>
          <a:xfrm>
            <a:off x="2621196" y="4030791"/>
            <a:ext cx="342865" cy="304765"/>
          </a:xfrm>
          <a:prstGeom prst="rect">
            <a:avLst/>
          </a:prstGeom>
          <a:noFill/>
          <a:ln/>
        </p:spPr>
        <p:txBody>
          <a:bodyPr wrap="square" lIns="25400" tIns="25400" rIns="25400" bIns="25400" rtlCol="0" anchor="ctr">
            <a:normAutofit/>
          </a:bodyPr>
          <a:lstStyle/>
          <a:p>
            <a:pPr algn="ctr" indent="0" marL="0">
              <a:buNone/>
            </a:pPr>
            <a:r>
              <a:rPr lang="en-US" sz="1050" b="1" dirty="0">
                <a:solidFill>
                  <a:srgbClr val="FFFFFF"/>
                </a:solidFill>
                <a:latin typeface="IBM Plex Mono" pitchFamily="34" charset="0"/>
                <a:ea typeface="IBM Plex Mono" pitchFamily="34" charset="-122"/>
                <a:cs typeface="IBM Plex Mono" pitchFamily="34" charset="-120"/>
              </a:rPr>
              <a:t>2</a:t>
            </a:r>
            <a:endParaRPr lang="en-US" sz="1050" dirty="0"/>
          </a:p>
        </p:txBody>
      </p:sp>
      <p:sp>
        <p:nvSpPr>
          <p:cNvPr id="44" name="Text 41"/>
          <p:cNvSpPr/>
          <p:nvPr/>
        </p:nvSpPr>
        <p:spPr>
          <a:xfrm>
            <a:off x="2811521" y="4238975"/>
            <a:ext cx="949208" cy="665629"/>
          </a:xfrm>
          <a:prstGeom prst="rect">
            <a:avLst/>
          </a:prstGeom>
          <a:noFill/>
          <a:ln/>
        </p:spPr>
        <p:txBody>
          <a:bodyPr wrap="square" lIns="25400" tIns="25400" rIns="25400" bIns="25400" rtlCol="0" anchor="t">
            <a:normAutofit/>
          </a:bodyPr>
          <a:lstStyle/>
          <a:p>
            <a:pPr algn="ctr" indent="0" marL="0">
              <a:lnSpc>
                <a:spcPct val="102000"/>
              </a:lnSpc>
              <a:buNone/>
            </a:pPr>
            <a:r>
              <a:rPr lang="en-US" sz="1050" b="1" dirty="0">
                <a:solidFill>
                  <a:srgbClr val="0D2E22"/>
                </a:solidFill>
                <a:latin typeface="Public Sans" pitchFamily="34" charset="0"/>
                <a:ea typeface="Public Sans" pitchFamily="34" charset="-122"/>
                <a:cs typeface="Public Sans" pitchFamily="34" charset="-120"/>
              </a:rPr>
              <a:t>Identifies who to meet · CRM/ARR review</a:t>
            </a:r>
            <a:endParaRPr lang="en-US" sz="1050" dirty="0"/>
          </a:p>
        </p:txBody>
      </p:sp>
      <p:sp>
        <p:nvSpPr>
          <p:cNvPr id="45" name="Shape 42"/>
          <p:cNvSpPr/>
          <p:nvPr/>
        </p:nvSpPr>
        <p:spPr>
          <a:xfrm>
            <a:off x="4191000" y="4133745"/>
            <a:ext cx="1047750" cy="838165"/>
          </a:xfrm>
          <a:prstGeom prst="roundRect">
            <a:avLst>
              <a:gd name="adj" fmla="val 11364"/>
            </a:avLst>
          </a:prstGeom>
          <a:solidFill>
            <a:srgbClr val="EDF1E0"/>
          </a:solidFill>
          <a:ln w="11206">
            <a:solidFill>
              <a:srgbClr val="DBE6CD"/>
            </a:solidFill>
            <a:prstDash val="solid"/>
          </a:ln>
        </p:spPr>
      </p:sp>
      <p:sp>
        <p:nvSpPr>
          <p:cNvPr id="46" name="Shape 43"/>
          <p:cNvSpPr/>
          <p:nvPr/>
        </p:nvSpPr>
        <p:spPr>
          <a:xfrm>
            <a:off x="4088046" y="4030791"/>
            <a:ext cx="266665" cy="266665"/>
          </a:xfrm>
          <a:prstGeom prst="ellipse">
            <a:avLst/>
          </a:prstGeom>
          <a:solidFill>
            <a:srgbClr val="0D2E22"/>
          </a:solidFill>
          <a:ln/>
        </p:spPr>
      </p:sp>
      <p:sp>
        <p:nvSpPr>
          <p:cNvPr id="47" name="Text 44"/>
          <p:cNvSpPr/>
          <p:nvPr/>
        </p:nvSpPr>
        <p:spPr>
          <a:xfrm>
            <a:off x="4049946" y="4030791"/>
            <a:ext cx="342865" cy="304765"/>
          </a:xfrm>
          <a:prstGeom prst="rect">
            <a:avLst/>
          </a:prstGeom>
          <a:noFill/>
          <a:ln/>
        </p:spPr>
        <p:txBody>
          <a:bodyPr wrap="square" lIns="25400" tIns="25400" rIns="25400" bIns="25400" rtlCol="0" anchor="ctr">
            <a:normAutofit/>
          </a:bodyPr>
          <a:lstStyle/>
          <a:p>
            <a:pPr algn="ctr" indent="0" marL="0">
              <a:buNone/>
            </a:pPr>
            <a:r>
              <a:rPr lang="en-US" sz="1050" b="1" dirty="0">
                <a:solidFill>
                  <a:srgbClr val="FFFFFF"/>
                </a:solidFill>
                <a:latin typeface="IBM Plex Mono" pitchFamily="34" charset="0"/>
                <a:ea typeface="IBM Plex Mono" pitchFamily="34" charset="-122"/>
                <a:cs typeface="IBM Plex Mono" pitchFamily="34" charset="-120"/>
              </a:rPr>
              <a:t>3</a:t>
            </a:r>
            <a:endParaRPr lang="en-US" sz="1050" dirty="0"/>
          </a:p>
        </p:txBody>
      </p:sp>
      <p:sp>
        <p:nvSpPr>
          <p:cNvPr id="48" name="Text 45"/>
          <p:cNvSpPr/>
          <p:nvPr/>
        </p:nvSpPr>
        <p:spPr>
          <a:xfrm>
            <a:off x="4240271" y="4160709"/>
            <a:ext cx="949208" cy="822512"/>
          </a:xfrm>
          <a:prstGeom prst="rect">
            <a:avLst/>
          </a:prstGeom>
          <a:noFill/>
          <a:ln/>
        </p:spPr>
        <p:txBody>
          <a:bodyPr wrap="square" lIns="25400" tIns="25400" rIns="25400" bIns="25400" rtlCol="0" anchor="t">
            <a:normAutofit/>
          </a:bodyPr>
          <a:lstStyle/>
          <a:p>
            <a:pPr algn="ctr" indent="0" marL="0">
              <a:lnSpc>
                <a:spcPct val="102000"/>
              </a:lnSpc>
              <a:buNone/>
            </a:pPr>
            <a:r>
              <a:rPr lang="en-US" sz="1050" b="1" dirty="0">
                <a:solidFill>
                  <a:srgbClr val="0D2E22"/>
                </a:solidFill>
                <a:latin typeface="Public Sans" pitchFamily="34" charset="0"/>
                <a:ea typeface="Public Sans" pitchFamily="34" charset="-122"/>
                <a:cs typeface="Public Sans" pitchFamily="34" charset="-120"/>
              </a:rPr>
              <a:t>Checks type, room &amp; internal attendee availability</a:t>
            </a:r>
            <a:endParaRPr lang="en-US" sz="1050" dirty="0"/>
          </a:p>
        </p:txBody>
      </p:sp>
      <p:sp>
        <p:nvSpPr>
          <p:cNvPr id="49" name="Shape 46"/>
          <p:cNvSpPr/>
          <p:nvPr/>
        </p:nvSpPr>
        <p:spPr>
          <a:xfrm>
            <a:off x="5619749" y="4133745"/>
            <a:ext cx="1047750" cy="838165"/>
          </a:xfrm>
          <a:prstGeom prst="roundRect">
            <a:avLst>
              <a:gd name="adj" fmla="val 11364"/>
            </a:avLst>
          </a:prstGeom>
          <a:solidFill>
            <a:srgbClr val="EDF1E0"/>
          </a:solidFill>
          <a:ln w="11206">
            <a:solidFill>
              <a:srgbClr val="DBE6CD"/>
            </a:solidFill>
            <a:prstDash val="solid"/>
          </a:ln>
        </p:spPr>
      </p:sp>
      <p:sp>
        <p:nvSpPr>
          <p:cNvPr id="50" name="Shape 47"/>
          <p:cNvSpPr/>
          <p:nvPr/>
        </p:nvSpPr>
        <p:spPr>
          <a:xfrm>
            <a:off x="5516796" y="4030791"/>
            <a:ext cx="266665" cy="266665"/>
          </a:xfrm>
          <a:prstGeom prst="ellipse">
            <a:avLst/>
          </a:prstGeom>
          <a:solidFill>
            <a:srgbClr val="0D2E22"/>
          </a:solidFill>
          <a:ln/>
        </p:spPr>
      </p:sp>
      <p:sp>
        <p:nvSpPr>
          <p:cNvPr id="51" name="Text 48"/>
          <p:cNvSpPr/>
          <p:nvPr/>
        </p:nvSpPr>
        <p:spPr>
          <a:xfrm>
            <a:off x="5478696" y="4030791"/>
            <a:ext cx="342865" cy="304765"/>
          </a:xfrm>
          <a:prstGeom prst="rect">
            <a:avLst/>
          </a:prstGeom>
          <a:noFill/>
          <a:ln/>
        </p:spPr>
        <p:txBody>
          <a:bodyPr wrap="square" lIns="25400" tIns="25400" rIns="25400" bIns="25400" rtlCol="0" anchor="ctr">
            <a:normAutofit/>
          </a:bodyPr>
          <a:lstStyle/>
          <a:p>
            <a:pPr algn="ctr" indent="0" marL="0">
              <a:buNone/>
            </a:pPr>
            <a:r>
              <a:rPr lang="en-US" sz="1050" b="1" dirty="0">
                <a:solidFill>
                  <a:srgbClr val="FFFFFF"/>
                </a:solidFill>
                <a:latin typeface="IBM Plex Mono" pitchFamily="34" charset="0"/>
                <a:ea typeface="IBM Plex Mono" pitchFamily="34" charset="-122"/>
                <a:cs typeface="IBM Plex Mono" pitchFamily="34" charset="-120"/>
              </a:rPr>
              <a:t>4</a:t>
            </a:r>
            <a:endParaRPr lang="en-US" sz="1050" dirty="0"/>
          </a:p>
        </p:txBody>
      </p:sp>
      <p:sp>
        <p:nvSpPr>
          <p:cNvPr id="52" name="Text 49"/>
          <p:cNvSpPr/>
          <p:nvPr/>
        </p:nvSpPr>
        <p:spPr>
          <a:xfrm>
            <a:off x="5669020" y="4238975"/>
            <a:ext cx="949208" cy="665629"/>
          </a:xfrm>
          <a:prstGeom prst="rect">
            <a:avLst/>
          </a:prstGeom>
          <a:noFill/>
          <a:ln/>
        </p:spPr>
        <p:txBody>
          <a:bodyPr wrap="square" lIns="25400" tIns="25400" rIns="25400" bIns="25400" rtlCol="0" anchor="t">
            <a:normAutofit/>
          </a:bodyPr>
          <a:lstStyle/>
          <a:p>
            <a:pPr algn="ctr" indent="0" marL="0">
              <a:lnSpc>
                <a:spcPct val="102000"/>
              </a:lnSpc>
              <a:buNone/>
            </a:pPr>
            <a:r>
              <a:rPr lang="en-US" sz="1050" b="1" dirty="0">
                <a:solidFill>
                  <a:srgbClr val="0D2E22"/>
                </a:solidFill>
                <a:latin typeface="Public Sans" pitchFamily="34" charset="0"/>
                <a:ea typeface="Public Sans" pitchFamily="34" charset="-122"/>
                <a:cs typeface="Public Sans" pitchFamily="34" charset="-120"/>
              </a:rPr>
              <a:t>Creates 3 PROV Outlook invites + room</a:t>
            </a:r>
            <a:endParaRPr lang="en-US" sz="1050" dirty="0"/>
          </a:p>
        </p:txBody>
      </p:sp>
      <p:sp>
        <p:nvSpPr>
          <p:cNvPr id="53" name="Shape 50"/>
          <p:cNvSpPr/>
          <p:nvPr/>
        </p:nvSpPr>
        <p:spPr>
          <a:xfrm>
            <a:off x="7048499" y="4133745"/>
            <a:ext cx="1143000" cy="838165"/>
          </a:xfrm>
          <a:prstGeom prst="roundRect">
            <a:avLst>
              <a:gd name="adj" fmla="val 11364"/>
            </a:avLst>
          </a:prstGeom>
          <a:solidFill>
            <a:srgbClr val="EDF1E0"/>
          </a:solidFill>
          <a:ln w="11206">
            <a:solidFill>
              <a:srgbClr val="DBE6CD"/>
            </a:solidFill>
            <a:prstDash val="solid"/>
          </a:ln>
        </p:spPr>
      </p:sp>
      <p:sp>
        <p:nvSpPr>
          <p:cNvPr id="54" name="Shape 51"/>
          <p:cNvSpPr/>
          <p:nvPr/>
        </p:nvSpPr>
        <p:spPr>
          <a:xfrm>
            <a:off x="6945546" y="4030791"/>
            <a:ext cx="266665" cy="266665"/>
          </a:xfrm>
          <a:prstGeom prst="ellipse">
            <a:avLst/>
          </a:prstGeom>
          <a:solidFill>
            <a:srgbClr val="0D2E22"/>
          </a:solidFill>
          <a:ln/>
        </p:spPr>
      </p:sp>
      <p:sp>
        <p:nvSpPr>
          <p:cNvPr id="55" name="Text 52"/>
          <p:cNvSpPr/>
          <p:nvPr/>
        </p:nvSpPr>
        <p:spPr>
          <a:xfrm>
            <a:off x="6907446" y="4030791"/>
            <a:ext cx="342865" cy="304765"/>
          </a:xfrm>
          <a:prstGeom prst="rect">
            <a:avLst/>
          </a:prstGeom>
          <a:noFill/>
          <a:ln/>
        </p:spPr>
        <p:txBody>
          <a:bodyPr wrap="square" lIns="25400" tIns="25400" rIns="25400" bIns="25400" rtlCol="0" anchor="ctr">
            <a:normAutofit/>
          </a:bodyPr>
          <a:lstStyle/>
          <a:p>
            <a:pPr algn="ctr" indent="0" marL="0">
              <a:buNone/>
            </a:pPr>
            <a:r>
              <a:rPr lang="en-US" sz="1050" b="1" dirty="0">
                <a:solidFill>
                  <a:srgbClr val="FFFFFF"/>
                </a:solidFill>
                <a:latin typeface="IBM Plex Mono" pitchFamily="34" charset="0"/>
                <a:ea typeface="IBM Plex Mono" pitchFamily="34" charset="-122"/>
                <a:cs typeface="IBM Plex Mono" pitchFamily="34" charset="-120"/>
              </a:rPr>
              <a:t>5</a:t>
            </a:r>
            <a:endParaRPr lang="en-US" sz="1050" dirty="0"/>
          </a:p>
        </p:txBody>
      </p:sp>
      <p:sp>
        <p:nvSpPr>
          <p:cNvPr id="56" name="Text 53"/>
          <p:cNvSpPr/>
          <p:nvPr/>
        </p:nvSpPr>
        <p:spPr>
          <a:xfrm>
            <a:off x="7097770" y="4230396"/>
            <a:ext cx="1044458" cy="508747"/>
          </a:xfrm>
          <a:prstGeom prst="rect">
            <a:avLst/>
          </a:prstGeom>
          <a:noFill/>
          <a:ln/>
        </p:spPr>
        <p:txBody>
          <a:bodyPr wrap="square" lIns="25400" tIns="25400" rIns="25400" bIns="25400" rtlCol="0" anchor="t">
            <a:normAutofit/>
          </a:bodyPr>
          <a:lstStyle/>
          <a:p>
            <a:pPr algn="ctr" indent="0" marL="0">
              <a:lnSpc>
                <a:spcPct val="102000"/>
              </a:lnSpc>
              <a:buNone/>
            </a:pPr>
            <a:r>
              <a:rPr lang="en-US" sz="1050" b="1" dirty="0">
                <a:solidFill>
                  <a:srgbClr val="0D2E22"/>
                </a:solidFill>
                <a:latin typeface="Public Sans" pitchFamily="34" charset="0"/>
                <a:ea typeface="Public Sans" pitchFamily="34" charset="-122"/>
                <a:cs typeface="Public Sans" pitchFamily="34" charset="-120"/>
              </a:rPr>
              <a:t>Emails 3 proposed dates</a:t>
            </a:r>
            <a:endParaRPr lang="en-US" sz="1050" dirty="0"/>
          </a:p>
        </p:txBody>
      </p:sp>
      <p:sp>
        <p:nvSpPr>
          <p:cNvPr id="57" name="Text 54"/>
          <p:cNvSpPr/>
          <p:nvPr/>
        </p:nvSpPr>
        <p:spPr>
          <a:xfrm>
            <a:off x="7393150" y="4729583"/>
            <a:ext cx="453698" cy="183776"/>
          </a:xfrm>
          <a:prstGeom prst="rect">
            <a:avLst/>
          </a:prstGeom>
          <a:noFill/>
          <a:ln/>
        </p:spPr>
        <p:txBody>
          <a:bodyPr wrap="square" lIns="25400" tIns="25400" rIns="25400" bIns="25400" rtlCol="0" anchor="t">
            <a:normAutofit/>
          </a:bodyPr>
          <a:lstStyle/>
          <a:p>
            <a:pPr algn="ctr" indent="0" marL="0">
              <a:buNone/>
            </a:pPr>
            <a:r>
              <a:rPr lang="en-US" sz="825" b="1" dirty="0">
                <a:solidFill>
                  <a:srgbClr val="B4690E"/>
                </a:solidFill>
                <a:latin typeface="IBM Plex Mono" pitchFamily="34" charset="0"/>
                <a:ea typeface="IBM Plex Mono" pitchFamily="34" charset="-122"/>
                <a:cs typeface="IBM Plex Mono" pitchFamily="34" charset="-120"/>
              </a:rPr>
              <a:t>✉ MAIL</a:t>
            </a:r>
            <a:endParaRPr lang="en-US" sz="825" dirty="0"/>
          </a:p>
        </p:txBody>
      </p:sp>
      <p:sp>
        <p:nvSpPr>
          <p:cNvPr id="58" name="Shape 55"/>
          <p:cNvSpPr/>
          <p:nvPr/>
        </p:nvSpPr>
        <p:spPr>
          <a:xfrm>
            <a:off x="8934415" y="2667000"/>
            <a:ext cx="1143000" cy="838165"/>
          </a:xfrm>
          <a:prstGeom prst="roundRect">
            <a:avLst>
              <a:gd name="adj" fmla="val 11364"/>
            </a:avLst>
          </a:prstGeom>
          <a:solidFill>
            <a:srgbClr val="E6F4F2"/>
          </a:solidFill>
          <a:ln w="11206">
            <a:solidFill>
              <a:srgbClr val="BFE0DC"/>
            </a:solidFill>
            <a:prstDash val="solid"/>
          </a:ln>
        </p:spPr>
      </p:sp>
      <p:sp>
        <p:nvSpPr>
          <p:cNvPr id="59" name="Shape 56"/>
          <p:cNvSpPr/>
          <p:nvPr/>
        </p:nvSpPr>
        <p:spPr>
          <a:xfrm>
            <a:off x="8831460" y="2564046"/>
            <a:ext cx="266665" cy="266665"/>
          </a:xfrm>
          <a:prstGeom prst="ellipse">
            <a:avLst/>
          </a:prstGeom>
          <a:solidFill>
            <a:srgbClr val="0D2E22"/>
          </a:solidFill>
          <a:ln/>
        </p:spPr>
      </p:sp>
      <p:sp>
        <p:nvSpPr>
          <p:cNvPr id="60" name="Text 57"/>
          <p:cNvSpPr/>
          <p:nvPr/>
        </p:nvSpPr>
        <p:spPr>
          <a:xfrm>
            <a:off x="8793360" y="2564046"/>
            <a:ext cx="342865" cy="304765"/>
          </a:xfrm>
          <a:prstGeom prst="rect">
            <a:avLst/>
          </a:prstGeom>
          <a:noFill/>
          <a:ln/>
        </p:spPr>
        <p:txBody>
          <a:bodyPr wrap="square" lIns="25400" tIns="25400" rIns="25400" bIns="25400" rtlCol="0" anchor="ctr">
            <a:normAutofit/>
          </a:bodyPr>
          <a:lstStyle/>
          <a:p>
            <a:pPr algn="ctr" indent="0" marL="0">
              <a:buNone/>
            </a:pPr>
            <a:r>
              <a:rPr lang="en-US" sz="1050" b="1" dirty="0">
                <a:solidFill>
                  <a:srgbClr val="FFFFFF"/>
                </a:solidFill>
                <a:latin typeface="IBM Plex Mono" pitchFamily="34" charset="0"/>
                <a:ea typeface="IBM Plex Mono" pitchFamily="34" charset="-122"/>
                <a:cs typeface="IBM Plex Mono" pitchFamily="34" charset="-120"/>
              </a:rPr>
              <a:t>6</a:t>
            </a:r>
            <a:endParaRPr lang="en-US" sz="1050" dirty="0"/>
          </a:p>
        </p:txBody>
      </p:sp>
      <p:sp>
        <p:nvSpPr>
          <p:cNvPr id="61" name="Text 58"/>
          <p:cNvSpPr/>
          <p:nvPr/>
        </p:nvSpPr>
        <p:spPr>
          <a:xfrm>
            <a:off x="8983685" y="2929112"/>
            <a:ext cx="1044458" cy="351865"/>
          </a:xfrm>
          <a:prstGeom prst="rect">
            <a:avLst/>
          </a:prstGeom>
          <a:noFill/>
          <a:ln/>
        </p:spPr>
        <p:txBody>
          <a:bodyPr wrap="square" lIns="25400" tIns="25400" rIns="25400" bIns="25400" rtlCol="0" anchor="t">
            <a:normAutofit/>
          </a:bodyPr>
          <a:lstStyle/>
          <a:p>
            <a:pPr algn="ctr" indent="0" marL="0">
              <a:lnSpc>
                <a:spcPct val="102000"/>
              </a:lnSpc>
              <a:buNone/>
            </a:pPr>
            <a:r>
              <a:rPr lang="en-US" sz="1050" b="1" dirty="0">
                <a:solidFill>
                  <a:srgbClr val="0D2E22"/>
                </a:solidFill>
                <a:latin typeface="Public Sans" pitchFamily="34" charset="0"/>
                <a:ea typeface="Public Sans" pitchFamily="34" charset="-122"/>
                <a:cs typeface="Public Sans" pitchFamily="34" charset="-120"/>
              </a:rPr>
              <a:t>Receives 3 available dates</a:t>
            </a:r>
            <a:endParaRPr lang="en-US" sz="1050" dirty="0"/>
          </a:p>
        </p:txBody>
      </p:sp>
      <p:sp>
        <p:nvSpPr>
          <p:cNvPr id="62" name="Shape 59"/>
          <p:cNvSpPr/>
          <p:nvPr/>
        </p:nvSpPr>
        <p:spPr>
          <a:xfrm>
            <a:off x="10172664" y="4133745"/>
            <a:ext cx="1143000" cy="838165"/>
          </a:xfrm>
          <a:prstGeom prst="roundRect">
            <a:avLst>
              <a:gd name="adj" fmla="val 11364"/>
            </a:avLst>
          </a:prstGeom>
          <a:solidFill>
            <a:srgbClr val="FBF1E3"/>
          </a:solidFill>
          <a:ln w="11206">
            <a:solidFill>
              <a:srgbClr val="E0B478"/>
            </a:solidFill>
            <a:prstDash val="solid"/>
          </a:ln>
        </p:spPr>
      </p:sp>
      <p:sp>
        <p:nvSpPr>
          <p:cNvPr id="63" name="Shape 60"/>
          <p:cNvSpPr/>
          <p:nvPr/>
        </p:nvSpPr>
        <p:spPr>
          <a:xfrm>
            <a:off x="10069710" y="4030791"/>
            <a:ext cx="266665" cy="266665"/>
          </a:xfrm>
          <a:prstGeom prst="ellipse">
            <a:avLst/>
          </a:prstGeom>
          <a:solidFill>
            <a:srgbClr val="B4690E"/>
          </a:solidFill>
          <a:ln/>
        </p:spPr>
      </p:sp>
      <p:sp>
        <p:nvSpPr>
          <p:cNvPr id="64" name="Text 61"/>
          <p:cNvSpPr/>
          <p:nvPr/>
        </p:nvSpPr>
        <p:spPr>
          <a:xfrm>
            <a:off x="10031610" y="4030791"/>
            <a:ext cx="342865" cy="304765"/>
          </a:xfrm>
          <a:prstGeom prst="rect">
            <a:avLst/>
          </a:prstGeom>
          <a:noFill/>
          <a:ln/>
        </p:spPr>
        <p:txBody>
          <a:bodyPr wrap="square" lIns="25400" tIns="25400" rIns="25400" bIns="25400" rtlCol="0" anchor="ctr">
            <a:normAutofit/>
          </a:bodyPr>
          <a:lstStyle/>
          <a:p>
            <a:pPr algn="ctr" indent="0" marL="0">
              <a:buNone/>
            </a:pPr>
            <a:r>
              <a:rPr lang="en-US" sz="1275" b="1" dirty="0">
                <a:solidFill>
                  <a:srgbClr val="FFFFFF"/>
                </a:solidFill>
                <a:latin typeface="IBM Plex Mono" pitchFamily="34" charset="0"/>
                <a:ea typeface="IBM Plex Mono" pitchFamily="34" charset="-122"/>
                <a:cs typeface="IBM Plex Mono" pitchFamily="34" charset="-120"/>
              </a:rPr>
              <a:t>!</a:t>
            </a:r>
            <a:endParaRPr lang="en-US" sz="1275" dirty="0"/>
          </a:p>
        </p:txBody>
      </p:sp>
      <p:sp>
        <p:nvSpPr>
          <p:cNvPr id="65" name="Text 62"/>
          <p:cNvSpPr/>
          <p:nvPr/>
        </p:nvSpPr>
        <p:spPr>
          <a:xfrm>
            <a:off x="10221935" y="4317416"/>
            <a:ext cx="1044458" cy="508747"/>
          </a:xfrm>
          <a:prstGeom prst="rect">
            <a:avLst/>
          </a:prstGeom>
          <a:noFill/>
          <a:ln/>
        </p:spPr>
        <p:txBody>
          <a:bodyPr wrap="square" lIns="25400" tIns="25400" rIns="25400" bIns="25400" rtlCol="0" anchor="t">
            <a:normAutofit/>
          </a:bodyPr>
          <a:lstStyle/>
          <a:p>
            <a:pPr algn="ctr" indent="0" marL="0">
              <a:lnSpc>
                <a:spcPct val="102000"/>
              </a:lnSpc>
              <a:buNone/>
            </a:pPr>
            <a:r>
              <a:rPr lang="en-US" sz="1050" b="1" dirty="0">
                <a:solidFill>
                  <a:srgbClr val="0D2E22"/>
                </a:solidFill>
                <a:latin typeface="Public Sans" pitchFamily="34" charset="0"/>
                <a:ea typeface="Public Sans" pitchFamily="34" charset="-122"/>
                <a:cs typeface="Public Sans" pitchFamily="34" charset="-120"/>
              </a:rPr>
              <a:t>Deletes all 3 PROV meetings</a:t>
            </a:r>
            <a:endParaRPr lang="en-US" sz="1050" dirty="0"/>
          </a:p>
        </p:txBody>
      </p:sp>
      <p:sp>
        <p:nvSpPr>
          <p:cNvPr id="66" name="Shape 63"/>
          <p:cNvSpPr/>
          <p:nvPr/>
        </p:nvSpPr>
        <p:spPr>
          <a:xfrm>
            <a:off x="11410914" y="2667000"/>
            <a:ext cx="1143000" cy="838165"/>
          </a:xfrm>
          <a:prstGeom prst="roundRect">
            <a:avLst>
              <a:gd name="adj" fmla="val 11364"/>
            </a:avLst>
          </a:prstGeom>
          <a:solidFill>
            <a:srgbClr val="E6F4F2"/>
          </a:solidFill>
          <a:ln w="11206">
            <a:solidFill>
              <a:srgbClr val="BFE0DC"/>
            </a:solidFill>
            <a:prstDash val="solid"/>
          </a:ln>
        </p:spPr>
      </p:sp>
      <p:sp>
        <p:nvSpPr>
          <p:cNvPr id="67" name="Shape 64"/>
          <p:cNvSpPr/>
          <p:nvPr/>
        </p:nvSpPr>
        <p:spPr>
          <a:xfrm>
            <a:off x="11307960" y="2564046"/>
            <a:ext cx="266665" cy="266665"/>
          </a:xfrm>
          <a:prstGeom prst="ellipse">
            <a:avLst/>
          </a:prstGeom>
          <a:solidFill>
            <a:srgbClr val="0D2E22"/>
          </a:solidFill>
          <a:ln/>
        </p:spPr>
      </p:sp>
      <p:sp>
        <p:nvSpPr>
          <p:cNvPr id="68" name="Text 65"/>
          <p:cNvSpPr/>
          <p:nvPr/>
        </p:nvSpPr>
        <p:spPr>
          <a:xfrm>
            <a:off x="11269860" y="2564046"/>
            <a:ext cx="342865" cy="304765"/>
          </a:xfrm>
          <a:prstGeom prst="rect">
            <a:avLst/>
          </a:prstGeom>
          <a:noFill/>
          <a:ln/>
        </p:spPr>
        <p:txBody>
          <a:bodyPr wrap="square" lIns="25400" tIns="25400" rIns="25400" bIns="25400" rtlCol="0" anchor="ctr">
            <a:normAutofit/>
          </a:bodyPr>
          <a:lstStyle/>
          <a:p>
            <a:pPr algn="ctr" indent="0" marL="0">
              <a:buNone/>
            </a:pPr>
            <a:r>
              <a:rPr lang="en-US" sz="1050" b="1" dirty="0">
                <a:solidFill>
                  <a:srgbClr val="FFFFFF"/>
                </a:solidFill>
                <a:latin typeface="IBM Plex Mono" pitchFamily="34" charset="0"/>
                <a:ea typeface="IBM Plex Mono" pitchFamily="34" charset="-122"/>
                <a:cs typeface="IBM Plex Mono" pitchFamily="34" charset="-120"/>
              </a:rPr>
              <a:t>7</a:t>
            </a:r>
            <a:endParaRPr lang="en-US" sz="1050" dirty="0"/>
          </a:p>
        </p:txBody>
      </p:sp>
      <p:sp>
        <p:nvSpPr>
          <p:cNvPr id="69" name="Text 66"/>
          <p:cNvSpPr/>
          <p:nvPr/>
        </p:nvSpPr>
        <p:spPr>
          <a:xfrm>
            <a:off x="11460185" y="2842092"/>
            <a:ext cx="1044458" cy="351865"/>
          </a:xfrm>
          <a:prstGeom prst="rect">
            <a:avLst/>
          </a:prstGeom>
          <a:noFill/>
          <a:ln/>
        </p:spPr>
        <p:txBody>
          <a:bodyPr wrap="square" lIns="25400" tIns="25400" rIns="25400" bIns="25400" rtlCol="0" anchor="t">
            <a:normAutofit/>
          </a:bodyPr>
          <a:lstStyle/>
          <a:p>
            <a:pPr algn="ctr" indent="0" marL="0">
              <a:lnSpc>
                <a:spcPct val="102000"/>
              </a:lnSpc>
              <a:buNone/>
            </a:pPr>
            <a:r>
              <a:rPr lang="en-US" sz="1050" b="1" dirty="0">
                <a:solidFill>
                  <a:srgbClr val="0D2E22"/>
                </a:solidFill>
                <a:latin typeface="Public Sans" pitchFamily="34" charset="0"/>
                <a:ea typeface="Public Sans" pitchFamily="34" charset="-122"/>
                <a:cs typeface="Public Sans" pitchFamily="34" charset="-120"/>
              </a:rPr>
              <a:t>Informs bank of chosen date</a:t>
            </a:r>
            <a:endParaRPr lang="en-US" sz="1050" dirty="0"/>
          </a:p>
        </p:txBody>
      </p:sp>
      <p:sp>
        <p:nvSpPr>
          <p:cNvPr id="70" name="Text 67"/>
          <p:cNvSpPr/>
          <p:nvPr/>
        </p:nvSpPr>
        <p:spPr>
          <a:xfrm>
            <a:off x="11755565" y="3184396"/>
            <a:ext cx="453698" cy="183776"/>
          </a:xfrm>
          <a:prstGeom prst="rect">
            <a:avLst/>
          </a:prstGeom>
          <a:noFill/>
          <a:ln/>
        </p:spPr>
        <p:txBody>
          <a:bodyPr wrap="square" lIns="25400" tIns="25400" rIns="25400" bIns="25400" rtlCol="0" anchor="t">
            <a:normAutofit/>
          </a:bodyPr>
          <a:lstStyle/>
          <a:p>
            <a:pPr algn="ctr" indent="0" marL="0">
              <a:buNone/>
            </a:pPr>
            <a:r>
              <a:rPr lang="en-US" sz="825" b="1" dirty="0">
                <a:solidFill>
                  <a:srgbClr val="B4690E"/>
                </a:solidFill>
                <a:latin typeface="IBM Plex Mono" pitchFamily="34" charset="0"/>
                <a:ea typeface="IBM Plex Mono" pitchFamily="34" charset="-122"/>
                <a:cs typeface="IBM Plex Mono" pitchFamily="34" charset="-120"/>
              </a:rPr>
              <a:t>✉ MAIL</a:t>
            </a:r>
            <a:endParaRPr lang="en-US" sz="825" dirty="0"/>
          </a:p>
        </p:txBody>
      </p:sp>
      <p:sp>
        <p:nvSpPr>
          <p:cNvPr id="71" name="Shape 68"/>
          <p:cNvSpPr/>
          <p:nvPr/>
        </p:nvSpPr>
        <p:spPr>
          <a:xfrm>
            <a:off x="12649164" y="4133745"/>
            <a:ext cx="1143000" cy="838165"/>
          </a:xfrm>
          <a:prstGeom prst="roundRect">
            <a:avLst>
              <a:gd name="adj" fmla="val 11364"/>
            </a:avLst>
          </a:prstGeom>
          <a:solidFill>
            <a:srgbClr val="EDF1E0"/>
          </a:solidFill>
          <a:ln w="11206">
            <a:solidFill>
              <a:srgbClr val="DBE6CD"/>
            </a:solidFill>
            <a:prstDash val="solid"/>
          </a:ln>
        </p:spPr>
      </p:sp>
      <p:sp>
        <p:nvSpPr>
          <p:cNvPr id="72" name="Shape 69"/>
          <p:cNvSpPr/>
          <p:nvPr/>
        </p:nvSpPr>
        <p:spPr>
          <a:xfrm>
            <a:off x="12546210" y="4030791"/>
            <a:ext cx="266665" cy="266665"/>
          </a:xfrm>
          <a:prstGeom prst="ellipse">
            <a:avLst/>
          </a:prstGeom>
          <a:solidFill>
            <a:srgbClr val="0D2E22"/>
          </a:solidFill>
          <a:ln/>
        </p:spPr>
      </p:sp>
      <p:sp>
        <p:nvSpPr>
          <p:cNvPr id="73" name="Text 70"/>
          <p:cNvSpPr/>
          <p:nvPr/>
        </p:nvSpPr>
        <p:spPr>
          <a:xfrm>
            <a:off x="12508110" y="4030791"/>
            <a:ext cx="342865" cy="304765"/>
          </a:xfrm>
          <a:prstGeom prst="rect">
            <a:avLst/>
          </a:prstGeom>
          <a:noFill/>
          <a:ln/>
        </p:spPr>
        <p:txBody>
          <a:bodyPr wrap="square" lIns="25400" tIns="25400" rIns="25400" bIns="25400" rtlCol="0" anchor="ctr">
            <a:normAutofit/>
          </a:bodyPr>
          <a:lstStyle/>
          <a:p>
            <a:pPr algn="ctr" indent="0" marL="0">
              <a:buNone/>
            </a:pPr>
            <a:r>
              <a:rPr lang="en-US" sz="1050" b="1" dirty="0">
                <a:solidFill>
                  <a:srgbClr val="FFFFFF"/>
                </a:solidFill>
                <a:latin typeface="IBM Plex Mono" pitchFamily="34" charset="0"/>
                <a:ea typeface="IBM Plex Mono" pitchFamily="34" charset="-122"/>
                <a:cs typeface="IBM Plex Mono" pitchFamily="34" charset="-120"/>
              </a:rPr>
              <a:t>8</a:t>
            </a:r>
            <a:endParaRPr lang="en-US" sz="1050" dirty="0"/>
          </a:p>
        </p:txBody>
      </p:sp>
      <p:sp>
        <p:nvSpPr>
          <p:cNvPr id="74" name="Text 71"/>
          <p:cNvSpPr/>
          <p:nvPr/>
        </p:nvSpPr>
        <p:spPr>
          <a:xfrm>
            <a:off x="12698435" y="4238975"/>
            <a:ext cx="1044458" cy="665629"/>
          </a:xfrm>
          <a:prstGeom prst="rect">
            <a:avLst/>
          </a:prstGeom>
          <a:noFill/>
          <a:ln/>
        </p:spPr>
        <p:txBody>
          <a:bodyPr wrap="square" lIns="25400" tIns="25400" rIns="25400" bIns="25400" rtlCol="0" anchor="t">
            <a:normAutofit/>
          </a:bodyPr>
          <a:lstStyle/>
          <a:p>
            <a:pPr algn="ctr" indent="0" marL="0">
              <a:lnSpc>
                <a:spcPct val="102000"/>
              </a:lnSpc>
              <a:buNone/>
            </a:pPr>
            <a:r>
              <a:rPr lang="en-US" sz="1050" b="1" dirty="0">
                <a:solidFill>
                  <a:srgbClr val="0D2E22"/>
                </a:solidFill>
                <a:latin typeface="Public Sans" pitchFamily="34" charset="0"/>
                <a:ea typeface="Public Sans" pitchFamily="34" charset="-122"/>
                <a:cs typeface="Public Sans" pitchFamily="34" charset="-120"/>
              </a:rPr>
              <a:t>Deletes irrelevant dates · removes PROV</a:t>
            </a:r>
            <a:endParaRPr lang="en-US" sz="1050" dirty="0"/>
          </a:p>
        </p:txBody>
      </p:sp>
      <p:sp>
        <p:nvSpPr>
          <p:cNvPr id="75" name="Shape 72"/>
          <p:cNvSpPr/>
          <p:nvPr/>
        </p:nvSpPr>
        <p:spPr>
          <a:xfrm>
            <a:off x="16363914" y="4133745"/>
            <a:ext cx="1143000" cy="838165"/>
          </a:xfrm>
          <a:prstGeom prst="roundRect">
            <a:avLst>
              <a:gd name="adj" fmla="val 11364"/>
            </a:avLst>
          </a:prstGeom>
          <a:solidFill>
            <a:srgbClr val="EDF1E0"/>
          </a:solidFill>
          <a:ln w="11206">
            <a:solidFill>
              <a:srgbClr val="DBE6CD"/>
            </a:solidFill>
            <a:prstDash val="solid"/>
          </a:ln>
        </p:spPr>
      </p:sp>
      <p:sp>
        <p:nvSpPr>
          <p:cNvPr id="76" name="Shape 73"/>
          <p:cNvSpPr/>
          <p:nvPr/>
        </p:nvSpPr>
        <p:spPr>
          <a:xfrm>
            <a:off x="16260960" y="4030791"/>
            <a:ext cx="266665" cy="266665"/>
          </a:xfrm>
          <a:prstGeom prst="ellipse">
            <a:avLst/>
          </a:prstGeom>
          <a:solidFill>
            <a:srgbClr val="0D2E22"/>
          </a:solidFill>
          <a:ln/>
        </p:spPr>
      </p:sp>
      <p:sp>
        <p:nvSpPr>
          <p:cNvPr id="77" name="Text 74"/>
          <p:cNvSpPr/>
          <p:nvPr/>
        </p:nvSpPr>
        <p:spPr>
          <a:xfrm>
            <a:off x="16222860" y="4030791"/>
            <a:ext cx="342865" cy="304765"/>
          </a:xfrm>
          <a:prstGeom prst="rect">
            <a:avLst/>
          </a:prstGeom>
          <a:noFill/>
          <a:ln/>
        </p:spPr>
        <p:txBody>
          <a:bodyPr wrap="square" lIns="25400" tIns="25400" rIns="25400" bIns="25400" rtlCol="0" anchor="ctr">
            <a:normAutofit/>
          </a:bodyPr>
          <a:lstStyle/>
          <a:p>
            <a:pPr algn="ctr" indent="0" marL="0">
              <a:buNone/>
            </a:pPr>
            <a:r>
              <a:rPr lang="en-US" sz="1050" b="1" dirty="0">
                <a:solidFill>
                  <a:srgbClr val="FFFFFF"/>
                </a:solidFill>
                <a:latin typeface="IBM Plex Mono" pitchFamily="34" charset="0"/>
                <a:ea typeface="IBM Plex Mono" pitchFamily="34" charset="-122"/>
                <a:cs typeface="IBM Plex Mono" pitchFamily="34" charset="-120"/>
              </a:rPr>
              <a:t>9</a:t>
            </a:r>
            <a:endParaRPr lang="en-US" sz="1050" dirty="0"/>
          </a:p>
        </p:txBody>
      </p:sp>
      <p:sp>
        <p:nvSpPr>
          <p:cNvPr id="78" name="Text 75"/>
          <p:cNvSpPr/>
          <p:nvPr/>
        </p:nvSpPr>
        <p:spPr>
          <a:xfrm>
            <a:off x="16413185" y="4230396"/>
            <a:ext cx="1044458" cy="508747"/>
          </a:xfrm>
          <a:prstGeom prst="rect">
            <a:avLst/>
          </a:prstGeom>
          <a:noFill/>
          <a:ln/>
        </p:spPr>
        <p:txBody>
          <a:bodyPr wrap="square" lIns="25400" tIns="25400" rIns="25400" bIns="25400" rtlCol="0" anchor="t">
            <a:normAutofit/>
          </a:bodyPr>
          <a:lstStyle/>
          <a:p>
            <a:pPr algn="ctr" indent="0" marL="0">
              <a:lnSpc>
                <a:spcPct val="102000"/>
              </a:lnSpc>
              <a:buNone/>
            </a:pPr>
            <a:r>
              <a:rPr lang="en-US" sz="1050" b="1" dirty="0">
                <a:solidFill>
                  <a:srgbClr val="0D2E22"/>
                </a:solidFill>
                <a:latin typeface="Public Sans" pitchFamily="34" charset="0"/>
                <a:ea typeface="Public Sans" pitchFamily="34" charset="-122"/>
                <a:cs typeface="Public Sans" pitchFamily="34" charset="-120"/>
              </a:rPr>
              <a:t>Emails Outlook invite to customer</a:t>
            </a:r>
            <a:endParaRPr lang="en-US" sz="1050" dirty="0"/>
          </a:p>
        </p:txBody>
      </p:sp>
      <p:sp>
        <p:nvSpPr>
          <p:cNvPr id="79" name="Text 76"/>
          <p:cNvSpPr/>
          <p:nvPr/>
        </p:nvSpPr>
        <p:spPr>
          <a:xfrm>
            <a:off x="16708565" y="4729583"/>
            <a:ext cx="453698" cy="183776"/>
          </a:xfrm>
          <a:prstGeom prst="rect">
            <a:avLst/>
          </a:prstGeom>
          <a:noFill/>
          <a:ln/>
        </p:spPr>
        <p:txBody>
          <a:bodyPr wrap="square" lIns="25400" tIns="25400" rIns="25400" bIns="25400" rtlCol="0" anchor="t">
            <a:normAutofit/>
          </a:bodyPr>
          <a:lstStyle/>
          <a:p>
            <a:pPr algn="ctr" indent="0" marL="0">
              <a:buNone/>
            </a:pPr>
            <a:r>
              <a:rPr lang="en-US" sz="825" b="1" dirty="0">
                <a:solidFill>
                  <a:srgbClr val="B4690E"/>
                </a:solidFill>
                <a:latin typeface="IBM Plex Mono" pitchFamily="34" charset="0"/>
                <a:ea typeface="IBM Plex Mono" pitchFamily="34" charset="-122"/>
                <a:cs typeface="IBM Plex Mono" pitchFamily="34" charset="-120"/>
              </a:rPr>
              <a:t>✉ MAIL</a:t>
            </a:r>
            <a:endParaRPr lang="en-US" sz="825" dirty="0"/>
          </a:p>
        </p:txBody>
      </p:sp>
      <p:sp>
        <p:nvSpPr>
          <p:cNvPr id="80" name="Shape 77"/>
          <p:cNvSpPr/>
          <p:nvPr/>
        </p:nvSpPr>
        <p:spPr>
          <a:xfrm>
            <a:off x="16363914" y="2667000"/>
            <a:ext cx="1143000" cy="838165"/>
          </a:xfrm>
          <a:prstGeom prst="roundRect">
            <a:avLst>
              <a:gd name="adj" fmla="val 11364"/>
            </a:avLst>
          </a:prstGeom>
          <a:solidFill>
            <a:srgbClr val="E6F4F2"/>
          </a:solidFill>
          <a:ln w="11206">
            <a:solidFill>
              <a:srgbClr val="BFE0DC"/>
            </a:solidFill>
            <a:prstDash val="solid"/>
          </a:ln>
        </p:spPr>
      </p:sp>
      <p:sp>
        <p:nvSpPr>
          <p:cNvPr id="81" name="Shape 78"/>
          <p:cNvSpPr/>
          <p:nvPr/>
        </p:nvSpPr>
        <p:spPr>
          <a:xfrm>
            <a:off x="16260960" y="2564046"/>
            <a:ext cx="266665" cy="266665"/>
          </a:xfrm>
          <a:prstGeom prst="ellipse">
            <a:avLst/>
          </a:prstGeom>
          <a:solidFill>
            <a:srgbClr val="0D2E22"/>
          </a:solidFill>
          <a:ln/>
        </p:spPr>
      </p:sp>
      <p:sp>
        <p:nvSpPr>
          <p:cNvPr id="82" name="Text 79"/>
          <p:cNvSpPr/>
          <p:nvPr/>
        </p:nvSpPr>
        <p:spPr>
          <a:xfrm>
            <a:off x="16222860" y="2564046"/>
            <a:ext cx="342865" cy="304765"/>
          </a:xfrm>
          <a:prstGeom prst="rect">
            <a:avLst/>
          </a:prstGeom>
          <a:noFill/>
          <a:ln/>
        </p:spPr>
        <p:txBody>
          <a:bodyPr wrap="square" lIns="25400" tIns="25400" rIns="25400" bIns="25400" rtlCol="0" anchor="ctr">
            <a:normAutofit/>
          </a:bodyPr>
          <a:lstStyle/>
          <a:p>
            <a:pPr algn="ctr" indent="0" marL="0">
              <a:buNone/>
            </a:pPr>
            <a:r>
              <a:rPr lang="en-US" sz="1050" b="1" dirty="0">
                <a:solidFill>
                  <a:srgbClr val="FFFFFF"/>
                </a:solidFill>
                <a:latin typeface="IBM Plex Mono" pitchFamily="34" charset="0"/>
                <a:ea typeface="IBM Plex Mono" pitchFamily="34" charset="-122"/>
                <a:cs typeface="IBM Plex Mono" pitchFamily="34" charset="-120"/>
              </a:rPr>
              <a:t>10</a:t>
            </a:r>
            <a:endParaRPr lang="en-US" sz="1050" dirty="0"/>
          </a:p>
        </p:txBody>
      </p:sp>
      <p:sp>
        <p:nvSpPr>
          <p:cNvPr id="83" name="Text 80"/>
          <p:cNvSpPr/>
          <p:nvPr/>
        </p:nvSpPr>
        <p:spPr>
          <a:xfrm>
            <a:off x="16413185" y="2850671"/>
            <a:ext cx="1044458" cy="508747"/>
          </a:xfrm>
          <a:prstGeom prst="rect">
            <a:avLst/>
          </a:prstGeom>
          <a:noFill/>
          <a:ln/>
        </p:spPr>
        <p:txBody>
          <a:bodyPr wrap="square" lIns="25400" tIns="25400" rIns="25400" bIns="25400" rtlCol="0" anchor="t">
            <a:normAutofit/>
          </a:bodyPr>
          <a:lstStyle/>
          <a:p>
            <a:pPr algn="ctr" indent="0" marL="0">
              <a:lnSpc>
                <a:spcPct val="102000"/>
              </a:lnSpc>
              <a:buNone/>
            </a:pPr>
            <a:r>
              <a:rPr lang="en-US" sz="1050" b="1" dirty="0">
                <a:solidFill>
                  <a:srgbClr val="0D2E22"/>
                </a:solidFill>
                <a:latin typeface="Public Sans" pitchFamily="34" charset="0"/>
                <a:ea typeface="Public Sans" pitchFamily="34" charset="-122"/>
                <a:cs typeface="Public Sans" pitchFamily="34" charset="-120"/>
              </a:rPr>
              <a:t>Accepts invite → Outlook calendar</a:t>
            </a:r>
            <a:endParaRPr lang="en-US" sz="1050" dirty="0"/>
          </a:p>
        </p:txBody>
      </p:sp>
      <p:sp>
        <p:nvSpPr>
          <p:cNvPr id="84" name="Shape 81"/>
          <p:cNvSpPr/>
          <p:nvPr/>
        </p:nvSpPr>
        <p:spPr>
          <a:xfrm>
            <a:off x="5619749" y="7067409"/>
            <a:ext cx="1143000" cy="838165"/>
          </a:xfrm>
          <a:prstGeom prst="roundRect">
            <a:avLst>
              <a:gd name="adj" fmla="val 11364"/>
            </a:avLst>
          </a:prstGeom>
          <a:solidFill>
            <a:srgbClr val="EEF1F6"/>
          </a:solidFill>
          <a:ln w="11206">
            <a:solidFill>
              <a:srgbClr val="CFD6E6"/>
            </a:solidFill>
            <a:prstDash val="solid"/>
          </a:ln>
        </p:spPr>
      </p:sp>
      <p:sp>
        <p:nvSpPr>
          <p:cNvPr id="85" name="Shape 82"/>
          <p:cNvSpPr/>
          <p:nvPr/>
        </p:nvSpPr>
        <p:spPr>
          <a:xfrm>
            <a:off x="5526250" y="6973910"/>
            <a:ext cx="209410" cy="209410"/>
          </a:xfrm>
          <a:prstGeom prst="ellipse">
            <a:avLst/>
          </a:prstGeom>
          <a:solidFill>
            <a:srgbClr val="FFFFFF"/>
          </a:solidFill>
          <a:ln w="16809">
            <a:solidFill>
              <a:srgbClr val="9AA7B3"/>
            </a:solidFill>
            <a:prstDash val="solid"/>
          </a:ln>
        </p:spPr>
      </p:sp>
      <p:sp>
        <p:nvSpPr>
          <p:cNvPr id="86" name="Text 83"/>
          <p:cNvSpPr/>
          <p:nvPr/>
        </p:nvSpPr>
        <p:spPr>
          <a:xfrm>
            <a:off x="5669020" y="7251081"/>
            <a:ext cx="1044458" cy="508747"/>
          </a:xfrm>
          <a:prstGeom prst="rect">
            <a:avLst/>
          </a:prstGeom>
          <a:noFill/>
          <a:ln/>
        </p:spPr>
        <p:txBody>
          <a:bodyPr wrap="square" lIns="25400" tIns="25400" rIns="25400" bIns="25400" rtlCol="0" anchor="t">
            <a:normAutofit/>
          </a:bodyPr>
          <a:lstStyle/>
          <a:p>
            <a:pPr algn="ctr" indent="0" marL="0">
              <a:lnSpc>
                <a:spcPct val="102000"/>
              </a:lnSpc>
              <a:buNone/>
            </a:pPr>
            <a:r>
              <a:rPr lang="en-US" sz="1050" b="1" dirty="0">
                <a:solidFill>
                  <a:srgbClr val="0D2E22"/>
                </a:solidFill>
                <a:latin typeface="Public Sans" pitchFamily="34" charset="0"/>
                <a:ea typeface="Public Sans" pitchFamily="34" charset="-122"/>
                <a:cs typeface="Public Sans" pitchFamily="34" charset="-120"/>
              </a:rPr>
              <a:t>Accepts all 3 PROV CRM holds</a:t>
            </a:r>
            <a:endParaRPr lang="en-US" sz="1050" dirty="0"/>
          </a:p>
        </p:txBody>
      </p:sp>
      <p:sp>
        <p:nvSpPr>
          <p:cNvPr id="87" name="Shape 84"/>
          <p:cNvSpPr/>
          <p:nvPr/>
        </p:nvSpPr>
        <p:spPr>
          <a:xfrm>
            <a:off x="13887414" y="8534330"/>
            <a:ext cx="1143000" cy="838165"/>
          </a:xfrm>
          <a:prstGeom prst="roundRect">
            <a:avLst>
              <a:gd name="adj" fmla="val 11364"/>
            </a:avLst>
          </a:prstGeom>
          <a:solidFill>
            <a:srgbClr val="F3E9F3"/>
          </a:solidFill>
          <a:ln w="11206">
            <a:solidFill>
              <a:srgbClr val="DDC4DD"/>
            </a:solidFill>
            <a:prstDash val="solid"/>
          </a:ln>
        </p:spPr>
      </p:sp>
      <p:sp>
        <p:nvSpPr>
          <p:cNvPr id="88" name="Shape 85"/>
          <p:cNvSpPr/>
          <p:nvPr/>
        </p:nvSpPr>
        <p:spPr>
          <a:xfrm>
            <a:off x="13793915" y="8440830"/>
            <a:ext cx="209410" cy="209410"/>
          </a:xfrm>
          <a:prstGeom prst="ellipse">
            <a:avLst/>
          </a:prstGeom>
          <a:solidFill>
            <a:srgbClr val="FFFFFF"/>
          </a:solidFill>
          <a:ln w="16809">
            <a:solidFill>
              <a:srgbClr val="9AA7B3"/>
            </a:solidFill>
            <a:prstDash val="solid"/>
          </a:ln>
        </p:spPr>
      </p:sp>
      <p:sp>
        <p:nvSpPr>
          <p:cNvPr id="89" name="Text 86"/>
          <p:cNvSpPr/>
          <p:nvPr/>
        </p:nvSpPr>
        <p:spPr>
          <a:xfrm>
            <a:off x="13936685" y="8639560"/>
            <a:ext cx="1044458" cy="665629"/>
          </a:xfrm>
          <a:prstGeom prst="rect">
            <a:avLst/>
          </a:prstGeom>
          <a:noFill/>
          <a:ln/>
        </p:spPr>
        <p:txBody>
          <a:bodyPr wrap="square" lIns="25400" tIns="25400" rIns="25400" bIns="25400" rtlCol="0" anchor="t">
            <a:normAutofit/>
          </a:bodyPr>
          <a:lstStyle/>
          <a:p>
            <a:pPr algn="ctr" indent="0" marL="0">
              <a:lnSpc>
                <a:spcPct val="102000"/>
              </a:lnSpc>
              <a:buNone/>
            </a:pPr>
            <a:r>
              <a:rPr lang="en-US" sz="1050" b="1" dirty="0">
                <a:solidFill>
                  <a:srgbClr val="0D2E22"/>
                </a:solidFill>
                <a:latin typeface="Public Sans" pitchFamily="34" charset="0"/>
                <a:ea typeface="Public Sans" pitchFamily="34" charset="-122"/>
                <a:cs typeface="Public Sans" pitchFamily="34" charset="-120"/>
              </a:rPr>
              <a:t>Email EA to check if partner is available</a:t>
            </a:r>
            <a:endParaRPr lang="en-US" sz="1050" dirty="0"/>
          </a:p>
        </p:txBody>
      </p:sp>
      <p:sp>
        <p:nvSpPr>
          <p:cNvPr id="90" name="Shape 87"/>
          <p:cNvSpPr/>
          <p:nvPr/>
        </p:nvSpPr>
        <p:spPr>
          <a:xfrm>
            <a:off x="16363914" y="8534330"/>
            <a:ext cx="1143000" cy="838165"/>
          </a:xfrm>
          <a:prstGeom prst="roundRect">
            <a:avLst>
              <a:gd name="adj" fmla="val 11364"/>
            </a:avLst>
          </a:prstGeom>
          <a:solidFill>
            <a:srgbClr val="F3E9F3"/>
          </a:solidFill>
          <a:ln w="11206">
            <a:solidFill>
              <a:srgbClr val="DDC4DD"/>
            </a:solidFill>
            <a:prstDash val="solid"/>
          </a:ln>
        </p:spPr>
      </p:sp>
      <p:sp>
        <p:nvSpPr>
          <p:cNvPr id="91" name="Shape 88"/>
          <p:cNvSpPr/>
          <p:nvPr/>
        </p:nvSpPr>
        <p:spPr>
          <a:xfrm>
            <a:off x="16270415" y="8440830"/>
            <a:ext cx="209410" cy="209410"/>
          </a:xfrm>
          <a:prstGeom prst="ellipse">
            <a:avLst/>
          </a:prstGeom>
          <a:solidFill>
            <a:srgbClr val="FFFFFF"/>
          </a:solidFill>
          <a:ln w="16809">
            <a:solidFill>
              <a:srgbClr val="9AA7B3"/>
            </a:solidFill>
            <a:prstDash val="solid"/>
          </a:ln>
        </p:spPr>
      </p:sp>
      <p:sp>
        <p:nvSpPr>
          <p:cNvPr id="92" name="Text 89"/>
          <p:cNvSpPr/>
          <p:nvPr/>
        </p:nvSpPr>
        <p:spPr>
          <a:xfrm>
            <a:off x="16413185" y="8630980"/>
            <a:ext cx="1044458" cy="508747"/>
          </a:xfrm>
          <a:prstGeom prst="rect">
            <a:avLst/>
          </a:prstGeom>
          <a:noFill/>
          <a:ln/>
        </p:spPr>
        <p:txBody>
          <a:bodyPr wrap="square" lIns="25400" tIns="25400" rIns="25400" bIns="25400" rtlCol="0" anchor="t">
            <a:normAutofit/>
          </a:bodyPr>
          <a:lstStyle/>
          <a:p>
            <a:pPr algn="ctr" indent="0" marL="0">
              <a:lnSpc>
                <a:spcPct val="102000"/>
              </a:lnSpc>
              <a:buNone/>
            </a:pPr>
            <a:r>
              <a:rPr lang="en-US" sz="1050" b="1" dirty="0">
                <a:solidFill>
                  <a:srgbClr val="0D2E22"/>
                </a:solidFill>
                <a:latin typeface="Public Sans" pitchFamily="34" charset="0"/>
                <a:ea typeface="Public Sans" pitchFamily="34" charset="-122"/>
                <a:cs typeface="Public Sans" pitchFamily="34" charset="-120"/>
              </a:rPr>
              <a:t>Emails RM to add partner to invite</a:t>
            </a:r>
            <a:endParaRPr lang="en-US" sz="1050" dirty="0"/>
          </a:p>
        </p:txBody>
      </p:sp>
      <p:sp>
        <p:nvSpPr>
          <p:cNvPr id="93" name="Text 90"/>
          <p:cNvSpPr/>
          <p:nvPr/>
        </p:nvSpPr>
        <p:spPr>
          <a:xfrm>
            <a:off x="16708565" y="9130167"/>
            <a:ext cx="453698" cy="183776"/>
          </a:xfrm>
          <a:prstGeom prst="rect">
            <a:avLst/>
          </a:prstGeom>
          <a:noFill/>
          <a:ln/>
        </p:spPr>
        <p:txBody>
          <a:bodyPr wrap="square" lIns="25400" tIns="25400" rIns="25400" bIns="25400" rtlCol="0" anchor="t">
            <a:normAutofit/>
          </a:bodyPr>
          <a:lstStyle/>
          <a:p>
            <a:pPr algn="ctr" indent="0" marL="0">
              <a:buNone/>
            </a:pPr>
            <a:r>
              <a:rPr lang="en-US" sz="825" b="1" dirty="0">
                <a:solidFill>
                  <a:srgbClr val="B4690E"/>
                </a:solidFill>
                <a:latin typeface="IBM Plex Mono" pitchFamily="34" charset="0"/>
                <a:ea typeface="IBM Plex Mono" pitchFamily="34" charset="-122"/>
                <a:cs typeface="IBM Plex Mono" pitchFamily="34" charset="-120"/>
              </a:rPr>
              <a:t>✉ MAIL</a:t>
            </a:r>
            <a:endParaRPr lang="en-US" sz="825" dirty="0"/>
          </a:p>
        </p:txBody>
      </p:sp>
      <p:sp>
        <p:nvSpPr>
          <p:cNvPr id="94" name="Shape 91"/>
          <p:cNvSpPr/>
          <p:nvPr/>
        </p:nvSpPr>
        <p:spPr>
          <a:xfrm>
            <a:off x="15125664" y="4133745"/>
            <a:ext cx="1047750" cy="838165"/>
          </a:xfrm>
          <a:prstGeom prst="roundRect">
            <a:avLst>
              <a:gd name="adj" fmla="val 11364"/>
            </a:avLst>
          </a:prstGeom>
          <a:solidFill>
            <a:srgbClr val="EDF1E0"/>
          </a:solidFill>
          <a:ln w="11206">
            <a:solidFill>
              <a:srgbClr val="DBE6CD"/>
            </a:solidFill>
            <a:prstDash val="solid"/>
          </a:ln>
        </p:spPr>
      </p:sp>
      <p:sp>
        <p:nvSpPr>
          <p:cNvPr id="95" name="Shape 92"/>
          <p:cNvSpPr/>
          <p:nvPr/>
        </p:nvSpPr>
        <p:spPr>
          <a:xfrm>
            <a:off x="15032165" y="4040246"/>
            <a:ext cx="209410" cy="209410"/>
          </a:xfrm>
          <a:prstGeom prst="ellipse">
            <a:avLst/>
          </a:prstGeom>
          <a:solidFill>
            <a:srgbClr val="FFFFFF"/>
          </a:solidFill>
          <a:ln w="16809">
            <a:solidFill>
              <a:srgbClr val="9AA7B3"/>
            </a:solidFill>
            <a:prstDash val="solid"/>
          </a:ln>
        </p:spPr>
      </p:sp>
      <p:sp>
        <p:nvSpPr>
          <p:cNvPr id="96" name="Text 93"/>
          <p:cNvSpPr/>
          <p:nvPr/>
        </p:nvSpPr>
        <p:spPr>
          <a:xfrm>
            <a:off x="15174935" y="4317416"/>
            <a:ext cx="949208" cy="508747"/>
          </a:xfrm>
          <a:prstGeom prst="rect">
            <a:avLst/>
          </a:prstGeom>
          <a:noFill/>
          <a:ln/>
        </p:spPr>
        <p:txBody>
          <a:bodyPr wrap="square" lIns="25400" tIns="25400" rIns="25400" bIns="25400" rtlCol="0" anchor="t">
            <a:normAutofit/>
          </a:bodyPr>
          <a:lstStyle/>
          <a:p>
            <a:pPr algn="ctr" indent="0" marL="0">
              <a:lnSpc>
                <a:spcPct val="102000"/>
              </a:lnSpc>
              <a:buNone/>
            </a:pPr>
            <a:r>
              <a:rPr lang="en-US" sz="1050" b="1" dirty="0">
                <a:solidFill>
                  <a:srgbClr val="0D2E22"/>
                </a:solidFill>
                <a:latin typeface="Public Sans" pitchFamily="34" charset="0"/>
                <a:ea typeface="Public Sans" pitchFamily="34" charset="-122"/>
                <a:cs typeface="Public Sans" pitchFamily="34" charset="-120"/>
              </a:rPr>
              <a:t>Creates internal CRM invite</a:t>
            </a:r>
            <a:endParaRPr lang="en-US" sz="1050" dirty="0"/>
          </a:p>
        </p:txBody>
      </p:sp>
      <p:sp>
        <p:nvSpPr>
          <p:cNvPr id="97" name="Shape 94"/>
          <p:cNvSpPr/>
          <p:nvPr/>
        </p:nvSpPr>
        <p:spPr>
          <a:xfrm>
            <a:off x="15125664" y="7067409"/>
            <a:ext cx="1143000" cy="838165"/>
          </a:xfrm>
          <a:prstGeom prst="roundRect">
            <a:avLst>
              <a:gd name="adj" fmla="val 11364"/>
            </a:avLst>
          </a:prstGeom>
          <a:solidFill>
            <a:srgbClr val="EEF1F6"/>
          </a:solidFill>
          <a:ln w="11206">
            <a:solidFill>
              <a:srgbClr val="CFD6E6"/>
            </a:solidFill>
            <a:prstDash val="solid"/>
          </a:ln>
        </p:spPr>
      </p:sp>
      <p:sp>
        <p:nvSpPr>
          <p:cNvPr id="98" name="Shape 95"/>
          <p:cNvSpPr/>
          <p:nvPr/>
        </p:nvSpPr>
        <p:spPr>
          <a:xfrm>
            <a:off x="15032165" y="6973910"/>
            <a:ext cx="209410" cy="209410"/>
          </a:xfrm>
          <a:prstGeom prst="ellipse">
            <a:avLst/>
          </a:prstGeom>
          <a:solidFill>
            <a:srgbClr val="FFFFFF"/>
          </a:solidFill>
          <a:ln w="16809">
            <a:solidFill>
              <a:srgbClr val="9AA7B3"/>
            </a:solidFill>
            <a:prstDash val="solid"/>
          </a:ln>
        </p:spPr>
      </p:sp>
      <p:sp>
        <p:nvSpPr>
          <p:cNvPr id="99" name="Text 96"/>
          <p:cNvSpPr/>
          <p:nvPr/>
        </p:nvSpPr>
        <p:spPr>
          <a:xfrm>
            <a:off x="15174935" y="7329522"/>
            <a:ext cx="1044458" cy="351865"/>
          </a:xfrm>
          <a:prstGeom prst="rect">
            <a:avLst/>
          </a:prstGeom>
          <a:noFill/>
          <a:ln/>
        </p:spPr>
        <p:txBody>
          <a:bodyPr wrap="square" lIns="25400" tIns="25400" rIns="25400" bIns="25400" rtlCol="0" anchor="t">
            <a:normAutofit/>
          </a:bodyPr>
          <a:lstStyle/>
          <a:p>
            <a:pPr algn="ctr" indent="0" marL="0">
              <a:lnSpc>
                <a:spcPct val="102000"/>
              </a:lnSpc>
              <a:buNone/>
            </a:pPr>
            <a:r>
              <a:rPr lang="en-US" sz="1050" b="1" dirty="0">
                <a:solidFill>
                  <a:srgbClr val="0D2E22"/>
                </a:solidFill>
                <a:latin typeface="Public Sans" pitchFamily="34" charset="0"/>
                <a:ea typeface="Public Sans" pitchFamily="34" charset="-122"/>
                <a:cs typeface="Public Sans" pitchFamily="34" charset="-120"/>
              </a:rPr>
              <a:t>Accepts CRM invite</a:t>
            </a:r>
            <a:endParaRPr lang="en-US" sz="1050" dirty="0"/>
          </a:p>
        </p:txBody>
      </p:sp>
      <p:sp>
        <p:nvSpPr>
          <p:cNvPr id="100" name="Text 97"/>
          <p:cNvSpPr/>
          <p:nvPr/>
        </p:nvSpPr>
        <p:spPr>
          <a:xfrm>
            <a:off x="11277494" y="2857500"/>
            <a:ext cx="299092" cy="194982"/>
          </a:xfrm>
          <a:prstGeom prst="rect">
            <a:avLst/>
          </a:prstGeom>
          <a:noFill/>
          <a:ln/>
        </p:spPr>
        <p:txBody>
          <a:bodyPr wrap="square" lIns="25400" tIns="25400" rIns="25400" bIns="25400" rtlCol="0" anchor="t">
            <a:normAutofit/>
          </a:bodyPr>
          <a:lstStyle/>
          <a:p>
            <a:pPr algn="l" indent="0" marL="0">
              <a:buNone/>
            </a:pPr>
            <a:r>
              <a:rPr lang="en-US" sz="975" b="1" dirty="0">
                <a:solidFill>
                  <a:srgbClr val="8A5410"/>
                </a:solidFill>
                <a:latin typeface="IBM Plex Mono" pitchFamily="34" charset="0"/>
                <a:ea typeface="IBM Plex Mono" pitchFamily="34" charset="-122"/>
                <a:cs typeface="IBM Plex Mono" pitchFamily="34" charset="-120"/>
              </a:rPr>
              <a:t>Yes</a:t>
            </a:r>
            <a:endParaRPr lang="en-US" sz="975" dirty="0"/>
          </a:p>
        </p:txBody>
      </p:sp>
      <p:sp>
        <p:nvSpPr>
          <p:cNvPr id="101" name="Text 98"/>
          <p:cNvSpPr/>
          <p:nvPr/>
        </p:nvSpPr>
        <p:spPr>
          <a:xfrm>
            <a:off x="10820329" y="3695665"/>
            <a:ext cx="224853" cy="194982"/>
          </a:xfrm>
          <a:prstGeom prst="rect">
            <a:avLst/>
          </a:prstGeom>
          <a:noFill/>
          <a:ln/>
        </p:spPr>
        <p:txBody>
          <a:bodyPr wrap="square" lIns="25400" tIns="25400" rIns="25400" bIns="25400" rtlCol="0" anchor="t">
            <a:normAutofit/>
          </a:bodyPr>
          <a:lstStyle/>
          <a:p>
            <a:pPr algn="l" indent="0" marL="0">
              <a:buNone/>
            </a:pPr>
            <a:r>
              <a:rPr lang="en-US" sz="975" b="1" dirty="0">
                <a:solidFill>
                  <a:srgbClr val="8A5410"/>
                </a:solidFill>
                <a:latin typeface="IBM Plex Mono" pitchFamily="34" charset="0"/>
                <a:ea typeface="IBM Plex Mono" pitchFamily="34" charset="-122"/>
                <a:cs typeface="IBM Plex Mono" pitchFamily="34" charset="-120"/>
              </a:rPr>
              <a:t>No</a:t>
            </a:r>
            <a:endParaRPr lang="en-US" sz="975" dirty="0"/>
          </a:p>
        </p:txBody>
      </p:sp>
      <p:sp>
        <p:nvSpPr>
          <p:cNvPr id="102" name="Text 99"/>
          <p:cNvSpPr/>
          <p:nvPr/>
        </p:nvSpPr>
        <p:spPr>
          <a:xfrm>
            <a:off x="14992244" y="4305160"/>
            <a:ext cx="224853" cy="194982"/>
          </a:xfrm>
          <a:prstGeom prst="rect">
            <a:avLst/>
          </a:prstGeom>
          <a:noFill/>
          <a:ln/>
        </p:spPr>
        <p:txBody>
          <a:bodyPr wrap="square" lIns="25400" tIns="25400" rIns="25400" bIns="25400" rtlCol="0" anchor="t">
            <a:normAutofit/>
          </a:bodyPr>
          <a:lstStyle/>
          <a:p>
            <a:pPr algn="l" indent="0" marL="0">
              <a:buNone/>
            </a:pPr>
            <a:r>
              <a:rPr lang="en-US" sz="975" b="1" dirty="0">
                <a:solidFill>
                  <a:srgbClr val="8A5410"/>
                </a:solidFill>
                <a:latin typeface="IBM Plex Mono" pitchFamily="34" charset="0"/>
                <a:ea typeface="IBM Plex Mono" pitchFamily="34" charset="-122"/>
                <a:cs typeface="IBM Plex Mono" pitchFamily="34" charset="-120"/>
              </a:rPr>
              <a:t>No</a:t>
            </a:r>
            <a:endParaRPr lang="en-US" sz="975" dirty="0"/>
          </a:p>
        </p:txBody>
      </p:sp>
      <p:sp>
        <p:nvSpPr>
          <p:cNvPr id="103" name="Text 100"/>
          <p:cNvSpPr/>
          <p:nvPr/>
        </p:nvSpPr>
        <p:spPr>
          <a:xfrm>
            <a:off x="14515994" y="5143499"/>
            <a:ext cx="819465" cy="194982"/>
          </a:xfrm>
          <a:prstGeom prst="rect">
            <a:avLst/>
          </a:prstGeom>
          <a:noFill/>
          <a:ln/>
        </p:spPr>
        <p:txBody>
          <a:bodyPr wrap="square" lIns="25400" tIns="25400" rIns="25400" bIns="25400" rtlCol="0" anchor="t">
            <a:normAutofit/>
          </a:bodyPr>
          <a:lstStyle/>
          <a:p>
            <a:pPr algn="l" indent="0" marL="0">
              <a:buNone/>
            </a:pPr>
            <a:r>
              <a:rPr lang="en-US" sz="975" b="1" dirty="0">
                <a:solidFill>
                  <a:srgbClr val="8A5410"/>
                </a:solidFill>
                <a:latin typeface="IBM Plex Mono" pitchFamily="34" charset="0"/>
                <a:ea typeface="IBM Plex Mono" pitchFamily="34" charset="-122"/>
                <a:cs typeface="IBM Plex Mono" pitchFamily="34" charset="-120"/>
              </a:rPr>
              <a:t>Yes · ✉ EA</a:t>
            </a:r>
            <a:endParaRPr lang="en-US" sz="975" dirty="0"/>
          </a:p>
        </p:txBody>
      </p:sp>
      <p:sp>
        <p:nvSpPr>
          <p:cNvPr id="104" name="Text 101"/>
          <p:cNvSpPr/>
          <p:nvPr/>
        </p:nvSpPr>
        <p:spPr>
          <a:xfrm>
            <a:off x="16211409" y="8705744"/>
            <a:ext cx="299092" cy="194982"/>
          </a:xfrm>
          <a:prstGeom prst="rect">
            <a:avLst/>
          </a:prstGeom>
          <a:noFill/>
          <a:ln/>
        </p:spPr>
        <p:txBody>
          <a:bodyPr wrap="square" lIns="25400" tIns="25400" rIns="25400" bIns="25400" rtlCol="0" anchor="t">
            <a:normAutofit/>
          </a:bodyPr>
          <a:lstStyle/>
          <a:p>
            <a:pPr algn="l" indent="0" marL="0">
              <a:buNone/>
            </a:pPr>
            <a:r>
              <a:rPr lang="en-US" sz="975" b="1" dirty="0">
                <a:solidFill>
                  <a:srgbClr val="8A5410"/>
                </a:solidFill>
                <a:latin typeface="IBM Plex Mono" pitchFamily="34" charset="0"/>
                <a:ea typeface="IBM Plex Mono" pitchFamily="34" charset="-122"/>
                <a:cs typeface="IBM Plex Mono" pitchFamily="34" charset="-120"/>
              </a:rPr>
              <a:t>Yes</a:t>
            </a:r>
            <a:endParaRPr lang="en-US" sz="975" dirty="0"/>
          </a:p>
        </p:txBody>
      </p:sp>
      <p:sp>
        <p:nvSpPr>
          <p:cNvPr id="105" name="Text 102"/>
          <p:cNvSpPr/>
          <p:nvPr/>
        </p:nvSpPr>
        <p:spPr>
          <a:xfrm>
            <a:off x="15582829" y="9201080"/>
            <a:ext cx="224853" cy="194982"/>
          </a:xfrm>
          <a:prstGeom prst="rect">
            <a:avLst/>
          </a:prstGeom>
          <a:noFill/>
          <a:ln/>
        </p:spPr>
        <p:txBody>
          <a:bodyPr wrap="square" lIns="25400" tIns="25400" rIns="25400" bIns="25400" rtlCol="0" anchor="t">
            <a:normAutofit/>
          </a:bodyPr>
          <a:lstStyle/>
          <a:p>
            <a:pPr algn="l" indent="0" marL="0">
              <a:buNone/>
            </a:pPr>
            <a:r>
              <a:rPr lang="en-US" sz="975" b="1" dirty="0">
                <a:solidFill>
                  <a:srgbClr val="8A5410"/>
                </a:solidFill>
                <a:latin typeface="IBM Plex Mono" pitchFamily="34" charset="0"/>
                <a:ea typeface="IBM Plex Mono" pitchFamily="34" charset="-122"/>
                <a:cs typeface="IBM Plex Mono" pitchFamily="34" charset="-120"/>
              </a:rPr>
              <a:t>No</a:t>
            </a:r>
            <a:endParaRPr lang="en-US" sz="975" dirty="0"/>
          </a:p>
        </p:txBody>
      </p:sp>
      <p:sp>
        <p:nvSpPr>
          <p:cNvPr id="106" name="Shape 103"/>
          <p:cNvSpPr/>
          <p:nvPr/>
        </p:nvSpPr>
        <p:spPr>
          <a:xfrm>
            <a:off x="9791664" y="5333999"/>
            <a:ext cx="1905000" cy="438080"/>
          </a:xfrm>
          <a:prstGeom prst="roundRect">
            <a:avLst>
              <a:gd name="adj" fmla="val 50000"/>
            </a:avLst>
          </a:prstGeom>
          <a:solidFill>
            <a:srgbClr val="FBF1E3"/>
          </a:solidFill>
          <a:ln w="16809">
            <a:solidFill>
              <a:srgbClr val="C47F1E"/>
            </a:solidFill>
            <a:prstDash val="dash"/>
          </a:ln>
        </p:spPr>
      </p:sp>
      <p:sp>
        <p:nvSpPr>
          <p:cNvPr id="107" name="Shape 104"/>
          <p:cNvSpPr/>
          <p:nvPr/>
        </p:nvSpPr>
        <p:spPr>
          <a:xfrm>
            <a:off x="9922633" y="5410165"/>
            <a:ext cx="285750" cy="285750"/>
          </a:xfrm>
          <a:prstGeom prst="ellipse">
            <a:avLst/>
          </a:prstGeom>
          <a:solidFill>
            <a:srgbClr val="C47F1E"/>
          </a:solidFill>
          <a:ln/>
        </p:spPr>
      </p:sp>
      <p:sp>
        <p:nvSpPr>
          <p:cNvPr id="108" name="Text 105"/>
          <p:cNvSpPr/>
          <p:nvPr/>
        </p:nvSpPr>
        <p:spPr>
          <a:xfrm>
            <a:off x="9884533" y="5410165"/>
            <a:ext cx="361950" cy="323850"/>
          </a:xfrm>
          <a:prstGeom prst="rect">
            <a:avLst/>
          </a:prstGeom>
          <a:noFill/>
          <a:ln/>
        </p:spPr>
        <p:txBody>
          <a:bodyPr wrap="square" lIns="25400" tIns="25400" rIns="25400" bIns="25400" rtlCol="0" anchor="ctr">
            <a:normAutofit/>
          </a:bodyPr>
          <a:lstStyle/>
          <a:p>
            <a:pPr algn="ctr" indent="0" marL="0">
              <a:buNone/>
            </a:pPr>
            <a:r>
              <a:rPr lang="en-US" sz="1350" b="1" dirty="0">
                <a:solidFill>
                  <a:srgbClr val="FFFFFF"/>
                </a:solidFill>
                <a:latin typeface="IBM Plex Mono" pitchFamily="34" charset="0"/>
                <a:ea typeface="IBM Plex Mono" pitchFamily="34" charset="-122"/>
                <a:cs typeface="IBM Plex Mono" pitchFamily="34" charset="-120"/>
              </a:rPr>
              <a:t>↺</a:t>
            </a:r>
            <a:endParaRPr lang="en-US" sz="1350" dirty="0"/>
          </a:p>
        </p:txBody>
      </p:sp>
      <p:sp>
        <p:nvSpPr>
          <p:cNvPr id="109" name="Text 106"/>
          <p:cNvSpPr/>
          <p:nvPr/>
        </p:nvSpPr>
        <p:spPr>
          <a:xfrm>
            <a:off x="10303633" y="5418569"/>
            <a:ext cx="1338262" cy="307041"/>
          </a:xfrm>
          <a:prstGeom prst="rect">
            <a:avLst/>
          </a:prstGeom>
          <a:noFill/>
          <a:ln/>
        </p:spPr>
        <p:txBody>
          <a:bodyPr wrap="square" lIns="25400" tIns="25400" rIns="25400" bIns="25400" rtlCol="0" anchor="t">
            <a:normAutofit/>
          </a:bodyPr>
          <a:lstStyle/>
          <a:p>
            <a:pPr algn="l" indent="0" marL="0">
              <a:lnSpc>
                <a:spcPct val="105896"/>
              </a:lnSpc>
              <a:buNone/>
            </a:pPr>
            <a:r>
              <a:rPr lang="en-US" sz="975" b="1" dirty="0">
                <a:solidFill>
                  <a:srgbClr val="8A5410"/>
                </a:solidFill>
                <a:latin typeface="Public Sans" pitchFamily="34" charset="0"/>
                <a:ea typeface="Public Sans" pitchFamily="34" charset="-122"/>
                <a:cs typeface="Public Sans" pitchFamily="34" charset="-120"/>
              </a:rPr>
              <a:t>Restart → step 4 · new dates</a:t>
            </a:r>
            <a:endParaRPr lang="en-US" sz="975" dirty="0"/>
          </a:p>
        </p:txBody>
      </p:sp>
      <p:sp>
        <p:nvSpPr>
          <p:cNvPr id="110" name="Shape 107"/>
          <p:cNvSpPr/>
          <p:nvPr/>
        </p:nvSpPr>
        <p:spPr>
          <a:xfrm>
            <a:off x="11906249" y="8762999"/>
            <a:ext cx="1847745" cy="418995"/>
          </a:xfrm>
          <a:prstGeom prst="roundRect">
            <a:avLst>
              <a:gd name="adj" fmla="val 50000"/>
            </a:avLst>
          </a:prstGeom>
          <a:solidFill>
            <a:srgbClr val="FBF1E3"/>
          </a:solidFill>
          <a:ln w="16809">
            <a:solidFill>
              <a:srgbClr val="C47F1E"/>
            </a:solidFill>
            <a:prstDash val="dash"/>
          </a:ln>
        </p:spPr>
      </p:sp>
      <p:sp>
        <p:nvSpPr>
          <p:cNvPr id="111" name="Shape 108"/>
          <p:cNvSpPr/>
          <p:nvPr/>
        </p:nvSpPr>
        <p:spPr>
          <a:xfrm>
            <a:off x="12037218" y="8829534"/>
            <a:ext cx="285750" cy="285750"/>
          </a:xfrm>
          <a:prstGeom prst="ellipse">
            <a:avLst/>
          </a:prstGeom>
          <a:solidFill>
            <a:srgbClr val="C47F1E"/>
          </a:solidFill>
          <a:ln/>
        </p:spPr>
      </p:sp>
      <p:sp>
        <p:nvSpPr>
          <p:cNvPr id="112" name="Text 109"/>
          <p:cNvSpPr/>
          <p:nvPr/>
        </p:nvSpPr>
        <p:spPr>
          <a:xfrm>
            <a:off x="11999118" y="8829534"/>
            <a:ext cx="361950" cy="323850"/>
          </a:xfrm>
          <a:prstGeom prst="rect">
            <a:avLst/>
          </a:prstGeom>
          <a:noFill/>
          <a:ln/>
        </p:spPr>
        <p:txBody>
          <a:bodyPr wrap="square" lIns="25400" tIns="25400" rIns="25400" bIns="25400" rtlCol="0" anchor="ctr">
            <a:normAutofit/>
          </a:bodyPr>
          <a:lstStyle/>
          <a:p>
            <a:pPr algn="ctr" indent="0" marL="0">
              <a:buNone/>
            </a:pPr>
            <a:r>
              <a:rPr lang="en-US" sz="1350" b="1" dirty="0">
                <a:solidFill>
                  <a:srgbClr val="FFFFFF"/>
                </a:solidFill>
                <a:latin typeface="IBM Plex Mono" pitchFamily="34" charset="0"/>
                <a:ea typeface="IBM Plex Mono" pitchFamily="34" charset="-122"/>
                <a:cs typeface="IBM Plex Mono" pitchFamily="34" charset="-120"/>
              </a:rPr>
              <a:t>↺</a:t>
            </a:r>
            <a:endParaRPr lang="en-US" sz="1350" dirty="0"/>
          </a:p>
        </p:txBody>
      </p:sp>
      <p:sp>
        <p:nvSpPr>
          <p:cNvPr id="113" name="Text 110"/>
          <p:cNvSpPr/>
          <p:nvPr/>
        </p:nvSpPr>
        <p:spPr>
          <a:xfrm>
            <a:off x="12418218" y="8837939"/>
            <a:ext cx="1281007" cy="307041"/>
          </a:xfrm>
          <a:prstGeom prst="rect">
            <a:avLst/>
          </a:prstGeom>
          <a:noFill/>
          <a:ln/>
        </p:spPr>
        <p:txBody>
          <a:bodyPr wrap="square" lIns="25400" tIns="25400" rIns="25400" bIns="25400" rtlCol="0" anchor="t">
            <a:normAutofit/>
          </a:bodyPr>
          <a:lstStyle/>
          <a:p>
            <a:pPr algn="l" indent="0" marL="0">
              <a:lnSpc>
                <a:spcPct val="105896"/>
              </a:lnSpc>
              <a:buNone/>
            </a:pPr>
            <a:r>
              <a:rPr lang="en-US" sz="975" b="1" dirty="0">
                <a:solidFill>
                  <a:srgbClr val="8A5410"/>
                </a:solidFill>
                <a:latin typeface="Public Sans" pitchFamily="34" charset="0"/>
                <a:ea typeface="Public Sans" pitchFamily="34" charset="-122"/>
                <a:cs typeface="Public Sans" pitchFamily="34" charset="-120"/>
              </a:rPr>
              <a:t>Restart → step 4 · re-provision</a:t>
            </a:r>
            <a:endParaRPr lang="en-US" sz="975" dirty="0"/>
          </a:p>
        </p:txBody>
      </p:sp>
      <p:sp>
        <p:nvSpPr>
          <p:cNvPr id="114" name="Text 111"/>
          <p:cNvSpPr/>
          <p:nvPr/>
        </p:nvSpPr>
        <p:spPr>
          <a:xfrm>
            <a:off x="723830" y="9886914"/>
            <a:ext cx="876720" cy="206188"/>
          </a:xfrm>
          <a:prstGeom prst="rect">
            <a:avLst/>
          </a:prstGeom>
          <a:noFill/>
          <a:ln/>
        </p:spPr>
        <p:txBody>
          <a:bodyPr wrap="square" lIns="25400" tIns="25400" rIns="25400" bIns="25400" rtlCol="0" anchor="t">
            <a:normAutofit/>
          </a:bodyPr>
          <a:lstStyle/>
          <a:p>
            <a:pPr algn="l" indent="0" marL="0">
              <a:buNone/>
            </a:pPr>
            <a:r>
              <a:rPr lang="en-US" sz="1050" dirty="0">
                <a:solidFill>
                  <a:srgbClr val="8996A6"/>
                </a:solidFill>
                <a:latin typeface="IBM Plex Mono" pitchFamily="34" charset="0"/>
                <a:ea typeface="IBM Plex Mono" pitchFamily="34" charset="-122"/>
                <a:cs typeface="IBM Plex Mono" pitchFamily="34" charset="-120"/>
              </a:rPr>
              <a:t>◇ decision</a:t>
            </a:r>
            <a:endParaRPr lang="en-US" sz="1050" dirty="0"/>
          </a:p>
        </p:txBody>
      </p:sp>
      <p:sp>
        <p:nvSpPr>
          <p:cNvPr id="115" name="Text 112"/>
          <p:cNvSpPr/>
          <p:nvPr/>
        </p:nvSpPr>
        <p:spPr>
          <a:xfrm>
            <a:off x="1714850" y="9886914"/>
            <a:ext cx="1320281" cy="206188"/>
          </a:xfrm>
          <a:prstGeom prst="rect">
            <a:avLst/>
          </a:prstGeom>
          <a:noFill/>
          <a:ln/>
        </p:spPr>
        <p:txBody>
          <a:bodyPr wrap="square" lIns="25400" tIns="25400" rIns="25400" bIns="25400" rtlCol="0" anchor="t">
            <a:normAutofit/>
          </a:bodyPr>
          <a:lstStyle/>
          <a:p>
            <a:pPr algn="l" indent="0" marL="0">
              <a:buNone/>
            </a:pPr>
            <a:r>
              <a:rPr lang="en-US" sz="1050" dirty="0">
                <a:solidFill>
                  <a:srgbClr val="C47F1E"/>
                </a:solidFill>
                <a:latin typeface="IBM Plex Mono" pitchFamily="34" charset="0"/>
                <a:ea typeface="IBM Plex Mono" pitchFamily="34" charset="-122"/>
                <a:cs typeface="IBM Plex Mono" pitchFamily="34" charset="-120"/>
              </a:rPr>
              <a:t>— — rework loop</a:t>
            </a:r>
            <a:endParaRPr lang="en-US" sz="1050" dirty="0"/>
          </a:p>
        </p:txBody>
      </p:sp>
      <p:sp>
        <p:nvSpPr>
          <p:cNvPr id="116" name="Text 113"/>
          <p:cNvSpPr/>
          <p:nvPr/>
        </p:nvSpPr>
        <p:spPr>
          <a:xfrm>
            <a:off x="3105605" y="9886914"/>
            <a:ext cx="1408299" cy="206188"/>
          </a:xfrm>
          <a:prstGeom prst="rect">
            <a:avLst/>
          </a:prstGeom>
          <a:noFill/>
          <a:ln/>
        </p:spPr>
        <p:txBody>
          <a:bodyPr wrap="square" lIns="25400" tIns="25400" rIns="25400" bIns="25400" rtlCol="0" anchor="t">
            <a:normAutofit/>
          </a:bodyPr>
          <a:lstStyle/>
          <a:p>
            <a:pPr algn="l" indent="0" marL="0">
              <a:buNone/>
            </a:pPr>
            <a:r>
              <a:rPr lang="en-US" sz="1050" dirty="0">
                <a:solidFill>
                  <a:srgbClr val="B4690E"/>
                </a:solidFill>
                <a:latin typeface="IBM Plex Mono" pitchFamily="34" charset="0"/>
                <a:ea typeface="IBM Plex Mono" pitchFamily="34" charset="-122"/>
                <a:cs typeface="IBM Plex Mono" pitchFamily="34" charset="-120"/>
              </a:rPr>
              <a:t>! exception step</a:t>
            </a:r>
            <a:endParaRPr lang="en-US" sz="1050" dirty="0"/>
          </a:p>
        </p:txBody>
      </p:sp>
      <p:sp>
        <p:nvSpPr>
          <p:cNvPr id="117" name="Text 114"/>
          <p:cNvSpPr/>
          <p:nvPr/>
        </p:nvSpPr>
        <p:spPr>
          <a:xfrm>
            <a:off x="4576377" y="9886914"/>
            <a:ext cx="1672548" cy="206188"/>
          </a:xfrm>
          <a:prstGeom prst="rect">
            <a:avLst/>
          </a:prstGeom>
          <a:noFill/>
          <a:ln/>
        </p:spPr>
        <p:txBody>
          <a:bodyPr wrap="square" lIns="25400" tIns="25400" rIns="25400" bIns="25400" rtlCol="0" anchor="t">
            <a:normAutofit/>
          </a:bodyPr>
          <a:lstStyle/>
          <a:p>
            <a:pPr algn="l" indent="0" marL="0">
              <a:buNone/>
            </a:pPr>
            <a:r>
              <a:rPr lang="en-US" sz="1050" dirty="0">
                <a:solidFill>
                  <a:srgbClr val="8996A6"/>
                </a:solidFill>
                <a:latin typeface="IBM Plex Mono" pitchFamily="34" charset="0"/>
                <a:ea typeface="IBM Plex Mono" pitchFamily="34" charset="-122"/>
                <a:cs typeface="IBM Plex Mono" pitchFamily="34" charset="-120"/>
              </a:rPr>
              <a:t>○ supporting action</a:t>
            </a:r>
            <a:endParaRPr lang="en-US" sz="1050" dirty="0"/>
          </a:p>
        </p:txBody>
      </p:sp>
      <p:sp>
        <p:nvSpPr>
          <p:cNvPr id="118" name="Text 115"/>
          <p:cNvSpPr/>
          <p:nvPr/>
        </p:nvSpPr>
        <p:spPr>
          <a:xfrm>
            <a:off x="6287375" y="9886914"/>
            <a:ext cx="1196788" cy="206188"/>
          </a:xfrm>
          <a:prstGeom prst="rect">
            <a:avLst/>
          </a:prstGeom>
          <a:noFill/>
          <a:ln/>
        </p:spPr>
        <p:txBody>
          <a:bodyPr wrap="square" lIns="25400" tIns="25400" rIns="25400" bIns="25400" rtlCol="0" anchor="t">
            <a:normAutofit/>
          </a:bodyPr>
          <a:lstStyle/>
          <a:p>
            <a:pPr algn="l" indent="0" marL="0">
              <a:buNone/>
            </a:pPr>
            <a:r>
              <a:rPr lang="en-US" sz="1050" dirty="0">
                <a:solidFill>
                  <a:srgbClr val="8996A6"/>
                </a:solidFill>
                <a:latin typeface="IBM Plex Mono" pitchFamily="34" charset="0"/>
                <a:ea typeface="IBM Plex Mono" pitchFamily="34" charset="-122"/>
                <a:cs typeface="IBM Plex Mono" pitchFamily="34" charset="-120"/>
              </a:rPr>
              <a:t>✉ manual email</a:t>
            </a:r>
            <a:endParaRPr lang="en-US" sz="1050" dirty="0"/>
          </a:p>
        </p:txBody>
      </p:sp>
      <p:sp>
        <p:nvSpPr>
          <p:cNvPr id="119" name="Text 116"/>
          <p:cNvSpPr/>
          <p:nvPr/>
        </p:nvSpPr>
        <p:spPr>
          <a:xfrm>
            <a:off x="9751708" y="9905999"/>
            <a:ext cx="7983700" cy="194982"/>
          </a:xfrm>
          <a:prstGeom prst="rect">
            <a:avLst/>
          </a:prstGeom>
          <a:noFill/>
          <a:ln/>
        </p:spPr>
        <p:txBody>
          <a:bodyPr wrap="square" lIns="25400" tIns="25400" rIns="25400" bIns="25400" rtlCol="0" anchor="t">
            <a:normAutofit/>
          </a:bodyPr>
          <a:lstStyle/>
          <a:p>
            <a:pPr algn="r" indent="0" marL="0">
              <a:buNone/>
            </a:pPr>
            <a:r>
              <a:rPr lang="en-US" sz="975" dirty="0">
                <a:solidFill>
                  <a:srgbClr val="8996A6"/>
                </a:solidFill>
                <a:latin typeface="IBM Plex Mono" pitchFamily="34" charset="0"/>
                <a:ea typeface="IBM Plex Mono" pitchFamily="34" charset="-122"/>
                <a:cs typeface="IBM Plex Mono" pitchFamily="34" charset="-120"/>
              </a:rPr>
              <a:t>6–8 emails per booking · 3–5× provisional invites created &amp; mostly deleted</a:t>
            </a:r>
            <a:endParaRPr lang="en-US" sz="975" dirty="0"/>
          </a:p>
        </p:txBody>
      </p:sp>
      <p:sp>
        <p:nvSpPr>
          <p:cNvPr id="120" name="Text 117"/>
          <p:cNvSpPr/>
          <p:nvPr/>
        </p:nvSpPr>
        <p:spPr>
          <a:xfrm>
            <a:off x="723830" y="10125039"/>
            <a:ext cx="18712737" cy="183776"/>
          </a:xfrm>
          <a:prstGeom prst="rect">
            <a:avLst/>
          </a:prstGeom>
          <a:noFill/>
          <a:ln/>
        </p:spPr>
        <p:txBody>
          <a:bodyPr wrap="square" lIns="25400" tIns="25400" rIns="25400" bIns="25400" rtlCol="0" anchor="t">
            <a:normAutofit/>
          </a:bodyPr>
          <a:lstStyle/>
          <a:p>
            <a:pPr algn="l" indent="0" marL="0">
              <a:buNone/>
            </a:pPr>
            <a:r>
              <a:rPr lang="en-US" sz="825" i="1" dirty="0">
                <a:solidFill>
                  <a:srgbClr val="9AA7B3"/>
                </a:solidFill>
                <a:latin typeface="IBM Plex Mono" pitchFamily="34" charset="0"/>
                <a:ea typeface="IBM Plex Mono" pitchFamily="34" charset="-122"/>
                <a:cs typeface="IBM Plex Mono" pitchFamily="34" charset="-120"/>
              </a:rPr>
              <a:t>*Vanilla = customer meeting without a partner; prospect meetings require a partner. RMs/ARMs organise all AR &amp; customer meetings; Team Assistant handles lunches, intermediaries &amp; complex meetings only.</a:t>
            </a:r>
            <a:endParaRPr lang="en-US" sz="82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2E22"/>
        </a:solidFill>
      </p:bgPr>
    </p:bg>
    <p:spTree>
      <p:nvGrpSpPr>
        <p:cNvPr id="1" name=""/>
        <p:cNvGrpSpPr/>
        <p:nvPr/>
      </p:nvGrpSpPr>
      <p:grpSpPr>
        <a:xfrm>
          <a:off x="0" y="0"/>
          <a:ext cx="0" cy="0"/>
          <a:chOff x="0" y="0"/>
          <a:chExt cx="0" cy="0"/>
        </a:xfrm>
      </p:grpSpPr>
      <p:sp>
        <p:nvSpPr>
          <p:cNvPr id="2" name="Text 0"/>
          <p:cNvSpPr/>
          <p:nvPr/>
        </p:nvSpPr>
        <p:spPr>
          <a:xfrm>
            <a:off x="952500" y="723830"/>
            <a:ext cx="18021299" cy="340659"/>
          </a:xfrm>
          <a:prstGeom prst="rect">
            <a:avLst/>
          </a:prstGeom>
          <a:noFill/>
          <a:ln/>
        </p:spPr>
        <p:txBody>
          <a:bodyPr wrap="square" lIns="25400" tIns="25400" rIns="25400" bIns="25400" rtlCol="0" anchor="t">
            <a:normAutofit/>
          </a:bodyPr>
          <a:lstStyle/>
          <a:p>
            <a:pPr algn="l" indent="0" marL="0">
              <a:buNone/>
            </a:pPr>
            <a:r>
              <a:rPr lang="en-US" sz="1800" b="1" spc="216" kern="0" dirty="0">
                <a:solidFill>
                  <a:srgbClr val="C8A45C"/>
                </a:solidFill>
                <a:latin typeface="IBM Plex Mono" pitchFamily="34" charset="0"/>
                <a:ea typeface="IBM Plex Mono" pitchFamily="34" charset="-122"/>
                <a:cs typeface="IBM Plex Mono" pitchFamily="34" charset="-120"/>
              </a:rPr>
              <a:t>02 · CURRENT STATE</a:t>
            </a:r>
            <a:endParaRPr lang="en-US" sz="1800" dirty="0"/>
          </a:p>
        </p:txBody>
      </p:sp>
      <p:sp>
        <p:nvSpPr>
          <p:cNvPr id="3" name="Text 1"/>
          <p:cNvSpPr/>
          <p:nvPr/>
        </p:nvSpPr>
        <p:spPr>
          <a:xfrm>
            <a:off x="952500" y="1159634"/>
            <a:ext cx="18021299" cy="665629"/>
          </a:xfrm>
          <a:prstGeom prst="rect">
            <a:avLst/>
          </a:prstGeom>
          <a:noFill/>
          <a:ln/>
        </p:spPr>
        <p:txBody>
          <a:bodyPr wrap="square" lIns="25400" tIns="25400" rIns="25400" bIns="25400" rtlCol="0" anchor="t">
            <a:normAutofit/>
          </a:bodyPr>
          <a:lstStyle/>
          <a:p>
            <a:pPr algn="l" indent="0" marL="0">
              <a:buNone/>
            </a:pPr>
            <a:r>
              <a:rPr lang="en-US" sz="4200" b="1" spc="-42" kern="0" dirty="0">
                <a:solidFill>
                  <a:srgbClr val="EFF2E4"/>
                </a:solidFill>
                <a:latin typeface="Public Sans" pitchFamily="34" charset="0"/>
                <a:ea typeface="Public Sans" pitchFamily="34" charset="-122"/>
                <a:cs typeface="Public Sans" pitchFamily="34" charset="-120"/>
              </a:rPr>
              <a:t>Where the current process breaks down</a:t>
            </a:r>
            <a:endParaRPr lang="en-US" sz="4200" dirty="0"/>
          </a:p>
        </p:txBody>
      </p:sp>
      <p:sp>
        <p:nvSpPr>
          <p:cNvPr id="4" name="Shape 2"/>
          <p:cNvSpPr/>
          <p:nvPr/>
        </p:nvSpPr>
        <p:spPr>
          <a:xfrm>
            <a:off x="952500" y="2168163"/>
            <a:ext cx="5295830" cy="7509342"/>
          </a:xfrm>
          <a:prstGeom prst="roundRect">
            <a:avLst>
              <a:gd name="adj" fmla="val 2518"/>
            </a:avLst>
          </a:prstGeom>
          <a:solidFill>
            <a:srgbClr val="123A2D"/>
          </a:solidFill>
          <a:ln w="11206">
            <a:solidFill>
              <a:srgbClr val="1E4D3A"/>
            </a:solidFill>
            <a:prstDash val="solid"/>
          </a:ln>
        </p:spPr>
      </p:sp>
      <p:sp>
        <p:nvSpPr>
          <p:cNvPr id="5" name="Text 3"/>
          <p:cNvSpPr/>
          <p:nvPr/>
        </p:nvSpPr>
        <p:spPr>
          <a:xfrm>
            <a:off x="1268366" y="2484029"/>
            <a:ext cx="5130508" cy="295835"/>
          </a:xfrm>
          <a:prstGeom prst="rect">
            <a:avLst/>
          </a:prstGeom>
          <a:noFill/>
          <a:ln/>
        </p:spPr>
        <p:txBody>
          <a:bodyPr wrap="square" lIns="25400" tIns="25400" rIns="25400" bIns="25400" rtlCol="0" anchor="t">
            <a:normAutofit/>
          </a:bodyPr>
          <a:lstStyle/>
          <a:p>
            <a:pPr algn="l" indent="0" marL="0">
              <a:buNone/>
            </a:pPr>
            <a:r>
              <a:rPr lang="en-US" sz="1575" b="1" spc="95" kern="0" dirty="0">
                <a:solidFill>
                  <a:srgbClr val="C8A45C"/>
                </a:solidFill>
                <a:latin typeface="IBM Plex Mono" pitchFamily="34" charset="0"/>
                <a:ea typeface="IBM Plex Mono" pitchFamily="34" charset="-122"/>
                <a:cs typeface="IBM Plex Mono" pitchFamily="34" charset="-120"/>
              </a:rPr>
              <a:t>EFFICIENCY</a:t>
            </a:r>
            <a:endParaRPr lang="en-US" sz="1575" dirty="0"/>
          </a:p>
        </p:txBody>
      </p:sp>
      <p:sp>
        <p:nvSpPr>
          <p:cNvPr id="6" name="Text 4"/>
          <p:cNvSpPr/>
          <p:nvPr/>
        </p:nvSpPr>
        <p:spPr>
          <a:xfrm>
            <a:off x="1311088" y="2932264"/>
            <a:ext cx="4697576" cy="1651747"/>
          </a:xfrm>
          <a:prstGeom prst="rect">
            <a:avLst/>
          </a:prstGeom>
          <a:noFill/>
          <a:ln/>
        </p:spPr>
        <p:txBody>
          <a:bodyPr wrap="square" lIns="25400" tIns="25400" rIns="25400" bIns="25400" rtlCol="0" anchor="t">
            <a:normAutofit/>
          </a:bodyPr>
          <a:lstStyle/>
          <a:p>
            <a:pPr algn="l" marL="166688" indent="-166688">
              <a:lnSpc>
                <a:spcPct val="144500"/>
              </a:lnSpc>
              <a:buSzPct val="100000"/>
              <a:buChar char="•"/>
              <a:tabLst>
                <a:tab pos="166688" algn="l"/>
              </a:tabLst>
            </a:pPr>
            <a:r>
              <a:rPr lang="en-US" sz="1875" dirty="0">
                <a:solidFill>
                  <a:srgbClr val="D9E2CC"/>
                </a:solidFill>
                <a:latin typeface="Public Sans" pitchFamily="34" charset="0"/>
                <a:ea typeface="Public Sans" pitchFamily="34" charset="-122"/>
                <a:cs typeface="Public Sans" pitchFamily="34" charset="-120"/>
              </a:rPr>
              <a:t>Duplicate effort &amp; re-keying</a:t>
            </a:r>
            <a:endParaRPr lang="en-US" sz="1875" dirty="0"/>
          </a:p>
          <a:p>
            <a:pPr algn="l" marL="166688" indent="-166688">
              <a:lnSpc>
                <a:spcPct val="144500"/>
              </a:lnSpc>
              <a:buSzPct val="100000"/>
              <a:buChar char="•"/>
              <a:tabLst>
                <a:tab pos="166688" algn="l"/>
              </a:tabLst>
            </a:pPr>
            <a:r>
              <a:rPr lang="en-US" sz="1875" dirty="0">
                <a:solidFill>
                  <a:srgbClr val="D9E2CC"/>
                </a:solidFill>
                <a:latin typeface="Public Sans" pitchFamily="34" charset="0"/>
                <a:ea typeface="Public Sans" pitchFamily="34" charset="-122"/>
                <a:cs typeface="Public Sans" pitchFamily="34" charset="-120"/>
              </a:rPr>
              <a:t>Manual calendar &amp; room checks</a:t>
            </a:r>
            <a:endParaRPr lang="en-US" sz="1875" dirty="0"/>
          </a:p>
          <a:p>
            <a:pPr algn="l" marL="166688" indent="-166688">
              <a:lnSpc>
                <a:spcPct val="144500"/>
              </a:lnSpc>
              <a:buSzPct val="100000"/>
              <a:buChar char="•"/>
              <a:tabLst>
                <a:tab pos="166688" algn="l"/>
              </a:tabLst>
            </a:pPr>
            <a:r>
              <a:rPr lang="en-US" sz="1875" dirty="0">
                <a:solidFill>
                  <a:srgbClr val="D9E2CC"/>
                </a:solidFill>
                <a:latin typeface="Public Sans" pitchFamily="34" charset="0"/>
                <a:ea typeface="Public Sans" pitchFamily="34" charset="-122"/>
                <a:cs typeface="Public Sans" pitchFamily="34" charset="-120"/>
              </a:rPr>
              <a:t>Delays waiting on replies</a:t>
            </a:r>
            <a:endParaRPr lang="en-US" sz="1875" dirty="0"/>
          </a:p>
          <a:p>
            <a:pPr algn="l" marL="166688" indent="-166688">
              <a:lnSpc>
                <a:spcPct val="144500"/>
              </a:lnSpc>
              <a:buSzPct val="100000"/>
              <a:buChar char="•"/>
              <a:tabLst>
                <a:tab pos="166688" algn="l"/>
              </a:tabLst>
            </a:pPr>
            <a:r>
              <a:rPr lang="en-US" sz="1875" dirty="0">
                <a:solidFill>
                  <a:srgbClr val="D9E2CC"/>
                </a:solidFill>
                <a:latin typeface="Public Sans" pitchFamily="34" charset="0"/>
                <a:ea typeface="Public Sans" pitchFamily="34" charset="-122"/>
                <a:cs typeface="Public Sans" pitchFamily="34" charset="-120"/>
              </a:rPr>
              <a:t>RM time lost to admin</a:t>
            </a:r>
            <a:endParaRPr lang="en-US" sz="1875" dirty="0"/>
          </a:p>
        </p:txBody>
      </p:sp>
      <p:sp>
        <p:nvSpPr>
          <p:cNvPr id="7" name="Shape 5"/>
          <p:cNvSpPr/>
          <p:nvPr/>
        </p:nvSpPr>
        <p:spPr>
          <a:xfrm>
            <a:off x="6495909" y="2168163"/>
            <a:ext cx="5296005" cy="7509342"/>
          </a:xfrm>
          <a:prstGeom prst="roundRect">
            <a:avLst>
              <a:gd name="adj" fmla="val 2518"/>
            </a:avLst>
          </a:prstGeom>
          <a:solidFill>
            <a:srgbClr val="123A2D"/>
          </a:solidFill>
          <a:ln w="11206">
            <a:solidFill>
              <a:srgbClr val="1E4D3A"/>
            </a:solidFill>
            <a:prstDash val="solid"/>
          </a:ln>
        </p:spPr>
      </p:sp>
      <p:sp>
        <p:nvSpPr>
          <p:cNvPr id="8" name="Text 6"/>
          <p:cNvSpPr/>
          <p:nvPr/>
        </p:nvSpPr>
        <p:spPr>
          <a:xfrm>
            <a:off x="6811775" y="2484029"/>
            <a:ext cx="5130700" cy="295835"/>
          </a:xfrm>
          <a:prstGeom prst="rect">
            <a:avLst/>
          </a:prstGeom>
          <a:noFill/>
          <a:ln/>
        </p:spPr>
        <p:txBody>
          <a:bodyPr wrap="square" lIns="25400" tIns="25400" rIns="25400" bIns="25400" rtlCol="0" anchor="t">
            <a:normAutofit/>
          </a:bodyPr>
          <a:lstStyle/>
          <a:p>
            <a:pPr algn="l" indent="0" marL="0">
              <a:buNone/>
            </a:pPr>
            <a:r>
              <a:rPr lang="en-US" sz="1575" b="1" spc="95" kern="0" dirty="0">
                <a:solidFill>
                  <a:srgbClr val="C8A45C"/>
                </a:solidFill>
                <a:latin typeface="IBM Plex Mono" pitchFamily="34" charset="0"/>
                <a:ea typeface="IBM Plex Mono" pitchFamily="34" charset="-122"/>
                <a:cs typeface="IBM Plex Mono" pitchFamily="34" charset="-120"/>
              </a:rPr>
              <a:t>EXPERIENCE</a:t>
            </a:r>
            <a:endParaRPr lang="en-US" sz="1575" dirty="0"/>
          </a:p>
        </p:txBody>
      </p:sp>
      <p:sp>
        <p:nvSpPr>
          <p:cNvPr id="9" name="Text 7"/>
          <p:cNvSpPr/>
          <p:nvPr/>
        </p:nvSpPr>
        <p:spPr>
          <a:xfrm>
            <a:off x="6854498" y="2932264"/>
            <a:ext cx="4697751" cy="1651747"/>
          </a:xfrm>
          <a:prstGeom prst="rect">
            <a:avLst/>
          </a:prstGeom>
          <a:noFill/>
          <a:ln/>
        </p:spPr>
        <p:txBody>
          <a:bodyPr wrap="square" lIns="25400" tIns="25400" rIns="25400" bIns="25400" rtlCol="0" anchor="t">
            <a:normAutofit/>
          </a:bodyPr>
          <a:lstStyle/>
          <a:p>
            <a:pPr algn="l" marL="166688" indent="-166688">
              <a:lnSpc>
                <a:spcPct val="144500"/>
              </a:lnSpc>
              <a:buSzPct val="100000"/>
              <a:buChar char="•"/>
              <a:tabLst>
                <a:tab pos="166688" algn="l"/>
              </a:tabLst>
            </a:pPr>
            <a:r>
              <a:rPr lang="en-US" sz="1875" dirty="0">
                <a:solidFill>
                  <a:srgbClr val="D9E2CC"/>
                </a:solidFill>
                <a:latin typeface="Public Sans" pitchFamily="34" charset="0"/>
                <a:ea typeface="Public Sans" pitchFamily="34" charset="-122"/>
                <a:cs typeface="Public Sans" pitchFamily="34" charset="-120"/>
              </a:rPr>
              <a:t>Slow, inconsistent journeys</a:t>
            </a:r>
            <a:endParaRPr lang="en-US" sz="1875" dirty="0"/>
          </a:p>
          <a:p>
            <a:pPr algn="l" marL="166688" indent="-166688">
              <a:lnSpc>
                <a:spcPct val="144500"/>
              </a:lnSpc>
              <a:buSzPct val="100000"/>
              <a:buChar char="•"/>
              <a:tabLst>
                <a:tab pos="166688" algn="l"/>
              </a:tabLst>
            </a:pPr>
            <a:r>
              <a:rPr lang="en-US" sz="1875" dirty="0">
                <a:solidFill>
                  <a:srgbClr val="D9E2CC"/>
                </a:solidFill>
                <a:latin typeface="Public Sans" pitchFamily="34" charset="0"/>
                <a:ea typeface="Public Sans" pitchFamily="34" charset="-122"/>
                <a:cs typeface="Public Sans" pitchFamily="34" charset="-120"/>
              </a:rPr>
              <a:t>Repeated capture of preferences</a:t>
            </a:r>
            <a:endParaRPr lang="en-US" sz="1875" dirty="0"/>
          </a:p>
          <a:p>
            <a:pPr algn="l" marL="166688" indent="-166688">
              <a:lnSpc>
                <a:spcPct val="144500"/>
              </a:lnSpc>
              <a:buSzPct val="100000"/>
              <a:buChar char="•"/>
              <a:tabLst>
                <a:tab pos="166688" algn="l"/>
              </a:tabLst>
            </a:pPr>
            <a:r>
              <a:rPr lang="en-US" sz="1875" dirty="0">
                <a:solidFill>
                  <a:srgbClr val="D9E2CC"/>
                </a:solidFill>
                <a:latin typeface="Public Sans" pitchFamily="34" charset="0"/>
                <a:ea typeface="Public Sans" pitchFamily="34" charset="-122"/>
                <a:cs typeface="Public Sans" pitchFamily="34" charset="-120"/>
              </a:rPr>
              <a:t>No branded self-service</a:t>
            </a:r>
            <a:endParaRPr lang="en-US" sz="1875" dirty="0"/>
          </a:p>
          <a:p>
            <a:pPr algn="l" marL="166688" indent="-166688">
              <a:lnSpc>
                <a:spcPct val="144500"/>
              </a:lnSpc>
              <a:buSzPct val="100000"/>
              <a:buChar char="•"/>
              <a:tabLst>
                <a:tab pos="166688" algn="l"/>
              </a:tabLst>
            </a:pPr>
            <a:r>
              <a:rPr lang="en-US" sz="1875" dirty="0">
                <a:solidFill>
                  <a:srgbClr val="D9E2CC"/>
                </a:solidFill>
                <a:latin typeface="Public Sans" pitchFamily="34" charset="0"/>
                <a:ea typeface="Public Sans" pitchFamily="34" charset="-122"/>
                <a:cs typeface="Public Sans" pitchFamily="34" charset="-120"/>
              </a:rPr>
              <a:t>Poor first impression</a:t>
            </a:r>
            <a:endParaRPr lang="en-US" sz="1875" dirty="0"/>
          </a:p>
        </p:txBody>
      </p:sp>
      <p:sp>
        <p:nvSpPr>
          <p:cNvPr id="10" name="Shape 8"/>
          <p:cNvSpPr/>
          <p:nvPr/>
        </p:nvSpPr>
        <p:spPr>
          <a:xfrm>
            <a:off x="12039494" y="2168163"/>
            <a:ext cx="5296005" cy="7509342"/>
          </a:xfrm>
          <a:prstGeom prst="roundRect">
            <a:avLst>
              <a:gd name="adj" fmla="val 2518"/>
            </a:avLst>
          </a:prstGeom>
          <a:solidFill>
            <a:srgbClr val="123A2D"/>
          </a:solidFill>
          <a:ln w="11206">
            <a:solidFill>
              <a:srgbClr val="1E4D3A"/>
            </a:solidFill>
            <a:prstDash val="solid"/>
          </a:ln>
        </p:spPr>
      </p:sp>
      <p:sp>
        <p:nvSpPr>
          <p:cNvPr id="11" name="Text 9"/>
          <p:cNvSpPr/>
          <p:nvPr/>
        </p:nvSpPr>
        <p:spPr>
          <a:xfrm>
            <a:off x="12355360" y="2484029"/>
            <a:ext cx="5130700" cy="295835"/>
          </a:xfrm>
          <a:prstGeom prst="rect">
            <a:avLst/>
          </a:prstGeom>
          <a:noFill/>
          <a:ln/>
        </p:spPr>
        <p:txBody>
          <a:bodyPr wrap="square" lIns="25400" tIns="25400" rIns="25400" bIns="25400" rtlCol="0" anchor="t">
            <a:normAutofit/>
          </a:bodyPr>
          <a:lstStyle/>
          <a:p>
            <a:pPr algn="l" indent="0" marL="0">
              <a:buNone/>
            </a:pPr>
            <a:r>
              <a:rPr lang="en-US" sz="1575" b="1" spc="95" kern="0" dirty="0">
                <a:solidFill>
                  <a:srgbClr val="C8A45C"/>
                </a:solidFill>
                <a:latin typeface="IBM Plex Mono" pitchFamily="34" charset="0"/>
                <a:ea typeface="IBM Plex Mono" pitchFamily="34" charset="-122"/>
                <a:cs typeface="IBM Plex Mono" pitchFamily="34" charset="-120"/>
              </a:rPr>
              <a:t>GOVERNANCE</a:t>
            </a:r>
            <a:endParaRPr lang="en-US" sz="1575" dirty="0"/>
          </a:p>
        </p:txBody>
      </p:sp>
      <p:sp>
        <p:nvSpPr>
          <p:cNvPr id="12" name="Text 10"/>
          <p:cNvSpPr/>
          <p:nvPr/>
        </p:nvSpPr>
        <p:spPr>
          <a:xfrm>
            <a:off x="12398083" y="2932264"/>
            <a:ext cx="4697751" cy="1651747"/>
          </a:xfrm>
          <a:prstGeom prst="rect">
            <a:avLst/>
          </a:prstGeom>
          <a:noFill/>
          <a:ln/>
        </p:spPr>
        <p:txBody>
          <a:bodyPr wrap="square" lIns="25400" tIns="25400" rIns="25400" bIns="25400" rtlCol="0" anchor="t">
            <a:normAutofit/>
          </a:bodyPr>
          <a:lstStyle/>
          <a:p>
            <a:pPr algn="l" marL="166688" indent="-166688">
              <a:lnSpc>
                <a:spcPct val="144500"/>
              </a:lnSpc>
              <a:buSzPct val="100000"/>
              <a:buChar char="•"/>
              <a:tabLst>
                <a:tab pos="166688" algn="l"/>
              </a:tabLst>
            </a:pPr>
            <a:r>
              <a:rPr lang="en-US" sz="1875" dirty="0">
                <a:solidFill>
                  <a:srgbClr val="D9E2CC"/>
                </a:solidFill>
                <a:latin typeface="Public Sans" pitchFamily="34" charset="0"/>
                <a:ea typeface="Public Sans" pitchFamily="34" charset="-122"/>
                <a:cs typeface="Public Sans" pitchFamily="34" charset="-120"/>
              </a:rPr>
              <a:t>No end-to-end visibility</a:t>
            </a:r>
            <a:endParaRPr lang="en-US" sz="1875" dirty="0"/>
          </a:p>
          <a:p>
            <a:pPr algn="l" marL="166688" indent="-166688">
              <a:lnSpc>
                <a:spcPct val="144500"/>
              </a:lnSpc>
              <a:buSzPct val="100000"/>
              <a:buChar char="•"/>
              <a:tabLst>
                <a:tab pos="166688" algn="l"/>
              </a:tabLst>
            </a:pPr>
            <a:r>
              <a:rPr lang="en-US" sz="1875" dirty="0">
                <a:solidFill>
                  <a:srgbClr val="D9E2CC"/>
                </a:solidFill>
                <a:latin typeface="Public Sans" pitchFamily="34" charset="0"/>
                <a:ea typeface="Public Sans" pitchFamily="34" charset="-122"/>
                <a:cs typeface="Public Sans" pitchFamily="34" charset="-120"/>
              </a:rPr>
              <a:t>Limited auditability</a:t>
            </a:r>
            <a:endParaRPr lang="en-US" sz="1875" dirty="0"/>
          </a:p>
          <a:p>
            <a:pPr algn="l" marL="166688" indent="-166688">
              <a:lnSpc>
                <a:spcPct val="144500"/>
              </a:lnSpc>
              <a:buSzPct val="100000"/>
              <a:buChar char="•"/>
              <a:tabLst>
                <a:tab pos="166688" algn="l"/>
              </a:tabLst>
            </a:pPr>
            <a:r>
              <a:rPr lang="en-US" sz="1875" dirty="0">
                <a:solidFill>
                  <a:srgbClr val="D9E2CC"/>
                </a:solidFill>
                <a:latin typeface="Public Sans" pitchFamily="34" charset="0"/>
                <a:ea typeface="Public Sans" pitchFamily="34" charset="-122"/>
                <a:cs typeface="Public Sans" pitchFamily="34" charset="-120"/>
              </a:rPr>
              <a:t>Human error &amp; missed handoffs</a:t>
            </a:r>
            <a:endParaRPr lang="en-US" sz="1875" dirty="0"/>
          </a:p>
          <a:p>
            <a:pPr algn="l" marL="166688" indent="-166688">
              <a:lnSpc>
                <a:spcPct val="144500"/>
              </a:lnSpc>
              <a:buSzPct val="100000"/>
              <a:buChar char="•"/>
              <a:tabLst>
                <a:tab pos="166688" algn="l"/>
              </a:tabLst>
            </a:pPr>
            <a:r>
              <a:rPr lang="en-US" sz="1875" dirty="0">
                <a:solidFill>
                  <a:srgbClr val="D9E2CC"/>
                </a:solidFill>
                <a:latin typeface="Public Sans" pitchFamily="34" charset="0"/>
                <a:ea typeface="Public Sans" pitchFamily="34" charset="-122"/>
                <a:cs typeface="Public Sans" pitchFamily="34" charset="-120"/>
              </a:rPr>
              <a:t>Weak reporting foundation</a:t>
            </a:r>
            <a:endParaRPr lang="en-US" sz="187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23830" y="495160"/>
            <a:ext cx="8659730" cy="307041"/>
          </a:xfrm>
          <a:prstGeom prst="rect">
            <a:avLst/>
          </a:prstGeom>
          <a:noFill/>
          <a:ln/>
        </p:spPr>
        <p:txBody>
          <a:bodyPr wrap="square" lIns="25400" tIns="25400" rIns="25400" bIns="25400" rtlCol="0" anchor="t">
            <a:normAutofit/>
          </a:bodyPr>
          <a:lstStyle/>
          <a:p>
            <a:pPr algn="l" indent="0" marL="0">
              <a:buNone/>
            </a:pPr>
            <a:r>
              <a:rPr lang="en-US" sz="1650" b="1" spc="198" kern="0" dirty="0">
                <a:solidFill>
                  <a:srgbClr val="1C5C43"/>
                </a:solidFill>
                <a:latin typeface="IBM Plex Mono" pitchFamily="34" charset="0"/>
                <a:ea typeface="IBM Plex Mono" pitchFamily="34" charset="-122"/>
                <a:cs typeface="IBM Plex Mono" pitchFamily="34" charset="-120"/>
              </a:rPr>
              <a:t>03 · FUTURE STATE</a:t>
            </a:r>
            <a:endParaRPr lang="en-US" sz="1650" dirty="0"/>
          </a:p>
        </p:txBody>
      </p:sp>
      <p:sp>
        <p:nvSpPr>
          <p:cNvPr id="3" name="Text 1"/>
          <p:cNvSpPr/>
          <p:nvPr/>
        </p:nvSpPr>
        <p:spPr>
          <a:xfrm>
            <a:off x="723830" y="859351"/>
            <a:ext cx="8659730" cy="575982"/>
          </a:xfrm>
          <a:prstGeom prst="rect">
            <a:avLst/>
          </a:prstGeom>
          <a:noFill/>
          <a:ln/>
        </p:spPr>
        <p:txBody>
          <a:bodyPr wrap="square" lIns="25400" tIns="25400" rIns="25400" bIns="25400" rtlCol="0" anchor="t">
            <a:normAutofit/>
          </a:bodyPr>
          <a:lstStyle/>
          <a:p>
            <a:pPr algn="l" indent="0" marL="0">
              <a:buNone/>
            </a:pPr>
            <a:r>
              <a:rPr lang="en-US" sz="3600" b="1" spc="-36" kern="0" dirty="0">
                <a:solidFill>
                  <a:srgbClr val="0D2E22"/>
                </a:solidFill>
                <a:latin typeface="Public Sans" pitchFamily="34" charset="0"/>
                <a:ea typeface="Public Sans" pitchFamily="34" charset="-122"/>
                <a:cs typeface="Public Sans" pitchFamily="34" charset="-120"/>
              </a:rPr>
              <a:t>One action, AI-assisted — end to end</a:t>
            </a:r>
            <a:endParaRPr lang="en-US" sz="3600" dirty="0"/>
          </a:p>
        </p:txBody>
      </p:sp>
      <p:sp>
        <p:nvSpPr>
          <p:cNvPr id="4" name="Shape 2"/>
          <p:cNvSpPr/>
          <p:nvPr/>
        </p:nvSpPr>
        <p:spPr>
          <a:xfrm>
            <a:off x="723830" y="1771580"/>
            <a:ext cx="4638360" cy="448235"/>
          </a:xfrm>
          <a:prstGeom prst="roundRect">
            <a:avLst>
              <a:gd name="adj" fmla="val 50000"/>
            </a:avLst>
          </a:prstGeom>
          <a:solidFill>
            <a:srgbClr val="FBF1E3"/>
          </a:solidFill>
          <a:ln w="11206">
            <a:solidFill>
              <a:srgbClr val="ECCFA3"/>
            </a:solidFill>
            <a:prstDash val="solid"/>
          </a:ln>
        </p:spPr>
      </p:sp>
      <p:sp>
        <p:nvSpPr>
          <p:cNvPr id="5" name="Text 3"/>
          <p:cNvSpPr/>
          <p:nvPr/>
        </p:nvSpPr>
        <p:spPr>
          <a:xfrm>
            <a:off x="925536" y="1878036"/>
            <a:ext cx="4374099" cy="273424"/>
          </a:xfrm>
          <a:prstGeom prst="rect">
            <a:avLst/>
          </a:prstGeom>
          <a:noFill/>
          <a:ln/>
        </p:spPr>
        <p:txBody>
          <a:bodyPr wrap="square" lIns="25400" tIns="25400" rIns="25400" bIns="25400" rtlCol="0" anchor="t">
            <a:normAutofit/>
          </a:bodyPr>
          <a:lstStyle/>
          <a:p>
            <a:pPr algn="l" indent="0" marL="0">
              <a:buNone/>
            </a:pPr>
            <a:r>
              <a:rPr lang="en-US" sz="1425" b="1" dirty="0">
                <a:solidFill>
                  <a:srgbClr val="B4690E"/>
                </a:solidFill>
                <a:latin typeface="IBM Plex Mono" pitchFamily="34" charset="0"/>
                <a:ea typeface="IBM Plex Mono" pitchFamily="34" charset="-122"/>
                <a:cs typeface="IBM Plex Mono" pitchFamily="34" charset="-120"/>
              </a:rPr>
              <a:t>As-is · 12 handoffs · 6–8 emails · days</a:t>
            </a:r>
            <a:endParaRPr lang="en-US" sz="1425" dirty="0"/>
          </a:p>
        </p:txBody>
      </p:sp>
      <p:sp>
        <p:nvSpPr>
          <p:cNvPr id="6" name="Text 4"/>
          <p:cNvSpPr/>
          <p:nvPr/>
        </p:nvSpPr>
        <p:spPr>
          <a:xfrm>
            <a:off x="5514519" y="1822006"/>
            <a:ext cx="337087" cy="385482"/>
          </a:xfrm>
          <a:prstGeom prst="rect">
            <a:avLst/>
          </a:prstGeom>
          <a:noFill/>
          <a:ln/>
        </p:spPr>
        <p:txBody>
          <a:bodyPr wrap="square" lIns="25400" tIns="25400" rIns="25400" bIns="25400" rtlCol="0" anchor="t">
            <a:normAutofit/>
          </a:bodyPr>
          <a:lstStyle/>
          <a:p>
            <a:pPr algn="l" indent="0" marL="0">
              <a:buNone/>
            </a:pPr>
            <a:r>
              <a:rPr lang="en-US" sz="2250" dirty="0">
                <a:solidFill>
                  <a:srgbClr val="9AA7B6"/>
                </a:solidFill>
                <a:latin typeface="Public Sans" pitchFamily="34" charset="0"/>
                <a:ea typeface="Public Sans" pitchFamily="34" charset="-122"/>
                <a:cs typeface="Public Sans" pitchFamily="34" charset="-120"/>
              </a:rPr>
              <a:t>→</a:t>
            </a:r>
            <a:endParaRPr lang="en-US" sz="2250" dirty="0"/>
          </a:p>
        </p:txBody>
      </p:sp>
      <p:sp>
        <p:nvSpPr>
          <p:cNvPr id="7" name="Shape 5"/>
          <p:cNvSpPr/>
          <p:nvPr/>
        </p:nvSpPr>
        <p:spPr>
          <a:xfrm>
            <a:off x="5927736" y="1782786"/>
            <a:ext cx="4615948" cy="425823"/>
          </a:xfrm>
          <a:prstGeom prst="roundRect">
            <a:avLst>
              <a:gd name="adj" fmla="val 50000"/>
            </a:avLst>
          </a:prstGeom>
          <a:solidFill>
            <a:srgbClr val="1C5C43"/>
          </a:solidFill>
          <a:ln/>
        </p:spPr>
      </p:sp>
      <p:sp>
        <p:nvSpPr>
          <p:cNvPr id="8" name="Text 6"/>
          <p:cNvSpPr/>
          <p:nvPr/>
        </p:nvSpPr>
        <p:spPr>
          <a:xfrm>
            <a:off x="6118236" y="1878036"/>
            <a:ext cx="4373426" cy="273423"/>
          </a:xfrm>
          <a:prstGeom prst="rect">
            <a:avLst/>
          </a:prstGeom>
          <a:noFill/>
          <a:ln/>
        </p:spPr>
        <p:txBody>
          <a:bodyPr wrap="square" lIns="25400" tIns="25400" rIns="25400" bIns="25400" rtlCol="0" anchor="t">
            <a:normAutofit/>
          </a:bodyPr>
          <a:lstStyle/>
          <a:p>
            <a:pPr algn="l" indent="0" marL="0">
              <a:buNone/>
            </a:pPr>
            <a:r>
              <a:rPr lang="en-US" sz="1425" b="1" dirty="0">
                <a:solidFill>
                  <a:srgbClr val="FFFFFF"/>
                </a:solidFill>
                <a:latin typeface="IBM Plex Mono" pitchFamily="34" charset="0"/>
                <a:ea typeface="IBM Plex Mono" pitchFamily="34" charset="-122"/>
                <a:cs typeface="IBM Plex Mono" pitchFamily="34" charset="-120"/>
              </a:rPr>
              <a:t>To-be · 1 action · AI-drafted · minutes</a:t>
            </a:r>
            <a:endParaRPr lang="en-US" sz="1425" dirty="0"/>
          </a:p>
        </p:txBody>
      </p:sp>
      <p:pic>
        <p:nvPicPr>
          <p:cNvPr id="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8287999" cy="10286999"/>
          </a:xfrm>
          <a:prstGeom prst="rect">
            <a:avLst/>
          </a:prstGeom>
        </p:spPr>
      </p:pic>
      <p:sp>
        <p:nvSpPr>
          <p:cNvPr id="10" name="Shape 7"/>
          <p:cNvSpPr/>
          <p:nvPr/>
        </p:nvSpPr>
        <p:spPr>
          <a:xfrm>
            <a:off x="723830" y="4381500"/>
            <a:ext cx="3429000" cy="2857500"/>
          </a:xfrm>
          <a:prstGeom prst="roundRect">
            <a:avLst>
              <a:gd name="adj" fmla="val 5333"/>
            </a:avLst>
          </a:prstGeom>
          <a:solidFill>
            <a:srgbClr val="0D2E22"/>
          </a:solidFill>
          <a:ln/>
        </p:spPr>
      </p:sp>
      <p:sp>
        <p:nvSpPr>
          <p:cNvPr id="11" name="Text 8"/>
          <p:cNvSpPr/>
          <p:nvPr/>
        </p:nvSpPr>
        <p:spPr>
          <a:xfrm>
            <a:off x="1009580" y="5089221"/>
            <a:ext cx="3143250" cy="262218"/>
          </a:xfrm>
          <a:prstGeom prst="rect">
            <a:avLst/>
          </a:prstGeom>
          <a:noFill/>
          <a:ln/>
        </p:spPr>
        <p:txBody>
          <a:bodyPr wrap="square" lIns="25400" tIns="25400" rIns="25400" bIns="25400" rtlCol="0" anchor="t">
            <a:normAutofit/>
          </a:bodyPr>
          <a:lstStyle/>
          <a:p>
            <a:pPr algn="l" indent="0" marL="0">
              <a:buNone/>
            </a:pPr>
            <a:r>
              <a:rPr lang="en-US" sz="1350" b="1" dirty="0">
                <a:solidFill>
                  <a:srgbClr val="C8A45C"/>
                </a:solidFill>
                <a:latin typeface="IBM Plex Mono" pitchFamily="34" charset="0"/>
                <a:ea typeface="IBM Plex Mono" pitchFamily="34" charset="-122"/>
                <a:cs typeface="IBM Plex Mono" pitchFamily="34" charset="-120"/>
              </a:rPr>
              <a:t>RELATIONSHIP MANAGER</a:t>
            </a:r>
            <a:endParaRPr lang="en-US" sz="1350" dirty="0"/>
          </a:p>
        </p:txBody>
      </p:sp>
      <p:sp>
        <p:nvSpPr>
          <p:cNvPr id="12" name="Text 9"/>
          <p:cNvSpPr/>
          <p:nvPr/>
        </p:nvSpPr>
        <p:spPr>
          <a:xfrm>
            <a:off x="1009580" y="5427499"/>
            <a:ext cx="3143250" cy="374276"/>
          </a:xfrm>
          <a:prstGeom prst="rect">
            <a:avLst/>
          </a:prstGeom>
          <a:noFill/>
          <a:ln/>
        </p:spPr>
        <p:txBody>
          <a:bodyPr wrap="square" lIns="25400" tIns="25400" rIns="25400" bIns="25400" rtlCol="0" anchor="t">
            <a:normAutofit/>
          </a:bodyPr>
          <a:lstStyle/>
          <a:p>
            <a:pPr algn="l" indent="0" marL="0">
              <a:lnSpc>
                <a:spcPct val="102000"/>
              </a:lnSpc>
              <a:buNone/>
            </a:pPr>
            <a:r>
              <a:rPr lang="en-US" sz="2250" b="1" dirty="0">
                <a:solidFill>
                  <a:srgbClr val="FFFFFF"/>
                </a:solidFill>
                <a:latin typeface="Public Sans" pitchFamily="34" charset="0"/>
                <a:ea typeface="Public Sans" pitchFamily="34" charset="-122"/>
                <a:cs typeface="Public Sans" pitchFamily="34" charset="-120"/>
              </a:rPr>
              <a:t>Enter details &amp; press</a:t>
            </a:r>
            <a:endParaRPr lang="en-US" sz="2250" dirty="0"/>
          </a:p>
        </p:txBody>
      </p:sp>
      <p:sp>
        <p:nvSpPr>
          <p:cNvPr id="13" name="Shape 10"/>
          <p:cNvSpPr/>
          <p:nvPr/>
        </p:nvSpPr>
        <p:spPr>
          <a:xfrm>
            <a:off x="1009580" y="5935090"/>
            <a:ext cx="2857500" cy="596013"/>
          </a:xfrm>
          <a:prstGeom prst="roundRect">
            <a:avLst>
              <a:gd name="adj" fmla="val 15981"/>
            </a:avLst>
          </a:prstGeom>
          <a:solidFill>
            <a:srgbClr val="1C5C43"/>
          </a:solidFill>
          <a:ln/>
        </p:spPr>
      </p:sp>
      <p:sp>
        <p:nvSpPr>
          <p:cNvPr id="14" name="Text 11"/>
          <p:cNvSpPr/>
          <p:nvPr/>
        </p:nvSpPr>
        <p:spPr>
          <a:xfrm>
            <a:off x="1119117" y="6087490"/>
            <a:ext cx="2638425" cy="329313"/>
          </a:xfrm>
          <a:prstGeom prst="rect">
            <a:avLst/>
          </a:prstGeom>
          <a:noFill/>
          <a:ln/>
        </p:spPr>
        <p:txBody>
          <a:bodyPr wrap="square" lIns="25400" tIns="25400" rIns="25400" bIns="25400" rtlCol="0" anchor="t">
            <a:normAutofit/>
          </a:bodyPr>
          <a:lstStyle/>
          <a:p>
            <a:pPr algn="ctr" indent="0" marL="0">
              <a:buNone/>
            </a:pPr>
            <a:r>
              <a:rPr lang="en-US" sz="1950" b="1" dirty="0">
                <a:solidFill>
                  <a:srgbClr val="FFFFFF"/>
                </a:solidFill>
                <a:latin typeface="Public Sans" pitchFamily="34" charset="0"/>
                <a:ea typeface="Public Sans" pitchFamily="34" charset="-122"/>
                <a:cs typeface="Public Sans" pitchFamily="34" charset="-120"/>
              </a:rPr>
              <a:t>＋ Create Meeting</a:t>
            </a:r>
            <a:endParaRPr lang="en-US" sz="1950" dirty="0"/>
          </a:p>
        </p:txBody>
      </p:sp>
      <p:sp>
        <p:nvSpPr>
          <p:cNvPr id="15" name="Shape 12"/>
          <p:cNvSpPr/>
          <p:nvPr/>
        </p:nvSpPr>
        <p:spPr>
          <a:xfrm>
            <a:off x="5295830" y="4667250"/>
            <a:ext cx="2857500" cy="2286000"/>
          </a:xfrm>
          <a:prstGeom prst="roundRect">
            <a:avLst>
              <a:gd name="adj" fmla="val 6667"/>
            </a:avLst>
          </a:prstGeom>
          <a:solidFill>
            <a:srgbClr val="EFF2E4"/>
          </a:solidFill>
          <a:ln w="16809">
            <a:solidFill>
              <a:srgbClr val="14513A"/>
            </a:solidFill>
            <a:prstDash val="solid"/>
          </a:ln>
        </p:spPr>
      </p:sp>
      <p:sp>
        <p:nvSpPr>
          <p:cNvPr id="16" name="Shape 13"/>
          <p:cNvSpPr/>
          <p:nvPr/>
        </p:nvSpPr>
        <p:spPr>
          <a:xfrm>
            <a:off x="6505540" y="5255033"/>
            <a:ext cx="438080" cy="438080"/>
          </a:xfrm>
          <a:prstGeom prst="roundRect">
            <a:avLst>
              <a:gd name="adj" fmla="val 21743"/>
            </a:avLst>
          </a:prstGeom>
          <a:solidFill>
            <a:srgbClr val="14513A"/>
          </a:solidFill>
          <a:ln/>
        </p:spPr>
      </p:sp>
      <p:sp>
        <p:nvSpPr>
          <p:cNvPr id="17" name="Text 14"/>
          <p:cNvSpPr/>
          <p:nvPr/>
        </p:nvSpPr>
        <p:spPr>
          <a:xfrm>
            <a:off x="6467440" y="5255033"/>
            <a:ext cx="514280" cy="476180"/>
          </a:xfrm>
          <a:prstGeom prst="rect">
            <a:avLst/>
          </a:prstGeom>
          <a:noFill/>
          <a:ln/>
        </p:spPr>
        <p:txBody>
          <a:bodyPr wrap="square" lIns="25400" tIns="25400" rIns="25400" bIns="25400" rtlCol="0" anchor="ctr">
            <a:normAutofit/>
          </a:bodyPr>
          <a:lstStyle/>
          <a:p>
            <a:pPr algn="ctr" indent="0" marL="0">
              <a:buNone/>
            </a:pPr>
            <a:r>
              <a:rPr lang="en-US" sz="1275" b="1" dirty="0">
                <a:solidFill>
                  <a:srgbClr val="FFFFFF"/>
                </a:solidFill>
                <a:latin typeface="IBM Plex Mono" pitchFamily="34" charset="0"/>
                <a:ea typeface="IBM Plex Mono" pitchFamily="34" charset="-122"/>
                <a:cs typeface="IBM Plex Mono" pitchFamily="34" charset="-120"/>
              </a:rPr>
              <a:t>Fl</a:t>
            </a:r>
            <a:endParaRPr lang="en-US" sz="1275" dirty="0"/>
          </a:p>
        </p:txBody>
      </p:sp>
      <p:sp>
        <p:nvSpPr>
          <p:cNvPr id="18" name="Text 15"/>
          <p:cNvSpPr/>
          <p:nvPr/>
        </p:nvSpPr>
        <p:spPr>
          <a:xfrm>
            <a:off x="5733078" y="5788363"/>
            <a:ext cx="1982828" cy="307041"/>
          </a:xfrm>
          <a:prstGeom prst="rect">
            <a:avLst/>
          </a:prstGeom>
          <a:noFill/>
          <a:ln/>
        </p:spPr>
        <p:txBody>
          <a:bodyPr wrap="square" lIns="25400" tIns="25400" rIns="25400" bIns="25400" rtlCol="0" anchor="t">
            <a:normAutofit/>
          </a:bodyPr>
          <a:lstStyle/>
          <a:p>
            <a:pPr algn="ctr" indent="0" marL="0">
              <a:lnSpc>
                <a:spcPct val="102000"/>
              </a:lnSpc>
              <a:buNone/>
            </a:pPr>
            <a:r>
              <a:rPr lang="en-US" sz="1800" b="1" dirty="0">
                <a:solidFill>
                  <a:srgbClr val="0D2E22"/>
                </a:solidFill>
                <a:latin typeface="Public Sans" pitchFamily="34" charset="0"/>
                <a:ea typeface="Public Sans" pitchFamily="34" charset="-122"/>
                <a:cs typeface="Public Sans" pitchFamily="34" charset="-120"/>
              </a:rPr>
              <a:t>Power Automate</a:t>
            </a:r>
            <a:endParaRPr lang="en-US" sz="1800" dirty="0"/>
          </a:p>
        </p:txBody>
      </p:sp>
      <p:sp>
        <p:nvSpPr>
          <p:cNvPr id="19" name="Text 16"/>
          <p:cNvSpPr/>
          <p:nvPr/>
        </p:nvSpPr>
        <p:spPr>
          <a:xfrm>
            <a:off x="5502525" y="6152554"/>
            <a:ext cx="2444108" cy="251012"/>
          </a:xfrm>
          <a:prstGeom prst="rect">
            <a:avLst/>
          </a:prstGeom>
          <a:noFill/>
          <a:ln/>
        </p:spPr>
        <p:txBody>
          <a:bodyPr wrap="square" lIns="25400" tIns="25400" rIns="25400" bIns="25400" rtlCol="0" anchor="t">
            <a:normAutofit/>
          </a:bodyPr>
          <a:lstStyle/>
          <a:p>
            <a:pPr algn="ctr" indent="0" marL="0">
              <a:buNone/>
            </a:pPr>
            <a:r>
              <a:rPr lang="en-US" sz="1425" dirty="0">
                <a:solidFill>
                  <a:srgbClr val="5B6675"/>
                </a:solidFill>
                <a:latin typeface="Public Sans" pitchFamily="34" charset="0"/>
                <a:ea typeface="Public Sans" pitchFamily="34" charset="-122"/>
                <a:cs typeface="Public Sans" pitchFamily="34" charset="-120"/>
              </a:rPr>
              <a:t>Event-driven orchestration</a:t>
            </a:r>
            <a:endParaRPr lang="en-US" sz="1425" dirty="0"/>
          </a:p>
        </p:txBody>
      </p:sp>
      <p:sp>
        <p:nvSpPr>
          <p:cNvPr id="20" name="Shape 17"/>
          <p:cNvSpPr/>
          <p:nvPr/>
        </p:nvSpPr>
        <p:spPr>
          <a:xfrm>
            <a:off x="9715499" y="2762250"/>
            <a:ext cx="7238999" cy="762000"/>
          </a:xfrm>
          <a:prstGeom prst="roundRect">
            <a:avLst>
              <a:gd name="adj" fmla="val 15000"/>
            </a:avLst>
          </a:prstGeom>
          <a:solidFill>
            <a:srgbClr val="FFFFFF"/>
          </a:solidFill>
          <a:ln w="11206">
            <a:solidFill>
              <a:srgbClr val="DBE2EA"/>
            </a:solidFill>
            <a:prstDash val="solid"/>
          </a:ln>
        </p:spPr>
      </p:sp>
      <p:sp>
        <p:nvSpPr>
          <p:cNvPr id="21" name="Shape 18"/>
          <p:cNvSpPr/>
          <p:nvPr/>
        </p:nvSpPr>
        <p:spPr>
          <a:xfrm>
            <a:off x="9602916" y="2649666"/>
            <a:ext cx="285750" cy="285750"/>
          </a:xfrm>
          <a:prstGeom prst="ellipse">
            <a:avLst/>
          </a:prstGeom>
          <a:solidFill>
            <a:srgbClr val="0D2E22"/>
          </a:solidFill>
          <a:ln/>
        </p:spPr>
      </p:sp>
      <p:sp>
        <p:nvSpPr>
          <p:cNvPr id="22" name="Text 19"/>
          <p:cNvSpPr/>
          <p:nvPr/>
        </p:nvSpPr>
        <p:spPr>
          <a:xfrm>
            <a:off x="9564816" y="2649666"/>
            <a:ext cx="361950" cy="323850"/>
          </a:xfrm>
          <a:prstGeom prst="rect">
            <a:avLst/>
          </a:prstGeom>
          <a:noFill/>
          <a:ln/>
        </p:spPr>
        <p:txBody>
          <a:bodyPr wrap="square" lIns="25400" tIns="25400" rIns="25400" bIns="25400" rtlCol="0" anchor="ctr">
            <a:normAutofit/>
          </a:bodyPr>
          <a:lstStyle/>
          <a:p>
            <a:pPr algn="ctr" indent="0" marL="0">
              <a:buNone/>
            </a:pPr>
            <a:r>
              <a:rPr lang="en-US" sz="1125" b="1" dirty="0">
                <a:solidFill>
                  <a:srgbClr val="FFFFFF"/>
                </a:solidFill>
                <a:latin typeface="IBM Plex Mono" pitchFamily="34" charset="0"/>
                <a:ea typeface="IBM Plex Mono" pitchFamily="34" charset="-122"/>
                <a:cs typeface="IBM Plex Mono" pitchFamily="34" charset="-120"/>
              </a:rPr>
              <a:t>1</a:t>
            </a:r>
            <a:endParaRPr lang="en-US" sz="1125" dirty="0"/>
          </a:p>
        </p:txBody>
      </p:sp>
      <p:sp>
        <p:nvSpPr>
          <p:cNvPr id="23" name="Shape 20"/>
          <p:cNvSpPr/>
          <p:nvPr/>
        </p:nvSpPr>
        <p:spPr>
          <a:xfrm>
            <a:off x="9936116" y="2943295"/>
            <a:ext cx="399910" cy="399910"/>
          </a:xfrm>
          <a:prstGeom prst="roundRect">
            <a:avLst>
              <a:gd name="adj" fmla="val 21436"/>
            </a:avLst>
          </a:prstGeom>
          <a:solidFill>
            <a:srgbClr val="1C5C43"/>
          </a:solidFill>
          <a:ln/>
        </p:spPr>
      </p:sp>
      <p:sp>
        <p:nvSpPr>
          <p:cNvPr id="24" name="Text 21"/>
          <p:cNvSpPr/>
          <p:nvPr/>
        </p:nvSpPr>
        <p:spPr>
          <a:xfrm>
            <a:off x="9898016" y="2943295"/>
            <a:ext cx="476110" cy="438010"/>
          </a:xfrm>
          <a:prstGeom prst="rect">
            <a:avLst/>
          </a:prstGeom>
          <a:noFill/>
          <a:ln/>
        </p:spPr>
        <p:txBody>
          <a:bodyPr wrap="square" lIns="25400" tIns="25400" rIns="25400" bIns="25400" rtlCol="0" anchor="ctr">
            <a:normAutofit/>
          </a:bodyPr>
          <a:lstStyle/>
          <a:p>
            <a:pPr algn="ctr" indent="0" marL="0">
              <a:buNone/>
            </a:pPr>
            <a:r>
              <a:rPr lang="en-US" sz="1050" b="1" dirty="0">
                <a:solidFill>
                  <a:srgbClr val="FFFFFF"/>
                </a:solidFill>
                <a:latin typeface="IBM Plex Mono" pitchFamily="34" charset="0"/>
                <a:ea typeface="IBM Plex Mono" pitchFamily="34" charset="-122"/>
                <a:cs typeface="IBM Plex Mono" pitchFamily="34" charset="-120"/>
              </a:rPr>
              <a:t>Gr</a:t>
            </a:r>
            <a:endParaRPr lang="en-US" sz="1050" dirty="0"/>
          </a:p>
        </p:txBody>
      </p:sp>
      <p:sp>
        <p:nvSpPr>
          <p:cNvPr id="25" name="Text 22"/>
          <p:cNvSpPr/>
          <p:nvPr/>
        </p:nvSpPr>
        <p:spPr>
          <a:xfrm>
            <a:off x="10488355" y="2920883"/>
            <a:ext cx="4098358" cy="284629"/>
          </a:xfrm>
          <a:prstGeom prst="rect">
            <a:avLst/>
          </a:prstGeom>
          <a:noFill/>
          <a:ln/>
        </p:spPr>
        <p:txBody>
          <a:bodyPr wrap="square" lIns="25400" tIns="25400" rIns="25400" bIns="25400" rtlCol="0" anchor="t">
            <a:normAutofit/>
          </a:bodyPr>
          <a:lstStyle/>
          <a:p>
            <a:pPr algn="l" indent="0" marL="0">
              <a:buNone/>
            </a:pPr>
            <a:r>
              <a:rPr lang="en-US" sz="1650" b="1" dirty="0">
                <a:solidFill>
                  <a:srgbClr val="0D2E22"/>
                </a:solidFill>
                <a:latin typeface="Public Sans" pitchFamily="34" charset="0"/>
                <a:ea typeface="Public Sans" pitchFamily="34" charset="-122"/>
                <a:cs typeface="Public Sans" pitchFamily="34" charset="-120"/>
              </a:rPr>
              <a:t>Availability resolved</a:t>
            </a:r>
            <a:endParaRPr lang="en-US" sz="1650" dirty="0"/>
          </a:p>
        </p:txBody>
      </p:sp>
      <p:sp>
        <p:nvSpPr>
          <p:cNvPr id="26" name="Text 23"/>
          <p:cNvSpPr/>
          <p:nvPr/>
        </p:nvSpPr>
        <p:spPr>
          <a:xfrm>
            <a:off x="10488355" y="3186322"/>
            <a:ext cx="4098358" cy="217394"/>
          </a:xfrm>
          <a:prstGeom prst="rect">
            <a:avLst/>
          </a:prstGeom>
          <a:noFill/>
          <a:ln/>
        </p:spPr>
        <p:txBody>
          <a:bodyPr wrap="square" lIns="25400" tIns="25400" rIns="25400" bIns="25400" rtlCol="0" anchor="t">
            <a:normAutofit/>
          </a:bodyPr>
          <a:lstStyle/>
          <a:p>
            <a:pPr algn="l" indent="0" marL="0">
              <a:buNone/>
            </a:pPr>
            <a:r>
              <a:rPr lang="en-US" sz="1200" dirty="0">
                <a:solidFill>
                  <a:srgbClr val="5B6675"/>
                </a:solidFill>
                <a:latin typeface="Public Sans" pitchFamily="34" charset="0"/>
                <a:ea typeface="Public Sans" pitchFamily="34" charset="-122"/>
                <a:cs typeface="Public Sans" pitchFamily="34" charset="-120"/>
              </a:rPr>
              <a:t>Graph free/busy + ranked rooms across all attendees</a:t>
            </a:r>
            <a:endParaRPr lang="en-US" sz="1200" dirty="0"/>
          </a:p>
        </p:txBody>
      </p:sp>
      <p:sp>
        <p:nvSpPr>
          <p:cNvPr id="27" name="Shape 24"/>
          <p:cNvSpPr/>
          <p:nvPr/>
        </p:nvSpPr>
        <p:spPr>
          <a:xfrm>
            <a:off x="9715499" y="3619500"/>
            <a:ext cx="7238999" cy="762000"/>
          </a:xfrm>
          <a:prstGeom prst="roundRect">
            <a:avLst>
              <a:gd name="adj" fmla="val 15000"/>
            </a:avLst>
          </a:prstGeom>
          <a:solidFill>
            <a:srgbClr val="FBF8F1"/>
          </a:solidFill>
          <a:ln w="16809">
            <a:solidFill>
              <a:srgbClr val="ECCFA3"/>
            </a:solidFill>
            <a:prstDash val="solid"/>
          </a:ln>
        </p:spPr>
      </p:sp>
      <p:sp>
        <p:nvSpPr>
          <p:cNvPr id="28" name="Shape 25"/>
          <p:cNvSpPr/>
          <p:nvPr/>
        </p:nvSpPr>
        <p:spPr>
          <a:xfrm>
            <a:off x="9608518" y="3512519"/>
            <a:ext cx="285750" cy="285750"/>
          </a:xfrm>
          <a:prstGeom prst="ellipse">
            <a:avLst/>
          </a:prstGeom>
          <a:solidFill>
            <a:srgbClr val="B4690E"/>
          </a:solidFill>
          <a:ln/>
        </p:spPr>
      </p:sp>
      <p:sp>
        <p:nvSpPr>
          <p:cNvPr id="29" name="Text 26"/>
          <p:cNvSpPr/>
          <p:nvPr/>
        </p:nvSpPr>
        <p:spPr>
          <a:xfrm>
            <a:off x="9570418" y="3512519"/>
            <a:ext cx="361950" cy="323850"/>
          </a:xfrm>
          <a:prstGeom prst="rect">
            <a:avLst/>
          </a:prstGeom>
          <a:noFill/>
          <a:ln/>
        </p:spPr>
        <p:txBody>
          <a:bodyPr wrap="square" lIns="25400" tIns="25400" rIns="25400" bIns="25400" rtlCol="0" anchor="ctr">
            <a:normAutofit/>
          </a:bodyPr>
          <a:lstStyle/>
          <a:p>
            <a:pPr algn="ctr" indent="0" marL="0">
              <a:buNone/>
            </a:pPr>
            <a:r>
              <a:rPr lang="en-US" sz="1125" b="1" dirty="0">
                <a:solidFill>
                  <a:srgbClr val="FFFFFF"/>
                </a:solidFill>
                <a:latin typeface="IBM Plex Mono" pitchFamily="34" charset="0"/>
                <a:ea typeface="IBM Plex Mono" pitchFamily="34" charset="-122"/>
                <a:cs typeface="IBM Plex Mono" pitchFamily="34" charset="-120"/>
              </a:rPr>
              <a:t>2</a:t>
            </a:r>
            <a:endParaRPr lang="en-US" sz="1125" dirty="0"/>
          </a:p>
        </p:txBody>
      </p:sp>
      <p:sp>
        <p:nvSpPr>
          <p:cNvPr id="30" name="Shape 27"/>
          <p:cNvSpPr/>
          <p:nvPr/>
        </p:nvSpPr>
        <p:spPr>
          <a:xfrm>
            <a:off x="9941718" y="3800545"/>
            <a:ext cx="399910" cy="399910"/>
          </a:xfrm>
          <a:prstGeom prst="roundRect">
            <a:avLst>
              <a:gd name="adj" fmla="val 21436"/>
            </a:avLst>
          </a:prstGeom>
          <a:solidFill>
            <a:srgbClr val="B4690E"/>
          </a:solidFill>
          <a:ln/>
        </p:spPr>
      </p:sp>
      <p:sp>
        <p:nvSpPr>
          <p:cNvPr id="31" name="Text 28"/>
          <p:cNvSpPr/>
          <p:nvPr/>
        </p:nvSpPr>
        <p:spPr>
          <a:xfrm>
            <a:off x="9903618" y="3800545"/>
            <a:ext cx="476110" cy="438010"/>
          </a:xfrm>
          <a:prstGeom prst="rect">
            <a:avLst/>
          </a:prstGeom>
          <a:noFill/>
          <a:ln/>
        </p:spPr>
        <p:txBody>
          <a:bodyPr wrap="square" lIns="25400" tIns="25400" rIns="25400" bIns="25400" rtlCol="0" anchor="ctr">
            <a:normAutofit/>
          </a:bodyPr>
          <a:lstStyle/>
          <a:p>
            <a:pPr algn="ctr" indent="0" marL="0">
              <a:buNone/>
            </a:pPr>
            <a:r>
              <a:rPr lang="en-US" sz="1050" b="1" dirty="0">
                <a:solidFill>
                  <a:srgbClr val="FFFFFF"/>
                </a:solidFill>
                <a:latin typeface="IBM Plex Mono" pitchFamily="34" charset="0"/>
                <a:ea typeface="IBM Plex Mono" pitchFamily="34" charset="-122"/>
                <a:cs typeface="IBM Plex Mono" pitchFamily="34" charset="-120"/>
              </a:rPr>
              <a:t>AI</a:t>
            </a:r>
            <a:endParaRPr lang="en-US" sz="1050" dirty="0"/>
          </a:p>
        </p:txBody>
      </p:sp>
      <p:sp>
        <p:nvSpPr>
          <p:cNvPr id="32" name="Text 29"/>
          <p:cNvSpPr/>
          <p:nvPr/>
        </p:nvSpPr>
        <p:spPr>
          <a:xfrm>
            <a:off x="10493958" y="3778133"/>
            <a:ext cx="5629152" cy="284629"/>
          </a:xfrm>
          <a:prstGeom prst="rect">
            <a:avLst/>
          </a:prstGeom>
          <a:noFill/>
          <a:ln/>
        </p:spPr>
        <p:txBody>
          <a:bodyPr wrap="square" lIns="25400" tIns="25400" rIns="25400" bIns="25400" rtlCol="0" anchor="t">
            <a:normAutofit/>
          </a:bodyPr>
          <a:lstStyle/>
          <a:p>
            <a:pPr algn="l" indent="0" marL="0">
              <a:buNone/>
            </a:pPr>
            <a:r>
              <a:rPr lang="en-US" sz="1650" b="1" dirty="0">
                <a:solidFill>
                  <a:srgbClr val="0D2E22"/>
                </a:solidFill>
                <a:latin typeface="Public Sans" pitchFamily="34" charset="0"/>
                <a:ea typeface="Public Sans" pitchFamily="34" charset="-122"/>
                <a:cs typeface="Public Sans" pitchFamily="34" charset="-120"/>
              </a:rPr>
              <a:t>AI recommends slot &amp; drafts invite</a:t>
            </a:r>
            <a:endParaRPr lang="en-US" sz="1650" dirty="0"/>
          </a:p>
        </p:txBody>
      </p:sp>
      <p:sp>
        <p:nvSpPr>
          <p:cNvPr id="33" name="Text 30"/>
          <p:cNvSpPr/>
          <p:nvPr/>
        </p:nvSpPr>
        <p:spPr>
          <a:xfrm>
            <a:off x="10493958" y="4043572"/>
            <a:ext cx="5629152" cy="217394"/>
          </a:xfrm>
          <a:prstGeom prst="rect">
            <a:avLst/>
          </a:prstGeom>
          <a:noFill/>
          <a:ln/>
        </p:spPr>
        <p:txBody>
          <a:bodyPr wrap="square" lIns="25400" tIns="25400" rIns="25400" bIns="25400" rtlCol="0" anchor="t">
            <a:normAutofit/>
          </a:bodyPr>
          <a:lstStyle/>
          <a:p>
            <a:pPr algn="l" indent="0" marL="0">
              <a:buNone/>
            </a:pPr>
            <a:r>
              <a:rPr lang="en-US" sz="1200" dirty="0">
                <a:solidFill>
                  <a:srgbClr val="5B6675"/>
                </a:solidFill>
                <a:latin typeface="Public Sans" pitchFamily="34" charset="0"/>
                <a:ea typeface="Public Sans" pitchFamily="34" charset="-122"/>
                <a:cs typeface="Public Sans" pitchFamily="34" charset="-120"/>
              </a:rPr>
              <a:t>Azure OpenAI proposes the best room + time and a house-style message</a:t>
            </a:r>
            <a:endParaRPr lang="en-US" sz="1200" dirty="0"/>
          </a:p>
        </p:txBody>
      </p:sp>
      <p:sp>
        <p:nvSpPr>
          <p:cNvPr id="34" name="Shape 31"/>
          <p:cNvSpPr/>
          <p:nvPr/>
        </p:nvSpPr>
        <p:spPr>
          <a:xfrm>
            <a:off x="9715499" y="4476750"/>
            <a:ext cx="7238999" cy="762000"/>
          </a:xfrm>
          <a:prstGeom prst="roundRect">
            <a:avLst>
              <a:gd name="adj" fmla="val 15000"/>
            </a:avLst>
          </a:prstGeom>
          <a:solidFill>
            <a:srgbClr val="FFFFFF"/>
          </a:solidFill>
          <a:ln w="11206">
            <a:solidFill>
              <a:srgbClr val="DBE2EA"/>
            </a:solidFill>
            <a:prstDash val="solid"/>
          </a:ln>
        </p:spPr>
      </p:sp>
      <p:sp>
        <p:nvSpPr>
          <p:cNvPr id="35" name="Shape 32"/>
          <p:cNvSpPr/>
          <p:nvPr/>
        </p:nvSpPr>
        <p:spPr>
          <a:xfrm>
            <a:off x="9602916" y="4364166"/>
            <a:ext cx="285750" cy="285750"/>
          </a:xfrm>
          <a:prstGeom prst="ellipse">
            <a:avLst/>
          </a:prstGeom>
          <a:solidFill>
            <a:srgbClr val="0D2E22"/>
          </a:solidFill>
          <a:ln/>
        </p:spPr>
      </p:sp>
      <p:sp>
        <p:nvSpPr>
          <p:cNvPr id="36" name="Text 33"/>
          <p:cNvSpPr/>
          <p:nvPr/>
        </p:nvSpPr>
        <p:spPr>
          <a:xfrm>
            <a:off x="9564816" y="4364166"/>
            <a:ext cx="361950" cy="323850"/>
          </a:xfrm>
          <a:prstGeom prst="rect">
            <a:avLst/>
          </a:prstGeom>
          <a:noFill/>
          <a:ln/>
        </p:spPr>
        <p:txBody>
          <a:bodyPr wrap="square" lIns="25400" tIns="25400" rIns="25400" bIns="25400" rtlCol="0" anchor="ctr">
            <a:normAutofit/>
          </a:bodyPr>
          <a:lstStyle/>
          <a:p>
            <a:pPr algn="ctr" indent="0" marL="0">
              <a:buNone/>
            </a:pPr>
            <a:r>
              <a:rPr lang="en-US" sz="1125" b="1" dirty="0">
                <a:solidFill>
                  <a:srgbClr val="FFFFFF"/>
                </a:solidFill>
                <a:latin typeface="IBM Plex Mono" pitchFamily="34" charset="0"/>
                <a:ea typeface="IBM Plex Mono" pitchFamily="34" charset="-122"/>
                <a:cs typeface="IBM Plex Mono" pitchFamily="34" charset="-120"/>
              </a:rPr>
              <a:t>3</a:t>
            </a:r>
            <a:endParaRPr lang="en-US" sz="1125" dirty="0"/>
          </a:p>
        </p:txBody>
      </p:sp>
      <p:sp>
        <p:nvSpPr>
          <p:cNvPr id="37" name="Shape 34"/>
          <p:cNvSpPr/>
          <p:nvPr/>
        </p:nvSpPr>
        <p:spPr>
          <a:xfrm>
            <a:off x="9936116" y="4657795"/>
            <a:ext cx="399910" cy="399910"/>
          </a:xfrm>
          <a:prstGeom prst="roundRect">
            <a:avLst>
              <a:gd name="adj" fmla="val 21436"/>
            </a:avLst>
          </a:prstGeom>
          <a:solidFill>
            <a:srgbClr val="742774"/>
          </a:solidFill>
          <a:ln/>
        </p:spPr>
      </p:sp>
      <p:sp>
        <p:nvSpPr>
          <p:cNvPr id="38" name="Text 35"/>
          <p:cNvSpPr/>
          <p:nvPr/>
        </p:nvSpPr>
        <p:spPr>
          <a:xfrm>
            <a:off x="9898016" y="4657795"/>
            <a:ext cx="476110" cy="438010"/>
          </a:xfrm>
          <a:prstGeom prst="rect">
            <a:avLst/>
          </a:prstGeom>
          <a:noFill/>
          <a:ln/>
        </p:spPr>
        <p:txBody>
          <a:bodyPr wrap="square" lIns="25400" tIns="25400" rIns="25400" bIns="25400" rtlCol="0" anchor="ctr">
            <a:normAutofit/>
          </a:bodyPr>
          <a:lstStyle/>
          <a:p>
            <a:pPr algn="ctr" indent="0" marL="0">
              <a:buNone/>
            </a:pPr>
            <a:r>
              <a:rPr lang="en-US" sz="1050" b="1" dirty="0">
                <a:solidFill>
                  <a:srgbClr val="FFFFFF"/>
                </a:solidFill>
                <a:latin typeface="IBM Plex Mono" pitchFamily="34" charset="0"/>
                <a:ea typeface="IBM Plex Mono" pitchFamily="34" charset="-122"/>
                <a:cs typeface="IBM Plex Mono" pitchFamily="34" charset="-120"/>
              </a:rPr>
              <a:t>Web</a:t>
            </a:r>
            <a:endParaRPr lang="en-US" sz="1050" dirty="0"/>
          </a:p>
        </p:txBody>
      </p:sp>
      <p:sp>
        <p:nvSpPr>
          <p:cNvPr id="39" name="Text 36"/>
          <p:cNvSpPr/>
          <p:nvPr/>
        </p:nvSpPr>
        <p:spPr>
          <a:xfrm>
            <a:off x="10488355" y="4635383"/>
            <a:ext cx="3948130" cy="284629"/>
          </a:xfrm>
          <a:prstGeom prst="rect">
            <a:avLst/>
          </a:prstGeom>
          <a:noFill/>
          <a:ln/>
        </p:spPr>
        <p:txBody>
          <a:bodyPr wrap="square" lIns="25400" tIns="25400" rIns="25400" bIns="25400" rtlCol="0" anchor="t">
            <a:normAutofit/>
          </a:bodyPr>
          <a:lstStyle/>
          <a:p>
            <a:pPr algn="l" indent="0" marL="0">
              <a:buNone/>
            </a:pPr>
            <a:r>
              <a:rPr lang="en-US" sz="1650" b="1" dirty="0">
                <a:solidFill>
                  <a:srgbClr val="0D2E22"/>
                </a:solidFill>
                <a:latin typeface="Public Sans" pitchFamily="34" charset="0"/>
                <a:ea typeface="Public Sans" pitchFamily="34" charset="-122"/>
                <a:cs typeface="Public Sans" pitchFamily="34" charset="-120"/>
              </a:rPr>
              <a:t>Booking link to customer</a:t>
            </a:r>
            <a:endParaRPr lang="en-US" sz="1650" dirty="0"/>
          </a:p>
        </p:txBody>
      </p:sp>
      <p:sp>
        <p:nvSpPr>
          <p:cNvPr id="40" name="Text 37"/>
          <p:cNvSpPr/>
          <p:nvPr/>
        </p:nvSpPr>
        <p:spPr>
          <a:xfrm>
            <a:off x="10488355" y="4900822"/>
            <a:ext cx="3948130" cy="217394"/>
          </a:xfrm>
          <a:prstGeom prst="rect">
            <a:avLst/>
          </a:prstGeom>
          <a:noFill/>
          <a:ln/>
        </p:spPr>
        <p:txBody>
          <a:bodyPr wrap="square" lIns="25400" tIns="25400" rIns="25400" bIns="25400" rtlCol="0" anchor="t">
            <a:normAutofit/>
          </a:bodyPr>
          <a:lstStyle/>
          <a:p>
            <a:pPr algn="l" indent="0" marL="0">
              <a:buNone/>
            </a:pPr>
            <a:r>
              <a:rPr lang="en-US" sz="1200" dirty="0">
                <a:solidFill>
                  <a:srgbClr val="5B6675"/>
                </a:solidFill>
                <a:latin typeface="Public Sans" pitchFamily="34" charset="0"/>
                <a:ea typeface="Public Sans" pitchFamily="34" charset="-122"/>
                <a:cs typeface="Public Sans" pitchFamily="34" charset="-120"/>
              </a:rPr>
              <a:t>Tokenised, single-use — three options to pick from</a:t>
            </a:r>
            <a:endParaRPr lang="en-US" sz="1200" dirty="0"/>
          </a:p>
        </p:txBody>
      </p:sp>
      <p:sp>
        <p:nvSpPr>
          <p:cNvPr id="41" name="Shape 38"/>
          <p:cNvSpPr/>
          <p:nvPr/>
        </p:nvSpPr>
        <p:spPr>
          <a:xfrm>
            <a:off x="9715499" y="5924409"/>
            <a:ext cx="7238999" cy="762000"/>
          </a:xfrm>
          <a:prstGeom prst="roundRect">
            <a:avLst>
              <a:gd name="adj" fmla="val 15000"/>
            </a:avLst>
          </a:prstGeom>
          <a:solidFill>
            <a:srgbClr val="FFFFFF"/>
          </a:solidFill>
          <a:ln w="11206">
            <a:solidFill>
              <a:srgbClr val="DBE2EA"/>
            </a:solidFill>
            <a:prstDash val="solid"/>
          </a:ln>
        </p:spPr>
      </p:sp>
      <p:sp>
        <p:nvSpPr>
          <p:cNvPr id="42" name="Shape 39"/>
          <p:cNvSpPr/>
          <p:nvPr/>
        </p:nvSpPr>
        <p:spPr>
          <a:xfrm>
            <a:off x="9602916" y="5811825"/>
            <a:ext cx="285750" cy="285750"/>
          </a:xfrm>
          <a:prstGeom prst="ellipse">
            <a:avLst/>
          </a:prstGeom>
          <a:solidFill>
            <a:srgbClr val="0D2E22"/>
          </a:solidFill>
          <a:ln/>
        </p:spPr>
      </p:sp>
      <p:sp>
        <p:nvSpPr>
          <p:cNvPr id="43" name="Text 40"/>
          <p:cNvSpPr/>
          <p:nvPr/>
        </p:nvSpPr>
        <p:spPr>
          <a:xfrm>
            <a:off x="9564816" y="5811825"/>
            <a:ext cx="361950" cy="323850"/>
          </a:xfrm>
          <a:prstGeom prst="rect">
            <a:avLst/>
          </a:prstGeom>
          <a:noFill/>
          <a:ln/>
        </p:spPr>
        <p:txBody>
          <a:bodyPr wrap="square" lIns="25400" tIns="25400" rIns="25400" bIns="25400" rtlCol="0" anchor="ctr">
            <a:normAutofit/>
          </a:bodyPr>
          <a:lstStyle/>
          <a:p>
            <a:pPr algn="ctr" indent="0" marL="0">
              <a:buNone/>
            </a:pPr>
            <a:r>
              <a:rPr lang="en-US" sz="1125" b="1" dirty="0">
                <a:solidFill>
                  <a:srgbClr val="FFFFFF"/>
                </a:solidFill>
                <a:latin typeface="IBM Plex Mono" pitchFamily="34" charset="0"/>
                <a:ea typeface="IBM Plex Mono" pitchFamily="34" charset="-122"/>
                <a:cs typeface="IBM Plex Mono" pitchFamily="34" charset="-120"/>
              </a:rPr>
              <a:t>4</a:t>
            </a:r>
            <a:endParaRPr lang="en-US" sz="1125" dirty="0"/>
          </a:p>
        </p:txBody>
      </p:sp>
      <p:sp>
        <p:nvSpPr>
          <p:cNvPr id="44" name="Shape 41"/>
          <p:cNvSpPr/>
          <p:nvPr/>
        </p:nvSpPr>
        <p:spPr>
          <a:xfrm>
            <a:off x="9936116" y="6105455"/>
            <a:ext cx="399910" cy="399910"/>
          </a:xfrm>
          <a:prstGeom prst="roundRect">
            <a:avLst>
              <a:gd name="adj" fmla="val 21436"/>
            </a:avLst>
          </a:prstGeom>
          <a:solidFill>
            <a:srgbClr val="0078D4"/>
          </a:solidFill>
          <a:ln/>
        </p:spPr>
      </p:sp>
      <p:sp>
        <p:nvSpPr>
          <p:cNvPr id="45" name="Text 42"/>
          <p:cNvSpPr/>
          <p:nvPr/>
        </p:nvSpPr>
        <p:spPr>
          <a:xfrm>
            <a:off x="9898016" y="6105455"/>
            <a:ext cx="476110" cy="438010"/>
          </a:xfrm>
          <a:prstGeom prst="rect">
            <a:avLst/>
          </a:prstGeom>
          <a:noFill/>
          <a:ln/>
        </p:spPr>
        <p:txBody>
          <a:bodyPr wrap="square" lIns="25400" tIns="25400" rIns="25400" bIns="25400" rtlCol="0" anchor="ctr">
            <a:normAutofit/>
          </a:bodyPr>
          <a:lstStyle/>
          <a:p>
            <a:pPr algn="ctr" indent="0" marL="0">
              <a:buNone/>
            </a:pPr>
            <a:r>
              <a:rPr lang="en-US" sz="1050" b="1" dirty="0">
                <a:solidFill>
                  <a:srgbClr val="FFFFFF"/>
                </a:solidFill>
                <a:latin typeface="IBM Plex Mono" pitchFamily="34" charset="0"/>
                <a:ea typeface="IBM Plex Mono" pitchFamily="34" charset="-122"/>
                <a:cs typeface="IBM Plex Mono" pitchFamily="34" charset="-120"/>
              </a:rPr>
              <a:t>Ol</a:t>
            </a:r>
            <a:endParaRPr lang="en-US" sz="1050" dirty="0"/>
          </a:p>
        </p:txBody>
      </p:sp>
      <p:sp>
        <p:nvSpPr>
          <p:cNvPr id="46" name="Text 43"/>
          <p:cNvSpPr/>
          <p:nvPr/>
        </p:nvSpPr>
        <p:spPr>
          <a:xfrm>
            <a:off x="10488355" y="6083043"/>
            <a:ext cx="3491280" cy="284629"/>
          </a:xfrm>
          <a:prstGeom prst="rect">
            <a:avLst/>
          </a:prstGeom>
          <a:noFill/>
          <a:ln/>
        </p:spPr>
        <p:txBody>
          <a:bodyPr wrap="square" lIns="25400" tIns="25400" rIns="25400" bIns="25400" rtlCol="0" anchor="t">
            <a:normAutofit/>
          </a:bodyPr>
          <a:lstStyle/>
          <a:p>
            <a:pPr algn="l" indent="0" marL="0">
              <a:buNone/>
            </a:pPr>
            <a:r>
              <a:rPr lang="en-US" sz="1650" b="1" dirty="0">
                <a:solidFill>
                  <a:srgbClr val="0D2E22"/>
                </a:solidFill>
                <a:latin typeface="Public Sans" pitchFamily="34" charset="0"/>
                <a:ea typeface="Public Sans" pitchFamily="34" charset="-122"/>
                <a:cs typeface="Public Sans" pitchFamily="34" charset="-120"/>
              </a:rPr>
              <a:t>Event + room created</a:t>
            </a:r>
            <a:endParaRPr lang="en-US" sz="1650" dirty="0"/>
          </a:p>
        </p:txBody>
      </p:sp>
      <p:sp>
        <p:nvSpPr>
          <p:cNvPr id="47" name="Text 44"/>
          <p:cNvSpPr/>
          <p:nvPr/>
        </p:nvSpPr>
        <p:spPr>
          <a:xfrm>
            <a:off x="10488355" y="6348482"/>
            <a:ext cx="3491280" cy="217394"/>
          </a:xfrm>
          <a:prstGeom prst="rect">
            <a:avLst/>
          </a:prstGeom>
          <a:noFill/>
          <a:ln/>
        </p:spPr>
        <p:txBody>
          <a:bodyPr wrap="square" lIns="25400" tIns="25400" rIns="25400" bIns="25400" rtlCol="0" anchor="t">
            <a:normAutofit/>
          </a:bodyPr>
          <a:lstStyle/>
          <a:p>
            <a:pPr algn="l" indent="0" marL="0">
              <a:buNone/>
            </a:pPr>
            <a:r>
              <a:rPr lang="en-US" sz="1200" dirty="0">
                <a:solidFill>
                  <a:srgbClr val="5B6675"/>
                </a:solidFill>
                <a:latin typeface="Public Sans" pitchFamily="34" charset="0"/>
                <a:ea typeface="Public Sans" pitchFamily="34" charset="-122"/>
                <a:cs typeface="Public Sans" pitchFamily="34" charset="-120"/>
              </a:rPr>
              <a:t>One Graph call — room as resource attendee</a:t>
            </a:r>
            <a:endParaRPr lang="en-US" sz="1200" dirty="0"/>
          </a:p>
        </p:txBody>
      </p:sp>
      <p:sp>
        <p:nvSpPr>
          <p:cNvPr id="48" name="Shape 45"/>
          <p:cNvSpPr/>
          <p:nvPr/>
        </p:nvSpPr>
        <p:spPr>
          <a:xfrm>
            <a:off x="9715499" y="6781659"/>
            <a:ext cx="7238999" cy="762000"/>
          </a:xfrm>
          <a:prstGeom prst="roundRect">
            <a:avLst>
              <a:gd name="adj" fmla="val 15000"/>
            </a:avLst>
          </a:prstGeom>
          <a:solidFill>
            <a:srgbClr val="FFFFFF"/>
          </a:solidFill>
          <a:ln w="11206">
            <a:solidFill>
              <a:srgbClr val="DBE2EA"/>
            </a:solidFill>
            <a:prstDash val="solid"/>
          </a:ln>
        </p:spPr>
      </p:sp>
      <p:sp>
        <p:nvSpPr>
          <p:cNvPr id="49" name="Shape 46"/>
          <p:cNvSpPr/>
          <p:nvPr/>
        </p:nvSpPr>
        <p:spPr>
          <a:xfrm>
            <a:off x="9602916" y="6669075"/>
            <a:ext cx="285750" cy="285750"/>
          </a:xfrm>
          <a:prstGeom prst="ellipse">
            <a:avLst/>
          </a:prstGeom>
          <a:solidFill>
            <a:srgbClr val="0D2E22"/>
          </a:solidFill>
          <a:ln/>
        </p:spPr>
      </p:sp>
      <p:sp>
        <p:nvSpPr>
          <p:cNvPr id="50" name="Text 47"/>
          <p:cNvSpPr/>
          <p:nvPr/>
        </p:nvSpPr>
        <p:spPr>
          <a:xfrm>
            <a:off x="9564816" y="6669075"/>
            <a:ext cx="361950" cy="323850"/>
          </a:xfrm>
          <a:prstGeom prst="rect">
            <a:avLst/>
          </a:prstGeom>
          <a:noFill/>
          <a:ln/>
        </p:spPr>
        <p:txBody>
          <a:bodyPr wrap="square" lIns="25400" tIns="25400" rIns="25400" bIns="25400" rtlCol="0" anchor="ctr">
            <a:normAutofit/>
          </a:bodyPr>
          <a:lstStyle/>
          <a:p>
            <a:pPr algn="ctr" indent="0" marL="0">
              <a:buNone/>
            </a:pPr>
            <a:r>
              <a:rPr lang="en-US" sz="1125" b="1" dirty="0">
                <a:solidFill>
                  <a:srgbClr val="FFFFFF"/>
                </a:solidFill>
                <a:latin typeface="IBM Plex Mono" pitchFamily="34" charset="0"/>
                <a:ea typeface="IBM Plex Mono" pitchFamily="34" charset="-122"/>
                <a:cs typeface="IBM Plex Mono" pitchFamily="34" charset="-120"/>
              </a:rPr>
              <a:t>5</a:t>
            </a:r>
            <a:endParaRPr lang="en-US" sz="1125" dirty="0"/>
          </a:p>
        </p:txBody>
      </p:sp>
      <p:sp>
        <p:nvSpPr>
          <p:cNvPr id="51" name="Shape 48"/>
          <p:cNvSpPr/>
          <p:nvPr/>
        </p:nvSpPr>
        <p:spPr>
          <a:xfrm>
            <a:off x="9936116" y="6962705"/>
            <a:ext cx="399910" cy="399910"/>
          </a:xfrm>
          <a:prstGeom prst="roundRect">
            <a:avLst>
              <a:gd name="adj" fmla="val 21436"/>
            </a:avLst>
          </a:prstGeom>
          <a:solidFill>
            <a:srgbClr val="5059C9"/>
          </a:solidFill>
          <a:ln/>
        </p:spPr>
      </p:sp>
      <p:sp>
        <p:nvSpPr>
          <p:cNvPr id="52" name="Text 49"/>
          <p:cNvSpPr/>
          <p:nvPr/>
        </p:nvSpPr>
        <p:spPr>
          <a:xfrm>
            <a:off x="9898016" y="6962705"/>
            <a:ext cx="476110" cy="438010"/>
          </a:xfrm>
          <a:prstGeom prst="rect">
            <a:avLst/>
          </a:prstGeom>
          <a:noFill/>
          <a:ln/>
        </p:spPr>
        <p:txBody>
          <a:bodyPr wrap="square" lIns="25400" tIns="25400" rIns="25400" bIns="25400" rtlCol="0" anchor="ctr">
            <a:normAutofit/>
          </a:bodyPr>
          <a:lstStyle/>
          <a:p>
            <a:pPr algn="ctr" indent="0" marL="0">
              <a:buNone/>
            </a:pPr>
            <a:r>
              <a:rPr lang="en-US" sz="1050" b="1" dirty="0">
                <a:solidFill>
                  <a:srgbClr val="FFFFFF"/>
                </a:solidFill>
                <a:latin typeface="IBM Plex Mono" pitchFamily="34" charset="0"/>
                <a:ea typeface="IBM Plex Mono" pitchFamily="34" charset="-122"/>
                <a:cs typeface="IBM Plex Mono" pitchFamily="34" charset="-120"/>
              </a:rPr>
              <a:t>Tm</a:t>
            </a:r>
            <a:endParaRPr lang="en-US" sz="1050" dirty="0"/>
          </a:p>
        </p:txBody>
      </p:sp>
      <p:sp>
        <p:nvSpPr>
          <p:cNvPr id="53" name="Text 50"/>
          <p:cNvSpPr/>
          <p:nvPr/>
        </p:nvSpPr>
        <p:spPr>
          <a:xfrm>
            <a:off x="10488355" y="6940293"/>
            <a:ext cx="4523622" cy="284629"/>
          </a:xfrm>
          <a:prstGeom prst="rect">
            <a:avLst/>
          </a:prstGeom>
          <a:noFill/>
          <a:ln/>
        </p:spPr>
        <p:txBody>
          <a:bodyPr wrap="square" lIns="25400" tIns="25400" rIns="25400" bIns="25400" rtlCol="0" anchor="t">
            <a:normAutofit/>
          </a:bodyPr>
          <a:lstStyle/>
          <a:p>
            <a:pPr algn="l" indent="0" marL="0">
              <a:buNone/>
            </a:pPr>
            <a:r>
              <a:rPr lang="en-US" sz="1650" b="1" dirty="0">
                <a:solidFill>
                  <a:srgbClr val="0D2E22"/>
                </a:solidFill>
                <a:latin typeface="Public Sans" pitchFamily="34" charset="0"/>
                <a:ea typeface="Public Sans" pitchFamily="34" charset="-122"/>
                <a:cs typeface="Public Sans" pitchFamily="34" charset="-120"/>
              </a:rPr>
              <a:t>Everyone notified</a:t>
            </a:r>
            <a:endParaRPr lang="en-US" sz="1650" dirty="0"/>
          </a:p>
        </p:txBody>
      </p:sp>
      <p:sp>
        <p:nvSpPr>
          <p:cNvPr id="54" name="Text 51"/>
          <p:cNvSpPr/>
          <p:nvPr/>
        </p:nvSpPr>
        <p:spPr>
          <a:xfrm>
            <a:off x="10488355" y="7205732"/>
            <a:ext cx="4523622" cy="217394"/>
          </a:xfrm>
          <a:prstGeom prst="rect">
            <a:avLst/>
          </a:prstGeom>
          <a:noFill/>
          <a:ln/>
        </p:spPr>
        <p:txBody>
          <a:bodyPr wrap="square" lIns="25400" tIns="25400" rIns="25400" bIns="25400" rtlCol="0" anchor="t">
            <a:normAutofit/>
          </a:bodyPr>
          <a:lstStyle/>
          <a:p>
            <a:pPr algn="l" indent="0" marL="0">
              <a:buNone/>
            </a:pPr>
            <a:r>
              <a:rPr lang="en-US" sz="1200" dirty="0">
                <a:solidFill>
                  <a:srgbClr val="5B6675"/>
                </a:solidFill>
                <a:latin typeface="Public Sans" pitchFamily="34" charset="0"/>
                <a:ea typeface="Public Sans" pitchFamily="34" charset="-122"/>
                <a:cs typeface="Public Sans" pitchFamily="34" charset="-120"/>
              </a:rPr>
              <a:t>Teams to RM · email to Catering, Reception, Housekeeping</a:t>
            </a:r>
            <a:endParaRPr lang="en-US" sz="1200" dirty="0"/>
          </a:p>
        </p:txBody>
      </p:sp>
      <p:sp>
        <p:nvSpPr>
          <p:cNvPr id="55" name="Shape 52"/>
          <p:cNvSpPr/>
          <p:nvPr/>
        </p:nvSpPr>
        <p:spPr>
          <a:xfrm>
            <a:off x="9715499" y="7638909"/>
            <a:ext cx="7238999" cy="762000"/>
          </a:xfrm>
          <a:prstGeom prst="roundRect">
            <a:avLst>
              <a:gd name="adj" fmla="val 15000"/>
            </a:avLst>
          </a:prstGeom>
          <a:solidFill>
            <a:srgbClr val="FFFFFF"/>
          </a:solidFill>
          <a:ln w="11206">
            <a:solidFill>
              <a:srgbClr val="DBE2EA"/>
            </a:solidFill>
            <a:prstDash val="solid"/>
          </a:ln>
        </p:spPr>
      </p:sp>
      <p:sp>
        <p:nvSpPr>
          <p:cNvPr id="56" name="Shape 53"/>
          <p:cNvSpPr/>
          <p:nvPr/>
        </p:nvSpPr>
        <p:spPr>
          <a:xfrm>
            <a:off x="9602916" y="7526325"/>
            <a:ext cx="285750" cy="285750"/>
          </a:xfrm>
          <a:prstGeom prst="ellipse">
            <a:avLst/>
          </a:prstGeom>
          <a:solidFill>
            <a:srgbClr val="0D2E22"/>
          </a:solidFill>
          <a:ln/>
        </p:spPr>
      </p:sp>
      <p:sp>
        <p:nvSpPr>
          <p:cNvPr id="57" name="Text 54"/>
          <p:cNvSpPr/>
          <p:nvPr/>
        </p:nvSpPr>
        <p:spPr>
          <a:xfrm>
            <a:off x="9564816" y="7526325"/>
            <a:ext cx="361950" cy="323850"/>
          </a:xfrm>
          <a:prstGeom prst="rect">
            <a:avLst/>
          </a:prstGeom>
          <a:noFill/>
          <a:ln/>
        </p:spPr>
        <p:txBody>
          <a:bodyPr wrap="square" lIns="25400" tIns="25400" rIns="25400" bIns="25400" rtlCol="0" anchor="ctr">
            <a:normAutofit/>
          </a:bodyPr>
          <a:lstStyle/>
          <a:p>
            <a:pPr algn="ctr" indent="0" marL="0">
              <a:buNone/>
            </a:pPr>
            <a:r>
              <a:rPr lang="en-US" sz="1125" b="1" dirty="0">
                <a:solidFill>
                  <a:srgbClr val="FFFFFF"/>
                </a:solidFill>
                <a:latin typeface="IBM Plex Mono" pitchFamily="34" charset="0"/>
                <a:ea typeface="IBM Plex Mono" pitchFamily="34" charset="-122"/>
                <a:cs typeface="IBM Plex Mono" pitchFamily="34" charset="-120"/>
              </a:rPr>
              <a:t>6</a:t>
            </a:r>
            <a:endParaRPr lang="en-US" sz="1125" dirty="0"/>
          </a:p>
        </p:txBody>
      </p:sp>
      <p:sp>
        <p:nvSpPr>
          <p:cNvPr id="58" name="Shape 55"/>
          <p:cNvSpPr/>
          <p:nvPr/>
        </p:nvSpPr>
        <p:spPr>
          <a:xfrm>
            <a:off x="9936116" y="7819955"/>
            <a:ext cx="399910" cy="399910"/>
          </a:xfrm>
          <a:prstGeom prst="roundRect">
            <a:avLst>
              <a:gd name="adj" fmla="val 21436"/>
            </a:avLst>
          </a:prstGeom>
          <a:solidFill>
            <a:srgbClr val="0B7A75"/>
          </a:solidFill>
          <a:ln/>
        </p:spPr>
      </p:sp>
      <p:sp>
        <p:nvSpPr>
          <p:cNvPr id="59" name="Text 56"/>
          <p:cNvSpPr/>
          <p:nvPr/>
        </p:nvSpPr>
        <p:spPr>
          <a:xfrm>
            <a:off x="9898016" y="7819955"/>
            <a:ext cx="476110" cy="438010"/>
          </a:xfrm>
          <a:prstGeom prst="rect">
            <a:avLst/>
          </a:prstGeom>
          <a:noFill/>
          <a:ln/>
        </p:spPr>
        <p:txBody>
          <a:bodyPr wrap="square" lIns="25400" tIns="25400" rIns="25400" bIns="25400" rtlCol="0" anchor="ctr">
            <a:normAutofit/>
          </a:bodyPr>
          <a:lstStyle/>
          <a:p>
            <a:pPr algn="ctr" indent="0" marL="0">
              <a:buNone/>
            </a:pPr>
            <a:r>
              <a:rPr lang="en-US" sz="1050" b="1" dirty="0">
                <a:solidFill>
                  <a:srgbClr val="FFFFFF"/>
                </a:solidFill>
                <a:latin typeface="IBM Plex Mono" pitchFamily="34" charset="0"/>
                <a:ea typeface="IBM Plex Mono" pitchFamily="34" charset="-122"/>
                <a:cs typeface="IBM Plex Mono" pitchFamily="34" charset="-120"/>
              </a:rPr>
              <a:t>D3</a:t>
            </a:r>
            <a:endParaRPr lang="en-US" sz="1050" dirty="0"/>
          </a:p>
        </p:txBody>
      </p:sp>
      <p:sp>
        <p:nvSpPr>
          <p:cNvPr id="60" name="Text 57"/>
          <p:cNvSpPr/>
          <p:nvPr/>
        </p:nvSpPr>
        <p:spPr>
          <a:xfrm>
            <a:off x="10488355" y="7797543"/>
            <a:ext cx="3283271" cy="284629"/>
          </a:xfrm>
          <a:prstGeom prst="rect">
            <a:avLst/>
          </a:prstGeom>
          <a:noFill/>
          <a:ln/>
        </p:spPr>
        <p:txBody>
          <a:bodyPr wrap="square" lIns="25400" tIns="25400" rIns="25400" bIns="25400" rtlCol="0" anchor="t">
            <a:normAutofit/>
          </a:bodyPr>
          <a:lstStyle/>
          <a:p>
            <a:pPr algn="l" indent="0" marL="0">
              <a:buNone/>
            </a:pPr>
            <a:r>
              <a:rPr lang="en-US" sz="1650" b="1" dirty="0">
                <a:solidFill>
                  <a:srgbClr val="0D2E22"/>
                </a:solidFill>
                <a:latin typeface="Public Sans" pitchFamily="34" charset="0"/>
                <a:ea typeface="Public Sans" pitchFamily="34" charset="-122"/>
                <a:cs typeface="Public Sans" pitchFamily="34" charset="-120"/>
              </a:rPr>
              <a:t>Record closed</a:t>
            </a:r>
            <a:endParaRPr lang="en-US" sz="1650" dirty="0"/>
          </a:p>
        </p:txBody>
      </p:sp>
      <p:sp>
        <p:nvSpPr>
          <p:cNvPr id="61" name="Text 58"/>
          <p:cNvSpPr/>
          <p:nvPr/>
        </p:nvSpPr>
        <p:spPr>
          <a:xfrm>
            <a:off x="10488355" y="8062982"/>
            <a:ext cx="3283271" cy="217394"/>
          </a:xfrm>
          <a:prstGeom prst="rect">
            <a:avLst/>
          </a:prstGeom>
          <a:noFill/>
          <a:ln/>
        </p:spPr>
        <p:txBody>
          <a:bodyPr wrap="square" lIns="25400" tIns="25400" rIns="25400" bIns="25400" rtlCol="0" anchor="t">
            <a:normAutofit/>
          </a:bodyPr>
          <a:lstStyle/>
          <a:p>
            <a:pPr algn="l" indent="0" marL="0">
              <a:buNone/>
            </a:pPr>
            <a:r>
              <a:rPr lang="en-US" sz="1200" dirty="0">
                <a:solidFill>
                  <a:srgbClr val="5B6675"/>
                </a:solidFill>
                <a:latin typeface="Public Sans" pitchFamily="34" charset="0"/>
                <a:ea typeface="Public Sans" pitchFamily="34" charset="-122"/>
                <a:cs typeface="Public Sans" pitchFamily="34" charset="-120"/>
              </a:rPr>
              <a:t>Booking state &amp; audit written to Dataverse</a:t>
            </a:r>
            <a:endParaRPr lang="en-US" sz="1200" dirty="0"/>
          </a:p>
        </p:txBody>
      </p:sp>
      <p:sp>
        <p:nvSpPr>
          <p:cNvPr id="62" name="Shape 59"/>
          <p:cNvSpPr/>
          <p:nvPr/>
        </p:nvSpPr>
        <p:spPr>
          <a:xfrm>
            <a:off x="9715499" y="5333999"/>
            <a:ext cx="7238999" cy="476250"/>
          </a:xfrm>
          <a:prstGeom prst="roundRect">
            <a:avLst>
              <a:gd name="adj" fmla="val 20000"/>
            </a:avLst>
          </a:prstGeom>
          <a:solidFill>
            <a:srgbClr val="FBF7EC"/>
          </a:solidFill>
          <a:ln/>
        </p:spPr>
      </p:sp>
      <p:sp>
        <p:nvSpPr>
          <p:cNvPr id="63" name="Text 60"/>
          <p:cNvSpPr/>
          <p:nvPr/>
        </p:nvSpPr>
        <p:spPr>
          <a:xfrm>
            <a:off x="9606914" y="5333999"/>
            <a:ext cx="7456169" cy="514350"/>
          </a:xfrm>
          <a:prstGeom prst="rect">
            <a:avLst/>
          </a:prstGeom>
          <a:noFill/>
          <a:ln/>
        </p:spPr>
        <p:txBody>
          <a:bodyPr wrap="square" lIns="25400" tIns="25400" rIns="25400" bIns="25400" rtlCol="0" anchor="ctr">
            <a:normAutofit/>
          </a:bodyPr>
          <a:lstStyle/>
          <a:p>
            <a:pPr algn="ctr" indent="0" marL="0">
              <a:buNone/>
            </a:pPr>
            <a:r>
              <a:rPr lang="en-US" sz="1200" dirty="0">
                <a:solidFill>
                  <a:srgbClr val="8A6D2E"/>
                </a:solidFill>
                <a:latin typeface="IBM Plex Mono" pitchFamily="34" charset="0"/>
                <a:ea typeface="IBM Plex Mono" pitchFamily="34" charset="-122"/>
                <a:cs typeface="IBM Plex Mono" pitchFamily="34" charset="-120"/>
              </a:rPr>
              <a:t>async — customer chooses a slot · state held in Dataverse</a:t>
            </a:r>
            <a:endParaRPr lang="en-US" sz="1200" dirty="0"/>
          </a:p>
        </p:txBody>
      </p:sp>
      <p:sp>
        <p:nvSpPr>
          <p:cNvPr id="64" name="Shape 61"/>
          <p:cNvSpPr/>
          <p:nvPr/>
        </p:nvSpPr>
        <p:spPr>
          <a:xfrm>
            <a:off x="723830" y="9334499"/>
            <a:ext cx="2781160" cy="398859"/>
          </a:xfrm>
          <a:prstGeom prst="roundRect">
            <a:avLst>
              <a:gd name="adj" fmla="val 19104"/>
            </a:avLst>
          </a:prstGeom>
          <a:solidFill>
            <a:srgbClr val="E8F4EC"/>
          </a:solidFill>
          <a:ln/>
        </p:spPr>
      </p:sp>
      <p:sp>
        <p:nvSpPr>
          <p:cNvPr id="65" name="Text 62"/>
          <p:cNvSpPr/>
          <p:nvPr/>
        </p:nvSpPr>
        <p:spPr>
          <a:xfrm>
            <a:off x="857180" y="9410699"/>
            <a:ext cx="2597895" cy="284559"/>
          </a:xfrm>
          <a:prstGeom prst="rect">
            <a:avLst/>
          </a:prstGeom>
          <a:noFill/>
          <a:ln/>
        </p:spPr>
        <p:txBody>
          <a:bodyPr wrap="square" lIns="25400" tIns="25400" rIns="25400" bIns="25400" rtlCol="0" anchor="t">
            <a:normAutofit/>
          </a:bodyPr>
          <a:lstStyle/>
          <a:p>
            <a:pPr algn="l" indent="0" marL="0">
              <a:buNone/>
            </a:pPr>
            <a:r>
              <a:rPr lang="en-US" sz="1500" dirty="0">
                <a:solidFill>
                  <a:srgbClr val="107C41"/>
                </a:solidFill>
                <a:latin typeface="IBM Plex Mono" pitchFamily="34" charset="0"/>
                <a:ea typeface="IBM Plex Mono" pitchFamily="34" charset="-122"/>
                <a:cs typeface="IBM Plex Mono" pitchFamily="34" charset="-120"/>
              </a:rPr>
              <a:t>AI drafts, RM approves</a:t>
            </a:r>
            <a:endParaRPr lang="en-US" sz="1500" dirty="0"/>
          </a:p>
        </p:txBody>
      </p:sp>
      <p:sp>
        <p:nvSpPr>
          <p:cNvPr id="66" name="Shape 63"/>
          <p:cNvSpPr/>
          <p:nvPr/>
        </p:nvSpPr>
        <p:spPr>
          <a:xfrm>
            <a:off x="3638235" y="9334499"/>
            <a:ext cx="2323995" cy="398859"/>
          </a:xfrm>
          <a:prstGeom prst="roundRect">
            <a:avLst>
              <a:gd name="adj" fmla="val 19104"/>
            </a:avLst>
          </a:prstGeom>
          <a:solidFill>
            <a:srgbClr val="E8F4EC"/>
          </a:solidFill>
          <a:ln/>
        </p:spPr>
      </p:sp>
      <p:sp>
        <p:nvSpPr>
          <p:cNvPr id="67" name="Text 64"/>
          <p:cNvSpPr/>
          <p:nvPr/>
        </p:nvSpPr>
        <p:spPr>
          <a:xfrm>
            <a:off x="3771585" y="9410699"/>
            <a:ext cx="2133495" cy="284559"/>
          </a:xfrm>
          <a:prstGeom prst="rect">
            <a:avLst/>
          </a:prstGeom>
          <a:noFill/>
          <a:ln/>
        </p:spPr>
        <p:txBody>
          <a:bodyPr wrap="square" lIns="25400" tIns="25400" rIns="25400" bIns="25400" rtlCol="0" anchor="t">
            <a:normAutofit/>
          </a:bodyPr>
          <a:lstStyle/>
          <a:p>
            <a:pPr algn="l" indent="0" marL="0">
              <a:buNone/>
            </a:pPr>
            <a:r>
              <a:rPr lang="en-US" sz="1500" dirty="0">
                <a:solidFill>
                  <a:srgbClr val="107C41"/>
                </a:solidFill>
                <a:latin typeface="IBM Plex Mono" pitchFamily="34" charset="0"/>
                <a:ea typeface="IBM Plex Mono" pitchFamily="34" charset="-122"/>
                <a:cs typeface="IBM Plex Mono" pitchFamily="34" charset="-120"/>
              </a:rPr>
              <a:t>One consistent SOP</a:t>
            </a:r>
            <a:endParaRPr lang="en-US" sz="1500" dirty="0"/>
          </a:p>
        </p:txBody>
      </p:sp>
      <p:sp>
        <p:nvSpPr>
          <p:cNvPr id="68" name="Shape 65"/>
          <p:cNvSpPr/>
          <p:nvPr/>
        </p:nvSpPr>
        <p:spPr>
          <a:xfrm>
            <a:off x="6095474" y="9334499"/>
            <a:ext cx="3123990" cy="398859"/>
          </a:xfrm>
          <a:prstGeom prst="roundRect">
            <a:avLst>
              <a:gd name="adj" fmla="val 19104"/>
            </a:avLst>
          </a:prstGeom>
          <a:solidFill>
            <a:srgbClr val="E8F4EC"/>
          </a:solidFill>
          <a:ln/>
        </p:spPr>
      </p:sp>
      <p:sp>
        <p:nvSpPr>
          <p:cNvPr id="69" name="Text 66"/>
          <p:cNvSpPr/>
          <p:nvPr/>
        </p:nvSpPr>
        <p:spPr>
          <a:xfrm>
            <a:off x="6228824" y="9410699"/>
            <a:ext cx="2951010" cy="284559"/>
          </a:xfrm>
          <a:prstGeom prst="rect">
            <a:avLst/>
          </a:prstGeom>
          <a:noFill/>
          <a:ln/>
        </p:spPr>
        <p:txBody>
          <a:bodyPr wrap="square" lIns="25400" tIns="25400" rIns="25400" bIns="25400" rtlCol="0" anchor="t">
            <a:normAutofit/>
          </a:bodyPr>
          <a:lstStyle/>
          <a:p>
            <a:pPr algn="l" indent="0" marL="0">
              <a:buNone/>
            </a:pPr>
            <a:r>
              <a:rPr lang="en-US" sz="1500" dirty="0">
                <a:solidFill>
                  <a:srgbClr val="107C41"/>
                </a:solidFill>
                <a:latin typeface="IBM Plex Mono" pitchFamily="34" charset="0"/>
                <a:ea typeface="IBM Plex Mono" pitchFamily="34" charset="-122"/>
                <a:cs typeface="IBM Plex Mono" pitchFamily="34" charset="-120"/>
              </a:rPr>
              <a:t>Outlook = source of truth</a:t>
            </a:r>
            <a:endParaRPr lang="en-US" sz="1500" dirty="0"/>
          </a:p>
        </p:txBody>
      </p:sp>
      <p:sp>
        <p:nvSpPr>
          <p:cNvPr id="70" name="Shape 67"/>
          <p:cNvSpPr/>
          <p:nvPr/>
        </p:nvSpPr>
        <p:spPr>
          <a:xfrm>
            <a:off x="9352709" y="9334499"/>
            <a:ext cx="2438330" cy="398859"/>
          </a:xfrm>
          <a:prstGeom prst="roundRect">
            <a:avLst>
              <a:gd name="adj" fmla="val 19104"/>
            </a:avLst>
          </a:prstGeom>
          <a:solidFill>
            <a:srgbClr val="E8F4EC"/>
          </a:solidFill>
          <a:ln/>
        </p:spPr>
      </p:sp>
      <p:sp>
        <p:nvSpPr>
          <p:cNvPr id="71" name="Text 68"/>
          <p:cNvSpPr/>
          <p:nvPr/>
        </p:nvSpPr>
        <p:spPr>
          <a:xfrm>
            <a:off x="9486059" y="9410699"/>
            <a:ext cx="2247830" cy="284559"/>
          </a:xfrm>
          <a:prstGeom prst="rect">
            <a:avLst/>
          </a:prstGeom>
          <a:noFill/>
          <a:ln/>
        </p:spPr>
        <p:txBody>
          <a:bodyPr wrap="square" lIns="25400" tIns="25400" rIns="25400" bIns="25400" rtlCol="0" anchor="t">
            <a:normAutofit/>
          </a:bodyPr>
          <a:lstStyle/>
          <a:p>
            <a:pPr algn="l" indent="0" marL="0">
              <a:buNone/>
            </a:pPr>
            <a:r>
              <a:rPr lang="en-US" sz="1500" dirty="0">
                <a:solidFill>
                  <a:srgbClr val="107C41"/>
                </a:solidFill>
                <a:latin typeface="IBM Plex Mono" pitchFamily="34" charset="0"/>
                <a:ea typeface="IBM Plex Mono" pitchFamily="34" charset="-122"/>
                <a:cs typeface="IBM Plex Mono" pitchFamily="34" charset="-120"/>
              </a:rPr>
              <a:t>One Dataverse write</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723830" y="495160"/>
            <a:ext cx="8487160" cy="307041"/>
          </a:xfrm>
          <a:prstGeom prst="rect">
            <a:avLst/>
          </a:prstGeom>
          <a:noFill/>
          <a:ln/>
        </p:spPr>
        <p:txBody>
          <a:bodyPr wrap="square" lIns="25400" tIns="25400" rIns="25400" bIns="25400" rtlCol="0" anchor="t">
            <a:normAutofit/>
          </a:bodyPr>
          <a:lstStyle/>
          <a:p>
            <a:pPr algn="l" indent="0" marL="0">
              <a:buNone/>
            </a:pPr>
            <a:r>
              <a:rPr lang="en-US" sz="1650" b="1" spc="198" kern="0" dirty="0">
                <a:solidFill>
                  <a:srgbClr val="1C5C43"/>
                </a:solidFill>
                <a:latin typeface="IBM Plex Mono" pitchFamily="34" charset="0"/>
                <a:ea typeface="IBM Plex Mono" pitchFamily="34" charset="-122"/>
                <a:cs typeface="IBM Plex Mono" pitchFamily="34" charset="-120"/>
              </a:rPr>
              <a:t>03 · FUTURE STATE</a:t>
            </a:r>
            <a:endParaRPr lang="en-US" sz="1650" dirty="0"/>
          </a:p>
        </p:txBody>
      </p:sp>
      <p:sp>
        <p:nvSpPr>
          <p:cNvPr id="3" name="Text 1"/>
          <p:cNvSpPr/>
          <p:nvPr/>
        </p:nvSpPr>
        <p:spPr>
          <a:xfrm>
            <a:off x="723830" y="859351"/>
            <a:ext cx="8487160" cy="553571"/>
          </a:xfrm>
          <a:prstGeom prst="rect">
            <a:avLst/>
          </a:prstGeom>
          <a:noFill/>
          <a:ln/>
        </p:spPr>
        <p:txBody>
          <a:bodyPr wrap="square" lIns="25400" tIns="25400" rIns="25400" bIns="25400" rtlCol="0" anchor="t">
            <a:normAutofit/>
          </a:bodyPr>
          <a:lstStyle/>
          <a:p>
            <a:pPr algn="l" indent="0" marL="0">
              <a:buNone/>
            </a:pPr>
            <a:r>
              <a:rPr lang="en-US" sz="3450" b="1" spc="-34" kern="0" dirty="0">
                <a:solidFill>
                  <a:srgbClr val="0D2E22"/>
                </a:solidFill>
                <a:latin typeface="Public Sans" pitchFamily="34" charset="0"/>
                <a:ea typeface="Public Sans" pitchFamily="34" charset="-122"/>
                <a:cs typeface="Public Sans" pitchFamily="34" charset="-120"/>
              </a:rPr>
              <a:t>To-be service blueprint — AI-assisted</a:t>
            </a:r>
            <a:endParaRPr lang="en-US" sz="3450" dirty="0"/>
          </a:p>
        </p:txBody>
      </p:sp>
      <p:sp>
        <p:nvSpPr>
          <p:cNvPr id="4" name="Shape 2"/>
          <p:cNvSpPr/>
          <p:nvPr/>
        </p:nvSpPr>
        <p:spPr>
          <a:xfrm>
            <a:off x="10094223" y="964756"/>
            <a:ext cx="2716025" cy="410065"/>
          </a:xfrm>
          <a:prstGeom prst="roundRect">
            <a:avLst>
              <a:gd name="adj" fmla="val 50000"/>
            </a:avLst>
          </a:prstGeom>
          <a:solidFill>
            <a:srgbClr val="FBF1E3"/>
          </a:solidFill>
          <a:ln w="11206">
            <a:solidFill>
              <a:srgbClr val="ECCFA3"/>
            </a:solidFill>
            <a:prstDash val="solid"/>
          </a:ln>
        </p:spPr>
      </p:sp>
      <p:sp>
        <p:nvSpPr>
          <p:cNvPr id="5" name="Text 3"/>
          <p:cNvSpPr/>
          <p:nvPr/>
        </p:nvSpPr>
        <p:spPr>
          <a:xfrm>
            <a:off x="10257829" y="1052162"/>
            <a:ext cx="2470294" cy="273353"/>
          </a:xfrm>
          <a:prstGeom prst="rect">
            <a:avLst/>
          </a:prstGeom>
          <a:noFill/>
          <a:ln/>
        </p:spPr>
        <p:txBody>
          <a:bodyPr wrap="square" lIns="25400" tIns="25400" rIns="25400" bIns="25400" rtlCol="0" anchor="t">
            <a:normAutofit/>
          </a:bodyPr>
          <a:lstStyle/>
          <a:p>
            <a:pPr algn="l" indent="0" marL="0">
              <a:buNone/>
            </a:pPr>
            <a:r>
              <a:rPr lang="en-US" sz="1425" b="1" dirty="0">
                <a:solidFill>
                  <a:srgbClr val="B4690E"/>
                </a:solidFill>
                <a:latin typeface="IBM Plex Mono" pitchFamily="34" charset="0"/>
                <a:ea typeface="IBM Plex Mono" pitchFamily="34" charset="-122"/>
                <a:cs typeface="IBM Plex Mono" pitchFamily="34" charset="-120"/>
              </a:rPr>
              <a:t>AI recommends &amp; drafts</a:t>
            </a:r>
            <a:endParaRPr lang="en-US" sz="1425" dirty="0"/>
          </a:p>
        </p:txBody>
      </p:sp>
      <p:sp>
        <p:nvSpPr>
          <p:cNvPr id="6" name="Shape 4"/>
          <p:cNvSpPr/>
          <p:nvPr/>
        </p:nvSpPr>
        <p:spPr>
          <a:xfrm>
            <a:off x="12905498" y="964756"/>
            <a:ext cx="1955952" cy="410065"/>
          </a:xfrm>
          <a:prstGeom prst="roundRect">
            <a:avLst>
              <a:gd name="adj" fmla="val 50000"/>
            </a:avLst>
          </a:prstGeom>
          <a:solidFill>
            <a:srgbClr val="E8F4EC"/>
          </a:solidFill>
          <a:ln w="11206">
            <a:solidFill>
              <a:srgbClr val="B9E0CB"/>
            </a:solidFill>
            <a:prstDash val="solid"/>
          </a:ln>
        </p:spPr>
      </p:sp>
      <p:sp>
        <p:nvSpPr>
          <p:cNvPr id="7" name="Text 5"/>
          <p:cNvSpPr/>
          <p:nvPr/>
        </p:nvSpPr>
        <p:spPr>
          <a:xfrm>
            <a:off x="13069104" y="1052162"/>
            <a:ext cx="1704940" cy="273353"/>
          </a:xfrm>
          <a:prstGeom prst="rect">
            <a:avLst/>
          </a:prstGeom>
          <a:noFill/>
          <a:ln/>
        </p:spPr>
        <p:txBody>
          <a:bodyPr wrap="square" lIns="25400" tIns="25400" rIns="25400" bIns="25400" rtlCol="0" anchor="t">
            <a:normAutofit/>
          </a:bodyPr>
          <a:lstStyle/>
          <a:p>
            <a:pPr algn="l" indent="0" marL="0">
              <a:buNone/>
            </a:pPr>
            <a:r>
              <a:rPr lang="en-US" sz="1425" b="1" dirty="0">
                <a:solidFill>
                  <a:srgbClr val="107C41"/>
                </a:solidFill>
                <a:latin typeface="IBM Plex Mono" pitchFamily="34" charset="0"/>
                <a:ea typeface="IBM Plex Mono" pitchFamily="34" charset="-122"/>
                <a:cs typeface="IBM Plex Mono" pitchFamily="34" charset="-120"/>
              </a:rPr>
              <a:t>0 manual emails</a:t>
            </a:r>
            <a:endParaRPr lang="en-US" sz="1425" dirty="0"/>
          </a:p>
        </p:txBody>
      </p:sp>
      <p:sp>
        <p:nvSpPr>
          <p:cNvPr id="8" name="Shape 6"/>
          <p:cNvSpPr/>
          <p:nvPr/>
        </p:nvSpPr>
        <p:spPr>
          <a:xfrm>
            <a:off x="14956700" y="964756"/>
            <a:ext cx="2607468" cy="410065"/>
          </a:xfrm>
          <a:prstGeom prst="roundRect">
            <a:avLst>
              <a:gd name="adj" fmla="val 50000"/>
            </a:avLst>
          </a:prstGeom>
          <a:solidFill>
            <a:srgbClr val="FDF6EA"/>
          </a:solidFill>
          <a:ln w="11206">
            <a:solidFill>
              <a:srgbClr val="E0C58A"/>
            </a:solidFill>
            <a:prstDash val="solid"/>
          </a:ln>
        </p:spPr>
      </p:sp>
      <p:sp>
        <p:nvSpPr>
          <p:cNvPr id="9" name="Text 7"/>
          <p:cNvSpPr/>
          <p:nvPr/>
        </p:nvSpPr>
        <p:spPr>
          <a:xfrm>
            <a:off x="15120306" y="1052162"/>
            <a:ext cx="2358481" cy="273353"/>
          </a:xfrm>
          <a:prstGeom prst="rect">
            <a:avLst/>
          </a:prstGeom>
          <a:noFill/>
          <a:ln/>
        </p:spPr>
        <p:txBody>
          <a:bodyPr wrap="square" lIns="25400" tIns="25400" rIns="25400" bIns="25400" rtlCol="0" anchor="t">
            <a:normAutofit/>
          </a:bodyPr>
          <a:lstStyle/>
          <a:p>
            <a:pPr algn="l" indent="0" marL="0">
              <a:buNone/>
            </a:pPr>
            <a:r>
              <a:rPr lang="en-US" sz="1425" b="1" dirty="0">
                <a:solidFill>
                  <a:srgbClr val="8A5410"/>
                </a:solidFill>
                <a:latin typeface="IBM Plex Mono" pitchFamily="34" charset="0"/>
                <a:ea typeface="IBM Plex Mono" pitchFamily="34" charset="-122"/>
                <a:cs typeface="IBM Plex Mono" pitchFamily="34" charset="-120"/>
              </a:rPr>
              <a:t>partner auto-included</a:t>
            </a:r>
            <a:endParaRPr lang="en-US" sz="1425" dirty="0"/>
          </a:p>
        </p:txBody>
      </p:sp>
      <p:sp>
        <p:nvSpPr>
          <p:cNvPr id="10" name="Text 8"/>
          <p:cNvSpPr/>
          <p:nvPr/>
        </p:nvSpPr>
        <p:spPr>
          <a:xfrm>
            <a:off x="2570769" y="2038245"/>
            <a:ext cx="1697201" cy="206188"/>
          </a:xfrm>
          <a:prstGeom prst="rect">
            <a:avLst/>
          </a:prstGeom>
          <a:noFill/>
          <a:ln/>
        </p:spPr>
        <p:txBody>
          <a:bodyPr wrap="square" lIns="25400" tIns="25400" rIns="25400" bIns="25400" rtlCol="0" anchor="t">
            <a:normAutofit/>
          </a:bodyPr>
          <a:lstStyle/>
          <a:p>
            <a:pPr algn="ctr" indent="0" marL="0">
              <a:buNone/>
            </a:pPr>
            <a:r>
              <a:rPr lang="en-US" sz="1050" b="1" spc="42" kern="0" dirty="0">
                <a:solidFill>
                  <a:srgbClr val="8996A6"/>
                </a:solidFill>
                <a:latin typeface="IBM Plex Mono" pitchFamily="34" charset="0"/>
                <a:ea typeface="IBM Plex Mono" pitchFamily="34" charset="-122"/>
                <a:cs typeface="IBM Plex Mono" pitchFamily="34" charset="-120"/>
              </a:rPr>
              <a:t>REQUEST</a:t>
            </a:r>
            <a:endParaRPr lang="en-US" sz="1050" dirty="0"/>
          </a:p>
        </p:txBody>
      </p:sp>
      <p:sp>
        <p:nvSpPr>
          <p:cNvPr id="11" name="Text 9"/>
          <p:cNvSpPr/>
          <p:nvPr/>
        </p:nvSpPr>
        <p:spPr>
          <a:xfrm>
            <a:off x="4228014" y="2038245"/>
            <a:ext cx="1697201" cy="206188"/>
          </a:xfrm>
          <a:prstGeom prst="rect">
            <a:avLst/>
          </a:prstGeom>
          <a:noFill/>
          <a:ln/>
        </p:spPr>
        <p:txBody>
          <a:bodyPr wrap="square" lIns="25400" tIns="25400" rIns="25400" bIns="25400" rtlCol="0" anchor="t">
            <a:normAutofit/>
          </a:bodyPr>
          <a:lstStyle/>
          <a:p>
            <a:pPr algn="ctr" indent="0" marL="0">
              <a:buNone/>
            </a:pPr>
            <a:r>
              <a:rPr lang="en-US" sz="1050" b="1" spc="42" kern="0" dirty="0">
                <a:solidFill>
                  <a:srgbClr val="8996A6"/>
                </a:solidFill>
                <a:latin typeface="IBM Plex Mono" pitchFamily="34" charset="0"/>
                <a:ea typeface="IBM Plex Mono" pitchFamily="34" charset="-122"/>
                <a:cs typeface="IBM Plex Mono" pitchFamily="34" charset="-120"/>
              </a:rPr>
              <a:t>CREATE</a:t>
            </a:r>
            <a:endParaRPr lang="en-US" sz="1050" dirty="0"/>
          </a:p>
        </p:txBody>
      </p:sp>
      <p:sp>
        <p:nvSpPr>
          <p:cNvPr id="12" name="Text 10"/>
          <p:cNvSpPr/>
          <p:nvPr/>
        </p:nvSpPr>
        <p:spPr>
          <a:xfrm>
            <a:off x="5885434" y="2038245"/>
            <a:ext cx="1697201" cy="206188"/>
          </a:xfrm>
          <a:prstGeom prst="rect">
            <a:avLst/>
          </a:prstGeom>
          <a:noFill/>
          <a:ln/>
        </p:spPr>
        <p:txBody>
          <a:bodyPr wrap="square" lIns="25400" tIns="25400" rIns="25400" bIns="25400" rtlCol="0" anchor="t">
            <a:normAutofit/>
          </a:bodyPr>
          <a:lstStyle/>
          <a:p>
            <a:pPr algn="ctr" indent="0" marL="0">
              <a:buNone/>
            </a:pPr>
            <a:r>
              <a:rPr lang="en-US" sz="1050" b="1" spc="42" kern="0" dirty="0">
                <a:solidFill>
                  <a:srgbClr val="8996A6"/>
                </a:solidFill>
                <a:latin typeface="IBM Plex Mono" pitchFamily="34" charset="0"/>
                <a:ea typeface="IBM Plex Mono" pitchFamily="34" charset="-122"/>
                <a:cs typeface="IBM Plex Mono" pitchFamily="34" charset="-120"/>
              </a:rPr>
              <a:t>AVAILABILITY</a:t>
            </a:r>
            <a:endParaRPr lang="en-US" sz="1050" dirty="0"/>
          </a:p>
        </p:txBody>
      </p:sp>
      <p:sp>
        <p:nvSpPr>
          <p:cNvPr id="13" name="Text 11"/>
          <p:cNvSpPr/>
          <p:nvPr/>
        </p:nvSpPr>
        <p:spPr>
          <a:xfrm>
            <a:off x="7542854" y="2038245"/>
            <a:ext cx="1697201" cy="206188"/>
          </a:xfrm>
          <a:prstGeom prst="rect">
            <a:avLst/>
          </a:prstGeom>
          <a:noFill/>
          <a:ln/>
        </p:spPr>
        <p:txBody>
          <a:bodyPr wrap="square" lIns="25400" tIns="25400" rIns="25400" bIns="25400" rtlCol="0" anchor="t">
            <a:normAutofit/>
          </a:bodyPr>
          <a:lstStyle/>
          <a:p>
            <a:pPr algn="ctr" indent="0" marL="0">
              <a:buNone/>
            </a:pPr>
            <a:r>
              <a:rPr lang="en-US" sz="1050" b="1" spc="42" kern="0" dirty="0">
                <a:solidFill>
                  <a:srgbClr val="B4690E"/>
                </a:solidFill>
                <a:latin typeface="IBM Plex Mono" pitchFamily="34" charset="0"/>
                <a:ea typeface="IBM Plex Mono" pitchFamily="34" charset="-122"/>
                <a:cs typeface="IBM Plex Mono" pitchFamily="34" charset="-120"/>
              </a:rPr>
              <a:t>AI ASSIST</a:t>
            </a:r>
            <a:endParaRPr lang="en-US" sz="1050" dirty="0"/>
          </a:p>
        </p:txBody>
      </p:sp>
      <p:sp>
        <p:nvSpPr>
          <p:cNvPr id="14" name="Text 12"/>
          <p:cNvSpPr/>
          <p:nvPr/>
        </p:nvSpPr>
        <p:spPr>
          <a:xfrm>
            <a:off x="9200099" y="2038245"/>
            <a:ext cx="1697201" cy="206188"/>
          </a:xfrm>
          <a:prstGeom prst="rect">
            <a:avLst/>
          </a:prstGeom>
          <a:noFill/>
          <a:ln/>
        </p:spPr>
        <p:txBody>
          <a:bodyPr wrap="square" lIns="25400" tIns="25400" rIns="25400" bIns="25400" rtlCol="0" anchor="t">
            <a:normAutofit/>
          </a:bodyPr>
          <a:lstStyle/>
          <a:p>
            <a:pPr algn="ctr" indent="0" marL="0">
              <a:buNone/>
            </a:pPr>
            <a:r>
              <a:rPr lang="en-US" sz="1050" b="1" spc="42" kern="0" dirty="0">
                <a:solidFill>
                  <a:srgbClr val="8996A6"/>
                </a:solidFill>
                <a:latin typeface="IBM Plex Mono" pitchFamily="34" charset="0"/>
                <a:ea typeface="IBM Plex Mono" pitchFamily="34" charset="-122"/>
                <a:cs typeface="IBM Plex Mono" pitchFamily="34" charset="-120"/>
              </a:rPr>
              <a:t>REVIEW</a:t>
            </a:r>
            <a:endParaRPr lang="en-US" sz="1050" dirty="0"/>
          </a:p>
        </p:txBody>
      </p:sp>
      <p:sp>
        <p:nvSpPr>
          <p:cNvPr id="15" name="Text 13"/>
          <p:cNvSpPr/>
          <p:nvPr/>
        </p:nvSpPr>
        <p:spPr>
          <a:xfrm>
            <a:off x="10857518" y="2038245"/>
            <a:ext cx="1697201" cy="206188"/>
          </a:xfrm>
          <a:prstGeom prst="rect">
            <a:avLst/>
          </a:prstGeom>
          <a:noFill/>
          <a:ln/>
        </p:spPr>
        <p:txBody>
          <a:bodyPr wrap="square" lIns="25400" tIns="25400" rIns="25400" bIns="25400" rtlCol="0" anchor="t">
            <a:normAutofit/>
          </a:bodyPr>
          <a:lstStyle/>
          <a:p>
            <a:pPr algn="ctr" indent="0" marL="0">
              <a:buNone/>
            </a:pPr>
            <a:r>
              <a:rPr lang="en-US" sz="1050" b="1" spc="42" kern="0" dirty="0">
                <a:solidFill>
                  <a:srgbClr val="8996A6"/>
                </a:solidFill>
                <a:latin typeface="IBM Plex Mono" pitchFamily="34" charset="0"/>
                <a:ea typeface="IBM Plex Mono" pitchFamily="34" charset="-122"/>
                <a:cs typeface="IBM Plex Mono" pitchFamily="34" charset="-120"/>
              </a:rPr>
              <a:t>SELECT</a:t>
            </a:r>
            <a:endParaRPr lang="en-US" sz="1050" dirty="0"/>
          </a:p>
        </p:txBody>
      </p:sp>
      <p:sp>
        <p:nvSpPr>
          <p:cNvPr id="16" name="Text 14"/>
          <p:cNvSpPr/>
          <p:nvPr/>
        </p:nvSpPr>
        <p:spPr>
          <a:xfrm>
            <a:off x="12514764" y="2038245"/>
            <a:ext cx="1697201" cy="206188"/>
          </a:xfrm>
          <a:prstGeom prst="rect">
            <a:avLst/>
          </a:prstGeom>
          <a:noFill/>
          <a:ln/>
        </p:spPr>
        <p:txBody>
          <a:bodyPr wrap="square" lIns="25400" tIns="25400" rIns="25400" bIns="25400" rtlCol="0" anchor="t">
            <a:normAutofit/>
          </a:bodyPr>
          <a:lstStyle/>
          <a:p>
            <a:pPr algn="ctr" indent="0" marL="0">
              <a:buNone/>
            </a:pPr>
            <a:r>
              <a:rPr lang="en-US" sz="1050" b="1" spc="42" kern="0" dirty="0">
                <a:solidFill>
                  <a:srgbClr val="8996A6"/>
                </a:solidFill>
                <a:latin typeface="IBM Plex Mono" pitchFamily="34" charset="0"/>
                <a:ea typeface="IBM Plex Mono" pitchFamily="34" charset="-122"/>
                <a:cs typeface="IBM Plex Mono" pitchFamily="34" charset="-120"/>
              </a:rPr>
              <a:t>TRIGGER</a:t>
            </a:r>
            <a:endParaRPr lang="en-US" sz="1050" dirty="0"/>
          </a:p>
        </p:txBody>
      </p:sp>
      <p:sp>
        <p:nvSpPr>
          <p:cNvPr id="17" name="Text 15"/>
          <p:cNvSpPr/>
          <p:nvPr/>
        </p:nvSpPr>
        <p:spPr>
          <a:xfrm>
            <a:off x="14172184" y="2038245"/>
            <a:ext cx="1697201" cy="206188"/>
          </a:xfrm>
          <a:prstGeom prst="rect">
            <a:avLst/>
          </a:prstGeom>
          <a:noFill/>
          <a:ln/>
        </p:spPr>
        <p:txBody>
          <a:bodyPr wrap="square" lIns="25400" tIns="25400" rIns="25400" bIns="25400" rtlCol="0" anchor="t">
            <a:normAutofit/>
          </a:bodyPr>
          <a:lstStyle/>
          <a:p>
            <a:pPr algn="ctr" indent="0" marL="0">
              <a:buNone/>
            </a:pPr>
            <a:r>
              <a:rPr lang="en-US" sz="1050" b="1" spc="42" kern="0" dirty="0">
                <a:solidFill>
                  <a:srgbClr val="8996A6"/>
                </a:solidFill>
                <a:latin typeface="IBM Plex Mono" pitchFamily="34" charset="0"/>
                <a:ea typeface="IBM Plex Mono" pitchFamily="34" charset="-122"/>
                <a:cs typeface="IBM Plex Mono" pitchFamily="34" charset="-120"/>
              </a:rPr>
              <a:t>FULFIL</a:t>
            </a:r>
            <a:endParaRPr lang="en-US" sz="1050" dirty="0"/>
          </a:p>
        </p:txBody>
      </p:sp>
      <p:sp>
        <p:nvSpPr>
          <p:cNvPr id="18" name="Text 16"/>
          <p:cNvSpPr/>
          <p:nvPr/>
        </p:nvSpPr>
        <p:spPr>
          <a:xfrm>
            <a:off x="15829603" y="2038245"/>
            <a:ext cx="1697201" cy="206188"/>
          </a:xfrm>
          <a:prstGeom prst="rect">
            <a:avLst/>
          </a:prstGeom>
          <a:noFill/>
          <a:ln/>
        </p:spPr>
        <p:txBody>
          <a:bodyPr wrap="square" lIns="25400" tIns="25400" rIns="25400" bIns="25400" rtlCol="0" anchor="t">
            <a:normAutofit/>
          </a:bodyPr>
          <a:lstStyle/>
          <a:p>
            <a:pPr algn="ctr" indent="0" marL="0">
              <a:buNone/>
            </a:pPr>
            <a:r>
              <a:rPr lang="en-US" sz="1050" b="1" spc="42" kern="0" dirty="0">
                <a:solidFill>
                  <a:srgbClr val="8996A6"/>
                </a:solidFill>
                <a:latin typeface="IBM Plex Mono" pitchFamily="34" charset="0"/>
                <a:ea typeface="IBM Plex Mono" pitchFamily="34" charset="-122"/>
                <a:cs typeface="IBM Plex Mono" pitchFamily="34" charset="-120"/>
              </a:rPr>
              <a:t>CONFIRM</a:t>
            </a:r>
            <a:endParaRPr lang="en-US" sz="1050" dirty="0"/>
          </a:p>
        </p:txBody>
      </p:sp>
      <p:sp>
        <p:nvSpPr>
          <p:cNvPr id="19" name="Shape 17"/>
          <p:cNvSpPr/>
          <p:nvPr/>
        </p:nvSpPr>
        <p:spPr>
          <a:xfrm>
            <a:off x="723830" y="2362165"/>
            <a:ext cx="16840164" cy="1428750"/>
          </a:xfrm>
          <a:prstGeom prst="roundRect">
            <a:avLst>
              <a:gd name="adj" fmla="val 8000"/>
            </a:avLst>
          </a:prstGeom>
          <a:solidFill>
            <a:srgbClr val="FFFFFF"/>
          </a:solidFill>
          <a:ln/>
        </p:spPr>
      </p:sp>
      <p:sp>
        <p:nvSpPr>
          <p:cNvPr id="20" name="Shape 18"/>
          <p:cNvSpPr/>
          <p:nvPr/>
        </p:nvSpPr>
        <p:spPr>
          <a:xfrm>
            <a:off x="837990" y="3028915"/>
            <a:ext cx="95250" cy="95250"/>
          </a:xfrm>
          <a:prstGeom prst="ellipse">
            <a:avLst/>
          </a:prstGeom>
          <a:solidFill>
            <a:srgbClr val="0B7A75"/>
          </a:solidFill>
          <a:ln/>
        </p:spPr>
      </p:sp>
      <p:sp>
        <p:nvSpPr>
          <p:cNvPr id="21" name="Text 19"/>
          <p:cNvSpPr/>
          <p:nvPr/>
        </p:nvSpPr>
        <p:spPr>
          <a:xfrm>
            <a:off x="1018860" y="2992496"/>
            <a:ext cx="747327" cy="206188"/>
          </a:xfrm>
          <a:prstGeom prst="rect">
            <a:avLst/>
          </a:prstGeom>
          <a:noFill/>
          <a:ln/>
        </p:spPr>
        <p:txBody>
          <a:bodyPr wrap="square" lIns="25400" tIns="25400" rIns="25400" bIns="25400" rtlCol="0" anchor="t">
            <a:normAutofit/>
          </a:bodyPr>
          <a:lstStyle/>
          <a:p>
            <a:pPr algn="l" indent="0" marL="0">
              <a:lnSpc>
                <a:spcPct val="106250"/>
              </a:lnSpc>
              <a:buNone/>
            </a:pPr>
            <a:r>
              <a:rPr lang="en-US" sz="1125" b="1" dirty="0">
                <a:solidFill>
                  <a:srgbClr val="0B7A75"/>
                </a:solidFill>
                <a:latin typeface="Public Sans" pitchFamily="34" charset="0"/>
                <a:ea typeface="Public Sans" pitchFamily="34" charset="-122"/>
                <a:cs typeface="Public Sans" pitchFamily="34" charset="-120"/>
              </a:rPr>
              <a:t>Customer</a:t>
            </a:r>
            <a:endParaRPr lang="en-US" sz="1125" dirty="0"/>
          </a:p>
        </p:txBody>
      </p:sp>
      <p:sp>
        <p:nvSpPr>
          <p:cNvPr id="22" name="Shape 20"/>
          <p:cNvSpPr/>
          <p:nvPr/>
        </p:nvSpPr>
        <p:spPr>
          <a:xfrm>
            <a:off x="723830" y="3905250"/>
            <a:ext cx="16840164" cy="1428750"/>
          </a:xfrm>
          <a:prstGeom prst="roundRect">
            <a:avLst>
              <a:gd name="adj" fmla="val 8000"/>
            </a:avLst>
          </a:prstGeom>
          <a:solidFill>
            <a:srgbClr val="FAFBFD"/>
          </a:solidFill>
          <a:ln/>
        </p:spPr>
      </p:sp>
      <p:sp>
        <p:nvSpPr>
          <p:cNvPr id="23" name="Shape 21"/>
          <p:cNvSpPr/>
          <p:nvPr/>
        </p:nvSpPr>
        <p:spPr>
          <a:xfrm>
            <a:off x="837990" y="4572000"/>
            <a:ext cx="95250" cy="95250"/>
          </a:xfrm>
          <a:prstGeom prst="ellipse">
            <a:avLst/>
          </a:prstGeom>
          <a:solidFill>
            <a:srgbClr val="1C5C43"/>
          </a:solidFill>
          <a:ln/>
        </p:spPr>
      </p:sp>
      <p:sp>
        <p:nvSpPr>
          <p:cNvPr id="24" name="Text 22"/>
          <p:cNvSpPr/>
          <p:nvPr/>
        </p:nvSpPr>
        <p:spPr>
          <a:xfrm>
            <a:off x="1018860" y="4451536"/>
            <a:ext cx="1533840" cy="374276"/>
          </a:xfrm>
          <a:prstGeom prst="rect">
            <a:avLst/>
          </a:prstGeom>
          <a:noFill/>
          <a:ln/>
        </p:spPr>
        <p:txBody>
          <a:bodyPr wrap="square" lIns="25400" tIns="25400" rIns="25400" bIns="25400" rtlCol="0" anchor="t">
            <a:normAutofit/>
          </a:bodyPr>
          <a:lstStyle/>
          <a:p>
            <a:pPr algn="l" indent="0" marL="0">
              <a:lnSpc>
                <a:spcPct val="106250"/>
              </a:lnSpc>
              <a:buNone/>
            </a:pPr>
            <a:r>
              <a:rPr lang="en-US" sz="1125" b="1" dirty="0">
                <a:solidFill>
                  <a:srgbClr val="1C5C43"/>
                </a:solidFill>
                <a:latin typeface="Public Sans" pitchFamily="34" charset="0"/>
                <a:ea typeface="Public Sans" pitchFamily="34" charset="-122"/>
                <a:cs typeface="Public Sans" pitchFamily="34" charset="-120"/>
              </a:rPr>
              <a:t>Relationship Mgr · app</a:t>
            </a:r>
            <a:endParaRPr lang="en-US" sz="1125" dirty="0"/>
          </a:p>
        </p:txBody>
      </p:sp>
      <p:sp>
        <p:nvSpPr>
          <p:cNvPr id="25" name="Shape 23"/>
          <p:cNvSpPr/>
          <p:nvPr/>
        </p:nvSpPr>
        <p:spPr>
          <a:xfrm>
            <a:off x="723830" y="5448160"/>
            <a:ext cx="16840164" cy="1428750"/>
          </a:xfrm>
          <a:prstGeom prst="roundRect">
            <a:avLst>
              <a:gd name="adj" fmla="val 8000"/>
            </a:avLst>
          </a:prstGeom>
          <a:solidFill>
            <a:srgbClr val="EEF0F7"/>
          </a:solidFill>
          <a:ln/>
        </p:spPr>
      </p:sp>
      <p:sp>
        <p:nvSpPr>
          <p:cNvPr id="26" name="Shape 24"/>
          <p:cNvSpPr/>
          <p:nvPr/>
        </p:nvSpPr>
        <p:spPr>
          <a:xfrm>
            <a:off x="837990" y="6114909"/>
            <a:ext cx="95250" cy="95250"/>
          </a:xfrm>
          <a:prstGeom prst="ellipse">
            <a:avLst/>
          </a:prstGeom>
          <a:solidFill>
            <a:srgbClr val="14513A"/>
          </a:solidFill>
          <a:ln/>
        </p:spPr>
      </p:sp>
      <p:sp>
        <p:nvSpPr>
          <p:cNvPr id="27" name="Text 25"/>
          <p:cNvSpPr/>
          <p:nvPr/>
        </p:nvSpPr>
        <p:spPr>
          <a:xfrm>
            <a:off x="1018860" y="6016858"/>
            <a:ext cx="1533840" cy="329453"/>
          </a:xfrm>
          <a:prstGeom prst="rect">
            <a:avLst/>
          </a:prstGeom>
          <a:noFill/>
          <a:ln/>
        </p:spPr>
        <p:txBody>
          <a:bodyPr wrap="square" lIns="25400" tIns="25400" rIns="25400" bIns="25400" rtlCol="0" anchor="t">
            <a:normAutofit/>
          </a:bodyPr>
          <a:lstStyle/>
          <a:p>
            <a:pPr algn="l" indent="0" marL="0">
              <a:lnSpc>
                <a:spcPct val="115104"/>
              </a:lnSpc>
              <a:buNone/>
            </a:pPr>
            <a:r>
              <a:rPr lang="en-US" sz="975" b="1" dirty="0">
                <a:solidFill>
                  <a:srgbClr val="14513A"/>
                </a:solidFill>
                <a:latin typeface="Public Sans" pitchFamily="34" charset="0"/>
                <a:ea typeface="Public Sans" pitchFamily="34" charset="-122"/>
                <a:cs typeface="Public Sans" pitchFamily="34" charset="-120"/>
              </a:rPr>
              <a:t>Automation · Power Automate</a:t>
            </a:r>
            <a:endParaRPr lang="en-US" sz="975" dirty="0"/>
          </a:p>
        </p:txBody>
      </p:sp>
      <p:sp>
        <p:nvSpPr>
          <p:cNvPr id="28" name="Shape 26"/>
          <p:cNvSpPr/>
          <p:nvPr/>
        </p:nvSpPr>
        <p:spPr>
          <a:xfrm>
            <a:off x="723830" y="6991245"/>
            <a:ext cx="16840164" cy="1428750"/>
          </a:xfrm>
          <a:prstGeom prst="roundRect">
            <a:avLst>
              <a:gd name="adj" fmla="val 8000"/>
            </a:avLst>
          </a:prstGeom>
          <a:solidFill>
            <a:srgbClr val="EEF0F7"/>
          </a:solidFill>
          <a:ln/>
        </p:spPr>
      </p:sp>
      <p:sp>
        <p:nvSpPr>
          <p:cNvPr id="29" name="Shape 27"/>
          <p:cNvSpPr/>
          <p:nvPr/>
        </p:nvSpPr>
        <p:spPr>
          <a:xfrm>
            <a:off x="837990" y="7657995"/>
            <a:ext cx="95250" cy="95250"/>
          </a:xfrm>
          <a:prstGeom prst="ellipse">
            <a:avLst/>
          </a:prstGeom>
          <a:solidFill>
            <a:srgbClr val="5059C9"/>
          </a:solidFill>
          <a:ln/>
        </p:spPr>
      </p:sp>
      <p:sp>
        <p:nvSpPr>
          <p:cNvPr id="30" name="Text 28"/>
          <p:cNvSpPr/>
          <p:nvPr/>
        </p:nvSpPr>
        <p:spPr>
          <a:xfrm>
            <a:off x="1018860" y="7559943"/>
            <a:ext cx="1533840" cy="329453"/>
          </a:xfrm>
          <a:prstGeom prst="rect">
            <a:avLst/>
          </a:prstGeom>
          <a:noFill/>
          <a:ln/>
        </p:spPr>
        <p:txBody>
          <a:bodyPr wrap="square" lIns="25400" tIns="25400" rIns="25400" bIns="25400" rtlCol="0" anchor="t">
            <a:normAutofit/>
          </a:bodyPr>
          <a:lstStyle/>
          <a:p>
            <a:pPr algn="l" indent="0" marL="0">
              <a:lnSpc>
                <a:spcPct val="115104"/>
              </a:lnSpc>
              <a:buNone/>
            </a:pPr>
            <a:r>
              <a:rPr lang="en-US" sz="975" b="1" dirty="0">
                <a:solidFill>
                  <a:srgbClr val="5059C9"/>
                </a:solidFill>
                <a:latin typeface="Public Sans" pitchFamily="34" charset="0"/>
                <a:ea typeface="Public Sans" pitchFamily="34" charset="-122"/>
                <a:cs typeface="Public Sans" pitchFamily="34" charset="-120"/>
              </a:rPr>
              <a:t>Systems · Graph · AI · Dataverse</a:t>
            </a:r>
            <a:endParaRPr lang="en-US" sz="975" dirty="0"/>
          </a:p>
        </p:txBody>
      </p:sp>
      <p:pic>
        <p:nvPicPr>
          <p:cNvPr id="31"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8287999" cy="10286999"/>
          </a:xfrm>
          <a:prstGeom prst="rect">
            <a:avLst/>
          </a:prstGeom>
        </p:spPr>
      </p:pic>
      <p:sp>
        <p:nvSpPr>
          <p:cNvPr id="32" name="Shape 29"/>
          <p:cNvSpPr/>
          <p:nvPr/>
        </p:nvSpPr>
        <p:spPr>
          <a:xfrm>
            <a:off x="13150102" y="5162410"/>
            <a:ext cx="4375897" cy="156882"/>
          </a:xfrm>
          <a:prstGeom prst="rect">
            <a:avLst/>
          </a:prstGeom>
          <a:solidFill>
            <a:srgbClr val="F4F7FA"/>
          </a:solidFill>
          <a:ln/>
        </p:spPr>
      </p:sp>
      <p:sp>
        <p:nvSpPr>
          <p:cNvPr id="33" name="Text 30"/>
          <p:cNvSpPr/>
          <p:nvPr/>
        </p:nvSpPr>
        <p:spPr>
          <a:xfrm>
            <a:off x="13245352" y="5162410"/>
            <a:ext cx="4622987" cy="194982"/>
          </a:xfrm>
          <a:prstGeom prst="rect">
            <a:avLst/>
          </a:prstGeom>
          <a:noFill/>
          <a:ln/>
        </p:spPr>
        <p:txBody>
          <a:bodyPr wrap="square" lIns="25400" tIns="25400" rIns="25400" bIns="25400" rtlCol="0" anchor="t">
            <a:normAutofit/>
          </a:bodyPr>
          <a:lstStyle/>
          <a:p>
            <a:pPr algn="l" indent="0" marL="0">
              <a:buNone/>
            </a:pPr>
            <a:r>
              <a:rPr lang="en-US" sz="975" b="1" spc="49" kern="0" dirty="0">
                <a:solidFill>
                  <a:srgbClr val="B4690E"/>
                </a:solidFill>
                <a:latin typeface="IBM Plex Mono" pitchFamily="34" charset="0"/>
                <a:ea typeface="IBM Plex Mono" pitchFamily="34" charset="-122"/>
                <a:cs typeface="IBM Plex Mono" pitchFamily="34" charset="-120"/>
              </a:rPr>
              <a:t>LINE OF VISIBILITY — customers &amp; RMs never see below</a:t>
            </a:r>
            <a:endParaRPr lang="en-US" sz="975" dirty="0"/>
          </a:p>
        </p:txBody>
      </p:sp>
      <p:sp>
        <p:nvSpPr>
          <p:cNvPr id="34" name="Shape 31"/>
          <p:cNvSpPr/>
          <p:nvPr/>
        </p:nvSpPr>
        <p:spPr>
          <a:xfrm>
            <a:off x="2647915" y="2543035"/>
            <a:ext cx="1542910" cy="1066660"/>
          </a:xfrm>
          <a:prstGeom prst="roundRect">
            <a:avLst>
              <a:gd name="adj" fmla="val 8930"/>
            </a:avLst>
          </a:prstGeom>
          <a:solidFill>
            <a:srgbClr val="EDF1E0"/>
          </a:solidFill>
          <a:ln w="11206">
            <a:solidFill>
              <a:srgbClr val="DBE6CD"/>
            </a:solidFill>
            <a:prstDash val="solid"/>
          </a:ln>
        </p:spPr>
      </p:sp>
      <p:sp>
        <p:nvSpPr>
          <p:cNvPr id="35" name="Shape 32"/>
          <p:cNvSpPr/>
          <p:nvPr/>
        </p:nvSpPr>
        <p:spPr>
          <a:xfrm>
            <a:off x="2544961" y="2440081"/>
            <a:ext cx="266665" cy="266665"/>
          </a:xfrm>
          <a:prstGeom prst="ellipse">
            <a:avLst/>
          </a:prstGeom>
          <a:solidFill>
            <a:srgbClr val="0D2E22"/>
          </a:solidFill>
          <a:ln/>
        </p:spPr>
      </p:sp>
      <p:sp>
        <p:nvSpPr>
          <p:cNvPr id="36" name="Text 33"/>
          <p:cNvSpPr/>
          <p:nvPr/>
        </p:nvSpPr>
        <p:spPr>
          <a:xfrm>
            <a:off x="2506861" y="2440081"/>
            <a:ext cx="342865" cy="304765"/>
          </a:xfrm>
          <a:prstGeom prst="rect">
            <a:avLst/>
          </a:prstGeom>
          <a:noFill/>
          <a:ln/>
        </p:spPr>
        <p:txBody>
          <a:bodyPr wrap="square" lIns="25400" tIns="25400" rIns="25400" bIns="25400" rtlCol="0" anchor="ctr">
            <a:normAutofit/>
          </a:bodyPr>
          <a:lstStyle/>
          <a:p>
            <a:pPr algn="ctr" indent="0" marL="0">
              <a:buNone/>
            </a:pPr>
            <a:r>
              <a:rPr lang="en-US" sz="1125" b="1" dirty="0">
                <a:solidFill>
                  <a:srgbClr val="FFFFFF"/>
                </a:solidFill>
                <a:latin typeface="IBM Plex Mono" pitchFamily="34" charset="0"/>
                <a:ea typeface="IBM Plex Mono" pitchFamily="34" charset="-122"/>
                <a:cs typeface="IBM Plex Mono" pitchFamily="34" charset="-120"/>
              </a:rPr>
              <a:t>1</a:t>
            </a:r>
            <a:endParaRPr lang="en-US" sz="1125" dirty="0"/>
          </a:p>
        </p:txBody>
      </p:sp>
      <p:sp>
        <p:nvSpPr>
          <p:cNvPr id="37" name="Text 34"/>
          <p:cNvSpPr/>
          <p:nvPr/>
        </p:nvSpPr>
        <p:spPr>
          <a:xfrm>
            <a:off x="2959473" y="2992321"/>
            <a:ext cx="919618" cy="206188"/>
          </a:xfrm>
          <a:prstGeom prst="rect">
            <a:avLst/>
          </a:prstGeom>
          <a:noFill/>
          <a:ln/>
        </p:spPr>
        <p:txBody>
          <a:bodyPr wrap="square" lIns="25400" tIns="25400" rIns="25400" bIns="25400" rtlCol="0" anchor="t">
            <a:normAutofit/>
          </a:bodyPr>
          <a:lstStyle/>
          <a:p>
            <a:pPr algn="ctr" indent="0" marL="0">
              <a:lnSpc>
                <a:spcPct val="103700"/>
              </a:lnSpc>
              <a:buNone/>
            </a:pPr>
            <a:r>
              <a:rPr lang="en-US" sz="1125" b="1" dirty="0">
                <a:solidFill>
                  <a:srgbClr val="0D2E22"/>
                </a:solidFill>
                <a:latin typeface="Public Sans" pitchFamily="34" charset="0"/>
                <a:ea typeface="Public Sans" pitchFamily="34" charset="-122"/>
                <a:cs typeface="Public Sans" pitchFamily="34" charset="-120"/>
              </a:rPr>
              <a:t>Asks the RM</a:t>
            </a:r>
            <a:endParaRPr lang="en-US" sz="1125" dirty="0"/>
          </a:p>
        </p:txBody>
      </p:sp>
      <p:sp>
        <p:nvSpPr>
          <p:cNvPr id="38" name="Shape 35"/>
          <p:cNvSpPr/>
          <p:nvPr/>
        </p:nvSpPr>
        <p:spPr>
          <a:xfrm>
            <a:off x="4305160" y="4086120"/>
            <a:ext cx="1542910" cy="1066660"/>
          </a:xfrm>
          <a:prstGeom prst="roundRect">
            <a:avLst>
              <a:gd name="adj" fmla="val 8930"/>
            </a:avLst>
          </a:prstGeom>
          <a:solidFill>
            <a:srgbClr val="EDF1E0"/>
          </a:solidFill>
          <a:ln w="11206">
            <a:solidFill>
              <a:srgbClr val="DBE6CD"/>
            </a:solidFill>
            <a:prstDash val="solid"/>
          </a:ln>
        </p:spPr>
      </p:sp>
      <p:sp>
        <p:nvSpPr>
          <p:cNvPr id="39" name="Shape 36"/>
          <p:cNvSpPr/>
          <p:nvPr/>
        </p:nvSpPr>
        <p:spPr>
          <a:xfrm>
            <a:off x="4202206" y="3983166"/>
            <a:ext cx="266665" cy="266665"/>
          </a:xfrm>
          <a:prstGeom prst="ellipse">
            <a:avLst/>
          </a:prstGeom>
          <a:solidFill>
            <a:srgbClr val="0D2E22"/>
          </a:solidFill>
          <a:ln/>
        </p:spPr>
      </p:sp>
      <p:sp>
        <p:nvSpPr>
          <p:cNvPr id="40" name="Text 37"/>
          <p:cNvSpPr/>
          <p:nvPr/>
        </p:nvSpPr>
        <p:spPr>
          <a:xfrm>
            <a:off x="4164106" y="3983166"/>
            <a:ext cx="342865" cy="304765"/>
          </a:xfrm>
          <a:prstGeom prst="rect">
            <a:avLst/>
          </a:prstGeom>
          <a:noFill/>
          <a:ln/>
        </p:spPr>
        <p:txBody>
          <a:bodyPr wrap="square" lIns="25400" tIns="25400" rIns="25400" bIns="25400" rtlCol="0" anchor="ctr">
            <a:normAutofit/>
          </a:bodyPr>
          <a:lstStyle/>
          <a:p>
            <a:pPr algn="ctr" indent="0" marL="0">
              <a:buNone/>
            </a:pPr>
            <a:r>
              <a:rPr lang="en-US" sz="1125" b="1" dirty="0">
                <a:solidFill>
                  <a:srgbClr val="FFFFFF"/>
                </a:solidFill>
                <a:latin typeface="IBM Plex Mono" pitchFamily="34" charset="0"/>
                <a:ea typeface="IBM Plex Mono" pitchFamily="34" charset="-122"/>
                <a:cs typeface="IBM Plex Mono" pitchFamily="34" charset="-120"/>
              </a:rPr>
              <a:t>2</a:t>
            </a:r>
            <a:endParaRPr lang="en-US" sz="1125" dirty="0"/>
          </a:p>
        </p:txBody>
      </p:sp>
      <p:sp>
        <p:nvSpPr>
          <p:cNvPr id="41" name="Text 38"/>
          <p:cNvSpPr/>
          <p:nvPr/>
        </p:nvSpPr>
        <p:spPr>
          <a:xfrm>
            <a:off x="4354430" y="4335801"/>
            <a:ext cx="1444368" cy="374276"/>
          </a:xfrm>
          <a:prstGeom prst="rect">
            <a:avLst/>
          </a:prstGeom>
          <a:noFill/>
          <a:ln/>
        </p:spPr>
        <p:txBody>
          <a:bodyPr wrap="square" lIns="25400" tIns="25400" rIns="25400" bIns="25400" rtlCol="0" anchor="t">
            <a:normAutofit/>
          </a:bodyPr>
          <a:lstStyle/>
          <a:p>
            <a:pPr algn="ctr" indent="0" marL="0">
              <a:lnSpc>
                <a:spcPct val="103700"/>
              </a:lnSpc>
              <a:buNone/>
            </a:pPr>
            <a:r>
              <a:rPr lang="en-US" sz="1125" b="1" dirty="0">
                <a:solidFill>
                  <a:srgbClr val="0D2E22"/>
                </a:solidFill>
                <a:latin typeface="Public Sans" pitchFamily="34" charset="0"/>
                <a:ea typeface="Public Sans" pitchFamily="34" charset="-122"/>
                <a:cs typeface="Public Sans" pitchFamily="34" charset="-120"/>
              </a:rPr>
              <a:t>Enters details · Create Meeting</a:t>
            </a:r>
            <a:endParaRPr lang="en-US" sz="1125" dirty="0"/>
          </a:p>
        </p:txBody>
      </p:sp>
      <p:sp>
        <p:nvSpPr>
          <p:cNvPr id="42" name="Shape 39"/>
          <p:cNvSpPr/>
          <p:nvPr/>
        </p:nvSpPr>
        <p:spPr>
          <a:xfrm>
            <a:off x="4758473" y="4719602"/>
            <a:ext cx="636109" cy="183496"/>
          </a:xfrm>
          <a:prstGeom prst="roundRect">
            <a:avLst>
              <a:gd name="adj" fmla="val 31145"/>
            </a:avLst>
          </a:prstGeom>
          <a:solidFill>
            <a:srgbClr val="742774"/>
          </a:solidFill>
          <a:ln/>
        </p:spPr>
      </p:sp>
      <p:sp>
        <p:nvSpPr>
          <p:cNvPr id="43" name="Text 40"/>
          <p:cNvSpPr/>
          <p:nvPr/>
        </p:nvSpPr>
        <p:spPr>
          <a:xfrm>
            <a:off x="4787048" y="4738652"/>
            <a:ext cx="578959" cy="183496"/>
          </a:xfrm>
          <a:prstGeom prst="rect">
            <a:avLst/>
          </a:prstGeom>
          <a:noFill/>
          <a:ln/>
        </p:spPr>
        <p:txBody>
          <a:bodyPr wrap="square" lIns="25400" tIns="25400" rIns="25400" bIns="25400" rtlCol="0" anchor="t">
            <a:normAutofit/>
          </a:bodyPr>
          <a:lstStyle/>
          <a:p>
            <a:pPr algn="ctr" indent="0" marL="0">
              <a:buNone/>
            </a:pPr>
            <a:r>
              <a:rPr lang="en-US" sz="825" b="1" dirty="0">
                <a:solidFill>
                  <a:srgbClr val="FFFFFF"/>
                </a:solidFill>
                <a:latin typeface="IBM Plex Mono" pitchFamily="34" charset="0"/>
                <a:ea typeface="IBM Plex Mono" pitchFamily="34" charset="-122"/>
                <a:cs typeface="IBM Plex Mono" pitchFamily="34" charset="-120"/>
              </a:rPr>
              <a:t>Code app</a:t>
            </a:r>
            <a:endParaRPr lang="en-US" sz="825" dirty="0"/>
          </a:p>
        </p:txBody>
      </p:sp>
      <p:sp>
        <p:nvSpPr>
          <p:cNvPr id="44" name="Shape 41"/>
          <p:cNvSpPr/>
          <p:nvPr/>
        </p:nvSpPr>
        <p:spPr>
          <a:xfrm>
            <a:off x="4305160" y="7172290"/>
            <a:ext cx="1542910" cy="1066660"/>
          </a:xfrm>
          <a:prstGeom prst="roundRect">
            <a:avLst>
              <a:gd name="adj" fmla="val 8930"/>
            </a:avLst>
          </a:prstGeom>
          <a:solidFill>
            <a:srgbClr val="EEF0F7"/>
          </a:solidFill>
          <a:ln w="11206">
            <a:solidFill>
              <a:srgbClr val="B7BDF0"/>
            </a:solidFill>
            <a:prstDash val="solid"/>
          </a:ln>
        </p:spPr>
      </p:sp>
      <p:sp>
        <p:nvSpPr>
          <p:cNvPr id="45" name="Shape 42"/>
          <p:cNvSpPr/>
          <p:nvPr/>
        </p:nvSpPr>
        <p:spPr>
          <a:xfrm>
            <a:off x="4221116" y="7069335"/>
            <a:ext cx="384677" cy="183496"/>
          </a:xfrm>
          <a:prstGeom prst="roundRect">
            <a:avLst>
              <a:gd name="adj" fmla="val 31145"/>
            </a:avLst>
          </a:prstGeom>
          <a:solidFill>
            <a:srgbClr val="8A5410"/>
          </a:solidFill>
          <a:ln/>
        </p:spPr>
      </p:sp>
      <p:sp>
        <p:nvSpPr>
          <p:cNvPr id="46" name="Text 43"/>
          <p:cNvSpPr/>
          <p:nvPr/>
        </p:nvSpPr>
        <p:spPr>
          <a:xfrm>
            <a:off x="4249691" y="7088385"/>
            <a:ext cx="327527" cy="183496"/>
          </a:xfrm>
          <a:prstGeom prst="rect">
            <a:avLst/>
          </a:prstGeom>
          <a:noFill/>
          <a:ln/>
        </p:spPr>
        <p:txBody>
          <a:bodyPr wrap="square" lIns="25400" tIns="25400" rIns="25400" bIns="25400" rtlCol="0" anchor="t">
            <a:normAutofit/>
          </a:bodyPr>
          <a:lstStyle/>
          <a:p>
            <a:pPr algn="ctr" indent="0" marL="0">
              <a:buNone/>
            </a:pPr>
            <a:r>
              <a:rPr lang="en-US" sz="825" b="1" dirty="0">
                <a:solidFill>
                  <a:srgbClr val="FFFFFF"/>
                </a:solidFill>
                <a:latin typeface="IBM Plex Mono" pitchFamily="34" charset="0"/>
                <a:ea typeface="IBM Plex Mono" pitchFamily="34" charset="-122"/>
                <a:cs typeface="IBM Plex Mono" pitchFamily="34" charset="-120"/>
              </a:rPr>
              <a:t>AUTO</a:t>
            </a:r>
            <a:endParaRPr lang="en-US" sz="825" dirty="0"/>
          </a:p>
        </p:txBody>
      </p:sp>
      <p:sp>
        <p:nvSpPr>
          <p:cNvPr id="47" name="Text 44"/>
          <p:cNvSpPr/>
          <p:nvPr/>
        </p:nvSpPr>
        <p:spPr>
          <a:xfrm>
            <a:off x="4354430" y="7337927"/>
            <a:ext cx="1444368" cy="542365"/>
          </a:xfrm>
          <a:prstGeom prst="rect">
            <a:avLst/>
          </a:prstGeom>
          <a:noFill/>
          <a:ln/>
        </p:spPr>
        <p:txBody>
          <a:bodyPr wrap="square" lIns="25400" tIns="25400" rIns="25400" bIns="25400" rtlCol="0" anchor="t">
            <a:normAutofit/>
          </a:bodyPr>
          <a:lstStyle/>
          <a:p>
            <a:pPr algn="ctr" indent="0" marL="0">
              <a:lnSpc>
                <a:spcPct val="103700"/>
              </a:lnSpc>
              <a:buNone/>
            </a:pPr>
            <a:r>
              <a:rPr lang="en-US" sz="1125" b="1" dirty="0">
                <a:solidFill>
                  <a:srgbClr val="0D2E22"/>
                </a:solidFill>
                <a:latin typeface="Public Sans" pitchFamily="34" charset="0"/>
                <a:ea typeface="Public Sans" pitchFamily="34" charset="-122"/>
                <a:cs typeface="Public Sans" pitchFamily="34" charset="-120"/>
              </a:rPr>
              <a:t>Checks CRM partner flag · auto-includes partner</a:t>
            </a:r>
            <a:endParaRPr lang="en-US" sz="1125" dirty="0"/>
          </a:p>
        </p:txBody>
      </p:sp>
      <p:sp>
        <p:nvSpPr>
          <p:cNvPr id="48" name="Shape 45"/>
          <p:cNvSpPr/>
          <p:nvPr/>
        </p:nvSpPr>
        <p:spPr>
          <a:xfrm>
            <a:off x="4475699" y="7889816"/>
            <a:ext cx="1201831" cy="183496"/>
          </a:xfrm>
          <a:prstGeom prst="roundRect">
            <a:avLst>
              <a:gd name="adj" fmla="val 31145"/>
            </a:avLst>
          </a:prstGeom>
          <a:solidFill>
            <a:srgbClr val="5059C9"/>
          </a:solidFill>
          <a:ln/>
        </p:spPr>
      </p:sp>
      <p:sp>
        <p:nvSpPr>
          <p:cNvPr id="49" name="Text 46"/>
          <p:cNvSpPr/>
          <p:nvPr/>
        </p:nvSpPr>
        <p:spPr>
          <a:xfrm>
            <a:off x="4504274" y="7908866"/>
            <a:ext cx="1144681" cy="183496"/>
          </a:xfrm>
          <a:prstGeom prst="rect">
            <a:avLst/>
          </a:prstGeom>
          <a:noFill/>
          <a:ln/>
        </p:spPr>
        <p:txBody>
          <a:bodyPr wrap="square" lIns="25400" tIns="25400" rIns="25400" bIns="25400" rtlCol="0" anchor="t">
            <a:normAutofit/>
          </a:bodyPr>
          <a:lstStyle/>
          <a:p>
            <a:pPr algn="ctr" indent="0" marL="0">
              <a:buNone/>
            </a:pPr>
            <a:r>
              <a:rPr lang="en-US" sz="825" b="1" dirty="0">
                <a:solidFill>
                  <a:srgbClr val="FFFFFF"/>
                </a:solidFill>
                <a:latin typeface="IBM Plex Mono" pitchFamily="34" charset="0"/>
                <a:ea typeface="IBM Plex Mono" pitchFamily="34" charset="-122"/>
                <a:cs typeface="IBM Plex Mono" pitchFamily="34" charset="-120"/>
              </a:rPr>
              <a:t>Dataverse · Graph</a:t>
            </a:r>
            <a:endParaRPr lang="en-US" sz="825" dirty="0"/>
          </a:p>
        </p:txBody>
      </p:sp>
      <p:sp>
        <p:nvSpPr>
          <p:cNvPr id="50" name="Shape 47"/>
          <p:cNvSpPr/>
          <p:nvPr/>
        </p:nvSpPr>
        <p:spPr>
          <a:xfrm>
            <a:off x="5962580" y="7172290"/>
            <a:ext cx="1542910" cy="1066660"/>
          </a:xfrm>
          <a:prstGeom prst="roundRect">
            <a:avLst>
              <a:gd name="adj" fmla="val 8930"/>
            </a:avLst>
          </a:prstGeom>
          <a:solidFill>
            <a:srgbClr val="EEF0F7"/>
          </a:solidFill>
          <a:ln w="11206">
            <a:solidFill>
              <a:srgbClr val="C4C8EE"/>
            </a:solidFill>
            <a:prstDash val="solid"/>
          </a:ln>
        </p:spPr>
      </p:sp>
      <p:sp>
        <p:nvSpPr>
          <p:cNvPr id="51" name="Shape 48"/>
          <p:cNvSpPr/>
          <p:nvPr/>
        </p:nvSpPr>
        <p:spPr>
          <a:xfrm>
            <a:off x="5859625" y="7069335"/>
            <a:ext cx="266665" cy="266665"/>
          </a:xfrm>
          <a:prstGeom prst="ellipse">
            <a:avLst/>
          </a:prstGeom>
          <a:solidFill>
            <a:srgbClr val="0D2E22"/>
          </a:solidFill>
          <a:ln/>
        </p:spPr>
      </p:sp>
      <p:sp>
        <p:nvSpPr>
          <p:cNvPr id="52" name="Text 49"/>
          <p:cNvSpPr/>
          <p:nvPr/>
        </p:nvSpPr>
        <p:spPr>
          <a:xfrm>
            <a:off x="5821525" y="7069335"/>
            <a:ext cx="342865" cy="304765"/>
          </a:xfrm>
          <a:prstGeom prst="rect">
            <a:avLst/>
          </a:prstGeom>
          <a:noFill/>
          <a:ln/>
        </p:spPr>
        <p:txBody>
          <a:bodyPr wrap="square" lIns="25400" tIns="25400" rIns="25400" bIns="25400" rtlCol="0" anchor="ctr">
            <a:normAutofit/>
          </a:bodyPr>
          <a:lstStyle/>
          <a:p>
            <a:pPr algn="ctr" indent="0" marL="0">
              <a:buNone/>
            </a:pPr>
            <a:r>
              <a:rPr lang="en-US" sz="1125" b="1" dirty="0">
                <a:solidFill>
                  <a:srgbClr val="FFFFFF"/>
                </a:solidFill>
                <a:latin typeface="IBM Plex Mono" pitchFamily="34" charset="0"/>
                <a:ea typeface="IBM Plex Mono" pitchFamily="34" charset="-122"/>
                <a:cs typeface="IBM Plex Mono" pitchFamily="34" charset="-120"/>
              </a:rPr>
              <a:t>3</a:t>
            </a:r>
            <a:endParaRPr lang="en-US" sz="1125" dirty="0"/>
          </a:p>
        </p:txBody>
      </p:sp>
      <p:sp>
        <p:nvSpPr>
          <p:cNvPr id="53" name="Text 50"/>
          <p:cNvSpPr/>
          <p:nvPr/>
        </p:nvSpPr>
        <p:spPr>
          <a:xfrm>
            <a:off x="6011850" y="7421971"/>
            <a:ext cx="1444368" cy="374276"/>
          </a:xfrm>
          <a:prstGeom prst="rect">
            <a:avLst/>
          </a:prstGeom>
          <a:noFill/>
          <a:ln/>
        </p:spPr>
        <p:txBody>
          <a:bodyPr wrap="square" lIns="25400" tIns="25400" rIns="25400" bIns="25400" rtlCol="0" anchor="t">
            <a:normAutofit/>
          </a:bodyPr>
          <a:lstStyle/>
          <a:p>
            <a:pPr algn="ctr" indent="0" marL="0">
              <a:lnSpc>
                <a:spcPct val="103700"/>
              </a:lnSpc>
              <a:buNone/>
            </a:pPr>
            <a:r>
              <a:rPr lang="en-US" sz="1125" b="1" dirty="0">
                <a:solidFill>
                  <a:srgbClr val="0D2E22"/>
                </a:solidFill>
                <a:latin typeface="Public Sans" pitchFamily="34" charset="0"/>
                <a:ea typeface="Public Sans" pitchFamily="34" charset="-122"/>
                <a:cs typeface="Public Sans" pitchFamily="34" charset="-120"/>
              </a:rPr>
              <a:t>Availability + rooms resolved</a:t>
            </a:r>
            <a:endParaRPr lang="en-US" sz="1125" dirty="0"/>
          </a:p>
        </p:txBody>
      </p:sp>
      <p:sp>
        <p:nvSpPr>
          <p:cNvPr id="54" name="Shape 51"/>
          <p:cNvSpPr/>
          <p:nvPr/>
        </p:nvSpPr>
        <p:spPr>
          <a:xfrm>
            <a:off x="6510267" y="7805772"/>
            <a:ext cx="447535" cy="183496"/>
          </a:xfrm>
          <a:prstGeom prst="roundRect">
            <a:avLst>
              <a:gd name="adj" fmla="val 31145"/>
            </a:avLst>
          </a:prstGeom>
          <a:solidFill>
            <a:srgbClr val="1C5C43"/>
          </a:solidFill>
          <a:ln/>
        </p:spPr>
      </p:sp>
      <p:sp>
        <p:nvSpPr>
          <p:cNvPr id="55" name="Text 52"/>
          <p:cNvSpPr/>
          <p:nvPr/>
        </p:nvSpPr>
        <p:spPr>
          <a:xfrm>
            <a:off x="6538842" y="7824822"/>
            <a:ext cx="390385" cy="183496"/>
          </a:xfrm>
          <a:prstGeom prst="rect">
            <a:avLst/>
          </a:prstGeom>
          <a:noFill/>
          <a:ln/>
        </p:spPr>
        <p:txBody>
          <a:bodyPr wrap="square" lIns="25400" tIns="25400" rIns="25400" bIns="25400" rtlCol="0" anchor="t">
            <a:normAutofit/>
          </a:bodyPr>
          <a:lstStyle/>
          <a:p>
            <a:pPr algn="ctr" indent="0" marL="0">
              <a:buNone/>
            </a:pPr>
            <a:r>
              <a:rPr lang="en-US" sz="825" b="1" dirty="0">
                <a:solidFill>
                  <a:srgbClr val="FFFFFF"/>
                </a:solidFill>
                <a:latin typeface="IBM Plex Mono" pitchFamily="34" charset="0"/>
                <a:ea typeface="IBM Plex Mono" pitchFamily="34" charset="-122"/>
                <a:cs typeface="IBM Plex Mono" pitchFamily="34" charset="-120"/>
              </a:rPr>
              <a:t>Graph</a:t>
            </a:r>
            <a:endParaRPr lang="en-US" sz="825" dirty="0"/>
          </a:p>
        </p:txBody>
      </p:sp>
      <p:sp>
        <p:nvSpPr>
          <p:cNvPr id="56" name="Shape 53"/>
          <p:cNvSpPr/>
          <p:nvPr/>
        </p:nvSpPr>
        <p:spPr>
          <a:xfrm>
            <a:off x="7619999" y="7172290"/>
            <a:ext cx="1542910" cy="1066660"/>
          </a:xfrm>
          <a:prstGeom prst="roundRect">
            <a:avLst>
              <a:gd name="adj" fmla="val 8930"/>
            </a:avLst>
          </a:prstGeom>
          <a:solidFill>
            <a:srgbClr val="FBF8F1"/>
          </a:solidFill>
          <a:ln w="16809">
            <a:solidFill>
              <a:srgbClr val="ECCFA3"/>
            </a:solidFill>
            <a:prstDash val="solid"/>
          </a:ln>
        </p:spPr>
      </p:sp>
      <p:sp>
        <p:nvSpPr>
          <p:cNvPr id="57" name="Shape 54"/>
          <p:cNvSpPr/>
          <p:nvPr/>
        </p:nvSpPr>
        <p:spPr>
          <a:xfrm>
            <a:off x="7522648" y="7074939"/>
            <a:ext cx="266665" cy="266665"/>
          </a:xfrm>
          <a:prstGeom prst="ellipse">
            <a:avLst/>
          </a:prstGeom>
          <a:solidFill>
            <a:srgbClr val="B4690E"/>
          </a:solidFill>
          <a:ln/>
        </p:spPr>
      </p:sp>
      <p:sp>
        <p:nvSpPr>
          <p:cNvPr id="58" name="Text 55"/>
          <p:cNvSpPr/>
          <p:nvPr/>
        </p:nvSpPr>
        <p:spPr>
          <a:xfrm>
            <a:off x="7484548" y="7074939"/>
            <a:ext cx="342865" cy="304765"/>
          </a:xfrm>
          <a:prstGeom prst="rect">
            <a:avLst/>
          </a:prstGeom>
          <a:noFill/>
          <a:ln/>
        </p:spPr>
        <p:txBody>
          <a:bodyPr wrap="square" lIns="25400" tIns="25400" rIns="25400" bIns="25400" rtlCol="0" anchor="ctr">
            <a:normAutofit/>
          </a:bodyPr>
          <a:lstStyle/>
          <a:p>
            <a:pPr algn="ctr" indent="0" marL="0">
              <a:buNone/>
            </a:pPr>
            <a:r>
              <a:rPr lang="en-US" sz="1125" b="1" dirty="0">
                <a:solidFill>
                  <a:srgbClr val="FFFFFF"/>
                </a:solidFill>
                <a:latin typeface="IBM Plex Mono" pitchFamily="34" charset="0"/>
                <a:ea typeface="IBM Plex Mono" pitchFamily="34" charset="-122"/>
                <a:cs typeface="IBM Plex Mono" pitchFamily="34" charset="-120"/>
              </a:rPr>
              <a:t>4</a:t>
            </a:r>
            <a:endParaRPr lang="en-US" sz="1125" dirty="0"/>
          </a:p>
        </p:txBody>
      </p:sp>
      <p:sp>
        <p:nvSpPr>
          <p:cNvPr id="59" name="Text 56"/>
          <p:cNvSpPr/>
          <p:nvPr/>
        </p:nvSpPr>
        <p:spPr>
          <a:xfrm>
            <a:off x="7674873" y="7421971"/>
            <a:ext cx="1433162" cy="374276"/>
          </a:xfrm>
          <a:prstGeom prst="rect">
            <a:avLst/>
          </a:prstGeom>
          <a:noFill/>
          <a:ln/>
        </p:spPr>
        <p:txBody>
          <a:bodyPr wrap="square" lIns="25400" tIns="25400" rIns="25400" bIns="25400" rtlCol="0" anchor="t">
            <a:normAutofit/>
          </a:bodyPr>
          <a:lstStyle/>
          <a:p>
            <a:pPr algn="ctr" indent="0" marL="0">
              <a:lnSpc>
                <a:spcPct val="103700"/>
              </a:lnSpc>
              <a:buNone/>
            </a:pPr>
            <a:r>
              <a:rPr lang="en-US" sz="1125" b="1" dirty="0">
                <a:solidFill>
                  <a:srgbClr val="0D2E22"/>
                </a:solidFill>
                <a:latin typeface="Public Sans" pitchFamily="34" charset="0"/>
                <a:ea typeface="Public Sans" pitchFamily="34" charset="-122"/>
                <a:cs typeface="Public Sans" pitchFamily="34" charset="-120"/>
              </a:rPr>
              <a:t>Recommends slot · drafts invite</a:t>
            </a:r>
            <a:endParaRPr lang="en-US" sz="1125" dirty="0"/>
          </a:p>
        </p:txBody>
      </p:sp>
      <p:sp>
        <p:nvSpPr>
          <p:cNvPr id="60" name="Shape 57"/>
          <p:cNvSpPr/>
          <p:nvPr/>
        </p:nvSpPr>
        <p:spPr>
          <a:xfrm>
            <a:off x="7947596" y="7805772"/>
            <a:ext cx="887541" cy="183496"/>
          </a:xfrm>
          <a:prstGeom prst="roundRect">
            <a:avLst>
              <a:gd name="adj" fmla="val 31145"/>
            </a:avLst>
          </a:prstGeom>
          <a:solidFill>
            <a:srgbClr val="B4690E"/>
          </a:solidFill>
          <a:ln/>
        </p:spPr>
      </p:sp>
      <p:sp>
        <p:nvSpPr>
          <p:cNvPr id="61" name="Text 58"/>
          <p:cNvSpPr/>
          <p:nvPr/>
        </p:nvSpPr>
        <p:spPr>
          <a:xfrm>
            <a:off x="7976171" y="7824822"/>
            <a:ext cx="830391" cy="183496"/>
          </a:xfrm>
          <a:prstGeom prst="rect">
            <a:avLst/>
          </a:prstGeom>
          <a:noFill/>
          <a:ln/>
        </p:spPr>
        <p:txBody>
          <a:bodyPr wrap="square" lIns="25400" tIns="25400" rIns="25400" bIns="25400" rtlCol="0" anchor="t">
            <a:normAutofit/>
          </a:bodyPr>
          <a:lstStyle/>
          <a:p>
            <a:pPr algn="ctr" indent="0" marL="0">
              <a:buNone/>
            </a:pPr>
            <a:r>
              <a:rPr lang="en-US" sz="825" b="1" dirty="0">
                <a:solidFill>
                  <a:srgbClr val="FFFFFF"/>
                </a:solidFill>
                <a:latin typeface="IBM Plex Mono" pitchFamily="34" charset="0"/>
                <a:ea typeface="IBM Plex Mono" pitchFamily="34" charset="-122"/>
                <a:cs typeface="IBM Plex Mono" pitchFamily="34" charset="-120"/>
              </a:rPr>
              <a:t>Azure OpenAI</a:t>
            </a:r>
            <a:endParaRPr lang="en-US" sz="825" dirty="0"/>
          </a:p>
        </p:txBody>
      </p:sp>
      <p:sp>
        <p:nvSpPr>
          <p:cNvPr id="62" name="Shape 59"/>
          <p:cNvSpPr/>
          <p:nvPr/>
        </p:nvSpPr>
        <p:spPr>
          <a:xfrm>
            <a:off x="9277244" y="4086120"/>
            <a:ext cx="1542910" cy="1066660"/>
          </a:xfrm>
          <a:prstGeom prst="roundRect">
            <a:avLst>
              <a:gd name="adj" fmla="val 8930"/>
            </a:avLst>
          </a:prstGeom>
          <a:solidFill>
            <a:srgbClr val="EDF1E0"/>
          </a:solidFill>
          <a:ln w="11206">
            <a:solidFill>
              <a:srgbClr val="DBE6CD"/>
            </a:solidFill>
            <a:prstDash val="solid"/>
          </a:ln>
        </p:spPr>
      </p:sp>
      <p:sp>
        <p:nvSpPr>
          <p:cNvPr id="63" name="Shape 60"/>
          <p:cNvSpPr/>
          <p:nvPr/>
        </p:nvSpPr>
        <p:spPr>
          <a:xfrm>
            <a:off x="9174291" y="3983166"/>
            <a:ext cx="266665" cy="266665"/>
          </a:xfrm>
          <a:prstGeom prst="ellipse">
            <a:avLst/>
          </a:prstGeom>
          <a:solidFill>
            <a:srgbClr val="0D2E22"/>
          </a:solidFill>
          <a:ln/>
        </p:spPr>
      </p:sp>
      <p:sp>
        <p:nvSpPr>
          <p:cNvPr id="64" name="Text 61"/>
          <p:cNvSpPr/>
          <p:nvPr/>
        </p:nvSpPr>
        <p:spPr>
          <a:xfrm>
            <a:off x="9136191" y="3983166"/>
            <a:ext cx="342865" cy="304765"/>
          </a:xfrm>
          <a:prstGeom prst="rect">
            <a:avLst/>
          </a:prstGeom>
          <a:noFill/>
          <a:ln/>
        </p:spPr>
        <p:txBody>
          <a:bodyPr wrap="square" lIns="25400" tIns="25400" rIns="25400" bIns="25400" rtlCol="0" anchor="ctr">
            <a:normAutofit/>
          </a:bodyPr>
          <a:lstStyle/>
          <a:p>
            <a:pPr algn="ctr" indent="0" marL="0">
              <a:buNone/>
            </a:pPr>
            <a:r>
              <a:rPr lang="en-US" sz="1125" b="1" dirty="0">
                <a:solidFill>
                  <a:srgbClr val="FFFFFF"/>
                </a:solidFill>
                <a:latin typeface="IBM Plex Mono" pitchFamily="34" charset="0"/>
                <a:ea typeface="IBM Plex Mono" pitchFamily="34" charset="-122"/>
                <a:cs typeface="IBM Plex Mono" pitchFamily="34" charset="-120"/>
              </a:rPr>
              <a:t>5</a:t>
            </a:r>
            <a:endParaRPr lang="en-US" sz="1125" dirty="0"/>
          </a:p>
        </p:txBody>
      </p:sp>
      <p:sp>
        <p:nvSpPr>
          <p:cNvPr id="65" name="Text 62"/>
          <p:cNvSpPr/>
          <p:nvPr/>
        </p:nvSpPr>
        <p:spPr>
          <a:xfrm>
            <a:off x="9326515" y="4335801"/>
            <a:ext cx="1444368" cy="374276"/>
          </a:xfrm>
          <a:prstGeom prst="rect">
            <a:avLst/>
          </a:prstGeom>
          <a:noFill/>
          <a:ln/>
        </p:spPr>
        <p:txBody>
          <a:bodyPr wrap="square" lIns="25400" tIns="25400" rIns="25400" bIns="25400" rtlCol="0" anchor="t">
            <a:normAutofit/>
          </a:bodyPr>
          <a:lstStyle/>
          <a:p>
            <a:pPr algn="ctr" indent="0" marL="0">
              <a:lnSpc>
                <a:spcPct val="103700"/>
              </a:lnSpc>
              <a:buNone/>
            </a:pPr>
            <a:r>
              <a:rPr lang="en-US" sz="1125" b="1" dirty="0">
                <a:solidFill>
                  <a:srgbClr val="0D2E22"/>
                </a:solidFill>
                <a:latin typeface="Public Sans" pitchFamily="34" charset="0"/>
                <a:ea typeface="Public Sans" pitchFamily="34" charset="-122"/>
                <a:cs typeface="Public Sans" pitchFamily="34" charset="-120"/>
              </a:rPr>
              <a:t>RM reviews · sends link</a:t>
            </a:r>
            <a:endParaRPr lang="en-US" sz="1125" dirty="0"/>
          </a:p>
        </p:txBody>
      </p:sp>
      <p:sp>
        <p:nvSpPr>
          <p:cNvPr id="66" name="Shape 63"/>
          <p:cNvSpPr/>
          <p:nvPr/>
        </p:nvSpPr>
        <p:spPr>
          <a:xfrm>
            <a:off x="9730557" y="4719602"/>
            <a:ext cx="636109" cy="183496"/>
          </a:xfrm>
          <a:prstGeom prst="roundRect">
            <a:avLst>
              <a:gd name="adj" fmla="val 31145"/>
            </a:avLst>
          </a:prstGeom>
          <a:solidFill>
            <a:srgbClr val="742774"/>
          </a:solidFill>
          <a:ln/>
        </p:spPr>
      </p:sp>
      <p:sp>
        <p:nvSpPr>
          <p:cNvPr id="67" name="Text 64"/>
          <p:cNvSpPr/>
          <p:nvPr/>
        </p:nvSpPr>
        <p:spPr>
          <a:xfrm>
            <a:off x="9759132" y="4738652"/>
            <a:ext cx="578959" cy="183496"/>
          </a:xfrm>
          <a:prstGeom prst="rect">
            <a:avLst/>
          </a:prstGeom>
          <a:noFill/>
          <a:ln/>
        </p:spPr>
        <p:txBody>
          <a:bodyPr wrap="square" lIns="25400" tIns="25400" rIns="25400" bIns="25400" rtlCol="0" anchor="t">
            <a:normAutofit/>
          </a:bodyPr>
          <a:lstStyle/>
          <a:p>
            <a:pPr algn="ctr" indent="0" marL="0">
              <a:buNone/>
            </a:pPr>
            <a:r>
              <a:rPr lang="en-US" sz="825" b="1" dirty="0">
                <a:solidFill>
                  <a:srgbClr val="FFFFFF"/>
                </a:solidFill>
                <a:latin typeface="IBM Plex Mono" pitchFamily="34" charset="0"/>
                <a:ea typeface="IBM Plex Mono" pitchFamily="34" charset="-122"/>
                <a:cs typeface="IBM Plex Mono" pitchFamily="34" charset="-120"/>
              </a:rPr>
              <a:t>Code app</a:t>
            </a:r>
            <a:endParaRPr lang="en-US" sz="825" dirty="0"/>
          </a:p>
        </p:txBody>
      </p:sp>
      <p:sp>
        <p:nvSpPr>
          <p:cNvPr id="68" name="Shape 65"/>
          <p:cNvSpPr/>
          <p:nvPr/>
        </p:nvSpPr>
        <p:spPr>
          <a:xfrm>
            <a:off x="10934664" y="2543035"/>
            <a:ext cx="1542910" cy="1066660"/>
          </a:xfrm>
          <a:prstGeom prst="roundRect">
            <a:avLst>
              <a:gd name="adj" fmla="val 8930"/>
            </a:avLst>
          </a:prstGeom>
          <a:solidFill>
            <a:srgbClr val="EDF1E0"/>
          </a:solidFill>
          <a:ln w="11206">
            <a:solidFill>
              <a:srgbClr val="DBE6CD"/>
            </a:solidFill>
            <a:prstDash val="solid"/>
          </a:ln>
        </p:spPr>
      </p:sp>
      <p:sp>
        <p:nvSpPr>
          <p:cNvPr id="69" name="Shape 66"/>
          <p:cNvSpPr/>
          <p:nvPr/>
        </p:nvSpPr>
        <p:spPr>
          <a:xfrm>
            <a:off x="10831710" y="2440081"/>
            <a:ext cx="266665" cy="266665"/>
          </a:xfrm>
          <a:prstGeom prst="ellipse">
            <a:avLst/>
          </a:prstGeom>
          <a:solidFill>
            <a:srgbClr val="0D2E22"/>
          </a:solidFill>
          <a:ln/>
        </p:spPr>
      </p:sp>
      <p:sp>
        <p:nvSpPr>
          <p:cNvPr id="70" name="Text 67"/>
          <p:cNvSpPr/>
          <p:nvPr/>
        </p:nvSpPr>
        <p:spPr>
          <a:xfrm>
            <a:off x="10793610" y="2440081"/>
            <a:ext cx="342865" cy="304765"/>
          </a:xfrm>
          <a:prstGeom prst="rect">
            <a:avLst/>
          </a:prstGeom>
          <a:noFill/>
          <a:ln/>
        </p:spPr>
        <p:txBody>
          <a:bodyPr wrap="square" lIns="25400" tIns="25400" rIns="25400" bIns="25400" rtlCol="0" anchor="ctr">
            <a:normAutofit/>
          </a:bodyPr>
          <a:lstStyle/>
          <a:p>
            <a:pPr algn="ctr" indent="0" marL="0">
              <a:buNone/>
            </a:pPr>
            <a:r>
              <a:rPr lang="en-US" sz="1125" b="1" dirty="0">
                <a:solidFill>
                  <a:srgbClr val="FFFFFF"/>
                </a:solidFill>
                <a:latin typeface="IBM Plex Mono" pitchFamily="34" charset="0"/>
                <a:ea typeface="IBM Plex Mono" pitchFamily="34" charset="-122"/>
                <a:cs typeface="IBM Plex Mono" pitchFamily="34" charset="-120"/>
              </a:rPr>
              <a:t>6</a:t>
            </a:r>
            <a:endParaRPr lang="en-US" sz="1125" dirty="0"/>
          </a:p>
        </p:txBody>
      </p:sp>
      <p:sp>
        <p:nvSpPr>
          <p:cNvPr id="71" name="Text 68"/>
          <p:cNvSpPr/>
          <p:nvPr/>
        </p:nvSpPr>
        <p:spPr>
          <a:xfrm>
            <a:off x="10983935" y="2792716"/>
            <a:ext cx="1444368" cy="374276"/>
          </a:xfrm>
          <a:prstGeom prst="rect">
            <a:avLst/>
          </a:prstGeom>
          <a:noFill/>
          <a:ln/>
        </p:spPr>
        <p:txBody>
          <a:bodyPr wrap="square" lIns="25400" tIns="25400" rIns="25400" bIns="25400" rtlCol="0" anchor="t">
            <a:normAutofit/>
          </a:bodyPr>
          <a:lstStyle/>
          <a:p>
            <a:pPr algn="ctr" indent="0" marL="0">
              <a:lnSpc>
                <a:spcPct val="103700"/>
              </a:lnSpc>
              <a:buNone/>
            </a:pPr>
            <a:r>
              <a:rPr lang="en-US" sz="1125" b="1" dirty="0">
                <a:solidFill>
                  <a:srgbClr val="0D2E22"/>
                </a:solidFill>
                <a:latin typeface="Public Sans" pitchFamily="34" charset="0"/>
                <a:ea typeface="Public Sans" pitchFamily="34" charset="-122"/>
                <a:cs typeface="Public Sans" pitchFamily="34" charset="-120"/>
              </a:rPr>
              <a:t>Picks a slot — one tap</a:t>
            </a:r>
            <a:endParaRPr lang="en-US" sz="1125" dirty="0"/>
          </a:p>
        </p:txBody>
      </p:sp>
      <p:sp>
        <p:nvSpPr>
          <p:cNvPr id="72" name="Shape 69"/>
          <p:cNvSpPr/>
          <p:nvPr/>
        </p:nvSpPr>
        <p:spPr>
          <a:xfrm>
            <a:off x="11262261" y="3176517"/>
            <a:ext cx="887541" cy="183496"/>
          </a:xfrm>
          <a:prstGeom prst="roundRect">
            <a:avLst>
              <a:gd name="adj" fmla="val 31145"/>
            </a:avLst>
          </a:prstGeom>
          <a:solidFill>
            <a:srgbClr val="0B7A75"/>
          </a:solidFill>
          <a:ln/>
        </p:spPr>
      </p:sp>
      <p:sp>
        <p:nvSpPr>
          <p:cNvPr id="73" name="Text 70"/>
          <p:cNvSpPr/>
          <p:nvPr/>
        </p:nvSpPr>
        <p:spPr>
          <a:xfrm>
            <a:off x="11290836" y="3195567"/>
            <a:ext cx="830391" cy="183496"/>
          </a:xfrm>
          <a:prstGeom prst="rect">
            <a:avLst/>
          </a:prstGeom>
          <a:noFill/>
          <a:ln/>
        </p:spPr>
        <p:txBody>
          <a:bodyPr wrap="square" lIns="25400" tIns="25400" rIns="25400" bIns="25400" rtlCol="0" anchor="t">
            <a:normAutofit/>
          </a:bodyPr>
          <a:lstStyle/>
          <a:p>
            <a:pPr algn="ctr" indent="0" marL="0">
              <a:buNone/>
            </a:pPr>
            <a:r>
              <a:rPr lang="en-US" sz="825" b="1" dirty="0">
                <a:solidFill>
                  <a:srgbClr val="FFFFFF"/>
                </a:solidFill>
                <a:latin typeface="IBM Plex Mono" pitchFamily="34" charset="0"/>
                <a:ea typeface="IBM Plex Mono" pitchFamily="34" charset="-122"/>
                <a:cs typeface="IBM Plex Mono" pitchFamily="34" charset="-120"/>
              </a:rPr>
              <a:t>Booking page</a:t>
            </a:r>
            <a:endParaRPr lang="en-US" sz="825" dirty="0"/>
          </a:p>
        </p:txBody>
      </p:sp>
      <p:sp>
        <p:nvSpPr>
          <p:cNvPr id="74" name="Shape 71"/>
          <p:cNvSpPr/>
          <p:nvPr/>
        </p:nvSpPr>
        <p:spPr>
          <a:xfrm>
            <a:off x="12591909" y="5629205"/>
            <a:ext cx="1542910" cy="1066660"/>
          </a:xfrm>
          <a:prstGeom prst="roundRect">
            <a:avLst>
              <a:gd name="adj" fmla="val 8930"/>
            </a:avLst>
          </a:prstGeom>
          <a:solidFill>
            <a:srgbClr val="E7F0E9"/>
          </a:solidFill>
          <a:ln w="11206">
            <a:solidFill>
              <a:srgbClr val="BCD8C9"/>
            </a:solidFill>
            <a:prstDash val="solid"/>
          </a:ln>
        </p:spPr>
      </p:sp>
      <p:sp>
        <p:nvSpPr>
          <p:cNvPr id="75" name="Shape 72"/>
          <p:cNvSpPr/>
          <p:nvPr/>
        </p:nvSpPr>
        <p:spPr>
          <a:xfrm>
            <a:off x="12488955" y="5526250"/>
            <a:ext cx="266665" cy="266665"/>
          </a:xfrm>
          <a:prstGeom prst="ellipse">
            <a:avLst/>
          </a:prstGeom>
          <a:solidFill>
            <a:srgbClr val="0D2E22"/>
          </a:solidFill>
          <a:ln/>
        </p:spPr>
      </p:sp>
      <p:sp>
        <p:nvSpPr>
          <p:cNvPr id="76" name="Text 73"/>
          <p:cNvSpPr/>
          <p:nvPr/>
        </p:nvSpPr>
        <p:spPr>
          <a:xfrm>
            <a:off x="12450855" y="5526250"/>
            <a:ext cx="342865" cy="304765"/>
          </a:xfrm>
          <a:prstGeom prst="rect">
            <a:avLst/>
          </a:prstGeom>
          <a:noFill/>
          <a:ln/>
        </p:spPr>
        <p:txBody>
          <a:bodyPr wrap="square" lIns="25400" tIns="25400" rIns="25400" bIns="25400" rtlCol="0" anchor="ctr">
            <a:normAutofit/>
          </a:bodyPr>
          <a:lstStyle/>
          <a:p>
            <a:pPr algn="ctr" indent="0" marL="0">
              <a:buNone/>
            </a:pPr>
            <a:r>
              <a:rPr lang="en-US" sz="1125" b="1" dirty="0">
                <a:solidFill>
                  <a:srgbClr val="FFFFFF"/>
                </a:solidFill>
                <a:latin typeface="IBM Plex Mono" pitchFamily="34" charset="0"/>
                <a:ea typeface="IBM Plex Mono" pitchFamily="34" charset="-122"/>
                <a:cs typeface="IBM Plex Mono" pitchFamily="34" charset="-120"/>
              </a:rPr>
              <a:t>7</a:t>
            </a:r>
            <a:endParaRPr lang="en-US" sz="1125" dirty="0"/>
          </a:p>
        </p:txBody>
      </p:sp>
      <p:sp>
        <p:nvSpPr>
          <p:cNvPr id="77" name="Text 74"/>
          <p:cNvSpPr/>
          <p:nvPr/>
        </p:nvSpPr>
        <p:spPr>
          <a:xfrm>
            <a:off x="12641180" y="5878886"/>
            <a:ext cx="1444368" cy="374276"/>
          </a:xfrm>
          <a:prstGeom prst="rect">
            <a:avLst/>
          </a:prstGeom>
          <a:noFill/>
          <a:ln/>
        </p:spPr>
        <p:txBody>
          <a:bodyPr wrap="square" lIns="25400" tIns="25400" rIns="25400" bIns="25400" rtlCol="0" anchor="t">
            <a:normAutofit/>
          </a:bodyPr>
          <a:lstStyle/>
          <a:p>
            <a:pPr algn="ctr" indent="0" marL="0">
              <a:lnSpc>
                <a:spcPct val="103700"/>
              </a:lnSpc>
              <a:buNone/>
            </a:pPr>
            <a:r>
              <a:rPr lang="en-US" sz="1125" b="1" dirty="0">
                <a:solidFill>
                  <a:srgbClr val="0D2E22"/>
                </a:solidFill>
                <a:latin typeface="Public Sans" pitchFamily="34" charset="0"/>
                <a:ea typeface="Public Sans" pitchFamily="34" charset="-122"/>
                <a:cs typeface="Public Sans" pitchFamily="34" charset="-120"/>
              </a:rPr>
              <a:t>Validated trigger fires</a:t>
            </a:r>
            <a:endParaRPr lang="en-US" sz="1125" dirty="0"/>
          </a:p>
        </p:txBody>
      </p:sp>
      <p:sp>
        <p:nvSpPr>
          <p:cNvPr id="78" name="Shape 75"/>
          <p:cNvSpPr/>
          <p:nvPr/>
        </p:nvSpPr>
        <p:spPr>
          <a:xfrm>
            <a:off x="12856648" y="6262687"/>
            <a:ext cx="1013257" cy="183496"/>
          </a:xfrm>
          <a:prstGeom prst="roundRect">
            <a:avLst>
              <a:gd name="adj" fmla="val 31145"/>
            </a:avLst>
          </a:prstGeom>
          <a:solidFill>
            <a:srgbClr val="14513A"/>
          </a:solidFill>
          <a:ln/>
        </p:spPr>
      </p:sp>
      <p:sp>
        <p:nvSpPr>
          <p:cNvPr id="79" name="Text 76"/>
          <p:cNvSpPr/>
          <p:nvPr/>
        </p:nvSpPr>
        <p:spPr>
          <a:xfrm>
            <a:off x="12885223" y="6281737"/>
            <a:ext cx="956107" cy="183496"/>
          </a:xfrm>
          <a:prstGeom prst="rect">
            <a:avLst/>
          </a:prstGeom>
          <a:noFill/>
          <a:ln/>
        </p:spPr>
        <p:txBody>
          <a:bodyPr wrap="square" lIns="25400" tIns="25400" rIns="25400" bIns="25400" rtlCol="0" anchor="t">
            <a:normAutofit/>
          </a:bodyPr>
          <a:lstStyle/>
          <a:p>
            <a:pPr algn="ctr" indent="0" marL="0">
              <a:buNone/>
            </a:pPr>
            <a:r>
              <a:rPr lang="en-US" sz="825" b="1" dirty="0">
                <a:solidFill>
                  <a:srgbClr val="FFFFFF"/>
                </a:solidFill>
                <a:latin typeface="IBM Plex Mono" pitchFamily="34" charset="0"/>
                <a:ea typeface="IBM Plex Mono" pitchFamily="34" charset="-122"/>
                <a:cs typeface="IBM Plex Mono" pitchFamily="34" charset="-120"/>
              </a:rPr>
              <a:t>Power Automate</a:t>
            </a:r>
            <a:endParaRPr lang="en-US" sz="825" dirty="0"/>
          </a:p>
        </p:txBody>
      </p:sp>
      <p:sp>
        <p:nvSpPr>
          <p:cNvPr id="80" name="Shape 77"/>
          <p:cNvSpPr/>
          <p:nvPr/>
        </p:nvSpPr>
        <p:spPr>
          <a:xfrm>
            <a:off x="14249329" y="7172290"/>
            <a:ext cx="1542910" cy="1066660"/>
          </a:xfrm>
          <a:prstGeom prst="roundRect">
            <a:avLst>
              <a:gd name="adj" fmla="val 8930"/>
            </a:avLst>
          </a:prstGeom>
          <a:solidFill>
            <a:srgbClr val="EEF0F7"/>
          </a:solidFill>
          <a:ln w="11206">
            <a:solidFill>
              <a:srgbClr val="C4C8EE"/>
            </a:solidFill>
            <a:prstDash val="solid"/>
          </a:ln>
        </p:spPr>
      </p:sp>
      <p:sp>
        <p:nvSpPr>
          <p:cNvPr id="81" name="Shape 78"/>
          <p:cNvSpPr/>
          <p:nvPr/>
        </p:nvSpPr>
        <p:spPr>
          <a:xfrm>
            <a:off x="14146375" y="7069335"/>
            <a:ext cx="266665" cy="266665"/>
          </a:xfrm>
          <a:prstGeom prst="ellipse">
            <a:avLst/>
          </a:prstGeom>
          <a:solidFill>
            <a:srgbClr val="0D2E22"/>
          </a:solidFill>
          <a:ln/>
        </p:spPr>
      </p:sp>
      <p:sp>
        <p:nvSpPr>
          <p:cNvPr id="82" name="Text 79"/>
          <p:cNvSpPr/>
          <p:nvPr/>
        </p:nvSpPr>
        <p:spPr>
          <a:xfrm>
            <a:off x="14108275" y="7069335"/>
            <a:ext cx="342865" cy="304765"/>
          </a:xfrm>
          <a:prstGeom prst="rect">
            <a:avLst/>
          </a:prstGeom>
          <a:noFill/>
          <a:ln/>
        </p:spPr>
        <p:txBody>
          <a:bodyPr wrap="square" lIns="25400" tIns="25400" rIns="25400" bIns="25400" rtlCol="0" anchor="ctr">
            <a:normAutofit/>
          </a:bodyPr>
          <a:lstStyle/>
          <a:p>
            <a:pPr algn="ctr" indent="0" marL="0">
              <a:buNone/>
            </a:pPr>
            <a:r>
              <a:rPr lang="en-US" sz="1125" b="1" dirty="0">
                <a:solidFill>
                  <a:srgbClr val="FFFFFF"/>
                </a:solidFill>
                <a:latin typeface="IBM Plex Mono" pitchFamily="34" charset="0"/>
                <a:ea typeface="IBM Plex Mono" pitchFamily="34" charset="-122"/>
                <a:cs typeface="IBM Plex Mono" pitchFamily="34" charset="-120"/>
              </a:rPr>
              <a:t>8</a:t>
            </a:r>
            <a:endParaRPr lang="en-US" sz="1125" dirty="0"/>
          </a:p>
        </p:txBody>
      </p:sp>
      <p:sp>
        <p:nvSpPr>
          <p:cNvPr id="83" name="Text 80"/>
          <p:cNvSpPr/>
          <p:nvPr/>
        </p:nvSpPr>
        <p:spPr>
          <a:xfrm>
            <a:off x="14298600" y="7421971"/>
            <a:ext cx="1444368" cy="374276"/>
          </a:xfrm>
          <a:prstGeom prst="rect">
            <a:avLst/>
          </a:prstGeom>
          <a:noFill/>
          <a:ln/>
        </p:spPr>
        <p:txBody>
          <a:bodyPr wrap="square" lIns="25400" tIns="25400" rIns="25400" bIns="25400" rtlCol="0" anchor="t">
            <a:normAutofit/>
          </a:bodyPr>
          <a:lstStyle/>
          <a:p>
            <a:pPr algn="ctr" indent="0" marL="0">
              <a:lnSpc>
                <a:spcPct val="103700"/>
              </a:lnSpc>
              <a:buNone/>
            </a:pPr>
            <a:r>
              <a:rPr lang="en-US" sz="1125" b="1" dirty="0">
                <a:solidFill>
                  <a:srgbClr val="0D2E22"/>
                </a:solidFill>
                <a:latin typeface="Public Sans" pitchFamily="34" charset="0"/>
                <a:ea typeface="Public Sans" pitchFamily="34" charset="-122"/>
                <a:cs typeface="Public Sans" pitchFamily="34" charset="-120"/>
              </a:rPr>
              <a:t>Event + room created</a:t>
            </a:r>
            <a:endParaRPr lang="en-US" sz="1125" dirty="0"/>
          </a:p>
        </p:txBody>
      </p:sp>
      <p:sp>
        <p:nvSpPr>
          <p:cNvPr id="84" name="Shape 81"/>
          <p:cNvSpPr/>
          <p:nvPr/>
        </p:nvSpPr>
        <p:spPr>
          <a:xfrm>
            <a:off x="14482726" y="7805772"/>
            <a:ext cx="1076115" cy="183496"/>
          </a:xfrm>
          <a:prstGeom prst="roundRect">
            <a:avLst>
              <a:gd name="adj" fmla="val 31145"/>
            </a:avLst>
          </a:prstGeom>
          <a:solidFill>
            <a:srgbClr val="0078D4"/>
          </a:solidFill>
          <a:ln/>
        </p:spPr>
      </p:sp>
      <p:sp>
        <p:nvSpPr>
          <p:cNvPr id="85" name="Text 82"/>
          <p:cNvSpPr/>
          <p:nvPr/>
        </p:nvSpPr>
        <p:spPr>
          <a:xfrm>
            <a:off x="14511301" y="7824822"/>
            <a:ext cx="1018965" cy="183496"/>
          </a:xfrm>
          <a:prstGeom prst="rect">
            <a:avLst/>
          </a:prstGeom>
          <a:noFill/>
          <a:ln/>
        </p:spPr>
        <p:txBody>
          <a:bodyPr wrap="square" lIns="25400" tIns="25400" rIns="25400" bIns="25400" rtlCol="0" anchor="t">
            <a:normAutofit/>
          </a:bodyPr>
          <a:lstStyle/>
          <a:p>
            <a:pPr algn="ctr" indent="0" marL="0">
              <a:buNone/>
            </a:pPr>
            <a:r>
              <a:rPr lang="en-US" sz="825" b="1" dirty="0">
                <a:solidFill>
                  <a:srgbClr val="FFFFFF"/>
                </a:solidFill>
                <a:latin typeface="IBM Plex Mono" pitchFamily="34" charset="0"/>
                <a:ea typeface="IBM Plex Mono" pitchFamily="34" charset="-122"/>
                <a:cs typeface="IBM Plex Mono" pitchFamily="34" charset="-120"/>
              </a:rPr>
              <a:t>Graph · Outlook</a:t>
            </a:r>
            <a:endParaRPr lang="en-US" sz="825" dirty="0"/>
          </a:p>
        </p:txBody>
      </p:sp>
      <p:sp>
        <p:nvSpPr>
          <p:cNvPr id="86" name="Shape 83"/>
          <p:cNvSpPr/>
          <p:nvPr/>
        </p:nvSpPr>
        <p:spPr>
          <a:xfrm>
            <a:off x="14249329" y="5629205"/>
            <a:ext cx="1542910" cy="1066660"/>
          </a:xfrm>
          <a:prstGeom prst="roundRect">
            <a:avLst>
              <a:gd name="adj" fmla="val 8930"/>
            </a:avLst>
          </a:prstGeom>
          <a:solidFill>
            <a:srgbClr val="E7F0E9"/>
          </a:solidFill>
          <a:ln w="11206">
            <a:solidFill>
              <a:srgbClr val="BCD8C9"/>
            </a:solidFill>
            <a:prstDash val="solid"/>
          </a:ln>
        </p:spPr>
      </p:sp>
      <p:sp>
        <p:nvSpPr>
          <p:cNvPr id="87" name="Shape 84"/>
          <p:cNvSpPr/>
          <p:nvPr/>
        </p:nvSpPr>
        <p:spPr>
          <a:xfrm>
            <a:off x="14146375" y="5526250"/>
            <a:ext cx="266665" cy="266665"/>
          </a:xfrm>
          <a:prstGeom prst="ellipse">
            <a:avLst/>
          </a:prstGeom>
          <a:solidFill>
            <a:srgbClr val="0D2E22"/>
          </a:solidFill>
          <a:ln/>
        </p:spPr>
      </p:sp>
      <p:sp>
        <p:nvSpPr>
          <p:cNvPr id="88" name="Text 85"/>
          <p:cNvSpPr/>
          <p:nvPr/>
        </p:nvSpPr>
        <p:spPr>
          <a:xfrm>
            <a:off x="14108275" y="5526250"/>
            <a:ext cx="342865" cy="304765"/>
          </a:xfrm>
          <a:prstGeom prst="rect">
            <a:avLst/>
          </a:prstGeom>
          <a:noFill/>
          <a:ln/>
        </p:spPr>
        <p:txBody>
          <a:bodyPr wrap="square" lIns="25400" tIns="25400" rIns="25400" bIns="25400" rtlCol="0" anchor="ctr">
            <a:normAutofit/>
          </a:bodyPr>
          <a:lstStyle/>
          <a:p>
            <a:pPr algn="ctr" indent="0" marL="0">
              <a:buNone/>
            </a:pPr>
            <a:r>
              <a:rPr lang="en-US" sz="1125" b="1" dirty="0">
                <a:solidFill>
                  <a:srgbClr val="FFFFFF"/>
                </a:solidFill>
                <a:latin typeface="IBM Plex Mono" pitchFamily="34" charset="0"/>
                <a:ea typeface="IBM Plex Mono" pitchFamily="34" charset="-122"/>
                <a:cs typeface="IBM Plex Mono" pitchFamily="34" charset="-120"/>
              </a:rPr>
              <a:t>9</a:t>
            </a:r>
            <a:endParaRPr lang="en-US" sz="1125" dirty="0"/>
          </a:p>
        </p:txBody>
      </p:sp>
      <p:sp>
        <p:nvSpPr>
          <p:cNvPr id="89" name="Text 86"/>
          <p:cNvSpPr/>
          <p:nvPr/>
        </p:nvSpPr>
        <p:spPr>
          <a:xfrm>
            <a:off x="14298600" y="5878886"/>
            <a:ext cx="1444368" cy="374276"/>
          </a:xfrm>
          <a:prstGeom prst="rect">
            <a:avLst/>
          </a:prstGeom>
          <a:noFill/>
          <a:ln/>
        </p:spPr>
        <p:txBody>
          <a:bodyPr wrap="square" lIns="25400" tIns="25400" rIns="25400" bIns="25400" rtlCol="0" anchor="t">
            <a:normAutofit/>
          </a:bodyPr>
          <a:lstStyle/>
          <a:p>
            <a:pPr algn="ctr" indent="0" marL="0">
              <a:lnSpc>
                <a:spcPct val="103700"/>
              </a:lnSpc>
              <a:buNone/>
            </a:pPr>
            <a:r>
              <a:rPr lang="en-US" sz="1125" b="1" dirty="0">
                <a:solidFill>
                  <a:srgbClr val="0D2E22"/>
                </a:solidFill>
                <a:latin typeface="Public Sans" pitchFamily="34" charset="0"/>
                <a:ea typeface="Public Sans" pitchFamily="34" charset="-122"/>
                <a:cs typeface="Public Sans" pitchFamily="34" charset="-120"/>
              </a:rPr>
              <a:t>Notify ops · write audit</a:t>
            </a:r>
            <a:endParaRPr lang="en-US" sz="1125" dirty="0"/>
          </a:p>
        </p:txBody>
      </p:sp>
      <p:sp>
        <p:nvSpPr>
          <p:cNvPr id="90" name="Shape 87"/>
          <p:cNvSpPr/>
          <p:nvPr/>
        </p:nvSpPr>
        <p:spPr>
          <a:xfrm>
            <a:off x="14451210" y="6262687"/>
            <a:ext cx="1138973" cy="183496"/>
          </a:xfrm>
          <a:prstGeom prst="roundRect">
            <a:avLst>
              <a:gd name="adj" fmla="val 31145"/>
            </a:avLst>
          </a:prstGeom>
          <a:solidFill>
            <a:srgbClr val="5059C9"/>
          </a:solidFill>
          <a:ln/>
        </p:spPr>
      </p:sp>
      <p:sp>
        <p:nvSpPr>
          <p:cNvPr id="91" name="Text 88"/>
          <p:cNvSpPr/>
          <p:nvPr/>
        </p:nvSpPr>
        <p:spPr>
          <a:xfrm>
            <a:off x="14479785" y="6281737"/>
            <a:ext cx="1081823" cy="183496"/>
          </a:xfrm>
          <a:prstGeom prst="rect">
            <a:avLst/>
          </a:prstGeom>
          <a:noFill/>
          <a:ln/>
        </p:spPr>
        <p:txBody>
          <a:bodyPr wrap="square" lIns="25400" tIns="25400" rIns="25400" bIns="25400" rtlCol="0" anchor="t">
            <a:normAutofit/>
          </a:bodyPr>
          <a:lstStyle/>
          <a:p>
            <a:pPr algn="ctr" indent="0" marL="0">
              <a:buNone/>
            </a:pPr>
            <a:r>
              <a:rPr lang="en-US" sz="825" b="1" dirty="0">
                <a:solidFill>
                  <a:srgbClr val="FFFFFF"/>
                </a:solidFill>
                <a:latin typeface="IBM Plex Mono" pitchFamily="34" charset="0"/>
                <a:ea typeface="IBM Plex Mono" pitchFamily="34" charset="-122"/>
                <a:cs typeface="IBM Plex Mono" pitchFamily="34" charset="-120"/>
              </a:rPr>
              <a:t>Flow · Dataverse</a:t>
            </a:r>
            <a:endParaRPr lang="en-US" sz="825" dirty="0"/>
          </a:p>
        </p:txBody>
      </p:sp>
      <p:sp>
        <p:nvSpPr>
          <p:cNvPr id="92" name="Shape 89"/>
          <p:cNvSpPr/>
          <p:nvPr/>
        </p:nvSpPr>
        <p:spPr>
          <a:xfrm>
            <a:off x="15906749" y="2543035"/>
            <a:ext cx="1542910" cy="1066660"/>
          </a:xfrm>
          <a:prstGeom prst="roundRect">
            <a:avLst>
              <a:gd name="adj" fmla="val 8930"/>
            </a:avLst>
          </a:prstGeom>
          <a:solidFill>
            <a:srgbClr val="EDF1E0"/>
          </a:solidFill>
          <a:ln w="11206">
            <a:solidFill>
              <a:srgbClr val="DBE6CD"/>
            </a:solidFill>
            <a:prstDash val="solid"/>
          </a:ln>
        </p:spPr>
      </p:sp>
      <p:sp>
        <p:nvSpPr>
          <p:cNvPr id="93" name="Shape 90"/>
          <p:cNvSpPr/>
          <p:nvPr/>
        </p:nvSpPr>
        <p:spPr>
          <a:xfrm>
            <a:off x="15803795" y="2440081"/>
            <a:ext cx="266665" cy="266665"/>
          </a:xfrm>
          <a:prstGeom prst="ellipse">
            <a:avLst/>
          </a:prstGeom>
          <a:solidFill>
            <a:srgbClr val="0D2E22"/>
          </a:solidFill>
          <a:ln/>
        </p:spPr>
      </p:sp>
      <p:sp>
        <p:nvSpPr>
          <p:cNvPr id="94" name="Text 91"/>
          <p:cNvSpPr/>
          <p:nvPr/>
        </p:nvSpPr>
        <p:spPr>
          <a:xfrm>
            <a:off x="15765695" y="2440081"/>
            <a:ext cx="342865" cy="304765"/>
          </a:xfrm>
          <a:prstGeom prst="rect">
            <a:avLst/>
          </a:prstGeom>
          <a:noFill/>
          <a:ln/>
        </p:spPr>
        <p:txBody>
          <a:bodyPr wrap="square" lIns="25400" tIns="25400" rIns="25400" bIns="25400" rtlCol="0" anchor="ctr">
            <a:normAutofit/>
          </a:bodyPr>
          <a:lstStyle/>
          <a:p>
            <a:pPr algn="ctr" indent="0" marL="0">
              <a:buNone/>
            </a:pPr>
            <a:r>
              <a:rPr lang="en-US" sz="1125" b="1" dirty="0">
                <a:solidFill>
                  <a:srgbClr val="FFFFFF"/>
                </a:solidFill>
                <a:latin typeface="IBM Plex Mono" pitchFamily="34" charset="0"/>
                <a:ea typeface="IBM Plex Mono" pitchFamily="34" charset="-122"/>
                <a:cs typeface="IBM Plex Mono" pitchFamily="34" charset="-120"/>
              </a:rPr>
              <a:t>10</a:t>
            </a:r>
            <a:endParaRPr lang="en-US" sz="1125" dirty="0"/>
          </a:p>
        </p:txBody>
      </p:sp>
      <p:sp>
        <p:nvSpPr>
          <p:cNvPr id="95" name="Text 92"/>
          <p:cNvSpPr/>
          <p:nvPr/>
        </p:nvSpPr>
        <p:spPr>
          <a:xfrm>
            <a:off x="15928995" y="2992321"/>
            <a:ext cx="1498244" cy="206188"/>
          </a:xfrm>
          <a:prstGeom prst="rect">
            <a:avLst/>
          </a:prstGeom>
          <a:noFill/>
          <a:ln/>
        </p:spPr>
        <p:txBody>
          <a:bodyPr wrap="square" lIns="25400" tIns="25400" rIns="25400" bIns="25400" rtlCol="0" anchor="t">
            <a:normAutofit/>
          </a:bodyPr>
          <a:lstStyle/>
          <a:p>
            <a:pPr algn="ctr" indent="0" marL="0">
              <a:lnSpc>
                <a:spcPct val="103700"/>
              </a:lnSpc>
              <a:buNone/>
            </a:pPr>
            <a:r>
              <a:rPr lang="en-US" sz="1125" b="1" dirty="0">
                <a:solidFill>
                  <a:srgbClr val="0D2E22"/>
                </a:solidFill>
                <a:latin typeface="Public Sans" pitchFamily="34" charset="0"/>
                <a:ea typeface="Public Sans" pitchFamily="34" charset="-122"/>
                <a:cs typeface="Public Sans" pitchFamily="34" charset="-120"/>
              </a:rPr>
              <a:t>Instant confirmation</a:t>
            </a:r>
            <a:endParaRPr lang="en-US" sz="1125" dirty="0"/>
          </a:p>
        </p:txBody>
      </p:sp>
      <p:sp>
        <p:nvSpPr>
          <p:cNvPr id="96" name="Text 93"/>
          <p:cNvSpPr/>
          <p:nvPr/>
        </p:nvSpPr>
        <p:spPr>
          <a:xfrm>
            <a:off x="723830" y="9867829"/>
            <a:ext cx="9712680" cy="228600"/>
          </a:xfrm>
          <a:prstGeom prst="rect">
            <a:avLst/>
          </a:prstGeom>
          <a:noFill/>
          <a:ln/>
        </p:spPr>
        <p:txBody>
          <a:bodyPr wrap="square" lIns="25400" tIns="25400" rIns="25400" bIns="25400" rtlCol="0" anchor="t">
            <a:normAutofit/>
          </a:bodyPr>
          <a:lstStyle/>
          <a:p>
            <a:pPr algn="l" indent="0" marL="0">
              <a:buNone/>
            </a:pPr>
            <a:r>
              <a:rPr lang="en-US" sz="1125" dirty="0">
                <a:solidFill>
                  <a:srgbClr val="8996A6"/>
                </a:solidFill>
                <a:latin typeface="IBM Plex Mono" pitchFamily="34" charset="0"/>
                <a:ea typeface="IBM Plex Mono" pitchFamily="34" charset="-122"/>
                <a:cs typeface="IBM Plex Mono" pitchFamily="34" charset="-120"/>
              </a:rPr>
              <a:t>numbered path — one booking, end to end · chip = component doing the work · dashed — line of visibility</a:t>
            </a:r>
            <a:endParaRPr lang="en-US" sz="112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723830" y="418995"/>
            <a:ext cx="10767749" cy="307041"/>
          </a:xfrm>
          <a:prstGeom prst="rect">
            <a:avLst/>
          </a:prstGeom>
          <a:noFill/>
          <a:ln/>
        </p:spPr>
        <p:txBody>
          <a:bodyPr wrap="square" lIns="25400" tIns="25400" rIns="25400" bIns="25400" rtlCol="0" anchor="t">
            <a:normAutofit/>
          </a:bodyPr>
          <a:lstStyle/>
          <a:p>
            <a:pPr algn="l" indent="0" marL="0">
              <a:buNone/>
            </a:pPr>
            <a:r>
              <a:rPr lang="en-US" sz="1650" b="1" spc="198" kern="0" dirty="0">
                <a:solidFill>
                  <a:srgbClr val="0078D4"/>
                </a:solidFill>
                <a:latin typeface="IBM Plex Mono" pitchFamily="34" charset="0"/>
                <a:ea typeface="IBM Plex Mono" pitchFamily="34" charset="-122"/>
                <a:cs typeface="IBM Plex Mono" pitchFamily="34" charset="-120"/>
              </a:rPr>
              <a:t>03 · FUTURE STATE — THE CHALLENGE</a:t>
            </a:r>
            <a:endParaRPr lang="en-US" sz="1650" dirty="0"/>
          </a:p>
        </p:txBody>
      </p:sp>
      <p:sp>
        <p:nvSpPr>
          <p:cNvPr id="3" name="Text 1"/>
          <p:cNvSpPr/>
          <p:nvPr/>
        </p:nvSpPr>
        <p:spPr>
          <a:xfrm>
            <a:off x="723830" y="783186"/>
            <a:ext cx="10767749" cy="553571"/>
          </a:xfrm>
          <a:prstGeom prst="rect">
            <a:avLst/>
          </a:prstGeom>
          <a:noFill/>
          <a:ln/>
        </p:spPr>
        <p:txBody>
          <a:bodyPr wrap="square" lIns="25400" tIns="25400" rIns="25400" bIns="25400" rtlCol="0" anchor="t">
            <a:normAutofit/>
          </a:bodyPr>
          <a:lstStyle/>
          <a:p>
            <a:pPr algn="l" indent="0" marL="0">
              <a:buNone/>
            </a:pPr>
            <a:r>
              <a:rPr lang="en-US" sz="3450" b="1" spc="-34" kern="0" dirty="0">
                <a:solidFill>
                  <a:srgbClr val="0D2E22"/>
                </a:solidFill>
                <a:latin typeface="Public Sans" pitchFamily="34" charset="0"/>
                <a:ea typeface="Public Sans" pitchFamily="34" charset="-122"/>
                <a:cs typeface="Public Sans" pitchFamily="34" charset="-120"/>
              </a:rPr>
              <a:t>Native-only to-be — what we get with zero build</a:t>
            </a:r>
            <a:endParaRPr lang="en-US" sz="3450" dirty="0"/>
          </a:p>
        </p:txBody>
      </p:sp>
      <p:sp>
        <p:nvSpPr>
          <p:cNvPr id="4" name="Shape 2"/>
          <p:cNvSpPr/>
          <p:nvPr/>
        </p:nvSpPr>
        <p:spPr>
          <a:xfrm>
            <a:off x="10745915" y="888591"/>
            <a:ext cx="2173066" cy="410065"/>
          </a:xfrm>
          <a:prstGeom prst="roundRect">
            <a:avLst>
              <a:gd name="adj" fmla="val 50000"/>
            </a:avLst>
          </a:prstGeom>
          <a:solidFill>
            <a:srgbClr val="E8F1FB"/>
          </a:solidFill>
          <a:ln w="11206">
            <a:solidFill>
              <a:srgbClr val="B6D4F0"/>
            </a:solidFill>
            <a:prstDash val="solid"/>
          </a:ln>
        </p:spPr>
      </p:sp>
      <p:sp>
        <p:nvSpPr>
          <p:cNvPr id="5" name="Text 3"/>
          <p:cNvSpPr/>
          <p:nvPr/>
        </p:nvSpPr>
        <p:spPr>
          <a:xfrm>
            <a:off x="10909521" y="975997"/>
            <a:ext cx="1922054" cy="273353"/>
          </a:xfrm>
          <a:prstGeom prst="rect">
            <a:avLst/>
          </a:prstGeom>
          <a:noFill/>
          <a:ln/>
        </p:spPr>
        <p:txBody>
          <a:bodyPr wrap="square" lIns="25400" tIns="25400" rIns="25400" bIns="25400" rtlCol="0" anchor="t">
            <a:normAutofit/>
          </a:bodyPr>
          <a:lstStyle/>
          <a:p>
            <a:pPr algn="l" indent="0" marL="0">
              <a:buNone/>
            </a:pPr>
            <a:r>
              <a:rPr lang="en-US" sz="1425" b="1" dirty="0">
                <a:solidFill>
                  <a:srgbClr val="0078D4"/>
                </a:solidFill>
                <a:latin typeface="IBM Plex Mono" pitchFamily="34" charset="0"/>
                <a:ea typeface="IBM Plex Mono" pitchFamily="34" charset="-122"/>
                <a:cs typeface="IBM Plex Mono" pitchFamily="34" charset="-120"/>
              </a:rPr>
              <a:t>admin config only</a:t>
            </a:r>
            <a:endParaRPr lang="en-US" sz="1425" dirty="0"/>
          </a:p>
        </p:txBody>
      </p:sp>
      <p:sp>
        <p:nvSpPr>
          <p:cNvPr id="6" name="Shape 4"/>
          <p:cNvSpPr/>
          <p:nvPr/>
        </p:nvSpPr>
        <p:spPr>
          <a:xfrm>
            <a:off x="13014231" y="888591"/>
            <a:ext cx="2281623" cy="410065"/>
          </a:xfrm>
          <a:prstGeom prst="roundRect">
            <a:avLst>
              <a:gd name="adj" fmla="val 50000"/>
            </a:avLst>
          </a:prstGeom>
          <a:solidFill>
            <a:srgbClr val="E8F4EC"/>
          </a:solidFill>
          <a:ln w="11206">
            <a:solidFill>
              <a:srgbClr val="B9E0CB"/>
            </a:solidFill>
            <a:prstDash val="solid"/>
          </a:ln>
        </p:spPr>
      </p:sp>
      <p:sp>
        <p:nvSpPr>
          <p:cNvPr id="7" name="Text 5"/>
          <p:cNvSpPr/>
          <p:nvPr/>
        </p:nvSpPr>
        <p:spPr>
          <a:xfrm>
            <a:off x="13177837" y="975997"/>
            <a:ext cx="2030611" cy="273353"/>
          </a:xfrm>
          <a:prstGeom prst="rect">
            <a:avLst/>
          </a:prstGeom>
          <a:noFill/>
          <a:ln/>
        </p:spPr>
        <p:txBody>
          <a:bodyPr wrap="square" lIns="25400" tIns="25400" rIns="25400" bIns="25400" rtlCol="0" anchor="t">
            <a:normAutofit/>
          </a:bodyPr>
          <a:lstStyle/>
          <a:p>
            <a:pPr algn="l" indent="0" marL="0">
              <a:buNone/>
            </a:pPr>
            <a:r>
              <a:rPr lang="en-US" sz="1425" b="1" dirty="0">
                <a:solidFill>
                  <a:srgbClr val="107C41"/>
                </a:solidFill>
                <a:latin typeface="IBM Plex Mono" pitchFamily="34" charset="0"/>
                <a:ea typeface="IBM Plex Mono" pitchFamily="34" charset="-122"/>
                <a:cs typeface="IBM Plex Mono" pitchFamily="34" charset="-120"/>
              </a:rPr>
              <a:t>no net-new licence</a:t>
            </a:r>
            <a:endParaRPr lang="en-US" sz="1425" dirty="0"/>
          </a:p>
        </p:txBody>
      </p:sp>
      <p:sp>
        <p:nvSpPr>
          <p:cNvPr id="8" name="Shape 6"/>
          <p:cNvSpPr/>
          <p:nvPr/>
        </p:nvSpPr>
        <p:spPr>
          <a:xfrm>
            <a:off x="15391104" y="888591"/>
            <a:ext cx="2173066" cy="410065"/>
          </a:xfrm>
          <a:prstGeom prst="roundRect">
            <a:avLst>
              <a:gd name="adj" fmla="val 50000"/>
            </a:avLst>
          </a:prstGeom>
          <a:solidFill>
            <a:srgbClr val="FDF6EA"/>
          </a:solidFill>
          <a:ln w="11206">
            <a:solidFill>
              <a:srgbClr val="E0C58A"/>
            </a:solidFill>
            <a:prstDash val="solid"/>
          </a:ln>
        </p:spPr>
      </p:sp>
      <p:sp>
        <p:nvSpPr>
          <p:cNvPr id="9" name="Text 7"/>
          <p:cNvSpPr/>
          <p:nvPr/>
        </p:nvSpPr>
        <p:spPr>
          <a:xfrm>
            <a:off x="15554709" y="975997"/>
            <a:ext cx="1922054" cy="273353"/>
          </a:xfrm>
          <a:prstGeom prst="rect">
            <a:avLst/>
          </a:prstGeom>
          <a:noFill/>
          <a:ln/>
        </p:spPr>
        <p:txBody>
          <a:bodyPr wrap="square" lIns="25400" tIns="25400" rIns="25400" bIns="25400" rtlCol="0" anchor="t">
            <a:normAutofit/>
          </a:bodyPr>
          <a:lstStyle/>
          <a:p>
            <a:pPr algn="l" indent="0" marL="0">
              <a:buNone/>
            </a:pPr>
            <a:r>
              <a:rPr lang="en-US" sz="1425" b="1" dirty="0">
                <a:solidFill>
                  <a:srgbClr val="8A5410"/>
                </a:solidFill>
                <a:latin typeface="IBM Plex Mono" pitchFamily="34" charset="0"/>
                <a:ea typeface="IBM Plex Mono" pitchFamily="34" charset="-122"/>
                <a:cs typeface="IBM Plex Mono" pitchFamily="34" charset="-120"/>
              </a:rPr>
              <a:t>~65% of the value</a:t>
            </a:r>
            <a:endParaRPr lang="en-US" sz="1425" dirty="0"/>
          </a:p>
        </p:txBody>
      </p:sp>
      <p:sp>
        <p:nvSpPr>
          <p:cNvPr id="10" name="Text 8"/>
          <p:cNvSpPr/>
          <p:nvPr/>
        </p:nvSpPr>
        <p:spPr>
          <a:xfrm>
            <a:off x="2570769" y="1962080"/>
            <a:ext cx="1697201" cy="206188"/>
          </a:xfrm>
          <a:prstGeom prst="rect">
            <a:avLst/>
          </a:prstGeom>
          <a:noFill/>
          <a:ln/>
        </p:spPr>
        <p:txBody>
          <a:bodyPr wrap="square" lIns="25400" tIns="25400" rIns="25400" bIns="25400" rtlCol="0" anchor="t">
            <a:normAutofit/>
          </a:bodyPr>
          <a:lstStyle/>
          <a:p>
            <a:pPr algn="ctr" indent="0" marL="0">
              <a:buNone/>
            </a:pPr>
            <a:r>
              <a:rPr lang="en-US" sz="1050" b="1" spc="42" kern="0" dirty="0">
                <a:solidFill>
                  <a:srgbClr val="8996A6"/>
                </a:solidFill>
                <a:latin typeface="IBM Plex Mono" pitchFamily="34" charset="0"/>
                <a:ea typeface="IBM Plex Mono" pitchFamily="34" charset="-122"/>
                <a:cs typeface="IBM Plex Mono" pitchFamily="34" charset="-120"/>
              </a:rPr>
              <a:t>REQUEST</a:t>
            </a:r>
            <a:endParaRPr lang="en-US" sz="1050" dirty="0"/>
          </a:p>
        </p:txBody>
      </p:sp>
      <p:sp>
        <p:nvSpPr>
          <p:cNvPr id="11" name="Text 9"/>
          <p:cNvSpPr/>
          <p:nvPr/>
        </p:nvSpPr>
        <p:spPr>
          <a:xfrm>
            <a:off x="4228014" y="1962080"/>
            <a:ext cx="1697201" cy="206188"/>
          </a:xfrm>
          <a:prstGeom prst="rect">
            <a:avLst/>
          </a:prstGeom>
          <a:noFill/>
          <a:ln/>
        </p:spPr>
        <p:txBody>
          <a:bodyPr wrap="square" lIns="25400" tIns="25400" rIns="25400" bIns="25400" rtlCol="0" anchor="t">
            <a:normAutofit/>
          </a:bodyPr>
          <a:lstStyle/>
          <a:p>
            <a:pPr algn="ctr" indent="0" marL="0">
              <a:buNone/>
            </a:pPr>
            <a:r>
              <a:rPr lang="en-US" sz="1050" b="1" spc="42" kern="0" dirty="0">
                <a:solidFill>
                  <a:srgbClr val="0078D4"/>
                </a:solidFill>
                <a:latin typeface="IBM Plex Mono" pitchFamily="34" charset="0"/>
                <a:ea typeface="IBM Plex Mono" pitchFamily="34" charset="-122"/>
                <a:cs typeface="IBM Plex Mono" pitchFamily="34" charset="-120"/>
              </a:rPr>
              <a:t>ASK COPILOT</a:t>
            </a:r>
            <a:endParaRPr lang="en-US" sz="1050" dirty="0"/>
          </a:p>
        </p:txBody>
      </p:sp>
      <p:sp>
        <p:nvSpPr>
          <p:cNvPr id="12" name="Text 10"/>
          <p:cNvSpPr/>
          <p:nvPr/>
        </p:nvSpPr>
        <p:spPr>
          <a:xfrm>
            <a:off x="5885434" y="1962080"/>
            <a:ext cx="1697201" cy="206188"/>
          </a:xfrm>
          <a:prstGeom prst="rect">
            <a:avLst/>
          </a:prstGeom>
          <a:noFill/>
          <a:ln/>
        </p:spPr>
        <p:txBody>
          <a:bodyPr wrap="square" lIns="25400" tIns="25400" rIns="25400" bIns="25400" rtlCol="0" anchor="t">
            <a:normAutofit/>
          </a:bodyPr>
          <a:lstStyle/>
          <a:p>
            <a:pPr algn="ctr" indent="0" marL="0">
              <a:buNone/>
            </a:pPr>
            <a:r>
              <a:rPr lang="en-US" sz="1050" b="1" spc="42" kern="0" dirty="0">
                <a:solidFill>
                  <a:srgbClr val="8996A6"/>
                </a:solidFill>
                <a:latin typeface="IBM Plex Mono" pitchFamily="34" charset="0"/>
                <a:ea typeface="IBM Plex Mono" pitchFamily="34" charset="-122"/>
                <a:cs typeface="IBM Plex Mono" pitchFamily="34" charset="-120"/>
              </a:rPr>
              <a:t>AVAILABILITY</a:t>
            </a:r>
            <a:endParaRPr lang="en-US" sz="1050" dirty="0"/>
          </a:p>
        </p:txBody>
      </p:sp>
      <p:sp>
        <p:nvSpPr>
          <p:cNvPr id="13" name="Text 11"/>
          <p:cNvSpPr/>
          <p:nvPr/>
        </p:nvSpPr>
        <p:spPr>
          <a:xfrm>
            <a:off x="7542854" y="1962080"/>
            <a:ext cx="1697201" cy="206188"/>
          </a:xfrm>
          <a:prstGeom prst="rect">
            <a:avLst/>
          </a:prstGeom>
          <a:noFill/>
          <a:ln/>
        </p:spPr>
        <p:txBody>
          <a:bodyPr wrap="square" lIns="25400" tIns="25400" rIns="25400" bIns="25400" rtlCol="0" anchor="t">
            <a:normAutofit/>
          </a:bodyPr>
          <a:lstStyle/>
          <a:p>
            <a:pPr algn="ctr" indent="0" marL="0">
              <a:buNone/>
            </a:pPr>
            <a:r>
              <a:rPr lang="en-US" sz="1050" b="1" spc="42" kern="0" dirty="0">
                <a:solidFill>
                  <a:srgbClr val="0078D4"/>
                </a:solidFill>
                <a:latin typeface="IBM Plex Mono" pitchFamily="34" charset="0"/>
                <a:ea typeface="IBM Plex Mono" pitchFamily="34" charset="-122"/>
                <a:cs typeface="IBM Plex Mono" pitchFamily="34" charset="-120"/>
              </a:rPr>
              <a:t>DRAFT</a:t>
            </a:r>
            <a:endParaRPr lang="en-US" sz="1050" dirty="0"/>
          </a:p>
        </p:txBody>
      </p:sp>
      <p:sp>
        <p:nvSpPr>
          <p:cNvPr id="14" name="Text 12"/>
          <p:cNvSpPr/>
          <p:nvPr/>
        </p:nvSpPr>
        <p:spPr>
          <a:xfrm>
            <a:off x="9200099" y="1962080"/>
            <a:ext cx="1697201" cy="206188"/>
          </a:xfrm>
          <a:prstGeom prst="rect">
            <a:avLst/>
          </a:prstGeom>
          <a:noFill/>
          <a:ln/>
        </p:spPr>
        <p:txBody>
          <a:bodyPr wrap="square" lIns="25400" tIns="25400" rIns="25400" bIns="25400" rtlCol="0" anchor="t">
            <a:normAutofit/>
          </a:bodyPr>
          <a:lstStyle/>
          <a:p>
            <a:pPr algn="ctr" indent="0" marL="0">
              <a:buNone/>
            </a:pPr>
            <a:r>
              <a:rPr lang="en-US" sz="1050" b="1" spc="42" kern="0" dirty="0">
                <a:solidFill>
                  <a:srgbClr val="8996A6"/>
                </a:solidFill>
                <a:latin typeface="IBM Plex Mono" pitchFamily="34" charset="0"/>
                <a:ea typeface="IBM Plex Mono" pitchFamily="34" charset="-122"/>
                <a:cs typeface="IBM Plex Mono" pitchFamily="34" charset="-120"/>
              </a:rPr>
              <a:t>OFFER</a:t>
            </a:r>
            <a:endParaRPr lang="en-US" sz="1050" dirty="0"/>
          </a:p>
        </p:txBody>
      </p:sp>
      <p:sp>
        <p:nvSpPr>
          <p:cNvPr id="15" name="Text 13"/>
          <p:cNvSpPr/>
          <p:nvPr/>
        </p:nvSpPr>
        <p:spPr>
          <a:xfrm>
            <a:off x="10857518" y="1962080"/>
            <a:ext cx="1697201" cy="206188"/>
          </a:xfrm>
          <a:prstGeom prst="rect">
            <a:avLst/>
          </a:prstGeom>
          <a:noFill/>
          <a:ln/>
        </p:spPr>
        <p:txBody>
          <a:bodyPr wrap="square" lIns="25400" tIns="25400" rIns="25400" bIns="25400" rtlCol="0" anchor="t">
            <a:normAutofit/>
          </a:bodyPr>
          <a:lstStyle/>
          <a:p>
            <a:pPr algn="ctr" indent="0" marL="0">
              <a:buNone/>
            </a:pPr>
            <a:r>
              <a:rPr lang="en-US" sz="1050" b="1" spc="42" kern="0" dirty="0">
                <a:solidFill>
                  <a:srgbClr val="8996A6"/>
                </a:solidFill>
                <a:latin typeface="IBM Plex Mono" pitchFamily="34" charset="0"/>
                <a:ea typeface="IBM Plex Mono" pitchFamily="34" charset="-122"/>
                <a:cs typeface="IBM Plex Mono" pitchFamily="34" charset="-120"/>
              </a:rPr>
              <a:t>SELECT</a:t>
            </a:r>
            <a:endParaRPr lang="en-US" sz="1050" dirty="0"/>
          </a:p>
        </p:txBody>
      </p:sp>
      <p:sp>
        <p:nvSpPr>
          <p:cNvPr id="16" name="Text 14"/>
          <p:cNvSpPr/>
          <p:nvPr/>
        </p:nvSpPr>
        <p:spPr>
          <a:xfrm>
            <a:off x="12514764" y="1962080"/>
            <a:ext cx="1697201" cy="206188"/>
          </a:xfrm>
          <a:prstGeom prst="rect">
            <a:avLst/>
          </a:prstGeom>
          <a:noFill/>
          <a:ln/>
        </p:spPr>
        <p:txBody>
          <a:bodyPr wrap="square" lIns="25400" tIns="25400" rIns="25400" bIns="25400" rtlCol="0" anchor="t">
            <a:normAutofit/>
          </a:bodyPr>
          <a:lstStyle/>
          <a:p>
            <a:pPr algn="ctr" indent="0" marL="0">
              <a:buNone/>
            </a:pPr>
            <a:r>
              <a:rPr lang="en-US" sz="1050" b="1" spc="42" kern="0" dirty="0">
                <a:solidFill>
                  <a:srgbClr val="8996A6"/>
                </a:solidFill>
                <a:latin typeface="IBM Plex Mono" pitchFamily="34" charset="0"/>
                <a:ea typeface="IBM Plex Mono" pitchFamily="34" charset="-122"/>
                <a:cs typeface="IBM Plex Mono" pitchFamily="34" charset="-120"/>
              </a:rPr>
              <a:t>BOOK</a:t>
            </a:r>
            <a:endParaRPr lang="en-US" sz="1050" dirty="0"/>
          </a:p>
        </p:txBody>
      </p:sp>
      <p:sp>
        <p:nvSpPr>
          <p:cNvPr id="17" name="Text 15"/>
          <p:cNvSpPr/>
          <p:nvPr/>
        </p:nvSpPr>
        <p:spPr>
          <a:xfrm>
            <a:off x="14172184" y="1962080"/>
            <a:ext cx="1697201" cy="206188"/>
          </a:xfrm>
          <a:prstGeom prst="rect">
            <a:avLst/>
          </a:prstGeom>
          <a:noFill/>
          <a:ln/>
        </p:spPr>
        <p:txBody>
          <a:bodyPr wrap="square" lIns="25400" tIns="25400" rIns="25400" bIns="25400" rtlCol="0" anchor="t">
            <a:normAutofit/>
          </a:bodyPr>
          <a:lstStyle/>
          <a:p>
            <a:pPr algn="ctr" indent="0" marL="0">
              <a:buNone/>
            </a:pPr>
            <a:r>
              <a:rPr lang="en-US" sz="1050" b="1" spc="42" kern="0" dirty="0">
                <a:solidFill>
                  <a:srgbClr val="8996A6"/>
                </a:solidFill>
                <a:latin typeface="IBM Plex Mono" pitchFamily="34" charset="0"/>
                <a:ea typeface="IBM Plex Mono" pitchFamily="34" charset="-122"/>
                <a:cs typeface="IBM Plex Mono" pitchFamily="34" charset="-120"/>
              </a:rPr>
              <a:t>NOTIFY</a:t>
            </a:r>
            <a:endParaRPr lang="en-US" sz="1050" dirty="0"/>
          </a:p>
        </p:txBody>
      </p:sp>
      <p:sp>
        <p:nvSpPr>
          <p:cNvPr id="18" name="Text 16"/>
          <p:cNvSpPr/>
          <p:nvPr/>
        </p:nvSpPr>
        <p:spPr>
          <a:xfrm>
            <a:off x="15829603" y="1962080"/>
            <a:ext cx="1697201" cy="206188"/>
          </a:xfrm>
          <a:prstGeom prst="rect">
            <a:avLst/>
          </a:prstGeom>
          <a:noFill/>
          <a:ln/>
        </p:spPr>
        <p:txBody>
          <a:bodyPr wrap="square" lIns="25400" tIns="25400" rIns="25400" bIns="25400" rtlCol="0" anchor="t">
            <a:normAutofit/>
          </a:bodyPr>
          <a:lstStyle/>
          <a:p>
            <a:pPr algn="ctr" indent="0" marL="0">
              <a:buNone/>
            </a:pPr>
            <a:r>
              <a:rPr lang="en-US" sz="1050" b="1" spc="42" kern="0" dirty="0">
                <a:solidFill>
                  <a:srgbClr val="8996A6"/>
                </a:solidFill>
                <a:latin typeface="IBM Plex Mono" pitchFamily="34" charset="0"/>
                <a:ea typeface="IBM Plex Mono" pitchFamily="34" charset="-122"/>
                <a:cs typeface="IBM Plex Mono" pitchFamily="34" charset="-120"/>
              </a:rPr>
              <a:t>CONFIRM</a:t>
            </a:r>
            <a:endParaRPr lang="en-US" sz="1050" dirty="0"/>
          </a:p>
        </p:txBody>
      </p:sp>
      <p:sp>
        <p:nvSpPr>
          <p:cNvPr id="19" name="Shape 17"/>
          <p:cNvSpPr/>
          <p:nvPr/>
        </p:nvSpPr>
        <p:spPr>
          <a:xfrm>
            <a:off x="723830" y="2286000"/>
            <a:ext cx="16840164" cy="1371495"/>
          </a:xfrm>
          <a:prstGeom prst="roundRect">
            <a:avLst>
              <a:gd name="adj" fmla="val 8334"/>
            </a:avLst>
          </a:prstGeom>
          <a:solidFill>
            <a:srgbClr val="FFFFFF"/>
          </a:solidFill>
          <a:ln/>
        </p:spPr>
      </p:sp>
      <p:sp>
        <p:nvSpPr>
          <p:cNvPr id="20" name="Shape 18"/>
          <p:cNvSpPr/>
          <p:nvPr/>
        </p:nvSpPr>
        <p:spPr>
          <a:xfrm>
            <a:off x="837990" y="2924035"/>
            <a:ext cx="95250" cy="95250"/>
          </a:xfrm>
          <a:prstGeom prst="ellipse">
            <a:avLst/>
          </a:prstGeom>
          <a:solidFill>
            <a:srgbClr val="0B7A75"/>
          </a:solidFill>
          <a:ln/>
        </p:spPr>
      </p:sp>
      <p:sp>
        <p:nvSpPr>
          <p:cNvPr id="21" name="Text 19"/>
          <p:cNvSpPr/>
          <p:nvPr/>
        </p:nvSpPr>
        <p:spPr>
          <a:xfrm>
            <a:off x="1018860" y="2887616"/>
            <a:ext cx="747327" cy="206188"/>
          </a:xfrm>
          <a:prstGeom prst="rect">
            <a:avLst/>
          </a:prstGeom>
          <a:noFill/>
          <a:ln/>
        </p:spPr>
        <p:txBody>
          <a:bodyPr wrap="square" lIns="25400" tIns="25400" rIns="25400" bIns="25400" rtlCol="0" anchor="t">
            <a:normAutofit/>
          </a:bodyPr>
          <a:lstStyle/>
          <a:p>
            <a:pPr algn="l" indent="0" marL="0">
              <a:lnSpc>
                <a:spcPct val="106250"/>
              </a:lnSpc>
              <a:buNone/>
            </a:pPr>
            <a:r>
              <a:rPr lang="en-US" sz="1125" b="1" dirty="0">
                <a:solidFill>
                  <a:srgbClr val="0B7A75"/>
                </a:solidFill>
                <a:latin typeface="Public Sans" pitchFamily="34" charset="0"/>
                <a:ea typeface="Public Sans" pitchFamily="34" charset="-122"/>
                <a:cs typeface="Public Sans" pitchFamily="34" charset="-120"/>
              </a:rPr>
              <a:t>Customer</a:t>
            </a:r>
            <a:endParaRPr lang="en-US" sz="1125" dirty="0"/>
          </a:p>
        </p:txBody>
      </p:sp>
      <p:sp>
        <p:nvSpPr>
          <p:cNvPr id="22" name="Shape 20"/>
          <p:cNvSpPr/>
          <p:nvPr/>
        </p:nvSpPr>
        <p:spPr>
          <a:xfrm>
            <a:off x="723830" y="3790915"/>
            <a:ext cx="16840164" cy="1371495"/>
          </a:xfrm>
          <a:prstGeom prst="roundRect">
            <a:avLst>
              <a:gd name="adj" fmla="val 8334"/>
            </a:avLst>
          </a:prstGeom>
          <a:solidFill>
            <a:srgbClr val="FAFBFD"/>
          </a:solidFill>
          <a:ln/>
        </p:spPr>
      </p:sp>
      <p:sp>
        <p:nvSpPr>
          <p:cNvPr id="23" name="Shape 21"/>
          <p:cNvSpPr/>
          <p:nvPr/>
        </p:nvSpPr>
        <p:spPr>
          <a:xfrm>
            <a:off x="837990" y="4428950"/>
            <a:ext cx="95250" cy="95250"/>
          </a:xfrm>
          <a:prstGeom prst="ellipse">
            <a:avLst/>
          </a:prstGeom>
          <a:solidFill>
            <a:srgbClr val="1C5C43"/>
          </a:solidFill>
          <a:ln/>
        </p:spPr>
      </p:sp>
      <p:sp>
        <p:nvSpPr>
          <p:cNvPr id="24" name="Text 22"/>
          <p:cNvSpPr/>
          <p:nvPr/>
        </p:nvSpPr>
        <p:spPr>
          <a:xfrm>
            <a:off x="1018860" y="4308486"/>
            <a:ext cx="1533840" cy="374276"/>
          </a:xfrm>
          <a:prstGeom prst="rect">
            <a:avLst/>
          </a:prstGeom>
          <a:noFill/>
          <a:ln/>
        </p:spPr>
        <p:txBody>
          <a:bodyPr wrap="square" lIns="25400" tIns="25400" rIns="25400" bIns="25400" rtlCol="0" anchor="t">
            <a:normAutofit/>
          </a:bodyPr>
          <a:lstStyle/>
          <a:p>
            <a:pPr algn="l" indent="0" marL="0">
              <a:lnSpc>
                <a:spcPct val="106250"/>
              </a:lnSpc>
              <a:buNone/>
            </a:pPr>
            <a:r>
              <a:rPr lang="en-US" sz="1125" b="1" dirty="0">
                <a:solidFill>
                  <a:srgbClr val="1C5C43"/>
                </a:solidFill>
                <a:latin typeface="Public Sans" pitchFamily="34" charset="0"/>
                <a:ea typeface="Public Sans" pitchFamily="34" charset="-122"/>
                <a:cs typeface="Public Sans" pitchFamily="34" charset="-120"/>
              </a:rPr>
              <a:t>Relationship Mgr · Outlook</a:t>
            </a:r>
            <a:endParaRPr lang="en-US" sz="1125" dirty="0"/>
          </a:p>
        </p:txBody>
      </p:sp>
      <p:sp>
        <p:nvSpPr>
          <p:cNvPr id="25" name="Shape 23"/>
          <p:cNvSpPr/>
          <p:nvPr/>
        </p:nvSpPr>
        <p:spPr>
          <a:xfrm>
            <a:off x="723830" y="5295830"/>
            <a:ext cx="16840164" cy="1371495"/>
          </a:xfrm>
          <a:prstGeom prst="roundRect">
            <a:avLst>
              <a:gd name="adj" fmla="val 8334"/>
            </a:avLst>
          </a:prstGeom>
          <a:solidFill>
            <a:srgbClr val="EAF1F9"/>
          </a:solidFill>
          <a:ln/>
        </p:spPr>
      </p:sp>
      <p:sp>
        <p:nvSpPr>
          <p:cNvPr id="26" name="Shape 24"/>
          <p:cNvSpPr/>
          <p:nvPr/>
        </p:nvSpPr>
        <p:spPr>
          <a:xfrm>
            <a:off x="837990" y="5933865"/>
            <a:ext cx="95250" cy="95250"/>
          </a:xfrm>
          <a:prstGeom prst="ellipse">
            <a:avLst/>
          </a:prstGeom>
          <a:solidFill>
            <a:srgbClr val="0078D4"/>
          </a:solidFill>
          <a:ln/>
        </p:spPr>
      </p:sp>
      <p:sp>
        <p:nvSpPr>
          <p:cNvPr id="27" name="Text 25"/>
          <p:cNvSpPr/>
          <p:nvPr/>
        </p:nvSpPr>
        <p:spPr>
          <a:xfrm>
            <a:off x="1018860" y="5835813"/>
            <a:ext cx="1533840" cy="329453"/>
          </a:xfrm>
          <a:prstGeom prst="rect">
            <a:avLst/>
          </a:prstGeom>
          <a:noFill/>
          <a:ln/>
        </p:spPr>
        <p:txBody>
          <a:bodyPr wrap="square" lIns="25400" tIns="25400" rIns="25400" bIns="25400" rtlCol="0" anchor="t">
            <a:normAutofit/>
          </a:bodyPr>
          <a:lstStyle/>
          <a:p>
            <a:pPr algn="l" indent="0" marL="0">
              <a:lnSpc>
                <a:spcPct val="115104"/>
              </a:lnSpc>
              <a:buNone/>
            </a:pPr>
            <a:r>
              <a:rPr lang="en-US" sz="975" b="1" dirty="0">
                <a:solidFill>
                  <a:srgbClr val="0078D4"/>
                </a:solidFill>
                <a:latin typeface="Public Sans" pitchFamily="34" charset="0"/>
                <a:ea typeface="Public Sans" pitchFamily="34" charset="-122"/>
                <a:cs typeface="Public Sans" pitchFamily="34" charset="-120"/>
              </a:rPr>
              <a:t>Product behaviour · Copilot · Bookings</a:t>
            </a:r>
            <a:endParaRPr lang="en-US" sz="975" dirty="0"/>
          </a:p>
        </p:txBody>
      </p:sp>
      <p:sp>
        <p:nvSpPr>
          <p:cNvPr id="28" name="Shape 26"/>
          <p:cNvSpPr/>
          <p:nvPr/>
        </p:nvSpPr>
        <p:spPr>
          <a:xfrm>
            <a:off x="723830" y="6800745"/>
            <a:ext cx="16840164" cy="1371495"/>
          </a:xfrm>
          <a:prstGeom prst="roundRect">
            <a:avLst>
              <a:gd name="adj" fmla="val 8334"/>
            </a:avLst>
          </a:prstGeom>
          <a:solidFill>
            <a:srgbClr val="EEF0F7"/>
          </a:solidFill>
          <a:ln/>
        </p:spPr>
      </p:sp>
      <p:sp>
        <p:nvSpPr>
          <p:cNvPr id="29" name="Shape 27"/>
          <p:cNvSpPr/>
          <p:nvPr/>
        </p:nvSpPr>
        <p:spPr>
          <a:xfrm>
            <a:off x="837990" y="7438780"/>
            <a:ext cx="95250" cy="95250"/>
          </a:xfrm>
          <a:prstGeom prst="ellipse">
            <a:avLst/>
          </a:prstGeom>
          <a:solidFill>
            <a:srgbClr val="5059C9"/>
          </a:solidFill>
          <a:ln/>
        </p:spPr>
      </p:sp>
      <p:sp>
        <p:nvSpPr>
          <p:cNvPr id="30" name="Text 28"/>
          <p:cNvSpPr/>
          <p:nvPr/>
        </p:nvSpPr>
        <p:spPr>
          <a:xfrm>
            <a:off x="1018860" y="7340728"/>
            <a:ext cx="1533840" cy="329453"/>
          </a:xfrm>
          <a:prstGeom prst="rect">
            <a:avLst/>
          </a:prstGeom>
          <a:noFill/>
          <a:ln/>
        </p:spPr>
        <p:txBody>
          <a:bodyPr wrap="square" lIns="25400" tIns="25400" rIns="25400" bIns="25400" rtlCol="0" anchor="t">
            <a:normAutofit/>
          </a:bodyPr>
          <a:lstStyle/>
          <a:p>
            <a:pPr algn="l" indent="0" marL="0">
              <a:lnSpc>
                <a:spcPct val="115104"/>
              </a:lnSpc>
              <a:buNone/>
            </a:pPr>
            <a:r>
              <a:rPr lang="en-US" sz="975" b="1" dirty="0">
                <a:solidFill>
                  <a:srgbClr val="5059C9"/>
                </a:solidFill>
                <a:latin typeface="Public Sans" pitchFamily="34" charset="0"/>
                <a:ea typeface="Public Sans" pitchFamily="34" charset="-122"/>
                <a:cs typeface="Public Sans" pitchFamily="34" charset="-120"/>
              </a:rPr>
              <a:t>Systems · Exchange · Purview</a:t>
            </a:r>
            <a:endParaRPr lang="en-US" sz="975" dirty="0"/>
          </a:p>
        </p:txBody>
      </p:sp>
      <p:pic>
        <p:nvPicPr>
          <p:cNvPr id="31"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8287999" cy="10286999"/>
          </a:xfrm>
          <a:prstGeom prst="rect">
            <a:avLst/>
          </a:prstGeom>
        </p:spPr>
      </p:pic>
      <p:sp>
        <p:nvSpPr>
          <p:cNvPr id="32" name="Shape 29"/>
          <p:cNvSpPr/>
          <p:nvPr/>
        </p:nvSpPr>
        <p:spPr>
          <a:xfrm>
            <a:off x="15886614" y="5010080"/>
            <a:ext cx="1639386" cy="156882"/>
          </a:xfrm>
          <a:prstGeom prst="rect">
            <a:avLst/>
          </a:prstGeom>
          <a:solidFill>
            <a:srgbClr val="F4F7FA"/>
          </a:solidFill>
          <a:ln/>
        </p:spPr>
      </p:sp>
      <p:sp>
        <p:nvSpPr>
          <p:cNvPr id="33" name="Text 30"/>
          <p:cNvSpPr/>
          <p:nvPr/>
        </p:nvSpPr>
        <p:spPr>
          <a:xfrm>
            <a:off x="15981864" y="5010080"/>
            <a:ext cx="1612824" cy="194982"/>
          </a:xfrm>
          <a:prstGeom prst="rect">
            <a:avLst/>
          </a:prstGeom>
          <a:noFill/>
          <a:ln/>
        </p:spPr>
        <p:txBody>
          <a:bodyPr wrap="square" lIns="25400" tIns="25400" rIns="25400" bIns="25400" rtlCol="0" anchor="t">
            <a:normAutofit/>
          </a:bodyPr>
          <a:lstStyle/>
          <a:p>
            <a:pPr algn="l" indent="0" marL="0">
              <a:buNone/>
            </a:pPr>
            <a:r>
              <a:rPr lang="en-US" sz="975" b="1" spc="49" kern="0" dirty="0">
                <a:solidFill>
                  <a:srgbClr val="B4690E"/>
                </a:solidFill>
                <a:latin typeface="IBM Plex Mono" pitchFamily="34" charset="0"/>
                <a:ea typeface="IBM Plex Mono" pitchFamily="34" charset="-122"/>
                <a:cs typeface="IBM Plex Mono" pitchFamily="34" charset="-120"/>
              </a:rPr>
              <a:t>LINE OF VISIBILITY</a:t>
            </a:r>
            <a:endParaRPr lang="en-US" sz="975" dirty="0"/>
          </a:p>
        </p:txBody>
      </p:sp>
      <p:sp>
        <p:nvSpPr>
          <p:cNvPr id="34" name="Shape 31"/>
          <p:cNvSpPr/>
          <p:nvPr/>
        </p:nvSpPr>
        <p:spPr>
          <a:xfrm>
            <a:off x="2647915" y="2466870"/>
            <a:ext cx="1542910" cy="1066660"/>
          </a:xfrm>
          <a:prstGeom prst="roundRect">
            <a:avLst>
              <a:gd name="adj" fmla="val 8930"/>
            </a:avLst>
          </a:prstGeom>
          <a:solidFill>
            <a:srgbClr val="EDF1E0"/>
          </a:solidFill>
          <a:ln w="11206">
            <a:solidFill>
              <a:srgbClr val="DBE6CD"/>
            </a:solidFill>
            <a:prstDash val="solid"/>
          </a:ln>
        </p:spPr>
      </p:sp>
      <p:sp>
        <p:nvSpPr>
          <p:cNvPr id="35" name="Shape 32"/>
          <p:cNvSpPr/>
          <p:nvPr/>
        </p:nvSpPr>
        <p:spPr>
          <a:xfrm>
            <a:off x="2544961" y="2363916"/>
            <a:ext cx="266665" cy="266665"/>
          </a:xfrm>
          <a:prstGeom prst="ellipse">
            <a:avLst/>
          </a:prstGeom>
          <a:solidFill>
            <a:srgbClr val="0D2E22"/>
          </a:solidFill>
          <a:ln/>
        </p:spPr>
      </p:sp>
      <p:sp>
        <p:nvSpPr>
          <p:cNvPr id="36" name="Text 33"/>
          <p:cNvSpPr/>
          <p:nvPr/>
        </p:nvSpPr>
        <p:spPr>
          <a:xfrm>
            <a:off x="2506861" y="2363916"/>
            <a:ext cx="342865" cy="304765"/>
          </a:xfrm>
          <a:prstGeom prst="rect">
            <a:avLst/>
          </a:prstGeom>
          <a:noFill/>
          <a:ln/>
        </p:spPr>
        <p:txBody>
          <a:bodyPr wrap="square" lIns="25400" tIns="25400" rIns="25400" bIns="25400" rtlCol="0" anchor="ctr">
            <a:normAutofit/>
          </a:bodyPr>
          <a:lstStyle/>
          <a:p>
            <a:pPr algn="ctr" indent="0" marL="0">
              <a:buNone/>
            </a:pPr>
            <a:r>
              <a:rPr lang="en-US" sz="1125" b="1" dirty="0">
                <a:solidFill>
                  <a:srgbClr val="FFFFFF"/>
                </a:solidFill>
                <a:latin typeface="IBM Plex Mono" pitchFamily="34" charset="0"/>
                <a:ea typeface="IBM Plex Mono" pitchFamily="34" charset="-122"/>
                <a:cs typeface="IBM Plex Mono" pitchFamily="34" charset="-120"/>
              </a:rPr>
              <a:t>1</a:t>
            </a:r>
            <a:endParaRPr lang="en-US" sz="1125" dirty="0"/>
          </a:p>
        </p:txBody>
      </p:sp>
      <p:sp>
        <p:nvSpPr>
          <p:cNvPr id="37" name="Text 34"/>
          <p:cNvSpPr/>
          <p:nvPr/>
        </p:nvSpPr>
        <p:spPr>
          <a:xfrm>
            <a:off x="2959473" y="2916156"/>
            <a:ext cx="919618" cy="206188"/>
          </a:xfrm>
          <a:prstGeom prst="rect">
            <a:avLst/>
          </a:prstGeom>
          <a:noFill/>
          <a:ln/>
        </p:spPr>
        <p:txBody>
          <a:bodyPr wrap="square" lIns="25400" tIns="25400" rIns="25400" bIns="25400" rtlCol="0" anchor="t">
            <a:normAutofit/>
          </a:bodyPr>
          <a:lstStyle/>
          <a:p>
            <a:pPr algn="ctr" indent="0" marL="0">
              <a:lnSpc>
                <a:spcPct val="103700"/>
              </a:lnSpc>
              <a:buNone/>
            </a:pPr>
            <a:r>
              <a:rPr lang="en-US" sz="1125" b="1" dirty="0">
                <a:solidFill>
                  <a:srgbClr val="0D2E22"/>
                </a:solidFill>
                <a:latin typeface="Public Sans" pitchFamily="34" charset="0"/>
                <a:ea typeface="Public Sans" pitchFamily="34" charset="-122"/>
                <a:cs typeface="Public Sans" pitchFamily="34" charset="-120"/>
              </a:rPr>
              <a:t>Asks the RM</a:t>
            </a:r>
            <a:endParaRPr lang="en-US" sz="1125" dirty="0"/>
          </a:p>
        </p:txBody>
      </p:sp>
      <p:sp>
        <p:nvSpPr>
          <p:cNvPr id="38" name="Shape 35"/>
          <p:cNvSpPr/>
          <p:nvPr/>
        </p:nvSpPr>
        <p:spPr>
          <a:xfrm>
            <a:off x="4305160" y="4009955"/>
            <a:ext cx="1542910" cy="1066660"/>
          </a:xfrm>
          <a:prstGeom prst="roundRect">
            <a:avLst>
              <a:gd name="adj" fmla="val 8930"/>
            </a:avLst>
          </a:prstGeom>
          <a:solidFill>
            <a:srgbClr val="E8F1FB"/>
          </a:solidFill>
          <a:ln w="16809">
            <a:solidFill>
              <a:srgbClr val="B6D4F0"/>
            </a:solidFill>
            <a:prstDash val="solid"/>
          </a:ln>
        </p:spPr>
      </p:sp>
      <p:sp>
        <p:nvSpPr>
          <p:cNvPr id="39" name="Shape 36"/>
          <p:cNvSpPr/>
          <p:nvPr/>
        </p:nvSpPr>
        <p:spPr>
          <a:xfrm>
            <a:off x="4207809" y="3912604"/>
            <a:ext cx="266665" cy="266665"/>
          </a:xfrm>
          <a:prstGeom prst="ellipse">
            <a:avLst/>
          </a:prstGeom>
          <a:solidFill>
            <a:srgbClr val="0078D4"/>
          </a:solidFill>
          <a:ln/>
        </p:spPr>
      </p:sp>
      <p:sp>
        <p:nvSpPr>
          <p:cNvPr id="40" name="Text 37"/>
          <p:cNvSpPr/>
          <p:nvPr/>
        </p:nvSpPr>
        <p:spPr>
          <a:xfrm>
            <a:off x="4169709" y="3912604"/>
            <a:ext cx="342865" cy="304765"/>
          </a:xfrm>
          <a:prstGeom prst="rect">
            <a:avLst/>
          </a:prstGeom>
          <a:noFill/>
          <a:ln/>
        </p:spPr>
        <p:txBody>
          <a:bodyPr wrap="square" lIns="25400" tIns="25400" rIns="25400" bIns="25400" rtlCol="0" anchor="ctr">
            <a:normAutofit/>
          </a:bodyPr>
          <a:lstStyle/>
          <a:p>
            <a:pPr algn="ctr" indent="0" marL="0">
              <a:buNone/>
            </a:pPr>
            <a:r>
              <a:rPr lang="en-US" sz="1125" b="1" dirty="0">
                <a:solidFill>
                  <a:srgbClr val="FFFFFF"/>
                </a:solidFill>
                <a:latin typeface="IBM Plex Mono" pitchFamily="34" charset="0"/>
                <a:ea typeface="IBM Plex Mono" pitchFamily="34" charset="-122"/>
                <a:cs typeface="IBM Plex Mono" pitchFamily="34" charset="-120"/>
              </a:rPr>
              <a:t>2</a:t>
            </a:r>
            <a:endParaRPr lang="en-US" sz="1125" dirty="0"/>
          </a:p>
        </p:txBody>
      </p:sp>
      <p:sp>
        <p:nvSpPr>
          <p:cNvPr id="41" name="Text 38"/>
          <p:cNvSpPr/>
          <p:nvPr/>
        </p:nvSpPr>
        <p:spPr>
          <a:xfrm>
            <a:off x="4360034" y="4175592"/>
            <a:ext cx="1433162" cy="542365"/>
          </a:xfrm>
          <a:prstGeom prst="rect">
            <a:avLst/>
          </a:prstGeom>
          <a:noFill/>
          <a:ln/>
        </p:spPr>
        <p:txBody>
          <a:bodyPr wrap="square" lIns="25400" tIns="25400" rIns="25400" bIns="25400" rtlCol="0" anchor="t">
            <a:normAutofit/>
          </a:bodyPr>
          <a:lstStyle/>
          <a:p>
            <a:pPr algn="ctr" indent="0" marL="0">
              <a:lnSpc>
                <a:spcPct val="103700"/>
              </a:lnSpc>
              <a:buNone/>
            </a:pPr>
            <a:r>
              <a:rPr lang="en-US" sz="1125" b="1" dirty="0">
                <a:solidFill>
                  <a:srgbClr val="0D2E22"/>
                </a:solidFill>
                <a:latin typeface="Public Sans" pitchFamily="34" charset="0"/>
                <a:ea typeface="Public Sans" pitchFamily="34" charset="-122"/>
                <a:cs typeface="Public Sans" pitchFamily="34" charset="-120"/>
              </a:rPr>
              <a:t>“Find me an hour with the client next week”</a:t>
            </a:r>
            <a:endParaRPr lang="en-US" sz="1125" dirty="0"/>
          </a:p>
        </p:txBody>
      </p:sp>
      <p:sp>
        <p:nvSpPr>
          <p:cNvPr id="42" name="Shape 39"/>
          <p:cNvSpPr/>
          <p:nvPr/>
        </p:nvSpPr>
        <p:spPr>
          <a:xfrm>
            <a:off x="4444183" y="4727481"/>
            <a:ext cx="1264689" cy="183496"/>
          </a:xfrm>
          <a:prstGeom prst="roundRect">
            <a:avLst>
              <a:gd name="adj" fmla="val 31145"/>
            </a:avLst>
          </a:prstGeom>
          <a:solidFill>
            <a:srgbClr val="0078D4"/>
          </a:solidFill>
          <a:ln/>
        </p:spPr>
      </p:sp>
      <p:sp>
        <p:nvSpPr>
          <p:cNvPr id="43" name="Text 40"/>
          <p:cNvSpPr/>
          <p:nvPr/>
        </p:nvSpPr>
        <p:spPr>
          <a:xfrm>
            <a:off x="4472758" y="4746531"/>
            <a:ext cx="1207539" cy="183496"/>
          </a:xfrm>
          <a:prstGeom prst="rect">
            <a:avLst/>
          </a:prstGeom>
          <a:noFill/>
          <a:ln/>
        </p:spPr>
        <p:txBody>
          <a:bodyPr wrap="square" lIns="25400" tIns="25400" rIns="25400" bIns="25400" rtlCol="0" anchor="t">
            <a:normAutofit/>
          </a:bodyPr>
          <a:lstStyle/>
          <a:p>
            <a:pPr algn="ctr" indent="0" marL="0">
              <a:buNone/>
            </a:pPr>
            <a:r>
              <a:rPr lang="en-US" sz="825" b="1" dirty="0">
                <a:solidFill>
                  <a:srgbClr val="FFFFFF"/>
                </a:solidFill>
                <a:latin typeface="IBM Plex Mono" pitchFamily="34" charset="0"/>
                <a:ea typeface="IBM Plex Mono" pitchFamily="34" charset="-122"/>
                <a:cs typeface="IBM Plex Mono" pitchFamily="34" charset="-120"/>
              </a:rPr>
              <a:t>Copilot in Outlook</a:t>
            </a:r>
            <a:endParaRPr lang="en-US" sz="825" dirty="0"/>
          </a:p>
        </p:txBody>
      </p:sp>
      <p:sp>
        <p:nvSpPr>
          <p:cNvPr id="44" name="Shape 41"/>
          <p:cNvSpPr/>
          <p:nvPr/>
        </p:nvSpPr>
        <p:spPr>
          <a:xfrm>
            <a:off x="5962580" y="7019784"/>
            <a:ext cx="1542910" cy="1066660"/>
          </a:xfrm>
          <a:prstGeom prst="roundRect">
            <a:avLst>
              <a:gd name="adj" fmla="val 8930"/>
            </a:avLst>
          </a:prstGeom>
          <a:solidFill>
            <a:srgbClr val="EEF0F7"/>
          </a:solidFill>
          <a:ln w="11206">
            <a:solidFill>
              <a:srgbClr val="C4C8EE"/>
            </a:solidFill>
            <a:prstDash val="solid"/>
          </a:ln>
        </p:spPr>
      </p:sp>
      <p:sp>
        <p:nvSpPr>
          <p:cNvPr id="45" name="Shape 42"/>
          <p:cNvSpPr/>
          <p:nvPr/>
        </p:nvSpPr>
        <p:spPr>
          <a:xfrm>
            <a:off x="5859625" y="6916831"/>
            <a:ext cx="266665" cy="266665"/>
          </a:xfrm>
          <a:prstGeom prst="ellipse">
            <a:avLst/>
          </a:prstGeom>
          <a:solidFill>
            <a:srgbClr val="0D2E22"/>
          </a:solidFill>
          <a:ln/>
        </p:spPr>
      </p:sp>
      <p:sp>
        <p:nvSpPr>
          <p:cNvPr id="46" name="Text 43"/>
          <p:cNvSpPr/>
          <p:nvPr/>
        </p:nvSpPr>
        <p:spPr>
          <a:xfrm>
            <a:off x="5821525" y="6916831"/>
            <a:ext cx="342865" cy="304765"/>
          </a:xfrm>
          <a:prstGeom prst="rect">
            <a:avLst/>
          </a:prstGeom>
          <a:noFill/>
          <a:ln/>
        </p:spPr>
        <p:txBody>
          <a:bodyPr wrap="square" lIns="25400" tIns="25400" rIns="25400" bIns="25400" rtlCol="0" anchor="ctr">
            <a:normAutofit/>
          </a:bodyPr>
          <a:lstStyle/>
          <a:p>
            <a:pPr algn="ctr" indent="0" marL="0">
              <a:buNone/>
            </a:pPr>
            <a:r>
              <a:rPr lang="en-US" sz="1125" b="1" dirty="0">
                <a:solidFill>
                  <a:srgbClr val="FFFFFF"/>
                </a:solidFill>
                <a:latin typeface="IBM Plex Mono" pitchFamily="34" charset="0"/>
                <a:ea typeface="IBM Plex Mono" pitchFamily="34" charset="-122"/>
                <a:cs typeface="IBM Plex Mono" pitchFamily="34" charset="-120"/>
              </a:rPr>
              <a:t>3</a:t>
            </a:r>
            <a:endParaRPr lang="en-US" sz="1125" dirty="0"/>
          </a:p>
        </p:txBody>
      </p:sp>
      <p:sp>
        <p:nvSpPr>
          <p:cNvPr id="47" name="Text 44"/>
          <p:cNvSpPr/>
          <p:nvPr/>
        </p:nvSpPr>
        <p:spPr>
          <a:xfrm>
            <a:off x="6011850" y="7269466"/>
            <a:ext cx="1444368" cy="374276"/>
          </a:xfrm>
          <a:prstGeom prst="rect">
            <a:avLst/>
          </a:prstGeom>
          <a:noFill/>
          <a:ln/>
        </p:spPr>
        <p:txBody>
          <a:bodyPr wrap="square" lIns="25400" tIns="25400" rIns="25400" bIns="25400" rtlCol="0" anchor="t">
            <a:normAutofit/>
          </a:bodyPr>
          <a:lstStyle/>
          <a:p>
            <a:pPr algn="ctr" indent="0" marL="0">
              <a:lnSpc>
                <a:spcPct val="103700"/>
              </a:lnSpc>
              <a:buNone/>
            </a:pPr>
            <a:r>
              <a:rPr lang="en-US" sz="1125" b="1" dirty="0">
                <a:solidFill>
                  <a:srgbClr val="0D2E22"/>
                </a:solidFill>
                <a:latin typeface="Public Sans" pitchFamily="34" charset="0"/>
                <a:ea typeface="Public Sans" pitchFamily="34" charset="-122"/>
                <a:cs typeface="Public Sans" pitchFamily="34" charset="-120"/>
              </a:rPr>
              <a:t>Internal free/busy + Room Finder</a:t>
            </a:r>
            <a:endParaRPr lang="en-US" sz="1125" dirty="0"/>
          </a:p>
        </p:txBody>
      </p:sp>
      <p:sp>
        <p:nvSpPr>
          <p:cNvPr id="48" name="Shape 45"/>
          <p:cNvSpPr/>
          <p:nvPr/>
        </p:nvSpPr>
        <p:spPr>
          <a:xfrm>
            <a:off x="6415893" y="7653267"/>
            <a:ext cx="636109" cy="183496"/>
          </a:xfrm>
          <a:prstGeom prst="roundRect">
            <a:avLst>
              <a:gd name="adj" fmla="val 31145"/>
            </a:avLst>
          </a:prstGeom>
          <a:solidFill>
            <a:srgbClr val="5059C9"/>
          </a:solidFill>
          <a:ln/>
        </p:spPr>
      </p:sp>
      <p:sp>
        <p:nvSpPr>
          <p:cNvPr id="49" name="Text 46"/>
          <p:cNvSpPr/>
          <p:nvPr/>
        </p:nvSpPr>
        <p:spPr>
          <a:xfrm>
            <a:off x="6444468" y="7672317"/>
            <a:ext cx="578959" cy="183496"/>
          </a:xfrm>
          <a:prstGeom prst="rect">
            <a:avLst/>
          </a:prstGeom>
          <a:noFill/>
          <a:ln/>
        </p:spPr>
        <p:txBody>
          <a:bodyPr wrap="square" lIns="25400" tIns="25400" rIns="25400" bIns="25400" rtlCol="0" anchor="t">
            <a:normAutofit/>
          </a:bodyPr>
          <a:lstStyle/>
          <a:p>
            <a:pPr algn="ctr" indent="0" marL="0">
              <a:buNone/>
            </a:pPr>
            <a:r>
              <a:rPr lang="en-US" sz="825" b="1" dirty="0">
                <a:solidFill>
                  <a:srgbClr val="FFFFFF"/>
                </a:solidFill>
                <a:latin typeface="IBM Plex Mono" pitchFamily="34" charset="0"/>
                <a:ea typeface="IBM Plex Mono" pitchFamily="34" charset="-122"/>
                <a:cs typeface="IBM Plex Mono" pitchFamily="34" charset="-120"/>
              </a:rPr>
              <a:t>Exchange</a:t>
            </a:r>
            <a:endParaRPr lang="en-US" sz="825" dirty="0"/>
          </a:p>
        </p:txBody>
      </p:sp>
      <p:sp>
        <p:nvSpPr>
          <p:cNvPr id="50" name="Shape 47"/>
          <p:cNvSpPr/>
          <p:nvPr/>
        </p:nvSpPr>
        <p:spPr>
          <a:xfrm>
            <a:off x="7619999" y="5476874"/>
            <a:ext cx="1542910" cy="1066660"/>
          </a:xfrm>
          <a:prstGeom prst="roundRect">
            <a:avLst>
              <a:gd name="adj" fmla="val 8930"/>
            </a:avLst>
          </a:prstGeom>
          <a:solidFill>
            <a:srgbClr val="E8F1FB"/>
          </a:solidFill>
          <a:ln w="16809">
            <a:solidFill>
              <a:srgbClr val="B6D4F0"/>
            </a:solidFill>
            <a:prstDash val="solid"/>
          </a:ln>
        </p:spPr>
      </p:sp>
      <p:sp>
        <p:nvSpPr>
          <p:cNvPr id="51" name="Shape 48"/>
          <p:cNvSpPr/>
          <p:nvPr/>
        </p:nvSpPr>
        <p:spPr>
          <a:xfrm>
            <a:off x="7541558" y="5379523"/>
            <a:ext cx="384677" cy="183496"/>
          </a:xfrm>
          <a:prstGeom prst="roundRect">
            <a:avLst>
              <a:gd name="adj" fmla="val 31145"/>
            </a:avLst>
          </a:prstGeom>
          <a:solidFill>
            <a:srgbClr val="0078D4"/>
          </a:solidFill>
          <a:ln/>
        </p:spPr>
      </p:sp>
      <p:sp>
        <p:nvSpPr>
          <p:cNvPr id="52" name="Text 49"/>
          <p:cNvSpPr/>
          <p:nvPr/>
        </p:nvSpPr>
        <p:spPr>
          <a:xfrm>
            <a:off x="7570133" y="5398573"/>
            <a:ext cx="327527" cy="183496"/>
          </a:xfrm>
          <a:prstGeom prst="rect">
            <a:avLst/>
          </a:prstGeom>
          <a:noFill/>
          <a:ln/>
        </p:spPr>
        <p:txBody>
          <a:bodyPr wrap="square" lIns="25400" tIns="25400" rIns="25400" bIns="25400" rtlCol="0" anchor="t">
            <a:normAutofit/>
          </a:bodyPr>
          <a:lstStyle/>
          <a:p>
            <a:pPr algn="ctr" indent="0" marL="0">
              <a:buNone/>
            </a:pPr>
            <a:r>
              <a:rPr lang="en-US" sz="825" b="1" dirty="0">
                <a:solidFill>
                  <a:srgbClr val="FFFFFF"/>
                </a:solidFill>
                <a:latin typeface="IBM Plex Mono" pitchFamily="34" charset="0"/>
                <a:ea typeface="IBM Plex Mono" pitchFamily="34" charset="-122"/>
                <a:cs typeface="IBM Plex Mono" pitchFamily="34" charset="-120"/>
              </a:rPr>
              <a:t>AUTO</a:t>
            </a:r>
            <a:endParaRPr lang="en-US" sz="825" dirty="0"/>
          </a:p>
        </p:txBody>
      </p:sp>
      <p:sp>
        <p:nvSpPr>
          <p:cNvPr id="53" name="Text 50"/>
          <p:cNvSpPr/>
          <p:nvPr/>
        </p:nvSpPr>
        <p:spPr>
          <a:xfrm>
            <a:off x="7674873" y="5642511"/>
            <a:ext cx="1433162" cy="542365"/>
          </a:xfrm>
          <a:prstGeom prst="rect">
            <a:avLst/>
          </a:prstGeom>
          <a:noFill/>
          <a:ln/>
        </p:spPr>
        <p:txBody>
          <a:bodyPr wrap="square" lIns="25400" tIns="25400" rIns="25400" bIns="25400" rtlCol="0" anchor="t">
            <a:normAutofit/>
          </a:bodyPr>
          <a:lstStyle/>
          <a:p>
            <a:pPr algn="ctr" indent="0" marL="0">
              <a:lnSpc>
                <a:spcPct val="103700"/>
              </a:lnSpc>
              <a:buNone/>
            </a:pPr>
            <a:r>
              <a:rPr lang="en-US" sz="1125" b="1" dirty="0">
                <a:solidFill>
                  <a:srgbClr val="0D2E22"/>
                </a:solidFill>
                <a:latin typeface="Public Sans" pitchFamily="34" charset="0"/>
                <a:ea typeface="Public Sans" pitchFamily="34" charset="-122"/>
                <a:cs typeface="Public Sans" pitchFamily="34" charset="-120"/>
              </a:rPr>
              <a:t>Ranks times · drafts invite &amp; agenda from the thread</a:t>
            </a:r>
            <a:endParaRPr lang="en-US" sz="1125" dirty="0"/>
          </a:p>
        </p:txBody>
      </p:sp>
      <p:sp>
        <p:nvSpPr>
          <p:cNvPr id="54" name="Shape 51"/>
          <p:cNvSpPr/>
          <p:nvPr/>
        </p:nvSpPr>
        <p:spPr>
          <a:xfrm>
            <a:off x="8104829" y="6194402"/>
            <a:ext cx="573251" cy="183496"/>
          </a:xfrm>
          <a:prstGeom prst="roundRect">
            <a:avLst>
              <a:gd name="adj" fmla="val 31145"/>
            </a:avLst>
          </a:prstGeom>
          <a:solidFill>
            <a:srgbClr val="0078D4"/>
          </a:solidFill>
          <a:ln/>
        </p:spPr>
      </p:sp>
      <p:sp>
        <p:nvSpPr>
          <p:cNvPr id="55" name="Text 52"/>
          <p:cNvSpPr/>
          <p:nvPr/>
        </p:nvSpPr>
        <p:spPr>
          <a:xfrm>
            <a:off x="8133404" y="6213452"/>
            <a:ext cx="516101" cy="183496"/>
          </a:xfrm>
          <a:prstGeom prst="rect">
            <a:avLst/>
          </a:prstGeom>
          <a:noFill/>
          <a:ln/>
        </p:spPr>
        <p:txBody>
          <a:bodyPr wrap="square" lIns="25400" tIns="25400" rIns="25400" bIns="25400" rtlCol="0" anchor="t">
            <a:normAutofit/>
          </a:bodyPr>
          <a:lstStyle/>
          <a:p>
            <a:pPr algn="ctr" indent="0" marL="0">
              <a:buNone/>
            </a:pPr>
            <a:r>
              <a:rPr lang="en-US" sz="825" b="1" dirty="0">
                <a:solidFill>
                  <a:srgbClr val="FFFFFF"/>
                </a:solidFill>
                <a:latin typeface="IBM Plex Mono" pitchFamily="34" charset="0"/>
                <a:ea typeface="IBM Plex Mono" pitchFamily="34" charset="-122"/>
                <a:cs typeface="IBM Plex Mono" pitchFamily="34" charset="-120"/>
              </a:rPr>
              <a:t>Copilot</a:t>
            </a:r>
            <a:endParaRPr lang="en-US" sz="825" dirty="0"/>
          </a:p>
        </p:txBody>
      </p:sp>
      <p:sp>
        <p:nvSpPr>
          <p:cNvPr id="56" name="Shape 53"/>
          <p:cNvSpPr/>
          <p:nvPr/>
        </p:nvSpPr>
        <p:spPr>
          <a:xfrm>
            <a:off x="9277244" y="4009955"/>
            <a:ext cx="1542910" cy="1066660"/>
          </a:xfrm>
          <a:prstGeom prst="roundRect">
            <a:avLst>
              <a:gd name="adj" fmla="val 8930"/>
            </a:avLst>
          </a:prstGeom>
          <a:solidFill>
            <a:srgbClr val="EDF1E0"/>
          </a:solidFill>
          <a:ln w="11206">
            <a:solidFill>
              <a:srgbClr val="DBE6CD"/>
            </a:solidFill>
            <a:prstDash val="solid"/>
          </a:ln>
        </p:spPr>
      </p:sp>
      <p:sp>
        <p:nvSpPr>
          <p:cNvPr id="57" name="Shape 54"/>
          <p:cNvSpPr/>
          <p:nvPr/>
        </p:nvSpPr>
        <p:spPr>
          <a:xfrm>
            <a:off x="9174291" y="3907001"/>
            <a:ext cx="266665" cy="266665"/>
          </a:xfrm>
          <a:prstGeom prst="ellipse">
            <a:avLst/>
          </a:prstGeom>
          <a:solidFill>
            <a:srgbClr val="0D2E22"/>
          </a:solidFill>
          <a:ln/>
        </p:spPr>
      </p:sp>
      <p:sp>
        <p:nvSpPr>
          <p:cNvPr id="58" name="Text 55"/>
          <p:cNvSpPr/>
          <p:nvPr/>
        </p:nvSpPr>
        <p:spPr>
          <a:xfrm>
            <a:off x="9136191" y="3907001"/>
            <a:ext cx="342865" cy="304765"/>
          </a:xfrm>
          <a:prstGeom prst="rect">
            <a:avLst/>
          </a:prstGeom>
          <a:noFill/>
          <a:ln/>
        </p:spPr>
        <p:txBody>
          <a:bodyPr wrap="square" lIns="25400" tIns="25400" rIns="25400" bIns="25400" rtlCol="0" anchor="ctr">
            <a:normAutofit/>
          </a:bodyPr>
          <a:lstStyle/>
          <a:p>
            <a:pPr algn="ctr" indent="0" marL="0">
              <a:buNone/>
            </a:pPr>
            <a:r>
              <a:rPr lang="en-US" sz="1125" b="1" dirty="0">
                <a:solidFill>
                  <a:srgbClr val="FFFFFF"/>
                </a:solidFill>
                <a:latin typeface="IBM Plex Mono" pitchFamily="34" charset="0"/>
                <a:ea typeface="IBM Plex Mono" pitchFamily="34" charset="-122"/>
                <a:cs typeface="IBM Plex Mono" pitchFamily="34" charset="-120"/>
              </a:rPr>
              <a:t>4</a:t>
            </a:r>
            <a:endParaRPr lang="en-US" sz="1125" dirty="0"/>
          </a:p>
        </p:txBody>
      </p:sp>
      <p:sp>
        <p:nvSpPr>
          <p:cNvPr id="59" name="Text 56"/>
          <p:cNvSpPr/>
          <p:nvPr/>
        </p:nvSpPr>
        <p:spPr>
          <a:xfrm>
            <a:off x="9326515" y="4259636"/>
            <a:ext cx="1444368" cy="374276"/>
          </a:xfrm>
          <a:prstGeom prst="rect">
            <a:avLst/>
          </a:prstGeom>
          <a:noFill/>
          <a:ln/>
        </p:spPr>
        <p:txBody>
          <a:bodyPr wrap="square" lIns="25400" tIns="25400" rIns="25400" bIns="25400" rtlCol="0" anchor="t">
            <a:normAutofit/>
          </a:bodyPr>
          <a:lstStyle/>
          <a:p>
            <a:pPr algn="ctr" indent="0" marL="0">
              <a:lnSpc>
                <a:spcPct val="103700"/>
              </a:lnSpc>
              <a:buNone/>
            </a:pPr>
            <a:r>
              <a:rPr lang="en-US" sz="1125" b="1" dirty="0">
                <a:solidFill>
                  <a:srgbClr val="0D2E22"/>
                </a:solidFill>
                <a:latin typeface="Public Sans" pitchFamily="34" charset="0"/>
                <a:ea typeface="Public Sans" pitchFamily="34" charset="-122"/>
                <a:cs typeface="Public Sans" pitchFamily="34" charset="-120"/>
              </a:rPr>
              <a:t>Reviews · sends times to the client</a:t>
            </a:r>
            <a:endParaRPr lang="en-US" sz="1125" dirty="0"/>
          </a:p>
        </p:txBody>
      </p:sp>
      <p:sp>
        <p:nvSpPr>
          <p:cNvPr id="60" name="Shape 57"/>
          <p:cNvSpPr/>
          <p:nvPr/>
        </p:nvSpPr>
        <p:spPr>
          <a:xfrm>
            <a:off x="9510642" y="4643437"/>
            <a:ext cx="1076115" cy="183496"/>
          </a:xfrm>
          <a:prstGeom prst="roundRect">
            <a:avLst>
              <a:gd name="adj" fmla="val 31145"/>
            </a:avLst>
          </a:prstGeom>
          <a:solidFill>
            <a:srgbClr val="0078D4"/>
          </a:solidFill>
          <a:ln/>
        </p:spPr>
      </p:sp>
      <p:sp>
        <p:nvSpPr>
          <p:cNvPr id="61" name="Text 58"/>
          <p:cNvSpPr/>
          <p:nvPr/>
        </p:nvSpPr>
        <p:spPr>
          <a:xfrm>
            <a:off x="9539217" y="4662487"/>
            <a:ext cx="1018965" cy="183496"/>
          </a:xfrm>
          <a:prstGeom prst="rect">
            <a:avLst/>
          </a:prstGeom>
          <a:noFill/>
          <a:ln/>
        </p:spPr>
        <p:txBody>
          <a:bodyPr wrap="square" lIns="25400" tIns="25400" rIns="25400" bIns="25400" rtlCol="0" anchor="t">
            <a:normAutofit/>
          </a:bodyPr>
          <a:lstStyle/>
          <a:p>
            <a:pPr algn="ctr" indent="0" marL="0">
              <a:buNone/>
            </a:pPr>
            <a:r>
              <a:rPr lang="en-US" sz="825" b="1" dirty="0">
                <a:solidFill>
                  <a:srgbClr val="FFFFFF"/>
                </a:solidFill>
                <a:latin typeface="IBM Plex Mono" pitchFamily="34" charset="0"/>
                <a:ea typeface="IBM Plex Mono" pitchFamily="34" charset="-122"/>
                <a:cs typeface="IBM Plex Mono" pitchFamily="34" charset="-120"/>
              </a:rPr>
              <a:t>Scheduling poll</a:t>
            </a:r>
            <a:endParaRPr lang="en-US" sz="825" dirty="0"/>
          </a:p>
        </p:txBody>
      </p:sp>
      <p:sp>
        <p:nvSpPr>
          <p:cNvPr id="62" name="Shape 59"/>
          <p:cNvSpPr/>
          <p:nvPr/>
        </p:nvSpPr>
        <p:spPr>
          <a:xfrm>
            <a:off x="10934664" y="2466870"/>
            <a:ext cx="1542910" cy="1066660"/>
          </a:xfrm>
          <a:prstGeom prst="roundRect">
            <a:avLst>
              <a:gd name="adj" fmla="val 8930"/>
            </a:avLst>
          </a:prstGeom>
          <a:solidFill>
            <a:srgbClr val="EDF1E0"/>
          </a:solidFill>
          <a:ln w="11206">
            <a:solidFill>
              <a:srgbClr val="DBE6CD"/>
            </a:solidFill>
            <a:prstDash val="solid"/>
          </a:ln>
        </p:spPr>
      </p:sp>
      <p:sp>
        <p:nvSpPr>
          <p:cNvPr id="63" name="Shape 60"/>
          <p:cNvSpPr/>
          <p:nvPr/>
        </p:nvSpPr>
        <p:spPr>
          <a:xfrm>
            <a:off x="10831710" y="2363916"/>
            <a:ext cx="266665" cy="266665"/>
          </a:xfrm>
          <a:prstGeom prst="ellipse">
            <a:avLst/>
          </a:prstGeom>
          <a:solidFill>
            <a:srgbClr val="0D2E22"/>
          </a:solidFill>
          <a:ln/>
        </p:spPr>
      </p:sp>
      <p:sp>
        <p:nvSpPr>
          <p:cNvPr id="64" name="Text 61"/>
          <p:cNvSpPr/>
          <p:nvPr/>
        </p:nvSpPr>
        <p:spPr>
          <a:xfrm>
            <a:off x="10793610" y="2363916"/>
            <a:ext cx="342865" cy="304765"/>
          </a:xfrm>
          <a:prstGeom prst="rect">
            <a:avLst/>
          </a:prstGeom>
          <a:noFill/>
          <a:ln/>
        </p:spPr>
        <p:txBody>
          <a:bodyPr wrap="square" lIns="25400" tIns="25400" rIns="25400" bIns="25400" rtlCol="0" anchor="ctr">
            <a:normAutofit/>
          </a:bodyPr>
          <a:lstStyle/>
          <a:p>
            <a:pPr algn="ctr" indent="0" marL="0">
              <a:buNone/>
            </a:pPr>
            <a:r>
              <a:rPr lang="en-US" sz="1125" b="1" dirty="0">
                <a:solidFill>
                  <a:srgbClr val="FFFFFF"/>
                </a:solidFill>
                <a:latin typeface="IBM Plex Mono" pitchFamily="34" charset="0"/>
                <a:ea typeface="IBM Plex Mono" pitchFamily="34" charset="-122"/>
                <a:cs typeface="IBM Plex Mono" pitchFamily="34" charset="-120"/>
              </a:rPr>
              <a:t>5</a:t>
            </a:r>
            <a:endParaRPr lang="en-US" sz="1125" dirty="0"/>
          </a:p>
        </p:txBody>
      </p:sp>
      <p:sp>
        <p:nvSpPr>
          <p:cNvPr id="65" name="Text 62"/>
          <p:cNvSpPr/>
          <p:nvPr/>
        </p:nvSpPr>
        <p:spPr>
          <a:xfrm>
            <a:off x="10983935" y="2716551"/>
            <a:ext cx="1444368" cy="374276"/>
          </a:xfrm>
          <a:prstGeom prst="rect">
            <a:avLst/>
          </a:prstGeom>
          <a:noFill/>
          <a:ln/>
        </p:spPr>
        <p:txBody>
          <a:bodyPr wrap="square" lIns="25400" tIns="25400" rIns="25400" bIns="25400" rtlCol="0" anchor="t">
            <a:normAutofit/>
          </a:bodyPr>
          <a:lstStyle/>
          <a:p>
            <a:pPr algn="ctr" indent="0" marL="0">
              <a:lnSpc>
                <a:spcPct val="103700"/>
              </a:lnSpc>
              <a:buNone/>
            </a:pPr>
            <a:r>
              <a:rPr lang="en-US" sz="1125" b="1" dirty="0">
                <a:solidFill>
                  <a:srgbClr val="0D2E22"/>
                </a:solidFill>
                <a:latin typeface="Public Sans" pitchFamily="34" charset="0"/>
                <a:ea typeface="Public Sans" pitchFamily="34" charset="-122"/>
                <a:cs typeface="Public Sans" pitchFamily="34" charset="-120"/>
              </a:rPr>
              <a:t>Votes for a time — one click, no login</a:t>
            </a:r>
            <a:endParaRPr lang="en-US" sz="1125" dirty="0"/>
          </a:p>
        </p:txBody>
      </p:sp>
      <p:sp>
        <p:nvSpPr>
          <p:cNvPr id="66" name="Shape 63"/>
          <p:cNvSpPr/>
          <p:nvPr/>
        </p:nvSpPr>
        <p:spPr>
          <a:xfrm>
            <a:off x="11168061" y="3100352"/>
            <a:ext cx="1076115" cy="183496"/>
          </a:xfrm>
          <a:prstGeom prst="roundRect">
            <a:avLst>
              <a:gd name="adj" fmla="val 31145"/>
            </a:avLst>
          </a:prstGeom>
          <a:solidFill>
            <a:srgbClr val="0B7A75"/>
          </a:solidFill>
          <a:ln/>
        </p:spPr>
      </p:sp>
      <p:sp>
        <p:nvSpPr>
          <p:cNvPr id="67" name="Text 64"/>
          <p:cNvSpPr/>
          <p:nvPr/>
        </p:nvSpPr>
        <p:spPr>
          <a:xfrm>
            <a:off x="11196636" y="3119402"/>
            <a:ext cx="1018965" cy="183496"/>
          </a:xfrm>
          <a:prstGeom prst="rect">
            <a:avLst/>
          </a:prstGeom>
          <a:noFill/>
          <a:ln/>
        </p:spPr>
        <p:txBody>
          <a:bodyPr wrap="square" lIns="25400" tIns="25400" rIns="25400" bIns="25400" rtlCol="0" anchor="t">
            <a:normAutofit/>
          </a:bodyPr>
          <a:lstStyle/>
          <a:p>
            <a:pPr algn="ctr" indent="0" marL="0">
              <a:buNone/>
            </a:pPr>
            <a:r>
              <a:rPr lang="en-US" sz="825" b="1" dirty="0">
                <a:solidFill>
                  <a:srgbClr val="FFFFFF"/>
                </a:solidFill>
                <a:latin typeface="IBM Plex Mono" pitchFamily="34" charset="0"/>
                <a:ea typeface="IBM Plex Mono" pitchFamily="34" charset="-122"/>
                <a:cs typeface="IBM Plex Mono" pitchFamily="34" charset="-120"/>
              </a:rPr>
              <a:t>Poll · Bookings</a:t>
            </a:r>
            <a:endParaRPr lang="en-US" sz="825" dirty="0"/>
          </a:p>
        </p:txBody>
      </p:sp>
      <p:sp>
        <p:nvSpPr>
          <p:cNvPr id="68" name="Shape 65"/>
          <p:cNvSpPr/>
          <p:nvPr/>
        </p:nvSpPr>
        <p:spPr>
          <a:xfrm>
            <a:off x="12591909" y="5476874"/>
            <a:ext cx="1542910" cy="1066660"/>
          </a:xfrm>
          <a:prstGeom prst="roundRect">
            <a:avLst>
              <a:gd name="adj" fmla="val 8930"/>
            </a:avLst>
          </a:prstGeom>
          <a:solidFill>
            <a:srgbClr val="E8F1FB"/>
          </a:solidFill>
          <a:ln w="16809">
            <a:solidFill>
              <a:srgbClr val="B6D4F0"/>
            </a:solidFill>
            <a:prstDash val="solid"/>
          </a:ln>
        </p:spPr>
      </p:sp>
      <p:sp>
        <p:nvSpPr>
          <p:cNvPr id="69" name="Shape 66"/>
          <p:cNvSpPr/>
          <p:nvPr/>
        </p:nvSpPr>
        <p:spPr>
          <a:xfrm>
            <a:off x="12513468" y="5379523"/>
            <a:ext cx="384677" cy="183496"/>
          </a:xfrm>
          <a:prstGeom prst="roundRect">
            <a:avLst>
              <a:gd name="adj" fmla="val 31145"/>
            </a:avLst>
          </a:prstGeom>
          <a:solidFill>
            <a:srgbClr val="0078D4"/>
          </a:solidFill>
          <a:ln/>
        </p:spPr>
      </p:sp>
      <p:sp>
        <p:nvSpPr>
          <p:cNvPr id="70" name="Text 67"/>
          <p:cNvSpPr/>
          <p:nvPr/>
        </p:nvSpPr>
        <p:spPr>
          <a:xfrm>
            <a:off x="12542043" y="5398573"/>
            <a:ext cx="327527" cy="183496"/>
          </a:xfrm>
          <a:prstGeom prst="rect">
            <a:avLst/>
          </a:prstGeom>
          <a:noFill/>
          <a:ln/>
        </p:spPr>
        <p:txBody>
          <a:bodyPr wrap="square" lIns="25400" tIns="25400" rIns="25400" bIns="25400" rtlCol="0" anchor="t">
            <a:normAutofit/>
          </a:bodyPr>
          <a:lstStyle/>
          <a:p>
            <a:pPr algn="ctr" indent="0" marL="0">
              <a:buNone/>
            </a:pPr>
            <a:r>
              <a:rPr lang="en-US" sz="825" b="1" dirty="0">
                <a:solidFill>
                  <a:srgbClr val="FFFFFF"/>
                </a:solidFill>
                <a:latin typeface="IBM Plex Mono" pitchFamily="34" charset="0"/>
                <a:ea typeface="IBM Plex Mono" pitchFamily="34" charset="-122"/>
                <a:cs typeface="IBM Plex Mono" pitchFamily="34" charset="-120"/>
              </a:rPr>
              <a:t>AUTO</a:t>
            </a:r>
            <a:endParaRPr lang="en-US" sz="825" dirty="0"/>
          </a:p>
        </p:txBody>
      </p:sp>
      <p:sp>
        <p:nvSpPr>
          <p:cNvPr id="71" name="Text 68"/>
          <p:cNvSpPr/>
          <p:nvPr/>
        </p:nvSpPr>
        <p:spPr>
          <a:xfrm>
            <a:off x="12646783" y="5726556"/>
            <a:ext cx="1433162" cy="374276"/>
          </a:xfrm>
          <a:prstGeom prst="rect">
            <a:avLst/>
          </a:prstGeom>
          <a:noFill/>
          <a:ln/>
        </p:spPr>
        <p:txBody>
          <a:bodyPr wrap="square" lIns="25400" tIns="25400" rIns="25400" bIns="25400" rtlCol="0" anchor="t">
            <a:normAutofit/>
          </a:bodyPr>
          <a:lstStyle/>
          <a:p>
            <a:pPr algn="ctr" indent="0" marL="0">
              <a:lnSpc>
                <a:spcPct val="103700"/>
              </a:lnSpc>
              <a:buNone/>
            </a:pPr>
            <a:r>
              <a:rPr lang="en-US" sz="1125" b="1" dirty="0">
                <a:solidFill>
                  <a:srgbClr val="0D2E22"/>
                </a:solidFill>
                <a:latin typeface="Public Sans" pitchFamily="34" charset="0"/>
                <a:ea typeface="Public Sans" pitchFamily="34" charset="-122"/>
                <a:cs typeface="Public Sans" pitchFamily="34" charset="-120"/>
              </a:rPr>
              <a:t>Poll closes · event + Teams link created</a:t>
            </a:r>
            <a:endParaRPr lang="en-US" sz="1125" dirty="0"/>
          </a:p>
        </p:txBody>
      </p:sp>
      <p:sp>
        <p:nvSpPr>
          <p:cNvPr id="72" name="Shape 69"/>
          <p:cNvSpPr/>
          <p:nvPr/>
        </p:nvSpPr>
        <p:spPr>
          <a:xfrm>
            <a:off x="13076739" y="6110357"/>
            <a:ext cx="573251" cy="183496"/>
          </a:xfrm>
          <a:prstGeom prst="roundRect">
            <a:avLst>
              <a:gd name="adj" fmla="val 31145"/>
            </a:avLst>
          </a:prstGeom>
          <a:solidFill>
            <a:srgbClr val="0078D4"/>
          </a:solidFill>
          <a:ln/>
        </p:spPr>
      </p:sp>
      <p:sp>
        <p:nvSpPr>
          <p:cNvPr id="73" name="Text 70"/>
          <p:cNvSpPr/>
          <p:nvPr/>
        </p:nvSpPr>
        <p:spPr>
          <a:xfrm>
            <a:off x="13105314" y="6129407"/>
            <a:ext cx="516101" cy="183496"/>
          </a:xfrm>
          <a:prstGeom prst="rect">
            <a:avLst/>
          </a:prstGeom>
          <a:noFill/>
          <a:ln/>
        </p:spPr>
        <p:txBody>
          <a:bodyPr wrap="square" lIns="25400" tIns="25400" rIns="25400" bIns="25400" rtlCol="0" anchor="t">
            <a:normAutofit/>
          </a:bodyPr>
          <a:lstStyle/>
          <a:p>
            <a:pPr algn="ctr" indent="0" marL="0">
              <a:buNone/>
            </a:pPr>
            <a:r>
              <a:rPr lang="en-US" sz="825" b="1" dirty="0">
                <a:solidFill>
                  <a:srgbClr val="FFFFFF"/>
                </a:solidFill>
                <a:latin typeface="IBM Plex Mono" pitchFamily="34" charset="0"/>
                <a:ea typeface="IBM Plex Mono" pitchFamily="34" charset="-122"/>
                <a:cs typeface="IBM Plex Mono" pitchFamily="34" charset="-120"/>
              </a:rPr>
              <a:t>Outlook</a:t>
            </a:r>
            <a:endParaRPr lang="en-US" sz="825" dirty="0"/>
          </a:p>
        </p:txBody>
      </p:sp>
      <p:sp>
        <p:nvSpPr>
          <p:cNvPr id="74" name="Shape 71"/>
          <p:cNvSpPr/>
          <p:nvPr/>
        </p:nvSpPr>
        <p:spPr>
          <a:xfrm>
            <a:off x="14249329" y="7019784"/>
            <a:ext cx="1542910" cy="1066660"/>
          </a:xfrm>
          <a:prstGeom prst="roundRect">
            <a:avLst>
              <a:gd name="adj" fmla="val 8930"/>
            </a:avLst>
          </a:prstGeom>
          <a:solidFill>
            <a:srgbClr val="EEF0F7"/>
          </a:solidFill>
          <a:ln w="11206">
            <a:solidFill>
              <a:srgbClr val="C4C8EE"/>
            </a:solidFill>
            <a:prstDash val="solid"/>
          </a:ln>
        </p:spPr>
      </p:sp>
      <p:sp>
        <p:nvSpPr>
          <p:cNvPr id="75" name="Shape 72"/>
          <p:cNvSpPr/>
          <p:nvPr/>
        </p:nvSpPr>
        <p:spPr>
          <a:xfrm>
            <a:off x="14146375" y="6916831"/>
            <a:ext cx="266665" cy="266665"/>
          </a:xfrm>
          <a:prstGeom prst="ellipse">
            <a:avLst/>
          </a:prstGeom>
          <a:solidFill>
            <a:srgbClr val="0D2E22"/>
          </a:solidFill>
          <a:ln/>
        </p:spPr>
      </p:sp>
      <p:sp>
        <p:nvSpPr>
          <p:cNvPr id="76" name="Text 73"/>
          <p:cNvSpPr/>
          <p:nvPr/>
        </p:nvSpPr>
        <p:spPr>
          <a:xfrm>
            <a:off x="14108275" y="6916831"/>
            <a:ext cx="342865" cy="304765"/>
          </a:xfrm>
          <a:prstGeom prst="rect">
            <a:avLst/>
          </a:prstGeom>
          <a:noFill/>
          <a:ln/>
        </p:spPr>
        <p:txBody>
          <a:bodyPr wrap="square" lIns="25400" tIns="25400" rIns="25400" bIns="25400" rtlCol="0" anchor="ctr">
            <a:normAutofit/>
          </a:bodyPr>
          <a:lstStyle/>
          <a:p>
            <a:pPr algn="ctr" indent="0" marL="0">
              <a:buNone/>
            </a:pPr>
            <a:r>
              <a:rPr lang="en-US" sz="1125" b="1" dirty="0">
                <a:solidFill>
                  <a:srgbClr val="FFFFFF"/>
                </a:solidFill>
                <a:latin typeface="IBM Plex Mono" pitchFamily="34" charset="0"/>
                <a:ea typeface="IBM Plex Mono" pitchFamily="34" charset="-122"/>
                <a:cs typeface="IBM Plex Mono" pitchFamily="34" charset="-120"/>
              </a:rPr>
              <a:t>6</a:t>
            </a:r>
            <a:endParaRPr lang="en-US" sz="1125" dirty="0"/>
          </a:p>
        </p:txBody>
      </p:sp>
      <p:sp>
        <p:nvSpPr>
          <p:cNvPr id="77" name="Text 74"/>
          <p:cNvSpPr/>
          <p:nvPr/>
        </p:nvSpPr>
        <p:spPr>
          <a:xfrm>
            <a:off x="14298600" y="7185421"/>
            <a:ext cx="1444368" cy="542365"/>
          </a:xfrm>
          <a:prstGeom prst="rect">
            <a:avLst/>
          </a:prstGeom>
          <a:noFill/>
          <a:ln/>
        </p:spPr>
        <p:txBody>
          <a:bodyPr wrap="square" lIns="25400" tIns="25400" rIns="25400" bIns="25400" rtlCol="0" anchor="t">
            <a:normAutofit/>
          </a:bodyPr>
          <a:lstStyle/>
          <a:p>
            <a:pPr algn="ctr" indent="0" marL="0">
              <a:lnSpc>
                <a:spcPct val="103700"/>
              </a:lnSpc>
              <a:buNone/>
            </a:pPr>
            <a:r>
              <a:rPr lang="en-US" sz="1125" b="1" dirty="0">
                <a:solidFill>
                  <a:srgbClr val="0D2E22"/>
                </a:solidFill>
                <a:latin typeface="Public Sans" pitchFamily="34" charset="0"/>
                <a:ea typeface="Public Sans" pitchFamily="34" charset="-122"/>
                <a:cs typeface="Public Sans" pitchFamily="34" charset="-120"/>
              </a:rPr>
              <a:t>Ops mailbox is an attendee · Purview logs it</a:t>
            </a:r>
            <a:endParaRPr lang="en-US" sz="1125" dirty="0"/>
          </a:p>
        </p:txBody>
      </p:sp>
      <p:sp>
        <p:nvSpPr>
          <p:cNvPr id="78" name="Shape 75"/>
          <p:cNvSpPr/>
          <p:nvPr/>
        </p:nvSpPr>
        <p:spPr>
          <a:xfrm>
            <a:off x="14388352" y="7737311"/>
            <a:ext cx="1264689" cy="183496"/>
          </a:xfrm>
          <a:prstGeom prst="roundRect">
            <a:avLst>
              <a:gd name="adj" fmla="val 31145"/>
            </a:avLst>
          </a:prstGeom>
          <a:solidFill>
            <a:srgbClr val="5059C9"/>
          </a:solidFill>
          <a:ln/>
        </p:spPr>
      </p:sp>
      <p:sp>
        <p:nvSpPr>
          <p:cNvPr id="79" name="Text 76"/>
          <p:cNvSpPr/>
          <p:nvPr/>
        </p:nvSpPr>
        <p:spPr>
          <a:xfrm>
            <a:off x="14416927" y="7756361"/>
            <a:ext cx="1207539" cy="183496"/>
          </a:xfrm>
          <a:prstGeom prst="rect">
            <a:avLst/>
          </a:prstGeom>
          <a:noFill/>
          <a:ln/>
        </p:spPr>
        <p:txBody>
          <a:bodyPr wrap="square" lIns="25400" tIns="25400" rIns="25400" bIns="25400" rtlCol="0" anchor="t">
            <a:normAutofit/>
          </a:bodyPr>
          <a:lstStyle/>
          <a:p>
            <a:pPr algn="ctr" indent="0" marL="0">
              <a:buNone/>
            </a:pPr>
            <a:r>
              <a:rPr lang="en-US" sz="825" b="1" dirty="0">
                <a:solidFill>
                  <a:srgbClr val="FFFFFF"/>
                </a:solidFill>
                <a:latin typeface="IBM Plex Mono" pitchFamily="34" charset="0"/>
                <a:ea typeface="IBM Plex Mono" pitchFamily="34" charset="-122"/>
                <a:cs typeface="IBM Plex Mono" pitchFamily="34" charset="-120"/>
              </a:rPr>
              <a:t>Exchange · Purview</a:t>
            </a:r>
            <a:endParaRPr lang="en-US" sz="825" dirty="0"/>
          </a:p>
        </p:txBody>
      </p:sp>
      <p:sp>
        <p:nvSpPr>
          <p:cNvPr id="80" name="Shape 77"/>
          <p:cNvSpPr/>
          <p:nvPr/>
        </p:nvSpPr>
        <p:spPr>
          <a:xfrm>
            <a:off x="15906749" y="2466870"/>
            <a:ext cx="1542910" cy="1066660"/>
          </a:xfrm>
          <a:prstGeom prst="roundRect">
            <a:avLst>
              <a:gd name="adj" fmla="val 8930"/>
            </a:avLst>
          </a:prstGeom>
          <a:solidFill>
            <a:srgbClr val="EDF1E0"/>
          </a:solidFill>
          <a:ln w="11206">
            <a:solidFill>
              <a:srgbClr val="DBE6CD"/>
            </a:solidFill>
            <a:prstDash val="solid"/>
          </a:ln>
        </p:spPr>
      </p:sp>
      <p:sp>
        <p:nvSpPr>
          <p:cNvPr id="81" name="Shape 78"/>
          <p:cNvSpPr/>
          <p:nvPr/>
        </p:nvSpPr>
        <p:spPr>
          <a:xfrm>
            <a:off x="15803795" y="2363916"/>
            <a:ext cx="266665" cy="266665"/>
          </a:xfrm>
          <a:prstGeom prst="ellipse">
            <a:avLst/>
          </a:prstGeom>
          <a:solidFill>
            <a:srgbClr val="0D2E22"/>
          </a:solidFill>
          <a:ln/>
        </p:spPr>
      </p:sp>
      <p:sp>
        <p:nvSpPr>
          <p:cNvPr id="82" name="Text 79"/>
          <p:cNvSpPr/>
          <p:nvPr/>
        </p:nvSpPr>
        <p:spPr>
          <a:xfrm>
            <a:off x="15765695" y="2363916"/>
            <a:ext cx="342865" cy="304765"/>
          </a:xfrm>
          <a:prstGeom prst="rect">
            <a:avLst/>
          </a:prstGeom>
          <a:noFill/>
          <a:ln/>
        </p:spPr>
        <p:txBody>
          <a:bodyPr wrap="square" lIns="25400" tIns="25400" rIns="25400" bIns="25400" rtlCol="0" anchor="ctr">
            <a:normAutofit/>
          </a:bodyPr>
          <a:lstStyle/>
          <a:p>
            <a:pPr algn="ctr" indent="0" marL="0">
              <a:buNone/>
            </a:pPr>
            <a:r>
              <a:rPr lang="en-US" sz="1125" b="1" dirty="0">
                <a:solidFill>
                  <a:srgbClr val="FFFFFF"/>
                </a:solidFill>
                <a:latin typeface="IBM Plex Mono" pitchFamily="34" charset="0"/>
                <a:ea typeface="IBM Plex Mono" pitchFamily="34" charset="-122"/>
                <a:cs typeface="IBM Plex Mono" pitchFamily="34" charset="-120"/>
              </a:rPr>
              <a:t>7</a:t>
            </a:r>
            <a:endParaRPr lang="en-US" sz="1125" dirty="0"/>
          </a:p>
        </p:txBody>
      </p:sp>
      <p:sp>
        <p:nvSpPr>
          <p:cNvPr id="83" name="Text 80"/>
          <p:cNvSpPr/>
          <p:nvPr/>
        </p:nvSpPr>
        <p:spPr>
          <a:xfrm>
            <a:off x="15956020" y="2832111"/>
            <a:ext cx="1444368" cy="374276"/>
          </a:xfrm>
          <a:prstGeom prst="rect">
            <a:avLst/>
          </a:prstGeom>
          <a:noFill/>
          <a:ln/>
        </p:spPr>
        <p:txBody>
          <a:bodyPr wrap="square" lIns="25400" tIns="25400" rIns="25400" bIns="25400" rtlCol="0" anchor="t">
            <a:normAutofit/>
          </a:bodyPr>
          <a:lstStyle/>
          <a:p>
            <a:pPr algn="ctr" indent="0" marL="0">
              <a:lnSpc>
                <a:spcPct val="103700"/>
              </a:lnSpc>
              <a:buNone/>
            </a:pPr>
            <a:r>
              <a:rPr lang="en-US" sz="1125" b="1" dirty="0">
                <a:solidFill>
                  <a:srgbClr val="0D2E22"/>
                </a:solidFill>
                <a:latin typeface="Public Sans" pitchFamily="34" charset="0"/>
                <a:ea typeface="Public Sans" pitchFamily="34" charset="-122"/>
                <a:cs typeface="Public Sans" pitchFamily="34" charset="-120"/>
              </a:rPr>
              <a:t>Calendar invite lands</a:t>
            </a:r>
            <a:endParaRPr lang="en-US" sz="1125" dirty="0"/>
          </a:p>
        </p:txBody>
      </p:sp>
      <p:sp>
        <p:nvSpPr>
          <p:cNvPr id="84" name="Text 81"/>
          <p:cNvSpPr/>
          <p:nvPr/>
        </p:nvSpPr>
        <p:spPr>
          <a:xfrm>
            <a:off x="723830" y="8573900"/>
            <a:ext cx="2472613" cy="228600"/>
          </a:xfrm>
          <a:prstGeom prst="rect">
            <a:avLst/>
          </a:prstGeom>
          <a:noFill/>
          <a:ln/>
        </p:spPr>
        <p:txBody>
          <a:bodyPr wrap="square" lIns="25400" tIns="25400" rIns="25400" bIns="25400" rtlCol="0" anchor="t">
            <a:normAutofit/>
          </a:bodyPr>
          <a:lstStyle/>
          <a:p>
            <a:pPr algn="l" indent="0" marL="0">
              <a:buNone/>
            </a:pPr>
            <a:r>
              <a:rPr lang="en-US" sz="1125" b="1" spc="113" kern="0" dirty="0">
                <a:solidFill>
                  <a:srgbClr val="B4690E"/>
                </a:solidFill>
                <a:latin typeface="IBM Plex Mono" pitchFamily="34" charset="0"/>
                <a:ea typeface="IBM Plex Mono" pitchFamily="34" charset="-122"/>
                <a:cs typeface="IBM Plex Mono" pitchFamily="34" charset="-120"/>
              </a:rPr>
              <a:t>WHAT IS LEFT OVER</a:t>
            </a:r>
            <a:endParaRPr lang="en-US" sz="1125" dirty="0"/>
          </a:p>
        </p:txBody>
      </p:sp>
      <p:sp>
        <p:nvSpPr>
          <p:cNvPr id="85" name="Text 82"/>
          <p:cNvSpPr/>
          <p:nvPr/>
        </p:nvSpPr>
        <p:spPr>
          <a:xfrm>
            <a:off x="723830" y="8821480"/>
            <a:ext cx="2324030" cy="396688"/>
          </a:xfrm>
          <a:prstGeom prst="rect">
            <a:avLst/>
          </a:prstGeom>
          <a:noFill/>
          <a:ln/>
        </p:spPr>
        <p:txBody>
          <a:bodyPr wrap="square" lIns="25400" tIns="25400" rIns="25400" bIns="25400" rtlCol="0" anchor="t">
            <a:normAutofit/>
          </a:bodyPr>
          <a:lstStyle/>
          <a:p>
            <a:pPr algn="l" indent="0" marL="0">
              <a:lnSpc>
                <a:spcPct val="110500"/>
              </a:lnSpc>
              <a:buNone/>
            </a:pPr>
            <a:r>
              <a:rPr lang="en-US" sz="1125" dirty="0">
                <a:solidFill>
                  <a:srgbClr val="5B6675"/>
                </a:solidFill>
                <a:latin typeface="Public Sans" pitchFamily="34" charset="0"/>
                <a:ea typeface="Public Sans" pitchFamily="34" charset="-122"/>
                <a:cs typeface="Public Sans" pitchFamily="34" charset="-120"/>
              </a:rPr>
              <a:t>The only work a build would buy us</a:t>
            </a:r>
            <a:endParaRPr lang="en-US" sz="1125" dirty="0"/>
          </a:p>
        </p:txBody>
      </p:sp>
      <p:sp>
        <p:nvSpPr>
          <p:cNvPr id="86" name="Shape 83"/>
          <p:cNvSpPr/>
          <p:nvPr/>
        </p:nvSpPr>
        <p:spPr>
          <a:xfrm>
            <a:off x="3104905" y="8439080"/>
            <a:ext cx="3514970" cy="875985"/>
          </a:xfrm>
          <a:prstGeom prst="roundRect">
            <a:avLst>
              <a:gd name="adj" fmla="val 13048"/>
            </a:avLst>
          </a:prstGeom>
          <a:solidFill>
            <a:srgbClr val="FFFFFF"/>
          </a:solidFill>
          <a:ln w="11206">
            <a:solidFill>
              <a:srgbClr val="ECCFA3"/>
            </a:solidFill>
            <a:prstDash val="solid"/>
          </a:ln>
        </p:spPr>
      </p:sp>
      <p:sp>
        <p:nvSpPr>
          <p:cNvPr id="87" name="Text 84"/>
          <p:cNvSpPr/>
          <p:nvPr/>
        </p:nvSpPr>
        <p:spPr>
          <a:xfrm>
            <a:off x="3287525" y="8583530"/>
            <a:ext cx="3464701" cy="228600"/>
          </a:xfrm>
          <a:prstGeom prst="rect">
            <a:avLst/>
          </a:prstGeom>
          <a:noFill/>
          <a:ln/>
        </p:spPr>
        <p:txBody>
          <a:bodyPr wrap="square" lIns="25400" tIns="25400" rIns="25400" bIns="25400" rtlCol="0" anchor="t">
            <a:normAutofit/>
          </a:bodyPr>
          <a:lstStyle/>
          <a:p>
            <a:pPr algn="l" indent="0" marL="0">
              <a:buNone/>
            </a:pPr>
            <a:r>
              <a:rPr lang="en-US" sz="1275" b="1" dirty="0">
                <a:solidFill>
                  <a:srgbClr val="0D2E22"/>
                </a:solidFill>
                <a:latin typeface="Public Sans" pitchFamily="34" charset="0"/>
                <a:ea typeface="Public Sans" pitchFamily="34" charset="-122"/>
                <a:cs typeface="Public Sans" pitchFamily="34" charset="-120"/>
              </a:rPr>
              <a:t>Room is manual</a:t>
            </a:r>
            <a:endParaRPr lang="en-US" sz="1275" dirty="0"/>
          </a:p>
        </p:txBody>
      </p:sp>
      <p:sp>
        <p:nvSpPr>
          <p:cNvPr id="88" name="Text 85"/>
          <p:cNvSpPr/>
          <p:nvPr/>
        </p:nvSpPr>
        <p:spPr>
          <a:xfrm>
            <a:off x="3287525" y="8812025"/>
            <a:ext cx="3244220" cy="396688"/>
          </a:xfrm>
          <a:prstGeom prst="rect">
            <a:avLst/>
          </a:prstGeom>
          <a:noFill/>
          <a:ln/>
        </p:spPr>
        <p:txBody>
          <a:bodyPr wrap="square" lIns="25400" tIns="25400" rIns="25400" bIns="25400" rtlCol="0" anchor="t">
            <a:normAutofit/>
          </a:bodyPr>
          <a:lstStyle/>
          <a:p>
            <a:pPr algn="l" indent="0" marL="0">
              <a:lnSpc>
                <a:spcPct val="108800"/>
              </a:lnSpc>
              <a:buNone/>
            </a:pPr>
            <a:r>
              <a:rPr lang="en-US" sz="1125" dirty="0">
                <a:solidFill>
                  <a:srgbClr val="5B6675"/>
                </a:solidFill>
                <a:latin typeface="Public Sans" pitchFamily="34" charset="0"/>
                <a:ea typeface="Public Sans" pitchFamily="34" charset="-122"/>
                <a:cs typeface="Public Sans" pitchFamily="34" charset="-120"/>
              </a:rPr>
              <a:t>Copilot can suggest a room but nothing enforces one for a client visit</a:t>
            </a:r>
            <a:endParaRPr lang="en-US" sz="1125" dirty="0"/>
          </a:p>
        </p:txBody>
      </p:sp>
      <p:sp>
        <p:nvSpPr>
          <p:cNvPr id="89" name="Shape 86"/>
          <p:cNvSpPr/>
          <p:nvPr/>
        </p:nvSpPr>
        <p:spPr>
          <a:xfrm>
            <a:off x="6753120" y="8439080"/>
            <a:ext cx="3514970" cy="875985"/>
          </a:xfrm>
          <a:prstGeom prst="roundRect">
            <a:avLst>
              <a:gd name="adj" fmla="val 13048"/>
            </a:avLst>
          </a:prstGeom>
          <a:solidFill>
            <a:srgbClr val="FFFFFF"/>
          </a:solidFill>
          <a:ln w="11206">
            <a:solidFill>
              <a:srgbClr val="ECCFA3"/>
            </a:solidFill>
            <a:prstDash val="solid"/>
          </a:ln>
        </p:spPr>
      </p:sp>
      <p:sp>
        <p:nvSpPr>
          <p:cNvPr id="90" name="Text 87"/>
          <p:cNvSpPr/>
          <p:nvPr/>
        </p:nvSpPr>
        <p:spPr>
          <a:xfrm>
            <a:off x="6935741" y="8583530"/>
            <a:ext cx="3464701" cy="228600"/>
          </a:xfrm>
          <a:prstGeom prst="rect">
            <a:avLst/>
          </a:prstGeom>
          <a:noFill/>
          <a:ln/>
        </p:spPr>
        <p:txBody>
          <a:bodyPr wrap="square" lIns="25400" tIns="25400" rIns="25400" bIns="25400" rtlCol="0" anchor="t">
            <a:normAutofit/>
          </a:bodyPr>
          <a:lstStyle/>
          <a:p>
            <a:pPr algn="l" indent="0" marL="0">
              <a:buNone/>
            </a:pPr>
            <a:r>
              <a:rPr lang="en-US" sz="1275" b="1" dirty="0">
                <a:solidFill>
                  <a:srgbClr val="0D2E22"/>
                </a:solidFill>
                <a:latin typeface="Public Sans" pitchFamily="34" charset="0"/>
                <a:ea typeface="Public Sans" pitchFamily="34" charset="-122"/>
                <a:cs typeface="Public Sans" pitchFamily="34" charset="-120"/>
              </a:rPr>
              <a:t>Partner rule is memory</a:t>
            </a:r>
            <a:endParaRPr lang="en-US" sz="1275" dirty="0"/>
          </a:p>
        </p:txBody>
      </p:sp>
      <p:sp>
        <p:nvSpPr>
          <p:cNvPr id="91" name="Text 88"/>
          <p:cNvSpPr/>
          <p:nvPr/>
        </p:nvSpPr>
        <p:spPr>
          <a:xfrm>
            <a:off x="6935741" y="8812025"/>
            <a:ext cx="3244220" cy="396688"/>
          </a:xfrm>
          <a:prstGeom prst="rect">
            <a:avLst/>
          </a:prstGeom>
          <a:noFill/>
          <a:ln/>
        </p:spPr>
        <p:txBody>
          <a:bodyPr wrap="square" lIns="25400" tIns="25400" rIns="25400" bIns="25400" rtlCol="0" anchor="t">
            <a:normAutofit/>
          </a:bodyPr>
          <a:lstStyle/>
          <a:p>
            <a:pPr algn="l" indent="0" marL="0">
              <a:lnSpc>
                <a:spcPct val="108800"/>
              </a:lnSpc>
              <a:buNone/>
            </a:pPr>
            <a:r>
              <a:rPr lang="en-US" sz="1125" dirty="0">
                <a:solidFill>
                  <a:srgbClr val="5B6675"/>
                </a:solidFill>
                <a:latin typeface="Public Sans" pitchFamily="34" charset="0"/>
                <a:ea typeface="Public Sans" pitchFamily="34" charset="-122"/>
                <a:cs typeface="Public Sans" pitchFamily="34" charset="-120"/>
              </a:rPr>
              <a:t>No CRM read — the RM has to remember the joint-coverage flag</a:t>
            </a:r>
            <a:endParaRPr lang="en-US" sz="1125" dirty="0"/>
          </a:p>
        </p:txBody>
      </p:sp>
      <p:sp>
        <p:nvSpPr>
          <p:cNvPr id="92" name="Shape 89"/>
          <p:cNvSpPr/>
          <p:nvPr/>
        </p:nvSpPr>
        <p:spPr>
          <a:xfrm>
            <a:off x="10401335" y="8439080"/>
            <a:ext cx="3514970" cy="875985"/>
          </a:xfrm>
          <a:prstGeom prst="roundRect">
            <a:avLst>
              <a:gd name="adj" fmla="val 13048"/>
            </a:avLst>
          </a:prstGeom>
          <a:solidFill>
            <a:srgbClr val="FFFFFF"/>
          </a:solidFill>
          <a:ln w="11206">
            <a:solidFill>
              <a:srgbClr val="ECCFA3"/>
            </a:solidFill>
            <a:prstDash val="solid"/>
          </a:ln>
        </p:spPr>
      </p:sp>
      <p:sp>
        <p:nvSpPr>
          <p:cNvPr id="93" name="Text 90"/>
          <p:cNvSpPr/>
          <p:nvPr/>
        </p:nvSpPr>
        <p:spPr>
          <a:xfrm>
            <a:off x="10583955" y="8583530"/>
            <a:ext cx="3464701" cy="228600"/>
          </a:xfrm>
          <a:prstGeom prst="rect">
            <a:avLst/>
          </a:prstGeom>
          <a:noFill/>
          <a:ln/>
        </p:spPr>
        <p:txBody>
          <a:bodyPr wrap="square" lIns="25400" tIns="25400" rIns="25400" bIns="25400" rtlCol="0" anchor="t">
            <a:normAutofit/>
          </a:bodyPr>
          <a:lstStyle/>
          <a:p>
            <a:pPr algn="l" indent="0" marL="0">
              <a:buNone/>
            </a:pPr>
            <a:r>
              <a:rPr lang="en-US" sz="1275" b="1" dirty="0">
                <a:solidFill>
                  <a:srgbClr val="0D2E22"/>
                </a:solidFill>
                <a:latin typeface="Public Sans" pitchFamily="34" charset="0"/>
                <a:ea typeface="Public Sans" pitchFamily="34" charset="-122"/>
                <a:cs typeface="Public Sans" pitchFamily="34" charset="-120"/>
              </a:rPr>
              <a:t>Fan-out is an inbox</a:t>
            </a:r>
            <a:endParaRPr lang="en-US" sz="1275" dirty="0"/>
          </a:p>
        </p:txBody>
      </p:sp>
      <p:sp>
        <p:nvSpPr>
          <p:cNvPr id="94" name="Text 91"/>
          <p:cNvSpPr/>
          <p:nvPr/>
        </p:nvSpPr>
        <p:spPr>
          <a:xfrm>
            <a:off x="10583955" y="8812025"/>
            <a:ext cx="3244220" cy="396688"/>
          </a:xfrm>
          <a:prstGeom prst="rect">
            <a:avLst/>
          </a:prstGeom>
          <a:noFill/>
          <a:ln/>
        </p:spPr>
        <p:txBody>
          <a:bodyPr wrap="square" lIns="25400" tIns="25400" rIns="25400" bIns="25400" rtlCol="0" anchor="t">
            <a:normAutofit/>
          </a:bodyPr>
          <a:lstStyle/>
          <a:p>
            <a:pPr algn="l" indent="0" marL="0">
              <a:lnSpc>
                <a:spcPct val="108800"/>
              </a:lnSpc>
              <a:buNone/>
            </a:pPr>
            <a:r>
              <a:rPr lang="en-US" sz="1125" dirty="0">
                <a:solidFill>
                  <a:srgbClr val="5B6675"/>
                </a:solidFill>
                <a:latin typeface="Public Sans" pitchFamily="34" charset="0"/>
                <a:ea typeface="Public Sans" pitchFamily="34" charset="-122"/>
                <a:cs typeface="Public Sans" pitchFamily="34" charset="-120"/>
              </a:rPr>
              <a:t>Ops see the invite; catering, security and comms stay human tasks</a:t>
            </a:r>
            <a:endParaRPr lang="en-US" sz="1125" dirty="0"/>
          </a:p>
        </p:txBody>
      </p:sp>
      <p:sp>
        <p:nvSpPr>
          <p:cNvPr id="95" name="Shape 92"/>
          <p:cNvSpPr/>
          <p:nvPr/>
        </p:nvSpPr>
        <p:spPr>
          <a:xfrm>
            <a:off x="14049549" y="8439080"/>
            <a:ext cx="3514970" cy="875985"/>
          </a:xfrm>
          <a:prstGeom prst="roundRect">
            <a:avLst>
              <a:gd name="adj" fmla="val 13048"/>
            </a:avLst>
          </a:prstGeom>
          <a:solidFill>
            <a:srgbClr val="FFFFFF"/>
          </a:solidFill>
          <a:ln w="11206">
            <a:solidFill>
              <a:srgbClr val="ECCFA3"/>
            </a:solidFill>
            <a:prstDash val="solid"/>
          </a:ln>
        </p:spPr>
      </p:sp>
      <p:sp>
        <p:nvSpPr>
          <p:cNvPr id="96" name="Text 93"/>
          <p:cNvSpPr/>
          <p:nvPr/>
        </p:nvSpPr>
        <p:spPr>
          <a:xfrm>
            <a:off x="14232170" y="8583530"/>
            <a:ext cx="3464701" cy="228600"/>
          </a:xfrm>
          <a:prstGeom prst="rect">
            <a:avLst/>
          </a:prstGeom>
          <a:noFill/>
          <a:ln/>
        </p:spPr>
        <p:txBody>
          <a:bodyPr wrap="square" lIns="25400" tIns="25400" rIns="25400" bIns="25400" rtlCol="0" anchor="t">
            <a:normAutofit/>
          </a:bodyPr>
          <a:lstStyle/>
          <a:p>
            <a:pPr algn="l" indent="0" marL="0">
              <a:buNone/>
            </a:pPr>
            <a:r>
              <a:rPr lang="en-US" sz="1275" b="1" dirty="0">
                <a:solidFill>
                  <a:srgbClr val="0D2E22"/>
                </a:solidFill>
                <a:latin typeface="Public Sans" pitchFamily="34" charset="0"/>
                <a:ea typeface="Public Sans" pitchFamily="34" charset="-122"/>
                <a:cs typeface="Public Sans" pitchFamily="34" charset="-120"/>
              </a:rPr>
              <a:t>Audit is mailbox-level</a:t>
            </a:r>
            <a:endParaRPr lang="en-US" sz="1275" dirty="0"/>
          </a:p>
        </p:txBody>
      </p:sp>
      <p:sp>
        <p:nvSpPr>
          <p:cNvPr id="97" name="Text 94"/>
          <p:cNvSpPr/>
          <p:nvPr/>
        </p:nvSpPr>
        <p:spPr>
          <a:xfrm>
            <a:off x="14232170" y="8812025"/>
            <a:ext cx="3244220" cy="396688"/>
          </a:xfrm>
          <a:prstGeom prst="rect">
            <a:avLst/>
          </a:prstGeom>
          <a:noFill/>
          <a:ln/>
        </p:spPr>
        <p:txBody>
          <a:bodyPr wrap="square" lIns="25400" tIns="25400" rIns="25400" bIns="25400" rtlCol="0" anchor="t">
            <a:normAutofit/>
          </a:bodyPr>
          <a:lstStyle/>
          <a:p>
            <a:pPr algn="l" indent="0" marL="0">
              <a:lnSpc>
                <a:spcPct val="108800"/>
              </a:lnSpc>
              <a:buNone/>
            </a:pPr>
            <a:r>
              <a:rPr lang="en-US" sz="1125" dirty="0">
                <a:solidFill>
                  <a:srgbClr val="5B6675"/>
                </a:solidFill>
                <a:latin typeface="Public Sans" pitchFamily="34" charset="0"/>
                <a:ea typeface="Public Sans" pitchFamily="34" charset="-122"/>
                <a:cs typeface="Public Sans" pitchFamily="34" charset="-120"/>
              </a:rPr>
              <a:t>Purview proves an event existed, not why the meeting was booked</a:t>
            </a:r>
            <a:endParaRPr lang="en-US" sz="1125" dirty="0"/>
          </a:p>
        </p:txBody>
      </p:sp>
      <p:sp>
        <p:nvSpPr>
          <p:cNvPr id="98" name="Text 95"/>
          <p:cNvSpPr/>
          <p:nvPr/>
        </p:nvSpPr>
        <p:spPr>
          <a:xfrm>
            <a:off x="723830" y="9924909"/>
            <a:ext cx="9995612" cy="228600"/>
          </a:xfrm>
          <a:prstGeom prst="rect">
            <a:avLst/>
          </a:prstGeom>
          <a:noFill/>
          <a:ln/>
        </p:spPr>
        <p:txBody>
          <a:bodyPr wrap="square" lIns="25400" tIns="25400" rIns="25400" bIns="25400" rtlCol="0" anchor="t">
            <a:normAutofit/>
          </a:bodyPr>
          <a:lstStyle/>
          <a:p>
            <a:pPr algn="l" indent="0" marL="0">
              <a:buNone/>
            </a:pPr>
            <a:r>
              <a:rPr lang="en-US" sz="1125" dirty="0">
                <a:solidFill>
                  <a:srgbClr val="8996A6"/>
                </a:solidFill>
                <a:latin typeface="IBM Plex Mono" pitchFamily="34" charset="0"/>
                <a:ea typeface="IBM Plex Mono" pitchFamily="34" charset="-122"/>
                <a:cs typeface="IBM Plex Mono" pitchFamily="34" charset="-120"/>
              </a:rPr>
              <a:t>same grammar as the previous slide · 7 steps instead of 10 · nothing here is built — it is all switched on</a:t>
            </a:r>
            <a:endParaRPr lang="en-US" sz="112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685660" y="495160"/>
            <a:ext cx="7700384" cy="307041"/>
          </a:xfrm>
          <a:prstGeom prst="rect">
            <a:avLst/>
          </a:prstGeom>
          <a:noFill/>
          <a:ln/>
        </p:spPr>
        <p:txBody>
          <a:bodyPr wrap="square" lIns="25400" tIns="25400" rIns="25400" bIns="25400" rtlCol="0" anchor="t">
            <a:normAutofit/>
          </a:bodyPr>
          <a:lstStyle/>
          <a:p>
            <a:pPr algn="l" indent="0" marL="0">
              <a:buNone/>
            </a:pPr>
            <a:r>
              <a:rPr lang="en-US" sz="1650" b="1" spc="198" kern="0" dirty="0">
                <a:solidFill>
                  <a:srgbClr val="1C5C43"/>
                </a:solidFill>
                <a:latin typeface="IBM Plex Mono" pitchFamily="34" charset="0"/>
                <a:ea typeface="IBM Plex Mono" pitchFamily="34" charset="-122"/>
                <a:cs typeface="IBM Plex Mono" pitchFamily="34" charset="-120"/>
              </a:rPr>
              <a:t>03 · FUTURE STATE</a:t>
            </a:r>
            <a:endParaRPr lang="en-US" sz="1650" dirty="0"/>
          </a:p>
        </p:txBody>
      </p:sp>
      <p:sp>
        <p:nvSpPr>
          <p:cNvPr id="3" name="Text 1"/>
          <p:cNvSpPr/>
          <p:nvPr/>
        </p:nvSpPr>
        <p:spPr>
          <a:xfrm>
            <a:off x="685660" y="859351"/>
            <a:ext cx="7700384" cy="531159"/>
          </a:xfrm>
          <a:prstGeom prst="rect">
            <a:avLst/>
          </a:prstGeom>
          <a:noFill/>
          <a:ln/>
        </p:spPr>
        <p:txBody>
          <a:bodyPr wrap="square" lIns="25400" tIns="25400" rIns="25400" bIns="25400" rtlCol="0" anchor="t">
            <a:normAutofit/>
          </a:bodyPr>
          <a:lstStyle/>
          <a:p>
            <a:pPr algn="l" indent="0" marL="0">
              <a:buNone/>
            </a:pPr>
            <a:r>
              <a:rPr lang="en-US" sz="3300" b="1" spc="-33" kern="0" dirty="0">
                <a:solidFill>
                  <a:srgbClr val="0D2E22"/>
                </a:solidFill>
                <a:latin typeface="Public Sans" pitchFamily="34" charset="0"/>
                <a:ea typeface="Public Sans" pitchFamily="34" charset="-122"/>
                <a:cs typeface="Public Sans" pitchFamily="34" charset="-120"/>
              </a:rPr>
              <a:t>Exception handling — no dead ends</a:t>
            </a:r>
            <a:endParaRPr lang="en-US" sz="3300" dirty="0"/>
          </a:p>
        </p:txBody>
      </p:sp>
      <p:sp>
        <p:nvSpPr>
          <p:cNvPr id="4" name="Text 2"/>
          <p:cNvSpPr/>
          <p:nvPr/>
        </p:nvSpPr>
        <p:spPr>
          <a:xfrm>
            <a:off x="12500750" y="948998"/>
            <a:ext cx="5101589" cy="441512"/>
          </a:xfrm>
          <a:prstGeom prst="rect">
            <a:avLst/>
          </a:prstGeom>
          <a:noFill/>
          <a:ln/>
        </p:spPr>
        <p:txBody>
          <a:bodyPr wrap="square" lIns="25400" tIns="25400" rIns="25400" bIns="25400" rtlCol="0" anchor="t">
            <a:normAutofit/>
          </a:bodyPr>
          <a:lstStyle/>
          <a:p>
            <a:pPr algn="r" indent="0" marL="0">
              <a:buNone/>
            </a:pPr>
            <a:r>
              <a:rPr lang="en-US" sz="1200" dirty="0">
                <a:solidFill>
                  <a:srgbClr val="8996A6"/>
                </a:solidFill>
                <a:latin typeface="IBM Plex Mono" pitchFamily="34" charset="0"/>
                <a:ea typeface="IBM Plex Mono" pitchFamily="34" charset="-122"/>
                <a:cs typeface="IBM Plex Mono" pitchFamily="34" charset="-120"/>
              </a:rPr>
              <a:t>Every failure path the as-is leaves to email &amp; rework is detected, handled, and owned</a:t>
            </a:r>
            <a:endParaRPr lang="en-US" sz="1200" dirty="0"/>
          </a:p>
        </p:txBody>
      </p:sp>
      <p:sp>
        <p:nvSpPr>
          <p:cNvPr id="5" name="Shape 3"/>
          <p:cNvSpPr/>
          <p:nvPr/>
        </p:nvSpPr>
        <p:spPr>
          <a:xfrm>
            <a:off x="685660" y="1561820"/>
            <a:ext cx="5524499" cy="4067385"/>
          </a:xfrm>
          <a:prstGeom prst="roundRect">
            <a:avLst>
              <a:gd name="adj" fmla="val 3279"/>
            </a:avLst>
          </a:prstGeom>
          <a:solidFill>
            <a:srgbClr val="FFFFFF"/>
          </a:solidFill>
          <a:ln w="11206">
            <a:solidFill>
              <a:srgbClr val="DBE2EA"/>
            </a:solidFill>
            <a:prstDash val="solid"/>
          </a:ln>
        </p:spPr>
      </p:sp>
      <p:sp>
        <p:nvSpPr>
          <p:cNvPr id="6" name="Shape 4"/>
          <p:cNvSpPr/>
          <p:nvPr/>
        </p:nvSpPr>
        <p:spPr>
          <a:xfrm>
            <a:off x="925361" y="1782436"/>
            <a:ext cx="381000" cy="381000"/>
          </a:xfrm>
          <a:prstGeom prst="roundRect">
            <a:avLst>
              <a:gd name="adj" fmla="val 22500"/>
            </a:avLst>
          </a:prstGeom>
          <a:solidFill>
            <a:srgbClr val="FBF1E3"/>
          </a:solidFill>
          <a:ln w="11206">
            <a:solidFill>
              <a:srgbClr val="ECCFA3"/>
            </a:solidFill>
            <a:prstDash val="solid"/>
          </a:ln>
        </p:spPr>
      </p:sp>
      <p:sp>
        <p:nvSpPr>
          <p:cNvPr id="7" name="Text 5"/>
          <p:cNvSpPr/>
          <p:nvPr/>
        </p:nvSpPr>
        <p:spPr>
          <a:xfrm>
            <a:off x="898467" y="1793641"/>
            <a:ext cx="434788" cy="396688"/>
          </a:xfrm>
          <a:prstGeom prst="rect">
            <a:avLst/>
          </a:prstGeom>
          <a:noFill/>
          <a:ln/>
        </p:spPr>
        <p:txBody>
          <a:bodyPr wrap="square" lIns="25400" tIns="25400" rIns="25400" bIns="25400" rtlCol="0" anchor="ctr">
            <a:normAutofit/>
          </a:bodyPr>
          <a:lstStyle/>
          <a:p>
            <a:pPr algn="ctr" indent="0" marL="0">
              <a:buNone/>
            </a:pPr>
            <a:r>
              <a:rPr lang="en-US" sz="1500" dirty="0">
                <a:solidFill>
                  <a:srgbClr val="B4690E"/>
                </a:solidFill>
                <a:latin typeface="Public Sans" pitchFamily="34" charset="0"/>
                <a:ea typeface="Public Sans" pitchFamily="34" charset="-122"/>
                <a:cs typeface="Public Sans" pitchFamily="34" charset="-120"/>
              </a:rPr>
              <a:t>⌛</a:t>
            </a:r>
            <a:endParaRPr lang="en-US" sz="1500" dirty="0"/>
          </a:p>
        </p:txBody>
      </p:sp>
      <p:sp>
        <p:nvSpPr>
          <p:cNvPr id="8" name="Text 6"/>
          <p:cNvSpPr/>
          <p:nvPr/>
        </p:nvSpPr>
        <p:spPr>
          <a:xfrm>
            <a:off x="1420521" y="1866480"/>
            <a:ext cx="3599522" cy="251012"/>
          </a:xfrm>
          <a:prstGeom prst="rect">
            <a:avLst/>
          </a:prstGeom>
          <a:noFill/>
          <a:ln/>
        </p:spPr>
        <p:txBody>
          <a:bodyPr wrap="square" lIns="25400" tIns="25400" rIns="25400" bIns="25400" rtlCol="0" anchor="t">
            <a:normAutofit/>
          </a:bodyPr>
          <a:lstStyle/>
          <a:p>
            <a:pPr algn="l" indent="0" marL="0">
              <a:lnSpc>
                <a:spcPct val="97750"/>
              </a:lnSpc>
              <a:buNone/>
            </a:pPr>
            <a:r>
              <a:rPr lang="en-US" sz="1500" b="1" dirty="0">
                <a:solidFill>
                  <a:srgbClr val="0D2E22"/>
                </a:solidFill>
                <a:latin typeface="Public Sans" pitchFamily="34" charset="0"/>
                <a:ea typeface="Public Sans" pitchFamily="34" charset="-122"/>
                <a:cs typeface="Public Sans" pitchFamily="34" charset="-120"/>
              </a:rPr>
              <a:t>Customer picks no slot / link expires</a:t>
            </a:r>
            <a:endParaRPr lang="en-US" sz="1500" dirty="0"/>
          </a:p>
        </p:txBody>
      </p:sp>
      <p:sp>
        <p:nvSpPr>
          <p:cNvPr id="9" name="Text 7"/>
          <p:cNvSpPr/>
          <p:nvPr/>
        </p:nvSpPr>
        <p:spPr>
          <a:xfrm>
            <a:off x="925361" y="2277595"/>
            <a:ext cx="5549608" cy="194982"/>
          </a:xfrm>
          <a:prstGeom prst="rect">
            <a:avLst/>
          </a:prstGeom>
          <a:noFill/>
          <a:ln/>
        </p:spPr>
        <p:txBody>
          <a:bodyPr wrap="square" lIns="25400" tIns="25400" rIns="25400" bIns="25400" rtlCol="0" anchor="t">
            <a:normAutofit/>
          </a:bodyPr>
          <a:lstStyle/>
          <a:p>
            <a:pPr algn="l" indent="0" marL="0">
              <a:buNone/>
            </a:pPr>
            <a:r>
              <a:rPr lang="en-US" sz="975" b="1" spc="39" kern="0" dirty="0">
                <a:solidFill>
                  <a:srgbClr val="B4690E"/>
                </a:solidFill>
                <a:latin typeface="IBM Plex Mono" pitchFamily="34" charset="0"/>
                <a:ea typeface="IBM Plex Mono" pitchFamily="34" charset="-122"/>
                <a:cs typeface="IBM Plex Mono" pitchFamily="34" charset="-120"/>
              </a:rPr>
              <a:t>TRIGGER — BOOKING LINK UNUSED PAST ITS TTL</a:t>
            </a:r>
            <a:endParaRPr lang="en-US" sz="975" dirty="0"/>
          </a:p>
        </p:txBody>
      </p:sp>
      <p:sp>
        <p:nvSpPr>
          <p:cNvPr id="10" name="Text 8"/>
          <p:cNvSpPr/>
          <p:nvPr/>
        </p:nvSpPr>
        <p:spPr>
          <a:xfrm>
            <a:off x="925361" y="2548638"/>
            <a:ext cx="5196451" cy="2520553"/>
          </a:xfrm>
          <a:prstGeom prst="rect">
            <a:avLst/>
          </a:prstGeom>
          <a:noFill/>
          <a:ln/>
        </p:spPr>
        <p:txBody>
          <a:bodyPr wrap="square" lIns="25400" tIns="25400" rIns="25400" bIns="25400" rtlCol="0" anchor="t">
            <a:normAutofit/>
          </a:bodyPr>
          <a:lstStyle/>
          <a:p>
            <a:pPr algn="l" indent="0" marL="0">
              <a:lnSpc>
                <a:spcPct val="127500"/>
              </a:lnSpc>
              <a:buNone/>
            </a:pPr>
            <a:r>
              <a:rPr lang="en-US" sz="1200" b="1" dirty="0">
                <a:solidFill>
                  <a:srgbClr val="1C5C43"/>
                </a:solidFill>
                <a:latin typeface="Public Sans" pitchFamily="34" charset="0"/>
                <a:ea typeface="Public Sans" pitchFamily="34" charset="-122"/>
                <a:cs typeface="Public Sans" pitchFamily="34" charset="-120"/>
              </a:rPr>
              <a:t>Automated response — </a:t>
            </a:r>
            <a:pPr algn="l" indent="0" marL="0">
              <a:lnSpc>
                <a:spcPct val="127500"/>
              </a:lnSpc>
              <a:buNone/>
            </a:pPr>
            <a:r>
              <a:rPr lang="en-US" sz="1200" dirty="0">
                <a:solidFill>
                  <a:srgbClr val="33404F"/>
                </a:solidFill>
                <a:latin typeface="Public Sans" pitchFamily="34" charset="0"/>
                <a:ea typeface="Public Sans" pitchFamily="34" charset="-122"/>
                <a:cs typeface="Public Sans" pitchFamily="34" charset="-120"/>
              </a:rPr>
              <a:t>Flow auto-reminds the customer, then re-notifies the RM to re-propose — provisional holds auto-released, nothing left dangling</a:t>
            </a:r>
            <a:endParaRPr lang="en-US" sz="1200" dirty="0"/>
          </a:p>
        </p:txBody>
      </p:sp>
      <p:sp>
        <p:nvSpPr>
          <p:cNvPr id="11" name="Shape 9"/>
          <p:cNvSpPr/>
          <p:nvPr/>
        </p:nvSpPr>
        <p:spPr>
          <a:xfrm>
            <a:off x="925361" y="5145250"/>
            <a:ext cx="5045098" cy="11206"/>
          </a:xfrm>
          <a:prstGeom prst="rect">
            <a:avLst/>
          </a:prstGeom>
          <a:solidFill>
            <a:srgbClr val="EEF1F5"/>
          </a:solidFill>
          <a:ln/>
        </p:spPr>
      </p:sp>
      <p:sp>
        <p:nvSpPr>
          <p:cNvPr id="12" name="Text 10"/>
          <p:cNvSpPr/>
          <p:nvPr/>
        </p:nvSpPr>
        <p:spPr>
          <a:xfrm>
            <a:off x="925361" y="5251706"/>
            <a:ext cx="5196451" cy="194982"/>
          </a:xfrm>
          <a:prstGeom prst="rect">
            <a:avLst/>
          </a:prstGeom>
          <a:noFill/>
          <a:ln/>
        </p:spPr>
        <p:txBody>
          <a:bodyPr wrap="square" lIns="25400" tIns="25400" rIns="25400" bIns="25400" rtlCol="0" anchor="t">
            <a:normAutofit/>
          </a:bodyPr>
          <a:lstStyle/>
          <a:p>
            <a:pPr algn="l" indent="0" marL="0">
              <a:buNone/>
            </a:pPr>
            <a:r>
              <a:rPr lang="en-US" sz="975" b="1" dirty="0">
                <a:solidFill>
                  <a:srgbClr val="5B6675"/>
                </a:solidFill>
                <a:latin typeface="IBM Plex Mono" pitchFamily="34" charset="0"/>
                <a:ea typeface="IBM Plex Mono" pitchFamily="34" charset="-122"/>
                <a:cs typeface="IBM Plex Mono" pitchFamily="34" charset="-120"/>
              </a:rPr>
              <a:t>Human fallback · RM re-triggers with new dates</a:t>
            </a:r>
            <a:endParaRPr lang="en-US" sz="975" dirty="0"/>
          </a:p>
        </p:txBody>
      </p:sp>
      <p:sp>
        <p:nvSpPr>
          <p:cNvPr id="13" name="Shape 11"/>
          <p:cNvSpPr/>
          <p:nvPr/>
        </p:nvSpPr>
        <p:spPr>
          <a:xfrm>
            <a:off x="6381574" y="1561820"/>
            <a:ext cx="5524675" cy="4067385"/>
          </a:xfrm>
          <a:prstGeom prst="roundRect">
            <a:avLst>
              <a:gd name="adj" fmla="val 3279"/>
            </a:avLst>
          </a:prstGeom>
          <a:solidFill>
            <a:srgbClr val="FFFFFF"/>
          </a:solidFill>
          <a:ln w="11206">
            <a:solidFill>
              <a:srgbClr val="DBE2EA"/>
            </a:solidFill>
            <a:prstDash val="solid"/>
          </a:ln>
        </p:spPr>
      </p:sp>
      <p:sp>
        <p:nvSpPr>
          <p:cNvPr id="14" name="Shape 12"/>
          <p:cNvSpPr/>
          <p:nvPr/>
        </p:nvSpPr>
        <p:spPr>
          <a:xfrm>
            <a:off x="6621275" y="1782436"/>
            <a:ext cx="381000" cy="381000"/>
          </a:xfrm>
          <a:prstGeom prst="roundRect">
            <a:avLst>
              <a:gd name="adj" fmla="val 22500"/>
            </a:avLst>
          </a:prstGeom>
          <a:solidFill>
            <a:srgbClr val="FBF1E3"/>
          </a:solidFill>
          <a:ln w="11206">
            <a:solidFill>
              <a:srgbClr val="ECCFA3"/>
            </a:solidFill>
            <a:prstDash val="solid"/>
          </a:ln>
        </p:spPr>
      </p:sp>
      <p:sp>
        <p:nvSpPr>
          <p:cNvPr id="15" name="Text 13"/>
          <p:cNvSpPr/>
          <p:nvPr/>
        </p:nvSpPr>
        <p:spPr>
          <a:xfrm>
            <a:off x="6594381" y="1793641"/>
            <a:ext cx="434788" cy="396688"/>
          </a:xfrm>
          <a:prstGeom prst="rect">
            <a:avLst/>
          </a:prstGeom>
          <a:noFill/>
          <a:ln/>
        </p:spPr>
        <p:txBody>
          <a:bodyPr wrap="square" lIns="25400" tIns="25400" rIns="25400" bIns="25400" rtlCol="0" anchor="ctr">
            <a:normAutofit/>
          </a:bodyPr>
          <a:lstStyle/>
          <a:p>
            <a:pPr algn="ctr" indent="0" marL="0">
              <a:buNone/>
            </a:pPr>
            <a:r>
              <a:rPr lang="en-US" sz="1500" dirty="0">
                <a:solidFill>
                  <a:srgbClr val="B4690E"/>
                </a:solidFill>
                <a:latin typeface="Public Sans" pitchFamily="34" charset="0"/>
                <a:ea typeface="Public Sans" pitchFamily="34" charset="-122"/>
                <a:cs typeface="Public Sans" pitchFamily="34" charset="-120"/>
              </a:rPr>
              <a:t>⚠</a:t>
            </a:r>
            <a:endParaRPr lang="en-US" sz="1500" dirty="0"/>
          </a:p>
        </p:txBody>
      </p:sp>
      <p:sp>
        <p:nvSpPr>
          <p:cNvPr id="16" name="Text 14"/>
          <p:cNvSpPr/>
          <p:nvPr/>
        </p:nvSpPr>
        <p:spPr>
          <a:xfrm>
            <a:off x="7116435" y="1866480"/>
            <a:ext cx="2072388" cy="251012"/>
          </a:xfrm>
          <a:prstGeom prst="rect">
            <a:avLst/>
          </a:prstGeom>
          <a:noFill/>
          <a:ln/>
        </p:spPr>
        <p:txBody>
          <a:bodyPr wrap="square" lIns="25400" tIns="25400" rIns="25400" bIns="25400" rtlCol="0" anchor="t">
            <a:normAutofit/>
          </a:bodyPr>
          <a:lstStyle/>
          <a:p>
            <a:pPr algn="l" indent="0" marL="0">
              <a:lnSpc>
                <a:spcPct val="97750"/>
              </a:lnSpc>
              <a:buNone/>
            </a:pPr>
            <a:r>
              <a:rPr lang="en-US" sz="1500" b="1" dirty="0">
                <a:solidFill>
                  <a:srgbClr val="0D2E22"/>
                </a:solidFill>
                <a:latin typeface="Public Sans" pitchFamily="34" charset="0"/>
                <a:ea typeface="Public Sans" pitchFamily="34" charset="-122"/>
                <a:cs typeface="Public Sans" pitchFamily="34" charset="-120"/>
              </a:rPr>
              <a:t>Partner not available</a:t>
            </a:r>
            <a:endParaRPr lang="en-US" sz="1500" dirty="0"/>
          </a:p>
        </p:txBody>
      </p:sp>
      <p:sp>
        <p:nvSpPr>
          <p:cNvPr id="17" name="Text 15"/>
          <p:cNvSpPr/>
          <p:nvPr/>
        </p:nvSpPr>
        <p:spPr>
          <a:xfrm>
            <a:off x="6621275" y="2277595"/>
            <a:ext cx="5549800" cy="194982"/>
          </a:xfrm>
          <a:prstGeom prst="rect">
            <a:avLst/>
          </a:prstGeom>
          <a:noFill/>
          <a:ln/>
        </p:spPr>
        <p:txBody>
          <a:bodyPr wrap="square" lIns="25400" tIns="25400" rIns="25400" bIns="25400" rtlCol="0" anchor="t">
            <a:normAutofit/>
          </a:bodyPr>
          <a:lstStyle/>
          <a:p>
            <a:pPr algn="l" indent="0" marL="0">
              <a:buNone/>
            </a:pPr>
            <a:r>
              <a:rPr lang="en-US" sz="975" b="1" spc="39" kern="0" dirty="0">
                <a:solidFill>
                  <a:srgbClr val="B4690E"/>
                </a:solidFill>
                <a:latin typeface="IBM Plex Mono" pitchFamily="34" charset="0"/>
                <a:ea typeface="IBM Plex Mono" pitchFamily="34" charset="-122"/>
                <a:cs typeface="IBM Plex Mono" pitchFamily="34" charset="-120"/>
              </a:rPr>
              <a:t>TRIGGER — EA / PARTNER-AVAILABILITY CHECK RETURNS NO</a:t>
            </a:r>
            <a:endParaRPr lang="en-US" sz="975" dirty="0"/>
          </a:p>
        </p:txBody>
      </p:sp>
      <p:sp>
        <p:nvSpPr>
          <p:cNvPr id="18" name="Text 16"/>
          <p:cNvSpPr/>
          <p:nvPr/>
        </p:nvSpPr>
        <p:spPr>
          <a:xfrm>
            <a:off x="6621275" y="2548638"/>
            <a:ext cx="5196631" cy="2520553"/>
          </a:xfrm>
          <a:prstGeom prst="rect">
            <a:avLst/>
          </a:prstGeom>
          <a:noFill/>
          <a:ln/>
        </p:spPr>
        <p:txBody>
          <a:bodyPr wrap="square" lIns="25400" tIns="25400" rIns="25400" bIns="25400" rtlCol="0" anchor="t">
            <a:normAutofit/>
          </a:bodyPr>
          <a:lstStyle/>
          <a:p>
            <a:pPr algn="l" indent="0" marL="0">
              <a:lnSpc>
                <a:spcPct val="127500"/>
              </a:lnSpc>
              <a:buNone/>
            </a:pPr>
            <a:r>
              <a:rPr lang="en-US" sz="1200" b="1" dirty="0">
                <a:solidFill>
                  <a:srgbClr val="1C5C43"/>
                </a:solidFill>
                <a:latin typeface="Public Sans" pitchFamily="34" charset="0"/>
                <a:ea typeface="Public Sans" pitchFamily="34" charset="-122"/>
                <a:cs typeface="Public Sans" pitchFamily="34" charset="-120"/>
              </a:rPr>
              <a:t>Automated response — </a:t>
            </a:r>
            <a:pPr algn="l" indent="0" marL="0">
              <a:lnSpc>
                <a:spcPct val="127500"/>
              </a:lnSpc>
              <a:buNone/>
            </a:pPr>
            <a:r>
              <a:rPr lang="en-US" sz="1200" dirty="0">
                <a:solidFill>
                  <a:srgbClr val="33404F"/>
                </a:solidFill>
                <a:latin typeface="Public Sans" pitchFamily="34" charset="0"/>
                <a:ea typeface="Public Sans" pitchFamily="34" charset="-122"/>
                <a:cs typeface="Public Sans" pitchFamily="34" charset="-120"/>
              </a:rPr>
              <a:t>RM notified with the conflict and offered the next-best slots from the same Graph availability set — no manual re-check loop</a:t>
            </a:r>
            <a:endParaRPr lang="en-US" sz="1200" dirty="0"/>
          </a:p>
        </p:txBody>
      </p:sp>
      <p:sp>
        <p:nvSpPr>
          <p:cNvPr id="19" name="Shape 17"/>
          <p:cNvSpPr/>
          <p:nvPr/>
        </p:nvSpPr>
        <p:spPr>
          <a:xfrm>
            <a:off x="6621275" y="5145250"/>
            <a:ext cx="5045273" cy="11206"/>
          </a:xfrm>
          <a:prstGeom prst="rect">
            <a:avLst/>
          </a:prstGeom>
          <a:solidFill>
            <a:srgbClr val="EEF1F5"/>
          </a:solidFill>
          <a:ln/>
        </p:spPr>
      </p:sp>
      <p:sp>
        <p:nvSpPr>
          <p:cNvPr id="20" name="Text 18"/>
          <p:cNvSpPr/>
          <p:nvPr/>
        </p:nvSpPr>
        <p:spPr>
          <a:xfrm>
            <a:off x="6621275" y="5251706"/>
            <a:ext cx="5196631" cy="194982"/>
          </a:xfrm>
          <a:prstGeom prst="rect">
            <a:avLst/>
          </a:prstGeom>
          <a:noFill/>
          <a:ln/>
        </p:spPr>
        <p:txBody>
          <a:bodyPr wrap="square" lIns="25400" tIns="25400" rIns="25400" bIns="25400" rtlCol="0" anchor="t">
            <a:normAutofit/>
          </a:bodyPr>
          <a:lstStyle/>
          <a:p>
            <a:pPr algn="l" indent="0" marL="0">
              <a:buNone/>
            </a:pPr>
            <a:r>
              <a:rPr lang="en-US" sz="975" b="1" dirty="0">
                <a:solidFill>
                  <a:srgbClr val="5B6675"/>
                </a:solidFill>
                <a:latin typeface="IBM Plex Mono" pitchFamily="34" charset="0"/>
                <a:ea typeface="IBM Plex Mono" pitchFamily="34" charset="-122"/>
                <a:cs typeface="IBM Plex Mono" pitchFamily="34" charset="-120"/>
              </a:rPr>
              <a:t>Human fallback · RM re-books or proceeds without partner</a:t>
            </a:r>
            <a:endParaRPr lang="en-US" sz="975" dirty="0"/>
          </a:p>
        </p:txBody>
      </p:sp>
      <p:sp>
        <p:nvSpPr>
          <p:cNvPr id="21" name="Shape 19"/>
          <p:cNvSpPr/>
          <p:nvPr/>
        </p:nvSpPr>
        <p:spPr>
          <a:xfrm>
            <a:off x="12077664" y="1561820"/>
            <a:ext cx="5524675" cy="4067385"/>
          </a:xfrm>
          <a:prstGeom prst="roundRect">
            <a:avLst>
              <a:gd name="adj" fmla="val 3279"/>
            </a:avLst>
          </a:prstGeom>
          <a:solidFill>
            <a:srgbClr val="FFFFFF"/>
          </a:solidFill>
          <a:ln w="11206">
            <a:solidFill>
              <a:srgbClr val="DBE2EA"/>
            </a:solidFill>
            <a:prstDash val="solid"/>
          </a:ln>
        </p:spPr>
      </p:sp>
      <p:sp>
        <p:nvSpPr>
          <p:cNvPr id="22" name="Shape 20"/>
          <p:cNvSpPr/>
          <p:nvPr/>
        </p:nvSpPr>
        <p:spPr>
          <a:xfrm>
            <a:off x="12317366" y="1782436"/>
            <a:ext cx="381000" cy="381000"/>
          </a:xfrm>
          <a:prstGeom prst="roundRect">
            <a:avLst>
              <a:gd name="adj" fmla="val 22500"/>
            </a:avLst>
          </a:prstGeom>
          <a:solidFill>
            <a:srgbClr val="FBF1E3"/>
          </a:solidFill>
          <a:ln w="11206">
            <a:solidFill>
              <a:srgbClr val="ECCFA3"/>
            </a:solidFill>
            <a:prstDash val="solid"/>
          </a:ln>
        </p:spPr>
      </p:sp>
      <p:sp>
        <p:nvSpPr>
          <p:cNvPr id="23" name="Text 21"/>
          <p:cNvSpPr/>
          <p:nvPr/>
        </p:nvSpPr>
        <p:spPr>
          <a:xfrm>
            <a:off x="12290471" y="1793641"/>
            <a:ext cx="434788" cy="396688"/>
          </a:xfrm>
          <a:prstGeom prst="rect">
            <a:avLst/>
          </a:prstGeom>
          <a:noFill/>
          <a:ln/>
        </p:spPr>
        <p:txBody>
          <a:bodyPr wrap="square" lIns="25400" tIns="25400" rIns="25400" bIns="25400" rtlCol="0" anchor="ctr">
            <a:normAutofit/>
          </a:bodyPr>
          <a:lstStyle/>
          <a:p>
            <a:pPr algn="ctr" indent="0" marL="0">
              <a:buNone/>
            </a:pPr>
            <a:r>
              <a:rPr lang="en-US" sz="1500" dirty="0">
                <a:solidFill>
                  <a:srgbClr val="B4690E"/>
                </a:solidFill>
                <a:latin typeface="Public Sans" pitchFamily="34" charset="0"/>
                <a:ea typeface="Public Sans" pitchFamily="34" charset="-122"/>
                <a:cs typeface="Public Sans" pitchFamily="34" charset="-120"/>
              </a:rPr>
              <a:t>▢</a:t>
            </a:r>
            <a:endParaRPr lang="en-US" sz="1500" dirty="0"/>
          </a:p>
        </p:txBody>
      </p:sp>
      <p:sp>
        <p:nvSpPr>
          <p:cNvPr id="24" name="Text 22"/>
          <p:cNvSpPr/>
          <p:nvPr/>
        </p:nvSpPr>
        <p:spPr>
          <a:xfrm>
            <a:off x="12812525" y="1866480"/>
            <a:ext cx="1783101" cy="251012"/>
          </a:xfrm>
          <a:prstGeom prst="rect">
            <a:avLst/>
          </a:prstGeom>
          <a:noFill/>
          <a:ln/>
        </p:spPr>
        <p:txBody>
          <a:bodyPr wrap="square" lIns="25400" tIns="25400" rIns="25400" bIns="25400" rtlCol="0" anchor="t">
            <a:normAutofit/>
          </a:bodyPr>
          <a:lstStyle/>
          <a:p>
            <a:pPr algn="l" indent="0" marL="0">
              <a:lnSpc>
                <a:spcPct val="97750"/>
              </a:lnSpc>
              <a:buNone/>
            </a:pPr>
            <a:r>
              <a:rPr lang="en-US" sz="1500" b="1" dirty="0">
                <a:solidFill>
                  <a:srgbClr val="0D2E22"/>
                </a:solidFill>
                <a:latin typeface="Public Sans" pitchFamily="34" charset="0"/>
                <a:ea typeface="Public Sans" pitchFamily="34" charset="-122"/>
                <a:cs typeface="Public Sans" pitchFamily="34" charset="-120"/>
              </a:rPr>
              <a:t>No room available</a:t>
            </a:r>
            <a:endParaRPr lang="en-US" sz="1500" dirty="0"/>
          </a:p>
        </p:txBody>
      </p:sp>
      <p:sp>
        <p:nvSpPr>
          <p:cNvPr id="25" name="Text 23"/>
          <p:cNvSpPr/>
          <p:nvPr/>
        </p:nvSpPr>
        <p:spPr>
          <a:xfrm>
            <a:off x="12317366" y="2277595"/>
            <a:ext cx="5549800" cy="194982"/>
          </a:xfrm>
          <a:prstGeom prst="rect">
            <a:avLst/>
          </a:prstGeom>
          <a:noFill/>
          <a:ln/>
        </p:spPr>
        <p:txBody>
          <a:bodyPr wrap="square" lIns="25400" tIns="25400" rIns="25400" bIns="25400" rtlCol="0" anchor="t">
            <a:normAutofit/>
          </a:bodyPr>
          <a:lstStyle/>
          <a:p>
            <a:pPr algn="l" indent="0" marL="0">
              <a:buNone/>
            </a:pPr>
            <a:r>
              <a:rPr lang="en-US" sz="975" b="1" spc="39" kern="0" dirty="0">
                <a:solidFill>
                  <a:srgbClr val="B4690E"/>
                </a:solidFill>
                <a:latin typeface="IBM Plex Mono" pitchFamily="34" charset="0"/>
                <a:ea typeface="IBM Plex Mono" pitchFamily="34" charset="-122"/>
                <a:cs typeface="IBM Plex Mono" pitchFamily="34" charset="-120"/>
              </a:rPr>
              <a:t>TRIGGER — GRAPH ROOM-LIST RETURNS NO FREE RESOURCE</a:t>
            </a:r>
            <a:endParaRPr lang="en-US" sz="975" dirty="0"/>
          </a:p>
        </p:txBody>
      </p:sp>
      <p:sp>
        <p:nvSpPr>
          <p:cNvPr id="26" name="Text 24"/>
          <p:cNvSpPr/>
          <p:nvPr/>
        </p:nvSpPr>
        <p:spPr>
          <a:xfrm>
            <a:off x="12317366" y="2548638"/>
            <a:ext cx="5196631" cy="2520553"/>
          </a:xfrm>
          <a:prstGeom prst="rect">
            <a:avLst/>
          </a:prstGeom>
          <a:noFill/>
          <a:ln/>
        </p:spPr>
        <p:txBody>
          <a:bodyPr wrap="square" lIns="25400" tIns="25400" rIns="25400" bIns="25400" rtlCol="0" anchor="t">
            <a:normAutofit/>
          </a:bodyPr>
          <a:lstStyle/>
          <a:p>
            <a:pPr algn="l" indent="0" marL="0">
              <a:lnSpc>
                <a:spcPct val="127500"/>
              </a:lnSpc>
              <a:buNone/>
            </a:pPr>
            <a:r>
              <a:rPr lang="en-US" sz="1200" b="1" dirty="0">
                <a:solidFill>
                  <a:srgbClr val="1C5C43"/>
                </a:solidFill>
                <a:latin typeface="Public Sans" pitchFamily="34" charset="0"/>
                <a:ea typeface="Public Sans" pitchFamily="34" charset="-122"/>
                <a:cs typeface="Public Sans" pitchFamily="34" charset="-120"/>
              </a:rPr>
              <a:t>Automated response — </a:t>
            </a:r>
            <a:pPr algn="l" indent="0" marL="0">
              <a:lnSpc>
                <a:spcPct val="127500"/>
              </a:lnSpc>
              <a:buNone/>
            </a:pPr>
            <a:r>
              <a:rPr lang="en-US" sz="1200" dirty="0">
                <a:solidFill>
                  <a:srgbClr val="33404F"/>
                </a:solidFill>
                <a:latin typeface="Public Sans" pitchFamily="34" charset="0"/>
                <a:ea typeface="Public Sans" pitchFamily="34" charset="-122"/>
                <a:cs typeface="Public Sans" pitchFamily="34" charset="-120"/>
              </a:rPr>
              <a:t>Flow widens the search (nearby rooms / next slots) and flags virtual-only as a fallback option</a:t>
            </a:r>
            <a:endParaRPr lang="en-US" sz="1200" dirty="0"/>
          </a:p>
        </p:txBody>
      </p:sp>
      <p:sp>
        <p:nvSpPr>
          <p:cNvPr id="27" name="Shape 25"/>
          <p:cNvSpPr/>
          <p:nvPr/>
        </p:nvSpPr>
        <p:spPr>
          <a:xfrm>
            <a:off x="12317366" y="5145250"/>
            <a:ext cx="5045273" cy="11206"/>
          </a:xfrm>
          <a:prstGeom prst="rect">
            <a:avLst/>
          </a:prstGeom>
          <a:solidFill>
            <a:srgbClr val="EEF1F5"/>
          </a:solidFill>
          <a:ln/>
        </p:spPr>
      </p:sp>
      <p:sp>
        <p:nvSpPr>
          <p:cNvPr id="28" name="Text 26"/>
          <p:cNvSpPr/>
          <p:nvPr/>
        </p:nvSpPr>
        <p:spPr>
          <a:xfrm>
            <a:off x="12317366" y="5251706"/>
            <a:ext cx="5196631" cy="194982"/>
          </a:xfrm>
          <a:prstGeom prst="rect">
            <a:avLst/>
          </a:prstGeom>
          <a:noFill/>
          <a:ln/>
        </p:spPr>
        <p:txBody>
          <a:bodyPr wrap="square" lIns="25400" tIns="25400" rIns="25400" bIns="25400" rtlCol="0" anchor="t">
            <a:normAutofit/>
          </a:bodyPr>
          <a:lstStyle/>
          <a:p>
            <a:pPr algn="l" indent="0" marL="0">
              <a:buNone/>
            </a:pPr>
            <a:r>
              <a:rPr lang="en-US" sz="975" b="1" dirty="0">
                <a:solidFill>
                  <a:srgbClr val="5B6675"/>
                </a:solidFill>
                <a:latin typeface="IBM Plex Mono" pitchFamily="34" charset="0"/>
                <a:ea typeface="IBM Plex Mono" pitchFamily="34" charset="-122"/>
                <a:cs typeface="IBM Plex Mono" pitchFamily="34" charset="-120"/>
              </a:rPr>
              <a:t>Human fallback · RM selects alternate or virtual</a:t>
            </a:r>
            <a:endParaRPr lang="en-US" sz="975" dirty="0"/>
          </a:p>
        </p:txBody>
      </p:sp>
      <p:sp>
        <p:nvSpPr>
          <p:cNvPr id="29" name="Shape 27"/>
          <p:cNvSpPr/>
          <p:nvPr/>
        </p:nvSpPr>
        <p:spPr>
          <a:xfrm>
            <a:off x="685660" y="5800620"/>
            <a:ext cx="5524499" cy="4067385"/>
          </a:xfrm>
          <a:prstGeom prst="roundRect">
            <a:avLst>
              <a:gd name="adj" fmla="val 3279"/>
            </a:avLst>
          </a:prstGeom>
          <a:solidFill>
            <a:srgbClr val="FFFFFF"/>
          </a:solidFill>
          <a:ln w="11206">
            <a:solidFill>
              <a:srgbClr val="DBE2EA"/>
            </a:solidFill>
            <a:prstDash val="solid"/>
          </a:ln>
        </p:spPr>
      </p:sp>
      <p:sp>
        <p:nvSpPr>
          <p:cNvPr id="30" name="Shape 28"/>
          <p:cNvSpPr/>
          <p:nvPr/>
        </p:nvSpPr>
        <p:spPr>
          <a:xfrm>
            <a:off x="925361" y="6021235"/>
            <a:ext cx="381000" cy="381000"/>
          </a:xfrm>
          <a:prstGeom prst="roundRect">
            <a:avLst>
              <a:gd name="adj" fmla="val 22500"/>
            </a:avLst>
          </a:prstGeom>
          <a:solidFill>
            <a:srgbClr val="FBF1E3"/>
          </a:solidFill>
          <a:ln w="11206">
            <a:solidFill>
              <a:srgbClr val="ECCFA3"/>
            </a:solidFill>
            <a:prstDash val="solid"/>
          </a:ln>
        </p:spPr>
      </p:sp>
      <p:sp>
        <p:nvSpPr>
          <p:cNvPr id="31" name="Text 29"/>
          <p:cNvSpPr/>
          <p:nvPr/>
        </p:nvSpPr>
        <p:spPr>
          <a:xfrm>
            <a:off x="898467" y="6032441"/>
            <a:ext cx="434788" cy="396688"/>
          </a:xfrm>
          <a:prstGeom prst="rect">
            <a:avLst/>
          </a:prstGeom>
          <a:noFill/>
          <a:ln/>
        </p:spPr>
        <p:txBody>
          <a:bodyPr wrap="square" lIns="25400" tIns="25400" rIns="25400" bIns="25400" rtlCol="0" anchor="ctr">
            <a:normAutofit/>
          </a:bodyPr>
          <a:lstStyle/>
          <a:p>
            <a:pPr algn="ctr" indent="0" marL="0">
              <a:buNone/>
            </a:pPr>
            <a:r>
              <a:rPr lang="en-US" sz="1500" dirty="0">
                <a:solidFill>
                  <a:srgbClr val="B4690E"/>
                </a:solidFill>
                <a:latin typeface="Public Sans" pitchFamily="34" charset="0"/>
                <a:ea typeface="Public Sans" pitchFamily="34" charset="-122"/>
                <a:cs typeface="Public Sans" pitchFamily="34" charset="-120"/>
              </a:rPr>
              <a:t>↩</a:t>
            </a:r>
            <a:endParaRPr lang="en-US" sz="1500" dirty="0"/>
          </a:p>
        </p:txBody>
      </p:sp>
      <p:sp>
        <p:nvSpPr>
          <p:cNvPr id="32" name="Text 30"/>
          <p:cNvSpPr/>
          <p:nvPr/>
        </p:nvSpPr>
        <p:spPr>
          <a:xfrm>
            <a:off x="1420521" y="6105280"/>
            <a:ext cx="3192363" cy="251012"/>
          </a:xfrm>
          <a:prstGeom prst="rect">
            <a:avLst/>
          </a:prstGeom>
          <a:noFill/>
          <a:ln/>
        </p:spPr>
        <p:txBody>
          <a:bodyPr wrap="square" lIns="25400" tIns="25400" rIns="25400" bIns="25400" rtlCol="0" anchor="t">
            <a:normAutofit/>
          </a:bodyPr>
          <a:lstStyle/>
          <a:p>
            <a:pPr algn="l" indent="0" marL="0">
              <a:lnSpc>
                <a:spcPct val="97750"/>
              </a:lnSpc>
              <a:buNone/>
            </a:pPr>
            <a:r>
              <a:rPr lang="en-US" sz="1500" b="1" dirty="0">
                <a:solidFill>
                  <a:srgbClr val="0D2E22"/>
                </a:solidFill>
                <a:latin typeface="Public Sans" pitchFamily="34" charset="0"/>
                <a:ea typeface="Public Sans" pitchFamily="34" charset="-122"/>
                <a:cs typeface="Public Sans" pitchFamily="34" charset="-120"/>
              </a:rPr>
              <a:t>Attendee declines after booking</a:t>
            </a:r>
            <a:endParaRPr lang="en-US" sz="1500" dirty="0"/>
          </a:p>
        </p:txBody>
      </p:sp>
      <p:sp>
        <p:nvSpPr>
          <p:cNvPr id="33" name="Text 31"/>
          <p:cNvSpPr/>
          <p:nvPr/>
        </p:nvSpPr>
        <p:spPr>
          <a:xfrm>
            <a:off x="925361" y="6516395"/>
            <a:ext cx="5549608" cy="194982"/>
          </a:xfrm>
          <a:prstGeom prst="rect">
            <a:avLst/>
          </a:prstGeom>
          <a:noFill/>
          <a:ln/>
        </p:spPr>
        <p:txBody>
          <a:bodyPr wrap="square" lIns="25400" tIns="25400" rIns="25400" bIns="25400" rtlCol="0" anchor="t">
            <a:normAutofit/>
          </a:bodyPr>
          <a:lstStyle/>
          <a:p>
            <a:pPr algn="l" indent="0" marL="0">
              <a:buNone/>
            </a:pPr>
            <a:r>
              <a:rPr lang="en-US" sz="975" b="1" spc="39" kern="0" dirty="0">
                <a:solidFill>
                  <a:srgbClr val="B4690E"/>
                </a:solidFill>
                <a:latin typeface="IBM Plex Mono" pitchFamily="34" charset="0"/>
                <a:ea typeface="IBM Plex Mono" pitchFamily="34" charset="-122"/>
                <a:cs typeface="IBM Plex Mono" pitchFamily="34" charset="-120"/>
              </a:rPr>
              <a:t>TRIGGER — OUTLOOK DECLINE EVENT RECEIVED</a:t>
            </a:r>
            <a:endParaRPr lang="en-US" sz="975" dirty="0"/>
          </a:p>
        </p:txBody>
      </p:sp>
      <p:sp>
        <p:nvSpPr>
          <p:cNvPr id="34" name="Text 32"/>
          <p:cNvSpPr/>
          <p:nvPr/>
        </p:nvSpPr>
        <p:spPr>
          <a:xfrm>
            <a:off x="925361" y="6787437"/>
            <a:ext cx="5196451" cy="2520553"/>
          </a:xfrm>
          <a:prstGeom prst="rect">
            <a:avLst/>
          </a:prstGeom>
          <a:noFill/>
          <a:ln/>
        </p:spPr>
        <p:txBody>
          <a:bodyPr wrap="square" lIns="25400" tIns="25400" rIns="25400" bIns="25400" rtlCol="0" anchor="t">
            <a:normAutofit/>
          </a:bodyPr>
          <a:lstStyle/>
          <a:p>
            <a:pPr algn="l" indent="0" marL="0">
              <a:lnSpc>
                <a:spcPct val="127500"/>
              </a:lnSpc>
              <a:buNone/>
            </a:pPr>
            <a:r>
              <a:rPr lang="en-US" sz="1200" b="1" dirty="0">
                <a:solidFill>
                  <a:srgbClr val="1C5C43"/>
                </a:solidFill>
                <a:latin typeface="Public Sans" pitchFamily="34" charset="0"/>
                <a:ea typeface="Public Sans" pitchFamily="34" charset="-122"/>
                <a:cs typeface="Public Sans" pitchFamily="34" charset="-120"/>
              </a:rPr>
              <a:t>Automated response — </a:t>
            </a:r>
            <a:pPr algn="l" indent="0" marL="0">
              <a:lnSpc>
                <a:spcPct val="127500"/>
              </a:lnSpc>
              <a:buNone/>
            </a:pPr>
            <a:r>
              <a:rPr lang="en-US" sz="1200" dirty="0">
                <a:solidFill>
                  <a:srgbClr val="33404F"/>
                </a:solidFill>
                <a:latin typeface="Public Sans" pitchFamily="34" charset="0"/>
                <a:ea typeface="Public Sans" pitchFamily="34" charset="-122"/>
                <a:cs typeface="Public Sans" pitchFamily="34" charset="-120"/>
              </a:rPr>
              <a:t>Flow re-opens the booking record, re-runs availability and notifies the RM — audit trail preserved</a:t>
            </a:r>
            <a:endParaRPr lang="en-US" sz="1200" dirty="0"/>
          </a:p>
        </p:txBody>
      </p:sp>
      <p:sp>
        <p:nvSpPr>
          <p:cNvPr id="35" name="Shape 33"/>
          <p:cNvSpPr/>
          <p:nvPr/>
        </p:nvSpPr>
        <p:spPr>
          <a:xfrm>
            <a:off x="925361" y="9384050"/>
            <a:ext cx="5045098" cy="11206"/>
          </a:xfrm>
          <a:prstGeom prst="rect">
            <a:avLst/>
          </a:prstGeom>
          <a:solidFill>
            <a:srgbClr val="EEF1F5"/>
          </a:solidFill>
          <a:ln/>
        </p:spPr>
      </p:sp>
      <p:sp>
        <p:nvSpPr>
          <p:cNvPr id="36" name="Text 34"/>
          <p:cNvSpPr/>
          <p:nvPr/>
        </p:nvSpPr>
        <p:spPr>
          <a:xfrm>
            <a:off x="925361" y="9490506"/>
            <a:ext cx="5196451" cy="194982"/>
          </a:xfrm>
          <a:prstGeom prst="rect">
            <a:avLst/>
          </a:prstGeom>
          <a:noFill/>
          <a:ln/>
        </p:spPr>
        <p:txBody>
          <a:bodyPr wrap="square" lIns="25400" tIns="25400" rIns="25400" bIns="25400" rtlCol="0" anchor="t">
            <a:normAutofit/>
          </a:bodyPr>
          <a:lstStyle/>
          <a:p>
            <a:pPr algn="l" indent="0" marL="0">
              <a:buNone/>
            </a:pPr>
            <a:r>
              <a:rPr lang="en-US" sz="975" b="1" dirty="0">
                <a:solidFill>
                  <a:srgbClr val="5B6675"/>
                </a:solidFill>
                <a:latin typeface="IBM Plex Mono" pitchFamily="34" charset="0"/>
                <a:ea typeface="IBM Plex Mono" pitchFamily="34" charset="-122"/>
                <a:cs typeface="IBM Plex Mono" pitchFamily="34" charset="-120"/>
              </a:rPr>
              <a:t>Human fallback · RM re-orchestrates in one action</a:t>
            </a:r>
            <a:endParaRPr lang="en-US" sz="975" dirty="0"/>
          </a:p>
        </p:txBody>
      </p:sp>
      <p:sp>
        <p:nvSpPr>
          <p:cNvPr id="37" name="Shape 35"/>
          <p:cNvSpPr/>
          <p:nvPr/>
        </p:nvSpPr>
        <p:spPr>
          <a:xfrm>
            <a:off x="6381574" y="5800620"/>
            <a:ext cx="5524675" cy="4067385"/>
          </a:xfrm>
          <a:prstGeom prst="roundRect">
            <a:avLst>
              <a:gd name="adj" fmla="val 3279"/>
            </a:avLst>
          </a:prstGeom>
          <a:solidFill>
            <a:srgbClr val="FFFFFF"/>
          </a:solidFill>
          <a:ln w="11206">
            <a:solidFill>
              <a:srgbClr val="DBE2EA"/>
            </a:solidFill>
            <a:prstDash val="solid"/>
          </a:ln>
        </p:spPr>
      </p:sp>
      <p:sp>
        <p:nvSpPr>
          <p:cNvPr id="38" name="Shape 36"/>
          <p:cNvSpPr/>
          <p:nvPr/>
        </p:nvSpPr>
        <p:spPr>
          <a:xfrm>
            <a:off x="6621275" y="6021235"/>
            <a:ext cx="381000" cy="381000"/>
          </a:xfrm>
          <a:prstGeom prst="roundRect">
            <a:avLst>
              <a:gd name="adj" fmla="val 22500"/>
            </a:avLst>
          </a:prstGeom>
          <a:solidFill>
            <a:srgbClr val="FBF1E3"/>
          </a:solidFill>
          <a:ln w="11206">
            <a:solidFill>
              <a:srgbClr val="ECCFA3"/>
            </a:solidFill>
            <a:prstDash val="solid"/>
          </a:ln>
        </p:spPr>
      </p:sp>
      <p:sp>
        <p:nvSpPr>
          <p:cNvPr id="39" name="Text 37"/>
          <p:cNvSpPr/>
          <p:nvPr/>
        </p:nvSpPr>
        <p:spPr>
          <a:xfrm>
            <a:off x="6594381" y="6032441"/>
            <a:ext cx="434788" cy="396688"/>
          </a:xfrm>
          <a:prstGeom prst="rect">
            <a:avLst/>
          </a:prstGeom>
          <a:noFill/>
          <a:ln/>
        </p:spPr>
        <p:txBody>
          <a:bodyPr wrap="square" lIns="25400" tIns="25400" rIns="25400" bIns="25400" rtlCol="0" anchor="ctr">
            <a:normAutofit/>
          </a:bodyPr>
          <a:lstStyle/>
          <a:p>
            <a:pPr algn="ctr" indent="0" marL="0">
              <a:buNone/>
            </a:pPr>
            <a:r>
              <a:rPr lang="en-US" sz="1500" dirty="0">
                <a:solidFill>
                  <a:srgbClr val="B4690E"/>
                </a:solidFill>
                <a:latin typeface="Public Sans" pitchFamily="34" charset="0"/>
                <a:ea typeface="Public Sans" pitchFamily="34" charset="-122"/>
                <a:cs typeface="Public Sans" pitchFamily="34" charset="-120"/>
              </a:rPr>
              <a:t>⊘</a:t>
            </a:r>
            <a:endParaRPr lang="en-US" sz="1500" dirty="0"/>
          </a:p>
        </p:txBody>
      </p:sp>
      <p:sp>
        <p:nvSpPr>
          <p:cNvPr id="40" name="Text 38"/>
          <p:cNvSpPr/>
          <p:nvPr/>
        </p:nvSpPr>
        <p:spPr>
          <a:xfrm>
            <a:off x="7116435" y="6105280"/>
            <a:ext cx="3407306" cy="251012"/>
          </a:xfrm>
          <a:prstGeom prst="rect">
            <a:avLst/>
          </a:prstGeom>
          <a:noFill/>
          <a:ln/>
        </p:spPr>
        <p:txBody>
          <a:bodyPr wrap="square" lIns="25400" tIns="25400" rIns="25400" bIns="25400" rtlCol="0" anchor="t">
            <a:normAutofit/>
          </a:bodyPr>
          <a:lstStyle/>
          <a:p>
            <a:pPr algn="l" indent="0" marL="0">
              <a:lnSpc>
                <a:spcPct val="97750"/>
              </a:lnSpc>
              <a:buNone/>
            </a:pPr>
            <a:r>
              <a:rPr lang="en-US" sz="1500" b="1" dirty="0">
                <a:solidFill>
                  <a:srgbClr val="0D2E22"/>
                </a:solidFill>
                <a:latin typeface="Public Sans" pitchFamily="34" charset="0"/>
                <a:ea typeface="Public Sans" pitchFamily="34" charset="-122"/>
                <a:cs typeface="Public Sans" pitchFamily="34" charset="-120"/>
              </a:rPr>
              <a:t>CRM lookup / partner flag missing</a:t>
            </a:r>
            <a:endParaRPr lang="en-US" sz="1500" dirty="0"/>
          </a:p>
        </p:txBody>
      </p:sp>
      <p:sp>
        <p:nvSpPr>
          <p:cNvPr id="41" name="Text 39"/>
          <p:cNvSpPr/>
          <p:nvPr/>
        </p:nvSpPr>
        <p:spPr>
          <a:xfrm>
            <a:off x="6621275" y="6516395"/>
            <a:ext cx="5549800" cy="194982"/>
          </a:xfrm>
          <a:prstGeom prst="rect">
            <a:avLst/>
          </a:prstGeom>
          <a:noFill/>
          <a:ln/>
        </p:spPr>
        <p:txBody>
          <a:bodyPr wrap="square" lIns="25400" tIns="25400" rIns="25400" bIns="25400" rtlCol="0" anchor="t">
            <a:normAutofit/>
          </a:bodyPr>
          <a:lstStyle/>
          <a:p>
            <a:pPr algn="l" indent="0" marL="0">
              <a:buNone/>
            </a:pPr>
            <a:r>
              <a:rPr lang="en-US" sz="975" b="1" spc="39" kern="0" dirty="0">
                <a:solidFill>
                  <a:srgbClr val="B4690E"/>
                </a:solidFill>
                <a:latin typeface="IBM Plex Mono" pitchFamily="34" charset="0"/>
                <a:ea typeface="IBM Plex Mono" pitchFamily="34" charset="-122"/>
                <a:cs typeface="IBM Plex Mono" pitchFamily="34" charset="-120"/>
              </a:rPr>
              <a:t>TRIGGER — DYNAMICS RECORD INCOMPLETE</a:t>
            </a:r>
            <a:endParaRPr lang="en-US" sz="975" dirty="0"/>
          </a:p>
        </p:txBody>
      </p:sp>
      <p:sp>
        <p:nvSpPr>
          <p:cNvPr id="42" name="Text 40"/>
          <p:cNvSpPr/>
          <p:nvPr/>
        </p:nvSpPr>
        <p:spPr>
          <a:xfrm>
            <a:off x="6621275" y="6787437"/>
            <a:ext cx="5196631" cy="2520553"/>
          </a:xfrm>
          <a:prstGeom prst="rect">
            <a:avLst/>
          </a:prstGeom>
          <a:noFill/>
          <a:ln/>
        </p:spPr>
        <p:txBody>
          <a:bodyPr wrap="square" lIns="25400" tIns="25400" rIns="25400" bIns="25400" rtlCol="0" anchor="t">
            <a:normAutofit/>
          </a:bodyPr>
          <a:lstStyle/>
          <a:p>
            <a:pPr algn="l" indent="0" marL="0">
              <a:lnSpc>
                <a:spcPct val="127500"/>
              </a:lnSpc>
              <a:buNone/>
            </a:pPr>
            <a:r>
              <a:rPr lang="en-US" sz="1200" b="1" dirty="0">
                <a:solidFill>
                  <a:srgbClr val="1C5C43"/>
                </a:solidFill>
                <a:latin typeface="Public Sans" pitchFamily="34" charset="0"/>
                <a:ea typeface="Public Sans" pitchFamily="34" charset="-122"/>
                <a:cs typeface="Public Sans" pitchFamily="34" charset="-120"/>
              </a:rPr>
              <a:t>Automated response — </a:t>
            </a:r>
            <a:pPr algn="l" indent="0" marL="0">
              <a:lnSpc>
                <a:spcPct val="127500"/>
              </a:lnSpc>
              <a:buNone/>
            </a:pPr>
            <a:r>
              <a:rPr lang="en-US" sz="1200" dirty="0">
                <a:solidFill>
                  <a:srgbClr val="33404F"/>
                </a:solidFill>
                <a:latin typeface="Public Sans" pitchFamily="34" charset="0"/>
                <a:ea typeface="Public Sans" pitchFamily="34" charset="-122"/>
                <a:cs typeface="Public Sans" pitchFamily="34" charset="-120"/>
              </a:rPr>
              <a:t>Flow proceeds on the vanilla path and prompts the RM to confirm partner status before send — never silently skips</a:t>
            </a:r>
            <a:endParaRPr lang="en-US" sz="1200" dirty="0"/>
          </a:p>
        </p:txBody>
      </p:sp>
      <p:sp>
        <p:nvSpPr>
          <p:cNvPr id="43" name="Shape 41"/>
          <p:cNvSpPr/>
          <p:nvPr/>
        </p:nvSpPr>
        <p:spPr>
          <a:xfrm>
            <a:off x="6621275" y="9384050"/>
            <a:ext cx="5045273" cy="11206"/>
          </a:xfrm>
          <a:prstGeom prst="rect">
            <a:avLst/>
          </a:prstGeom>
          <a:solidFill>
            <a:srgbClr val="EEF1F5"/>
          </a:solidFill>
          <a:ln/>
        </p:spPr>
      </p:sp>
      <p:sp>
        <p:nvSpPr>
          <p:cNvPr id="44" name="Text 42"/>
          <p:cNvSpPr/>
          <p:nvPr/>
        </p:nvSpPr>
        <p:spPr>
          <a:xfrm>
            <a:off x="6621275" y="9490506"/>
            <a:ext cx="5196631" cy="194982"/>
          </a:xfrm>
          <a:prstGeom prst="rect">
            <a:avLst/>
          </a:prstGeom>
          <a:noFill/>
          <a:ln/>
        </p:spPr>
        <p:txBody>
          <a:bodyPr wrap="square" lIns="25400" tIns="25400" rIns="25400" bIns="25400" rtlCol="0" anchor="t">
            <a:normAutofit/>
          </a:bodyPr>
          <a:lstStyle/>
          <a:p>
            <a:pPr algn="l" indent="0" marL="0">
              <a:buNone/>
            </a:pPr>
            <a:r>
              <a:rPr lang="en-US" sz="975" b="1" dirty="0">
                <a:solidFill>
                  <a:srgbClr val="5B6675"/>
                </a:solidFill>
                <a:latin typeface="IBM Plex Mono" pitchFamily="34" charset="0"/>
                <a:ea typeface="IBM Plex Mono" pitchFamily="34" charset="-122"/>
                <a:cs typeface="IBM Plex Mono" pitchFamily="34" charset="-120"/>
              </a:rPr>
              <a:t>Human fallback · RM confirms; data-quality task raised</a:t>
            </a:r>
            <a:endParaRPr lang="en-US" sz="975" dirty="0"/>
          </a:p>
        </p:txBody>
      </p:sp>
      <p:sp>
        <p:nvSpPr>
          <p:cNvPr id="45" name="Shape 43"/>
          <p:cNvSpPr/>
          <p:nvPr/>
        </p:nvSpPr>
        <p:spPr>
          <a:xfrm>
            <a:off x="12077664" y="5800620"/>
            <a:ext cx="5524675" cy="4067385"/>
          </a:xfrm>
          <a:prstGeom prst="roundRect">
            <a:avLst>
              <a:gd name="adj" fmla="val 3279"/>
            </a:avLst>
          </a:prstGeom>
          <a:solidFill>
            <a:srgbClr val="0D2E22"/>
          </a:solidFill>
          <a:ln/>
        </p:spPr>
      </p:sp>
      <p:sp>
        <p:nvSpPr>
          <p:cNvPr id="46" name="Text 44"/>
          <p:cNvSpPr/>
          <p:nvPr/>
        </p:nvSpPr>
        <p:spPr>
          <a:xfrm>
            <a:off x="12306159" y="7313238"/>
            <a:ext cx="5574453" cy="206188"/>
          </a:xfrm>
          <a:prstGeom prst="rect">
            <a:avLst/>
          </a:prstGeom>
          <a:noFill/>
          <a:ln/>
        </p:spPr>
        <p:txBody>
          <a:bodyPr wrap="square" lIns="25400" tIns="25400" rIns="25400" bIns="25400" rtlCol="0" anchor="t">
            <a:normAutofit/>
          </a:bodyPr>
          <a:lstStyle/>
          <a:p>
            <a:pPr algn="l" indent="0" marL="0">
              <a:buNone/>
            </a:pPr>
            <a:r>
              <a:rPr lang="en-US" sz="1050" b="1" spc="63" kern="0" dirty="0">
                <a:solidFill>
                  <a:srgbClr val="C8A45C"/>
                </a:solidFill>
                <a:latin typeface="IBM Plex Mono" pitchFamily="34" charset="0"/>
                <a:ea typeface="IBM Plex Mono" pitchFamily="34" charset="-122"/>
                <a:cs typeface="IBM Plex Mono" pitchFamily="34" charset="-120"/>
              </a:rPr>
              <a:t>PRINCIPLE</a:t>
            </a:r>
            <a:endParaRPr lang="en-US" sz="1050" dirty="0"/>
          </a:p>
        </p:txBody>
      </p:sp>
      <p:sp>
        <p:nvSpPr>
          <p:cNvPr id="47" name="Text 45"/>
          <p:cNvSpPr/>
          <p:nvPr/>
        </p:nvSpPr>
        <p:spPr>
          <a:xfrm>
            <a:off x="12306159" y="7576576"/>
            <a:ext cx="5574453" cy="295835"/>
          </a:xfrm>
          <a:prstGeom prst="rect">
            <a:avLst/>
          </a:prstGeom>
          <a:noFill/>
          <a:ln/>
        </p:spPr>
        <p:txBody>
          <a:bodyPr wrap="square" lIns="25400" tIns="25400" rIns="25400" bIns="25400" rtlCol="0" anchor="t">
            <a:normAutofit/>
          </a:bodyPr>
          <a:lstStyle/>
          <a:p>
            <a:pPr algn="l" indent="0" marL="0">
              <a:lnSpc>
                <a:spcPct val="110500"/>
              </a:lnSpc>
              <a:buNone/>
            </a:pPr>
            <a:r>
              <a:rPr lang="en-US" sz="1575" b="1" dirty="0">
                <a:solidFill>
                  <a:srgbClr val="EFF2E4"/>
                </a:solidFill>
                <a:latin typeface="Public Sans" pitchFamily="34" charset="0"/>
                <a:ea typeface="Public Sans" pitchFamily="34" charset="-122"/>
                <a:cs typeface="Public Sans" pitchFamily="34" charset="-120"/>
              </a:rPr>
              <a:t>Detect → respond → always a named human fallback.</a:t>
            </a:r>
            <a:endParaRPr lang="en-US" sz="1575" dirty="0"/>
          </a:p>
        </p:txBody>
      </p:sp>
      <p:sp>
        <p:nvSpPr>
          <p:cNvPr id="48" name="Text 46"/>
          <p:cNvSpPr/>
          <p:nvPr/>
        </p:nvSpPr>
        <p:spPr>
          <a:xfrm>
            <a:off x="12306159" y="7929562"/>
            <a:ext cx="5219715" cy="463923"/>
          </a:xfrm>
          <a:prstGeom prst="rect">
            <a:avLst/>
          </a:prstGeom>
          <a:noFill/>
          <a:ln/>
        </p:spPr>
        <p:txBody>
          <a:bodyPr wrap="square" lIns="25400" tIns="25400" rIns="25400" bIns="25400" rtlCol="0" anchor="t">
            <a:normAutofit/>
          </a:bodyPr>
          <a:lstStyle/>
          <a:p>
            <a:pPr algn="l" indent="0" marL="0">
              <a:lnSpc>
                <a:spcPct val="127500"/>
              </a:lnSpc>
              <a:buNone/>
            </a:pPr>
            <a:r>
              <a:rPr lang="en-US" sz="1125" dirty="0">
                <a:solidFill>
                  <a:srgbClr val="B9C9AC"/>
                </a:solidFill>
                <a:latin typeface="Public Sans" pitchFamily="34" charset="0"/>
                <a:ea typeface="Public Sans" pitchFamily="34" charset="-122"/>
                <a:cs typeface="Public Sans" pitchFamily="34" charset="-120"/>
              </a:rPr>
              <a:t>Provisional holds auto-release, state lives in Dataverse, and every exception is logged for audit — no silent failures, no dangling calendar entries.</a:t>
            </a:r>
            <a:endParaRPr lang="en-US" sz="112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2E22"/>
        </a:solidFill>
      </p:bgPr>
    </p:bg>
    <p:spTree>
      <p:nvGrpSpPr>
        <p:cNvPr id="1" name=""/>
        <p:cNvGrpSpPr/>
        <p:nvPr/>
      </p:nvGrpSpPr>
      <p:grpSpPr>
        <a:xfrm>
          <a:off x="0" y="0"/>
          <a:ext cx="0" cy="0"/>
          <a:chOff x="0" y="0"/>
          <a:chExt cx="0" cy="0"/>
        </a:xfrm>
      </p:grpSpPr>
      <p:sp>
        <p:nvSpPr>
          <p:cNvPr id="2" name="Text 0"/>
          <p:cNvSpPr/>
          <p:nvPr/>
        </p:nvSpPr>
        <p:spPr>
          <a:xfrm>
            <a:off x="533330" y="418995"/>
            <a:ext cx="9134492" cy="284629"/>
          </a:xfrm>
          <a:prstGeom prst="rect">
            <a:avLst/>
          </a:prstGeom>
          <a:noFill/>
          <a:ln/>
        </p:spPr>
        <p:txBody>
          <a:bodyPr wrap="square" lIns="25400" tIns="25400" rIns="25400" bIns="25400" rtlCol="0" anchor="t">
            <a:normAutofit/>
          </a:bodyPr>
          <a:lstStyle/>
          <a:p>
            <a:pPr algn="l" indent="0" marL="0">
              <a:buNone/>
            </a:pPr>
            <a:r>
              <a:rPr lang="en-US" sz="1500" b="1" spc="180" kern="0" dirty="0">
                <a:solidFill>
                  <a:srgbClr val="C8A45C"/>
                </a:solidFill>
                <a:latin typeface="IBM Plex Mono" pitchFamily="34" charset="0"/>
                <a:ea typeface="IBM Plex Mono" pitchFamily="34" charset="-122"/>
                <a:cs typeface="IBM Plex Mono" pitchFamily="34" charset="-120"/>
              </a:rPr>
              <a:t>04 · USER EXPERIENCE — CLICK TO EXPLORE</a:t>
            </a:r>
            <a:endParaRPr lang="en-US" sz="1500" dirty="0"/>
          </a:p>
        </p:txBody>
      </p:sp>
      <p:sp>
        <p:nvSpPr>
          <p:cNvPr id="3" name="Text 1"/>
          <p:cNvSpPr/>
          <p:nvPr/>
        </p:nvSpPr>
        <p:spPr>
          <a:xfrm>
            <a:off x="533330" y="741689"/>
            <a:ext cx="9134492" cy="486335"/>
          </a:xfrm>
          <a:prstGeom prst="rect">
            <a:avLst/>
          </a:prstGeom>
          <a:noFill/>
          <a:ln/>
        </p:spPr>
        <p:txBody>
          <a:bodyPr wrap="square" lIns="25400" tIns="25400" rIns="25400" bIns="25400" rtlCol="0" anchor="t">
            <a:normAutofit/>
          </a:bodyPr>
          <a:lstStyle/>
          <a:p>
            <a:pPr algn="l" indent="0" marL="0">
              <a:buNone/>
            </a:pPr>
            <a:r>
              <a:rPr lang="en-US" sz="3000" b="1" spc="-30" kern="0" dirty="0">
                <a:solidFill>
                  <a:srgbClr val="EFF2E4"/>
                </a:solidFill>
                <a:latin typeface="Public Sans" pitchFamily="34" charset="0"/>
                <a:ea typeface="Public Sans" pitchFamily="34" charset="-122"/>
                <a:cs typeface="Public Sans" pitchFamily="34" charset="-120"/>
              </a:rPr>
              <a:t>Power Apps CodeApp — Meeting Orchestrator</a:t>
            </a:r>
            <a:endParaRPr lang="en-US" sz="3000" dirty="0"/>
          </a:p>
        </p:txBody>
      </p:sp>
      <p:sp>
        <p:nvSpPr>
          <p:cNvPr id="4" name="Text 2"/>
          <p:cNvSpPr/>
          <p:nvPr/>
        </p:nvSpPr>
        <p:spPr>
          <a:xfrm>
            <a:off x="12199529" y="965807"/>
            <a:ext cx="6110655" cy="262218"/>
          </a:xfrm>
          <a:prstGeom prst="rect">
            <a:avLst/>
          </a:prstGeom>
          <a:noFill/>
          <a:ln/>
        </p:spPr>
        <p:txBody>
          <a:bodyPr wrap="square" lIns="25400" tIns="25400" rIns="25400" bIns="25400" rtlCol="0" anchor="t">
            <a:normAutofit/>
          </a:bodyPr>
          <a:lstStyle/>
          <a:p>
            <a:pPr algn="l" indent="0" marL="0">
              <a:buNone/>
            </a:pPr>
            <a:r>
              <a:rPr lang="en-US" sz="1350" dirty="0">
                <a:solidFill>
                  <a:srgbClr val="B9C4A8"/>
                </a:solidFill>
                <a:latin typeface="IBM Plex Mono" pitchFamily="34" charset="0"/>
                <a:ea typeface="IBM Plex Mono" pitchFamily="34" charset="-122"/>
                <a:cs typeface="IBM Plex Mono" pitchFamily="34" charset="-120"/>
              </a:rPr>
              <a:t>React + TypeScript · Power Platform hosted · Entra SSO</a:t>
            </a:r>
            <a:endParaRPr lang="en-US" sz="1350" dirty="0"/>
          </a:p>
        </p:txBody>
      </p:sp>
      <p:sp>
        <p:nvSpPr>
          <p:cNvPr id="5" name="Shape 3"/>
          <p:cNvSpPr/>
          <p:nvPr/>
        </p:nvSpPr>
        <p:spPr>
          <a:xfrm>
            <a:off x="533330" y="1342255"/>
            <a:ext cx="17221340" cy="8525750"/>
          </a:xfrm>
          <a:prstGeom prst="roundRect">
            <a:avLst>
              <a:gd name="adj" fmla="val 1564"/>
            </a:avLst>
          </a:prstGeom>
          <a:solidFill>
            <a:srgbClr val="F4F6F9"/>
          </a:solidFill>
          <a:ln/>
          <a:effectLst>
            <a:outerShdw sx="100000" sy="100000" kx="0" ky="0" algn="bl" rotWithShape="0" blurRad="666750" dist="285750" dir="5400000">
              <a:srgbClr val="000000">
                <a:alpha val="40000"/>
              </a:srgbClr>
            </a:outerShdw>
          </a:effectLst>
        </p:spPr>
      </p:sp>
      <p:sp>
        <p:nvSpPr>
          <p:cNvPr id="6" name="Shape 4"/>
          <p:cNvSpPr/>
          <p:nvPr/>
        </p:nvSpPr>
        <p:spPr>
          <a:xfrm>
            <a:off x="533330" y="1342255"/>
            <a:ext cx="17221340" cy="563271"/>
          </a:xfrm>
          <a:prstGeom prst="rect">
            <a:avLst/>
          </a:prstGeom>
          <a:solidFill>
            <a:srgbClr val="FFFFFF"/>
          </a:solidFill>
          <a:ln/>
        </p:spPr>
      </p:sp>
      <p:sp>
        <p:nvSpPr>
          <p:cNvPr id="7" name="Shape 5"/>
          <p:cNvSpPr/>
          <p:nvPr/>
        </p:nvSpPr>
        <p:spPr>
          <a:xfrm>
            <a:off x="533330" y="1894319"/>
            <a:ext cx="17221340" cy="11206"/>
          </a:xfrm>
          <a:prstGeom prst="rect">
            <a:avLst/>
          </a:prstGeom>
          <a:solidFill>
            <a:srgbClr val="E4E9EF"/>
          </a:solidFill>
          <a:ln/>
        </p:spPr>
      </p:sp>
      <p:sp>
        <p:nvSpPr>
          <p:cNvPr id="8" name="Shape 6"/>
          <p:cNvSpPr/>
          <p:nvPr/>
        </p:nvSpPr>
        <p:spPr>
          <a:xfrm>
            <a:off x="742740" y="1475324"/>
            <a:ext cx="285750" cy="285750"/>
          </a:xfrm>
          <a:prstGeom prst="roundRect">
            <a:avLst>
              <a:gd name="adj" fmla="val 26667"/>
            </a:avLst>
          </a:prstGeom>
          <a:solidFill>
            <a:srgbClr val="742774"/>
          </a:solidFill>
          <a:ln/>
        </p:spPr>
      </p:sp>
      <p:sp>
        <p:nvSpPr>
          <p:cNvPr id="9" name="Text 7"/>
          <p:cNvSpPr/>
          <p:nvPr/>
        </p:nvSpPr>
        <p:spPr>
          <a:xfrm>
            <a:off x="704640" y="1475324"/>
            <a:ext cx="361950" cy="323850"/>
          </a:xfrm>
          <a:prstGeom prst="rect">
            <a:avLst/>
          </a:prstGeom>
          <a:noFill/>
          <a:ln/>
        </p:spPr>
        <p:txBody>
          <a:bodyPr wrap="square" lIns="25400" tIns="25400" rIns="25400" bIns="25400" rtlCol="0" anchor="ctr">
            <a:normAutofit/>
          </a:bodyPr>
          <a:lstStyle/>
          <a:p>
            <a:pPr algn="ctr" indent="0" marL="0">
              <a:buNone/>
            </a:pPr>
            <a:r>
              <a:rPr lang="en-US" sz="975" b="1" dirty="0">
                <a:solidFill>
                  <a:srgbClr val="FFFFFF"/>
                </a:solidFill>
                <a:latin typeface="IBM Plex Mono" pitchFamily="34" charset="0"/>
                <a:ea typeface="IBM Plex Mono" pitchFamily="34" charset="-122"/>
                <a:cs typeface="IBM Plex Mono" pitchFamily="34" charset="-120"/>
              </a:rPr>
              <a:t>Ap</a:t>
            </a:r>
            <a:endParaRPr lang="en-US" sz="975" dirty="0"/>
          </a:p>
        </p:txBody>
      </p:sp>
      <p:sp>
        <p:nvSpPr>
          <p:cNvPr id="10" name="Text 8"/>
          <p:cNvSpPr/>
          <p:nvPr/>
        </p:nvSpPr>
        <p:spPr>
          <a:xfrm>
            <a:off x="1142650" y="1506140"/>
            <a:ext cx="2162525" cy="262218"/>
          </a:xfrm>
          <a:prstGeom prst="rect">
            <a:avLst/>
          </a:prstGeom>
          <a:noFill/>
          <a:ln/>
        </p:spPr>
        <p:txBody>
          <a:bodyPr wrap="square" lIns="25400" tIns="25400" rIns="25400" bIns="25400" rtlCol="0" anchor="t">
            <a:normAutofit/>
          </a:bodyPr>
          <a:lstStyle/>
          <a:p>
            <a:pPr algn="l" indent="0" marL="0">
              <a:buNone/>
            </a:pPr>
            <a:r>
              <a:rPr lang="en-US" sz="1500" b="1" dirty="0">
                <a:solidFill>
                  <a:srgbClr val="0D2E22"/>
                </a:solidFill>
                <a:latin typeface="Public Sans" pitchFamily="34" charset="0"/>
                <a:ea typeface="Public Sans" pitchFamily="34" charset="-122"/>
                <a:cs typeface="Public Sans" pitchFamily="34" charset="-120"/>
              </a:rPr>
              <a:t>Meeting Orchestrator</a:t>
            </a:r>
            <a:endParaRPr lang="en-US" sz="1500" dirty="0"/>
          </a:p>
        </p:txBody>
      </p:sp>
      <p:sp>
        <p:nvSpPr>
          <p:cNvPr id="11" name="Shape 9"/>
          <p:cNvSpPr/>
          <p:nvPr/>
        </p:nvSpPr>
        <p:spPr>
          <a:xfrm>
            <a:off x="3222742" y="1496160"/>
            <a:ext cx="712449" cy="244078"/>
          </a:xfrm>
          <a:prstGeom prst="roundRect">
            <a:avLst>
              <a:gd name="adj" fmla="val 23415"/>
            </a:avLst>
          </a:prstGeom>
          <a:solidFill>
            <a:srgbClr val="EFF2E4"/>
          </a:solidFill>
          <a:ln/>
        </p:spPr>
      </p:sp>
      <p:sp>
        <p:nvSpPr>
          <p:cNvPr id="12" name="Text 10"/>
          <p:cNvSpPr/>
          <p:nvPr/>
        </p:nvSpPr>
        <p:spPr>
          <a:xfrm>
            <a:off x="3298942" y="1534260"/>
            <a:ext cx="636249" cy="205978"/>
          </a:xfrm>
          <a:prstGeom prst="rect">
            <a:avLst/>
          </a:prstGeom>
          <a:noFill/>
          <a:ln/>
        </p:spPr>
        <p:txBody>
          <a:bodyPr wrap="square" lIns="25400" tIns="25400" rIns="25400" bIns="25400" rtlCol="0" anchor="t">
            <a:normAutofit/>
          </a:bodyPr>
          <a:lstStyle/>
          <a:p>
            <a:pPr algn="l" indent="0" marL="0">
              <a:buNone/>
            </a:pPr>
            <a:r>
              <a:rPr lang="en-US" sz="1050" dirty="0">
                <a:solidFill>
                  <a:srgbClr val="8996A6"/>
                </a:solidFill>
                <a:latin typeface="IBM Plex Mono" pitchFamily="34" charset="0"/>
                <a:ea typeface="IBM Plex Mono" pitchFamily="34" charset="-122"/>
                <a:cs typeface="IBM Plex Mono" pitchFamily="34" charset="-120"/>
              </a:rPr>
              <a:t>CodeApp</a:t>
            </a:r>
            <a:endParaRPr lang="en-US" sz="1050" dirty="0"/>
          </a:p>
        </p:txBody>
      </p:sp>
      <p:sp>
        <p:nvSpPr>
          <p:cNvPr id="13" name="Text 11"/>
          <p:cNvSpPr/>
          <p:nvPr/>
        </p:nvSpPr>
        <p:spPr>
          <a:xfrm>
            <a:off x="15618022" y="1528552"/>
            <a:ext cx="1638265" cy="217394"/>
          </a:xfrm>
          <a:prstGeom prst="rect">
            <a:avLst/>
          </a:prstGeom>
          <a:noFill/>
          <a:ln/>
        </p:spPr>
        <p:txBody>
          <a:bodyPr wrap="square" lIns="25400" tIns="25400" rIns="25400" bIns="25400" rtlCol="0" anchor="t">
            <a:normAutofit/>
          </a:bodyPr>
          <a:lstStyle/>
          <a:p>
            <a:pPr algn="l" indent="0" marL="0">
              <a:buNone/>
            </a:pPr>
            <a:r>
              <a:rPr lang="en-US" sz="1200" dirty="0">
                <a:solidFill>
                  <a:srgbClr val="5B6675"/>
                </a:solidFill>
                <a:latin typeface="Public Sans" pitchFamily="34" charset="0"/>
                <a:ea typeface="Public Sans" pitchFamily="34" charset="-122"/>
                <a:cs typeface="Public Sans" pitchFamily="34" charset="-120"/>
              </a:rPr>
              <a:t>Rachel Adeyemi · RM</a:t>
            </a:r>
            <a:endParaRPr lang="en-US" sz="1200" dirty="0"/>
          </a:p>
        </p:txBody>
      </p:sp>
      <p:sp>
        <p:nvSpPr>
          <p:cNvPr id="14" name="Shape 12"/>
          <p:cNvSpPr/>
          <p:nvPr/>
        </p:nvSpPr>
        <p:spPr>
          <a:xfrm>
            <a:off x="17221514" y="1456414"/>
            <a:ext cx="323745" cy="323745"/>
          </a:xfrm>
          <a:prstGeom prst="ellipse">
            <a:avLst/>
          </a:prstGeom>
          <a:solidFill>
            <a:srgbClr val="1C5C43"/>
          </a:solidFill>
          <a:ln/>
        </p:spPr>
      </p:sp>
      <p:sp>
        <p:nvSpPr>
          <p:cNvPr id="15" name="Text 13"/>
          <p:cNvSpPr/>
          <p:nvPr/>
        </p:nvSpPr>
        <p:spPr>
          <a:xfrm>
            <a:off x="17183414" y="1456414"/>
            <a:ext cx="399945" cy="361845"/>
          </a:xfrm>
          <a:prstGeom prst="rect">
            <a:avLst/>
          </a:prstGeom>
          <a:noFill/>
          <a:ln/>
        </p:spPr>
        <p:txBody>
          <a:bodyPr wrap="square" lIns="25400" tIns="25400" rIns="25400" bIns="25400" rtlCol="0" anchor="ctr">
            <a:normAutofit/>
          </a:bodyPr>
          <a:lstStyle/>
          <a:p>
            <a:pPr algn="ctr" indent="0" marL="0">
              <a:buNone/>
            </a:pPr>
            <a:r>
              <a:rPr lang="en-US" sz="1125" b="1" dirty="0">
                <a:solidFill>
                  <a:srgbClr val="FFFFFF"/>
                </a:solidFill>
                <a:latin typeface="Public Sans" pitchFamily="34" charset="0"/>
                <a:ea typeface="Public Sans" pitchFamily="34" charset="-122"/>
                <a:cs typeface="Public Sans" pitchFamily="34" charset="-120"/>
              </a:rPr>
              <a:t>RA</a:t>
            </a:r>
            <a:endParaRPr lang="en-US" sz="1125" dirty="0"/>
          </a:p>
        </p:txBody>
      </p:sp>
      <p:sp>
        <p:nvSpPr>
          <p:cNvPr id="16" name="Shape 14"/>
          <p:cNvSpPr/>
          <p:nvPr/>
        </p:nvSpPr>
        <p:spPr>
          <a:xfrm>
            <a:off x="533330" y="1905525"/>
            <a:ext cx="2190750" cy="7962479"/>
          </a:xfrm>
          <a:prstGeom prst="rect">
            <a:avLst/>
          </a:prstGeom>
          <a:solidFill>
            <a:srgbClr val="FBFCFD"/>
          </a:solidFill>
          <a:ln/>
        </p:spPr>
      </p:sp>
      <p:sp>
        <p:nvSpPr>
          <p:cNvPr id="17" name="Shape 15"/>
          <p:cNvSpPr/>
          <p:nvPr/>
        </p:nvSpPr>
        <p:spPr>
          <a:xfrm>
            <a:off x="2712874" y="1905525"/>
            <a:ext cx="11206" cy="7962479"/>
          </a:xfrm>
          <a:prstGeom prst="rect">
            <a:avLst/>
          </a:prstGeom>
          <a:solidFill>
            <a:srgbClr val="E4E9EF"/>
          </a:solidFill>
          <a:ln/>
        </p:spPr>
      </p:sp>
      <p:sp>
        <p:nvSpPr>
          <p:cNvPr id="18" name="Shape 16"/>
          <p:cNvSpPr/>
          <p:nvPr/>
        </p:nvSpPr>
        <p:spPr>
          <a:xfrm>
            <a:off x="647490" y="2124390"/>
            <a:ext cx="28540" cy="247580"/>
          </a:xfrm>
          <a:prstGeom prst="roundRect">
            <a:avLst>
              <a:gd name="adj" fmla="val 50000"/>
            </a:avLst>
          </a:prstGeom>
          <a:solidFill>
            <a:srgbClr val="1C5C43"/>
          </a:solidFill>
          <a:ln/>
        </p:spPr>
      </p:sp>
      <p:sp>
        <p:nvSpPr>
          <p:cNvPr id="19" name="Shape 17"/>
          <p:cNvSpPr/>
          <p:nvPr/>
        </p:nvSpPr>
        <p:spPr>
          <a:xfrm>
            <a:off x="780735" y="2205283"/>
            <a:ext cx="85620" cy="85620"/>
          </a:xfrm>
          <a:prstGeom prst="roundRect">
            <a:avLst>
              <a:gd name="adj" fmla="val 22249"/>
            </a:avLst>
          </a:prstGeom>
          <a:solidFill>
            <a:srgbClr val="1C5C43"/>
          </a:solidFill>
          <a:ln/>
        </p:spPr>
      </p:sp>
      <p:sp>
        <p:nvSpPr>
          <p:cNvPr id="20" name="Text 18"/>
          <p:cNvSpPr/>
          <p:nvPr/>
        </p:nvSpPr>
        <p:spPr>
          <a:xfrm>
            <a:off x="980515" y="2152930"/>
            <a:ext cx="901428" cy="228600"/>
          </a:xfrm>
          <a:prstGeom prst="rect">
            <a:avLst/>
          </a:prstGeom>
          <a:noFill/>
          <a:ln/>
        </p:spPr>
        <p:txBody>
          <a:bodyPr wrap="square" lIns="0" tIns="0" rIns="0" bIns="0" rtlCol="0" anchor="t">
            <a:normAutofit/>
          </a:bodyPr>
          <a:lstStyle/>
          <a:p>
            <a:pPr algn="l" indent="0" marL="0">
              <a:buNone/>
            </a:pPr>
            <a:r>
              <a:rPr lang="en-US" sz="1275" b="1" dirty="0">
                <a:solidFill>
                  <a:srgbClr val="0D2E22"/>
                </a:solidFill>
                <a:latin typeface="Public Sans" pitchFamily="34" charset="0"/>
                <a:ea typeface="Public Sans" pitchFamily="34" charset="-122"/>
                <a:cs typeface="Public Sans" pitchFamily="34" charset="-120"/>
              </a:rPr>
              <a:t>Dashboard</a:t>
            </a:r>
            <a:endParaRPr lang="en-US" sz="1275" dirty="0"/>
          </a:p>
        </p:txBody>
      </p:sp>
      <p:sp>
        <p:nvSpPr>
          <p:cNvPr id="21" name="Shape 19"/>
          <p:cNvSpPr/>
          <p:nvPr/>
        </p:nvSpPr>
        <p:spPr>
          <a:xfrm>
            <a:off x="780735" y="2662097"/>
            <a:ext cx="85620" cy="85620"/>
          </a:xfrm>
          <a:prstGeom prst="roundRect">
            <a:avLst>
              <a:gd name="adj" fmla="val 22249"/>
            </a:avLst>
          </a:prstGeom>
          <a:solidFill>
            <a:srgbClr val="1C5C43"/>
          </a:solidFill>
          <a:ln/>
        </p:spPr>
      </p:sp>
      <p:sp>
        <p:nvSpPr>
          <p:cNvPr id="22" name="Text 20"/>
          <p:cNvSpPr/>
          <p:nvPr/>
        </p:nvSpPr>
        <p:spPr>
          <a:xfrm>
            <a:off x="980515" y="2609745"/>
            <a:ext cx="1084585" cy="228600"/>
          </a:xfrm>
          <a:prstGeom prst="rect">
            <a:avLst/>
          </a:prstGeom>
          <a:noFill/>
          <a:ln/>
        </p:spPr>
        <p:txBody>
          <a:bodyPr wrap="square" lIns="0" tIns="0" rIns="0" bIns="0" rtlCol="0" anchor="t">
            <a:normAutofit/>
          </a:bodyPr>
          <a:lstStyle/>
          <a:p>
            <a:pPr algn="l" indent="0" marL="0">
              <a:buNone/>
            </a:pPr>
            <a:r>
              <a:rPr lang="en-US" sz="1275" b="1" dirty="0">
                <a:solidFill>
                  <a:srgbClr val="0D2E22"/>
                </a:solidFill>
                <a:latin typeface="Public Sans" pitchFamily="34" charset="0"/>
                <a:ea typeface="Public Sans" pitchFamily="34" charset="-122"/>
                <a:cs typeface="Public Sans" pitchFamily="34" charset="-120"/>
              </a:rPr>
              <a:t>New Meeting</a:t>
            </a:r>
            <a:endParaRPr lang="en-US" sz="1275" dirty="0"/>
          </a:p>
        </p:txBody>
      </p:sp>
      <p:sp>
        <p:nvSpPr>
          <p:cNvPr id="23" name="Shape 21"/>
          <p:cNvSpPr/>
          <p:nvPr/>
        </p:nvSpPr>
        <p:spPr>
          <a:xfrm>
            <a:off x="780735" y="3118912"/>
            <a:ext cx="85620" cy="85620"/>
          </a:xfrm>
          <a:prstGeom prst="roundRect">
            <a:avLst>
              <a:gd name="adj" fmla="val 22249"/>
            </a:avLst>
          </a:prstGeom>
          <a:solidFill>
            <a:srgbClr val="1C5C43"/>
          </a:solidFill>
          <a:ln/>
        </p:spPr>
      </p:sp>
      <p:sp>
        <p:nvSpPr>
          <p:cNvPr id="24" name="Text 22"/>
          <p:cNvSpPr/>
          <p:nvPr/>
        </p:nvSpPr>
        <p:spPr>
          <a:xfrm>
            <a:off x="980515" y="3066560"/>
            <a:ext cx="1341502" cy="228600"/>
          </a:xfrm>
          <a:prstGeom prst="rect">
            <a:avLst/>
          </a:prstGeom>
          <a:noFill/>
          <a:ln/>
        </p:spPr>
        <p:txBody>
          <a:bodyPr wrap="square" lIns="0" tIns="0" rIns="0" bIns="0" rtlCol="0" anchor="t">
            <a:normAutofit/>
          </a:bodyPr>
          <a:lstStyle/>
          <a:p>
            <a:pPr algn="l" indent="0" marL="0">
              <a:buNone/>
            </a:pPr>
            <a:r>
              <a:rPr lang="en-US" sz="1275" b="1" dirty="0">
                <a:solidFill>
                  <a:srgbClr val="0D2E22"/>
                </a:solidFill>
                <a:latin typeface="Public Sans" pitchFamily="34" charset="0"/>
                <a:ea typeface="Public Sans" pitchFamily="34" charset="-122"/>
                <a:cs typeface="Public Sans" pitchFamily="34" charset="-120"/>
              </a:rPr>
              <a:t>Suggested Slots</a:t>
            </a:r>
            <a:endParaRPr lang="en-US" sz="1275" dirty="0"/>
          </a:p>
        </p:txBody>
      </p:sp>
      <p:sp>
        <p:nvSpPr>
          <p:cNvPr id="25" name="Shape 23"/>
          <p:cNvSpPr/>
          <p:nvPr/>
        </p:nvSpPr>
        <p:spPr>
          <a:xfrm>
            <a:off x="780735" y="3575727"/>
            <a:ext cx="85620" cy="85620"/>
          </a:xfrm>
          <a:prstGeom prst="roundRect">
            <a:avLst>
              <a:gd name="adj" fmla="val 22249"/>
            </a:avLst>
          </a:prstGeom>
          <a:solidFill>
            <a:srgbClr val="1C5C43"/>
          </a:solidFill>
          <a:ln/>
        </p:spPr>
      </p:sp>
      <p:sp>
        <p:nvSpPr>
          <p:cNvPr id="26" name="Text 24"/>
          <p:cNvSpPr/>
          <p:nvPr/>
        </p:nvSpPr>
        <p:spPr>
          <a:xfrm>
            <a:off x="980515" y="3523374"/>
            <a:ext cx="1280241" cy="228600"/>
          </a:xfrm>
          <a:prstGeom prst="rect">
            <a:avLst/>
          </a:prstGeom>
          <a:noFill/>
          <a:ln/>
        </p:spPr>
        <p:txBody>
          <a:bodyPr wrap="square" lIns="0" tIns="0" rIns="0" bIns="0" rtlCol="0" anchor="t">
            <a:normAutofit/>
          </a:bodyPr>
          <a:lstStyle/>
          <a:p>
            <a:pPr algn="l" indent="0" marL="0">
              <a:buNone/>
            </a:pPr>
            <a:r>
              <a:rPr lang="en-US" sz="1275" b="1" dirty="0">
                <a:solidFill>
                  <a:srgbClr val="0D2E22"/>
                </a:solidFill>
                <a:latin typeface="Public Sans" pitchFamily="34" charset="0"/>
                <a:ea typeface="Public Sans" pitchFamily="34" charset="-122"/>
                <a:cs typeface="Public Sans" pitchFamily="34" charset="-120"/>
              </a:rPr>
              <a:t>Meeting Details</a:t>
            </a:r>
            <a:endParaRPr lang="en-US" sz="1275" dirty="0"/>
          </a:p>
        </p:txBody>
      </p:sp>
      <p:sp>
        <p:nvSpPr>
          <p:cNvPr id="27" name="Shape 25"/>
          <p:cNvSpPr/>
          <p:nvPr/>
        </p:nvSpPr>
        <p:spPr>
          <a:xfrm>
            <a:off x="780735" y="4032542"/>
            <a:ext cx="85620" cy="85620"/>
          </a:xfrm>
          <a:prstGeom prst="roundRect">
            <a:avLst>
              <a:gd name="adj" fmla="val 22249"/>
            </a:avLst>
          </a:prstGeom>
          <a:solidFill>
            <a:srgbClr val="1C5C43"/>
          </a:solidFill>
          <a:ln/>
        </p:spPr>
      </p:sp>
      <p:sp>
        <p:nvSpPr>
          <p:cNvPr id="28" name="Text 26"/>
          <p:cNvSpPr/>
          <p:nvPr/>
        </p:nvSpPr>
        <p:spPr>
          <a:xfrm>
            <a:off x="980515" y="3980189"/>
            <a:ext cx="732710" cy="228600"/>
          </a:xfrm>
          <a:prstGeom prst="rect">
            <a:avLst/>
          </a:prstGeom>
          <a:noFill/>
          <a:ln/>
        </p:spPr>
        <p:txBody>
          <a:bodyPr wrap="square" lIns="0" tIns="0" rIns="0" bIns="0" rtlCol="0" anchor="t">
            <a:normAutofit/>
          </a:bodyPr>
          <a:lstStyle/>
          <a:p>
            <a:pPr algn="l" indent="0" marL="0">
              <a:buNone/>
            </a:pPr>
            <a:r>
              <a:rPr lang="en-US" sz="1275" b="1" dirty="0">
                <a:solidFill>
                  <a:srgbClr val="0D2E22"/>
                </a:solidFill>
                <a:latin typeface="Public Sans" pitchFamily="34" charset="0"/>
                <a:ea typeface="Public Sans" pitchFamily="34" charset="-122"/>
                <a:cs typeface="Public Sans" pitchFamily="34" charset="-120"/>
              </a:rPr>
              <a:t>Timeline</a:t>
            </a:r>
            <a:endParaRPr lang="en-US" sz="1275" dirty="0"/>
          </a:p>
        </p:txBody>
      </p:sp>
      <p:sp>
        <p:nvSpPr>
          <p:cNvPr id="29" name="Shape 27"/>
          <p:cNvSpPr/>
          <p:nvPr/>
        </p:nvSpPr>
        <p:spPr>
          <a:xfrm>
            <a:off x="780735" y="4489356"/>
            <a:ext cx="85620" cy="85620"/>
          </a:xfrm>
          <a:prstGeom prst="roundRect">
            <a:avLst>
              <a:gd name="adj" fmla="val 22249"/>
            </a:avLst>
          </a:prstGeom>
          <a:solidFill>
            <a:srgbClr val="1C5C43"/>
          </a:solidFill>
          <a:ln/>
        </p:spPr>
      </p:sp>
      <p:sp>
        <p:nvSpPr>
          <p:cNvPr id="30" name="Text 28"/>
          <p:cNvSpPr/>
          <p:nvPr/>
        </p:nvSpPr>
        <p:spPr>
          <a:xfrm>
            <a:off x="980515" y="4437004"/>
            <a:ext cx="636706" cy="228600"/>
          </a:xfrm>
          <a:prstGeom prst="rect">
            <a:avLst/>
          </a:prstGeom>
          <a:noFill/>
          <a:ln/>
        </p:spPr>
        <p:txBody>
          <a:bodyPr wrap="square" lIns="0" tIns="0" rIns="0" bIns="0" rtlCol="0" anchor="t">
            <a:normAutofit/>
          </a:bodyPr>
          <a:lstStyle/>
          <a:p>
            <a:pPr algn="l" indent="0" marL="0">
              <a:buNone/>
            </a:pPr>
            <a:r>
              <a:rPr lang="en-US" sz="1275" b="1" dirty="0">
                <a:solidFill>
                  <a:srgbClr val="0D2E22"/>
                </a:solidFill>
                <a:latin typeface="Public Sans" pitchFamily="34" charset="0"/>
                <a:ea typeface="Public Sans" pitchFamily="34" charset="-122"/>
                <a:cs typeface="Public Sans" pitchFamily="34" charset="-120"/>
              </a:rPr>
              <a:t>History</a:t>
            </a:r>
            <a:endParaRPr lang="en-US" sz="1275" dirty="0"/>
          </a:p>
        </p:txBody>
      </p:sp>
      <p:sp>
        <p:nvSpPr>
          <p:cNvPr id="31" name="Shape 29"/>
          <p:cNvSpPr/>
          <p:nvPr/>
        </p:nvSpPr>
        <p:spPr>
          <a:xfrm>
            <a:off x="647490" y="8794166"/>
            <a:ext cx="1951224" cy="11206"/>
          </a:xfrm>
          <a:prstGeom prst="rect">
            <a:avLst/>
          </a:prstGeom>
          <a:solidFill>
            <a:srgbClr val="E9EDF2"/>
          </a:solidFill>
          <a:ln/>
        </p:spPr>
      </p:sp>
      <p:sp>
        <p:nvSpPr>
          <p:cNvPr id="32" name="Shape 30"/>
          <p:cNvSpPr/>
          <p:nvPr/>
        </p:nvSpPr>
        <p:spPr>
          <a:xfrm>
            <a:off x="780735" y="9080441"/>
            <a:ext cx="85620" cy="85620"/>
          </a:xfrm>
          <a:prstGeom prst="roundRect">
            <a:avLst>
              <a:gd name="adj" fmla="val 22249"/>
            </a:avLst>
          </a:prstGeom>
          <a:solidFill>
            <a:srgbClr val="742774"/>
          </a:solidFill>
          <a:ln/>
        </p:spPr>
      </p:sp>
      <p:sp>
        <p:nvSpPr>
          <p:cNvPr id="33" name="Text 31"/>
          <p:cNvSpPr/>
          <p:nvPr/>
        </p:nvSpPr>
        <p:spPr>
          <a:xfrm>
            <a:off x="980515" y="9033692"/>
            <a:ext cx="1559785" cy="217394"/>
          </a:xfrm>
          <a:prstGeom prst="rect">
            <a:avLst/>
          </a:prstGeom>
          <a:noFill/>
          <a:ln/>
        </p:spPr>
        <p:txBody>
          <a:bodyPr wrap="square" lIns="0" tIns="0" rIns="0" bIns="0" rtlCol="0" anchor="t">
            <a:normAutofit/>
          </a:bodyPr>
          <a:lstStyle/>
          <a:p>
            <a:pPr algn="l" indent="0" marL="0">
              <a:buNone/>
            </a:pPr>
            <a:r>
              <a:rPr lang="en-US" sz="1200" b="1" dirty="0">
                <a:solidFill>
                  <a:srgbClr val="742774"/>
                </a:solidFill>
                <a:latin typeface="Public Sans" pitchFamily="34" charset="0"/>
                <a:ea typeface="Public Sans" pitchFamily="34" charset="-122"/>
                <a:cs typeface="Public Sans" pitchFamily="34" charset="-120"/>
              </a:rPr>
              <a:t>Customer Booking ↗</a:t>
            </a:r>
            <a:endParaRPr lang="en-US" sz="1200" dirty="0"/>
          </a:p>
        </p:txBody>
      </p:sp>
      <p:sp>
        <p:nvSpPr>
          <p:cNvPr id="34" name="Shape 32"/>
          <p:cNvSpPr/>
          <p:nvPr/>
        </p:nvSpPr>
        <p:spPr>
          <a:xfrm>
            <a:off x="780735" y="9488055"/>
            <a:ext cx="85620" cy="85620"/>
          </a:xfrm>
          <a:prstGeom prst="roundRect">
            <a:avLst>
              <a:gd name="adj" fmla="val 22249"/>
            </a:avLst>
          </a:prstGeom>
          <a:solidFill>
            <a:srgbClr val="107C41"/>
          </a:solidFill>
          <a:ln/>
        </p:spPr>
      </p:sp>
      <p:sp>
        <p:nvSpPr>
          <p:cNvPr id="35" name="Text 33"/>
          <p:cNvSpPr/>
          <p:nvPr/>
        </p:nvSpPr>
        <p:spPr>
          <a:xfrm>
            <a:off x="980515" y="9441306"/>
            <a:ext cx="1012165" cy="217394"/>
          </a:xfrm>
          <a:prstGeom prst="rect">
            <a:avLst/>
          </a:prstGeom>
          <a:noFill/>
          <a:ln/>
        </p:spPr>
        <p:txBody>
          <a:bodyPr wrap="square" lIns="0" tIns="0" rIns="0" bIns="0" rtlCol="0" anchor="t">
            <a:normAutofit/>
          </a:bodyPr>
          <a:lstStyle/>
          <a:p>
            <a:pPr algn="l" indent="0" marL="0">
              <a:buNone/>
            </a:pPr>
            <a:r>
              <a:rPr lang="en-US" sz="1200" b="1" dirty="0">
                <a:solidFill>
                  <a:srgbClr val="107C41"/>
                </a:solidFill>
                <a:latin typeface="Public Sans" pitchFamily="34" charset="0"/>
                <a:ea typeface="Public Sans" pitchFamily="34" charset="-122"/>
                <a:cs typeface="Public Sans" pitchFamily="34" charset="-120"/>
              </a:rPr>
              <a:t>Confirmation</a:t>
            </a:r>
            <a:endParaRPr lang="en-US" sz="1200" dirty="0"/>
          </a:p>
        </p:txBody>
      </p:sp>
      <p:sp>
        <p:nvSpPr>
          <p:cNvPr id="36" name="Shape 34"/>
          <p:cNvSpPr/>
          <p:nvPr/>
        </p:nvSpPr>
        <p:spPr>
          <a:xfrm>
            <a:off x="2724080" y="1905525"/>
            <a:ext cx="15030590" cy="7962479"/>
          </a:xfrm>
          <a:prstGeom prst="rect">
            <a:avLst/>
          </a:prstGeom>
          <a:solidFill>
            <a:srgbClr val="F4F6F9"/>
          </a:solidFill>
          <a:ln/>
        </p:spPr>
      </p:sp>
      <p:sp>
        <p:nvSpPr>
          <p:cNvPr id="37" name="Text 35"/>
          <p:cNvSpPr/>
          <p:nvPr/>
        </p:nvSpPr>
        <p:spPr>
          <a:xfrm>
            <a:off x="3028740" y="2172190"/>
            <a:ext cx="2861860" cy="329453"/>
          </a:xfrm>
          <a:prstGeom prst="rect">
            <a:avLst/>
          </a:prstGeom>
          <a:noFill/>
          <a:ln/>
        </p:spPr>
        <p:txBody>
          <a:bodyPr wrap="square" lIns="25400" tIns="25400" rIns="25400" bIns="25400" rtlCol="0" anchor="t">
            <a:normAutofit/>
          </a:bodyPr>
          <a:lstStyle/>
          <a:p>
            <a:pPr algn="l" indent="0" marL="0">
              <a:buNone/>
            </a:pPr>
            <a:r>
              <a:rPr lang="en-US" sz="1950" b="1" dirty="0">
                <a:solidFill>
                  <a:srgbClr val="0D2E22"/>
                </a:solidFill>
                <a:latin typeface="Public Sans" pitchFamily="34" charset="0"/>
                <a:ea typeface="Public Sans" pitchFamily="34" charset="-122"/>
                <a:cs typeface="Public Sans" pitchFamily="34" charset="-120"/>
              </a:rPr>
              <a:t>Good morning, Rachel</a:t>
            </a:r>
            <a:endParaRPr lang="en-US" sz="1950" dirty="0"/>
          </a:p>
        </p:txBody>
      </p:sp>
      <p:sp>
        <p:nvSpPr>
          <p:cNvPr id="38" name="Text 36"/>
          <p:cNvSpPr/>
          <p:nvPr/>
        </p:nvSpPr>
        <p:spPr>
          <a:xfrm>
            <a:off x="3028740" y="2482453"/>
            <a:ext cx="2861860" cy="217394"/>
          </a:xfrm>
          <a:prstGeom prst="rect">
            <a:avLst/>
          </a:prstGeom>
          <a:noFill/>
          <a:ln/>
        </p:spPr>
        <p:txBody>
          <a:bodyPr wrap="square" lIns="25400" tIns="25400" rIns="25400" bIns="25400" rtlCol="0" anchor="t">
            <a:normAutofit/>
          </a:bodyPr>
          <a:lstStyle/>
          <a:p>
            <a:pPr algn="l" indent="0" marL="0">
              <a:buNone/>
            </a:pPr>
            <a:r>
              <a:rPr lang="en-US" sz="1200" dirty="0">
                <a:solidFill>
                  <a:srgbClr val="5B6675"/>
                </a:solidFill>
                <a:latin typeface="Public Sans" pitchFamily="34" charset="0"/>
                <a:ea typeface="Public Sans" pitchFamily="34" charset="-122"/>
                <a:cs typeface="Public Sans" pitchFamily="34" charset="-120"/>
              </a:rPr>
              <a:t>Here's your meeting activity</a:t>
            </a:r>
            <a:endParaRPr lang="en-US" sz="1200" dirty="0"/>
          </a:p>
        </p:txBody>
      </p:sp>
      <p:sp>
        <p:nvSpPr>
          <p:cNvPr id="39" name="Shape 37"/>
          <p:cNvSpPr/>
          <p:nvPr/>
        </p:nvSpPr>
        <p:spPr>
          <a:xfrm>
            <a:off x="15821480" y="2197929"/>
            <a:ext cx="1628530" cy="438080"/>
          </a:xfrm>
          <a:prstGeom prst="roundRect">
            <a:avLst>
              <a:gd name="adj" fmla="val 19568"/>
            </a:avLst>
          </a:prstGeom>
          <a:solidFill>
            <a:srgbClr val="1C5C43"/>
          </a:solidFill>
          <a:ln/>
        </p:spPr>
      </p:sp>
      <p:sp>
        <p:nvSpPr>
          <p:cNvPr id="40" name="Text 38"/>
          <p:cNvSpPr/>
          <p:nvPr/>
        </p:nvSpPr>
        <p:spPr>
          <a:xfrm>
            <a:off x="16031030" y="2321754"/>
            <a:ext cx="1285630" cy="228530"/>
          </a:xfrm>
          <a:prstGeom prst="rect">
            <a:avLst/>
          </a:prstGeom>
          <a:noFill/>
          <a:ln/>
        </p:spPr>
        <p:txBody>
          <a:bodyPr wrap="square" lIns="25400" tIns="25400" rIns="25400" bIns="25400" rtlCol="0" anchor="t">
            <a:normAutofit/>
          </a:bodyPr>
          <a:lstStyle/>
          <a:p>
            <a:pPr algn="l" indent="0" marL="0">
              <a:buNone/>
            </a:pPr>
            <a:r>
              <a:rPr lang="en-US" sz="1275" b="1" dirty="0">
                <a:solidFill>
                  <a:srgbClr val="FFFFFF"/>
                </a:solidFill>
                <a:latin typeface="Public Sans" pitchFamily="34" charset="0"/>
                <a:ea typeface="Public Sans" pitchFamily="34" charset="-122"/>
                <a:cs typeface="Public Sans" pitchFamily="34" charset="-120"/>
              </a:rPr>
              <a:t>＋ New meeting</a:t>
            </a:r>
            <a:endParaRPr lang="en-US" sz="1275" dirty="0"/>
          </a:p>
        </p:txBody>
      </p:sp>
      <p:sp>
        <p:nvSpPr>
          <p:cNvPr id="41" name="Shape 39"/>
          <p:cNvSpPr/>
          <p:nvPr/>
        </p:nvSpPr>
        <p:spPr>
          <a:xfrm>
            <a:off x="3028740" y="2871157"/>
            <a:ext cx="3505340" cy="952325"/>
          </a:xfrm>
          <a:prstGeom prst="roundRect">
            <a:avLst>
              <a:gd name="adj" fmla="val 12002"/>
            </a:avLst>
          </a:prstGeom>
          <a:solidFill>
            <a:srgbClr val="FFFFFF"/>
          </a:solidFill>
          <a:ln w="11206">
            <a:solidFill>
              <a:srgbClr val="E4E9EF"/>
            </a:solidFill>
            <a:prstDash val="solid"/>
          </a:ln>
        </p:spPr>
      </p:sp>
      <p:sp>
        <p:nvSpPr>
          <p:cNvPr id="42" name="Text 40"/>
          <p:cNvSpPr/>
          <p:nvPr/>
        </p:nvSpPr>
        <p:spPr>
          <a:xfrm>
            <a:off x="3230446" y="3053778"/>
            <a:ext cx="3412121" cy="419100"/>
          </a:xfrm>
          <a:prstGeom prst="rect">
            <a:avLst/>
          </a:prstGeom>
          <a:noFill/>
          <a:ln/>
        </p:spPr>
        <p:txBody>
          <a:bodyPr wrap="square" lIns="25400" tIns="25400" rIns="25400" bIns="25400" rtlCol="0" anchor="t">
            <a:normAutofit/>
          </a:bodyPr>
          <a:lstStyle/>
          <a:p>
            <a:pPr algn="l" indent="0" marL="0">
              <a:buNone/>
            </a:pPr>
            <a:r>
              <a:rPr lang="en-US" sz="2550" b="1" dirty="0">
                <a:solidFill>
                  <a:srgbClr val="1C5C43"/>
                </a:solidFill>
                <a:latin typeface="Public Sans" pitchFamily="34" charset="0"/>
                <a:ea typeface="Public Sans" pitchFamily="34" charset="-122"/>
                <a:cs typeface="Public Sans" pitchFamily="34" charset="-120"/>
              </a:rPr>
              <a:t>4</a:t>
            </a:r>
            <a:endParaRPr lang="en-US" sz="2550" dirty="0"/>
          </a:p>
        </p:txBody>
      </p:sp>
      <p:sp>
        <p:nvSpPr>
          <p:cNvPr id="43" name="Text 41"/>
          <p:cNvSpPr/>
          <p:nvPr/>
        </p:nvSpPr>
        <p:spPr>
          <a:xfrm>
            <a:off x="3230446" y="3472773"/>
            <a:ext cx="3412121" cy="206188"/>
          </a:xfrm>
          <a:prstGeom prst="rect">
            <a:avLst/>
          </a:prstGeom>
          <a:noFill/>
          <a:ln/>
        </p:spPr>
        <p:txBody>
          <a:bodyPr wrap="square" lIns="25400" tIns="25400" rIns="25400" bIns="25400" rtlCol="0" anchor="t">
            <a:normAutofit/>
          </a:bodyPr>
          <a:lstStyle/>
          <a:p>
            <a:pPr algn="l" indent="0" marL="0">
              <a:buNone/>
            </a:pPr>
            <a:r>
              <a:rPr lang="en-US" sz="1125" dirty="0">
                <a:solidFill>
                  <a:srgbClr val="5B6675"/>
                </a:solidFill>
                <a:latin typeface="Public Sans" pitchFamily="34" charset="0"/>
                <a:ea typeface="Public Sans" pitchFamily="34" charset="-122"/>
                <a:cs typeface="Public Sans" pitchFamily="34" charset="-120"/>
              </a:rPr>
              <a:t>Awaiting customer</a:t>
            </a:r>
            <a:endParaRPr lang="en-US" sz="1125" dirty="0"/>
          </a:p>
        </p:txBody>
      </p:sp>
      <p:sp>
        <p:nvSpPr>
          <p:cNvPr id="44" name="Shape 42"/>
          <p:cNvSpPr/>
          <p:nvPr/>
        </p:nvSpPr>
        <p:spPr>
          <a:xfrm>
            <a:off x="6667324" y="2871157"/>
            <a:ext cx="3505340" cy="952325"/>
          </a:xfrm>
          <a:prstGeom prst="roundRect">
            <a:avLst>
              <a:gd name="adj" fmla="val 12002"/>
            </a:avLst>
          </a:prstGeom>
          <a:solidFill>
            <a:srgbClr val="FFFFFF"/>
          </a:solidFill>
          <a:ln w="11206">
            <a:solidFill>
              <a:srgbClr val="E4E9EF"/>
            </a:solidFill>
            <a:prstDash val="solid"/>
          </a:ln>
        </p:spPr>
      </p:sp>
      <p:sp>
        <p:nvSpPr>
          <p:cNvPr id="45" name="Text 43"/>
          <p:cNvSpPr/>
          <p:nvPr/>
        </p:nvSpPr>
        <p:spPr>
          <a:xfrm>
            <a:off x="6869030" y="3053778"/>
            <a:ext cx="3412121" cy="419100"/>
          </a:xfrm>
          <a:prstGeom prst="rect">
            <a:avLst/>
          </a:prstGeom>
          <a:noFill/>
          <a:ln/>
        </p:spPr>
        <p:txBody>
          <a:bodyPr wrap="square" lIns="25400" tIns="25400" rIns="25400" bIns="25400" rtlCol="0" anchor="t">
            <a:normAutofit/>
          </a:bodyPr>
          <a:lstStyle/>
          <a:p>
            <a:pPr algn="l" indent="0" marL="0">
              <a:buNone/>
            </a:pPr>
            <a:r>
              <a:rPr lang="en-US" sz="2550" b="1" dirty="0">
                <a:solidFill>
                  <a:srgbClr val="107C41"/>
                </a:solidFill>
                <a:latin typeface="Public Sans" pitchFamily="34" charset="0"/>
                <a:ea typeface="Public Sans" pitchFamily="34" charset="-122"/>
                <a:cs typeface="Public Sans" pitchFamily="34" charset="-120"/>
              </a:rPr>
              <a:t>9</a:t>
            </a:r>
            <a:endParaRPr lang="en-US" sz="2550" dirty="0"/>
          </a:p>
        </p:txBody>
      </p:sp>
      <p:sp>
        <p:nvSpPr>
          <p:cNvPr id="46" name="Text 44"/>
          <p:cNvSpPr/>
          <p:nvPr/>
        </p:nvSpPr>
        <p:spPr>
          <a:xfrm>
            <a:off x="6869030" y="3472773"/>
            <a:ext cx="3412121" cy="206188"/>
          </a:xfrm>
          <a:prstGeom prst="rect">
            <a:avLst/>
          </a:prstGeom>
          <a:noFill/>
          <a:ln/>
        </p:spPr>
        <p:txBody>
          <a:bodyPr wrap="square" lIns="25400" tIns="25400" rIns="25400" bIns="25400" rtlCol="0" anchor="t">
            <a:normAutofit/>
          </a:bodyPr>
          <a:lstStyle/>
          <a:p>
            <a:pPr algn="l" indent="0" marL="0">
              <a:buNone/>
            </a:pPr>
            <a:r>
              <a:rPr lang="en-US" sz="1125" dirty="0">
                <a:solidFill>
                  <a:srgbClr val="5B6675"/>
                </a:solidFill>
                <a:latin typeface="Public Sans" pitchFamily="34" charset="0"/>
                <a:ea typeface="Public Sans" pitchFamily="34" charset="-122"/>
                <a:cs typeface="Public Sans" pitchFamily="34" charset="-120"/>
              </a:rPr>
              <a:t>Booked this week</a:t>
            </a:r>
            <a:endParaRPr lang="en-US" sz="1125" dirty="0"/>
          </a:p>
        </p:txBody>
      </p:sp>
      <p:sp>
        <p:nvSpPr>
          <p:cNvPr id="47" name="Shape 45"/>
          <p:cNvSpPr/>
          <p:nvPr/>
        </p:nvSpPr>
        <p:spPr>
          <a:xfrm>
            <a:off x="10305909" y="2871157"/>
            <a:ext cx="3505340" cy="952325"/>
          </a:xfrm>
          <a:prstGeom prst="roundRect">
            <a:avLst>
              <a:gd name="adj" fmla="val 12002"/>
            </a:avLst>
          </a:prstGeom>
          <a:solidFill>
            <a:srgbClr val="FFFFFF"/>
          </a:solidFill>
          <a:ln w="11206">
            <a:solidFill>
              <a:srgbClr val="E4E9EF"/>
            </a:solidFill>
            <a:prstDash val="solid"/>
          </a:ln>
        </p:spPr>
      </p:sp>
      <p:sp>
        <p:nvSpPr>
          <p:cNvPr id="48" name="Text 46"/>
          <p:cNvSpPr/>
          <p:nvPr/>
        </p:nvSpPr>
        <p:spPr>
          <a:xfrm>
            <a:off x="10507616" y="3053778"/>
            <a:ext cx="3412121" cy="419100"/>
          </a:xfrm>
          <a:prstGeom prst="rect">
            <a:avLst/>
          </a:prstGeom>
          <a:noFill/>
          <a:ln/>
        </p:spPr>
        <p:txBody>
          <a:bodyPr wrap="square" lIns="25400" tIns="25400" rIns="25400" bIns="25400" rtlCol="0" anchor="t">
            <a:normAutofit/>
          </a:bodyPr>
          <a:lstStyle/>
          <a:p>
            <a:pPr algn="l" indent="0" marL="0">
              <a:buNone/>
            </a:pPr>
            <a:r>
              <a:rPr lang="en-US" sz="2550" b="1" dirty="0">
                <a:solidFill>
                  <a:srgbClr val="B4690E"/>
                </a:solidFill>
                <a:latin typeface="Public Sans" pitchFamily="34" charset="0"/>
                <a:ea typeface="Public Sans" pitchFamily="34" charset="-122"/>
                <a:cs typeface="Public Sans" pitchFamily="34" charset="-120"/>
              </a:rPr>
              <a:t>2</a:t>
            </a:r>
            <a:endParaRPr lang="en-US" sz="2550" dirty="0"/>
          </a:p>
        </p:txBody>
      </p:sp>
      <p:sp>
        <p:nvSpPr>
          <p:cNvPr id="49" name="Text 47"/>
          <p:cNvSpPr/>
          <p:nvPr/>
        </p:nvSpPr>
        <p:spPr>
          <a:xfrm>
            <a:off x="10507616" y="3472773"/>
            <a:ext cx="3412121" cy="206188"/>
          </a:xfrm>
          <a:prstGeom prst="rect">
            <a:avLst/>
          </a:prstGeom>
          <a:noFill/>
          <a:ln/>
        </p:spPr>
        <p:txBody>
          <a:bodyPr wrap="square" lIns="25400" tIns="25400" rIns="25400" bIns="25400" rtlCol="0" anchor="t">
            <a:normAutofit/>
          </a:bodyPr>
          <a:lstStyle/>
          <a:p>
            <a:pPr algn="l" indent="0" marL="0">
              <a:buNone/>
            </a:pPr>
            <a:r>
              <a:rPr lang="en-US" sz="1125" dirty="0">
                <a:solidFill>
                  <a:srgbClr val="5B6675"/>
                </a:solidFill>
                <a:latin typeface="Public Sans" pitchFamily="34" charset="0"/>
                <a:ea typeface="Public Sans" pitchFamily="34" charset="-122"/>
                <a:cs typeface="Public Sans" pitchFamily="34" charset="-120"/>
              </a:rPr>
              <a:t>Need attention</a:t>
            </a:r>
            <a:endParaRPr lang="en-US" sz="1125" dirty="0"/>
          </a:p>
        </p:txBody>
      </p:sp>
      <p:sp>
        <p:nvSpPr>
          <p:cNvPr id="50" name="Shape 48"/>
          <p:cNvSpPr/>
          <p:nvPr/>
        </p:nvSpPr>
        <p:spPr>
          <a:xfrm>
            <a:off x="13944494" y="2871157"/>
            <a:ext cx="3505515" cy="952325"/>
          </a:xfrm>
          <a:prstGeom prst="roundRect">
            <a:avLst>
              <a:gd name="adj" fmla="val 12002"/>
            </a:avLst>
          </a:prstGeom>
          <a:solidFill>
            <a:srgbClr val="FFFFFF"/>
          </a:solidFill>
          <a:ln w="11206">
            <a:solidFill>
              <a:srgbClr val="E4E9EF"/>
            </a:solidFill>
            <a:prstDash val="solid"/>
          </a:ln>
        </p:spPr>
      </p:sp>
      <p:sp>
        <p:nvSpPr>
          <p:cNvPr id="51" name="Text 49"/>
          <p:cNvSpPr/>
          <p:nvPr/>
        </p:nvSpPr>
        <p:spPr>
          <a:xfrm>
            <a:off x="14146200" y="3053778"/>
            <a:ext cx="3412313" cy="419100"/>
          </a:xfrm>
          <a:prstGeom prst="rect">
            <a:avLst/>
          </a:prstGeom>
          <a:noFill/>
          <a:ln/>
        </p:spPr>
        <p:txBody>
          <a:bodyPr wrap="square" lIns="25400" tIns="25400" rIns="25400" bIns="25400" rtlCol="0" anchor="t">
            <a:normAutofit/>
          </a:bodyPr>
          <a:lstStyle/>
          <a:p>
            <a:pPr algn="l" indent="0" marL="0">
              <a:buNone/>
            </a:pPr>
            <a:r>
              <a:rPr lang="en-US" sz="2550" b="1" dirty="0">
                <a:solidFill>
                  <a:srgbClr val="0D2E22"/>
                </a:solidFill>
                <a:latin typeface="Public Sans" pitchFamily="34" charset="0"/>
                <a:ea typeface="Public Sans" pitchFamily="34" charset="-122"/>
                <a:cs typeface="Public Sans" pitchFamily="34" charset="-120"/>
              </a:rPr>
              <a:t>18 m</a:t>
            </a:r>
            <a:endParaRPr lang="en-US" sz="2550" dirty="0"/>
          </a:p>
        </p:txBody>
      </p:sp>
      <p:sp>
        <p:nvSpPr>
          <p:cNvPr id="52" name="Text 50"/>
          <p:cNvSpPr/>
          <p:nvPr/>
        </p:nvSpPr>
        <p:spPr>
          <a:xfrm>
            <a:off x="14146200" y="3472773"/>
            <a:ext cx="3412313" cy="206188"/>
          </a:xfrm>
          <a:prstGeom prst="rect">
            <a:avLst/>
          </a:prstGeom>
          <a:noFill/>
          <a:ln/>
        </p:spPr>
        <p:txBody>
          <a:bodyPr wrap="square" lIns="25400" tIns="25400" rIns="25400" bIns="25400" rtlCol="0" anchor="t">
            <a:normAutofit/>
          </a:bodyPr>
          <a:lstStyle/>
          <a:p>
            <a:pPr algn="l" indent="0" marL="0">
              <a:buNone/>
            </a:pPr>
            <a:r>
              <a:rPr lang="en-US" sz="1125" dirty="0">
                <a:solidFill>
                  <a:srgbClr val="5B6675"/>
                </a:solidFill>
                <a:latin typeface="Public Sans" pitchFamily="34" charset="0"/>
                <a:ea typeface="Public Sans" pitchFamily="34" charset="-122"/>
                <a:cs typeface="Public Sans" pitchFamily="34" charset="-120"/>
              </a:rPr>
              <a:t>Avg. time to book</a:t>
            </a:r>
            <a:endParaRPr lang="en-US" sz="1125" dirty="0"/>
          </a:p>
        </p:txBody>
      </p:sp>
      <p:sp>
        <p:nvSpPr>
          <p:cNvPr id="53" name="Shape 51"/>
          <p:cNvSpPr/>
          <p:nvPr/>
        </p:nvSpPr>
        <p:spPr>
          <a:xfrm>
            <a:off x="3028740" y="4032892"/>
            <a:ext cx="14421270" cy="2412416"/>
          </a:xfrm>
          <a:prstGeom prst="roundRect">
            <a:avLst>
              <a:gd name="adj" fmla="val 4738"/>
            </a:avLst>
          </a:prstGeom>
          <a:solidFill>
            <a:srgbClr val="FFFFFF"/>
          </a:solidFill>
          <a:ln w="11206">
            <a:solidFill>
              <a:srgbClr val="E4E9EF"/>
            </a:solidFill>
            <a:prstDash val="solid"/>
          </a:ln>
        </p:spPr>
      </p:sp>
      <p:sp>
        <p:nvSpPr>
          <p:cNvPr id="54" name="Shape 52"/>
          <p:cNvSpPr/>
          <p:nvPr/>
        </p:nvSpPr>
        <p:spPr>
          <a:xfrm>
            <a:off x="3039946" y="4501087"/>
            <a:ext cx="14398857" cy="11206"/>
          </a:xfrm>
          <a:prstGeom prst="rect">
            <a:avLst/>
          </a:prstGeom>
          <a:solidFill>
            <a:srgbClr val="EFF2E4"/>
          </a:solidFill>
          <a:ln/>
        </p:spPr>
      </p:sp>
      <p:sp>
        <p:nvSpPr>
          <p:cNvPr id="55" name="Text 53"/>
          <p:cNvSpPr/>
          <p:nvPr/>
        </p:nvSpPr>
        <p:spPr>
          <a:xfrm>
            <a:off x="3230446" y="4177448"/>
            <a:ext cx="14449823" cy="228390"/>
          </a:xfrm>
          <a:prstGeom prst="rect">
            <a:avLst/>
          </a:prstGeom>
          <a:noFill/>
          <a:ln/>
        </p:spPr>
        <p:txBody>
          <a:bodyPr wrap="square" lIns="25400" tIns="25400" rIns="25400" bIns="25400" rtlCol="0" anchor="t">
            <a:normAutofit/>
          </a:bodyPr>
          <a:lstStyle/>
          <a:p>
            <a:pPr algn="l" indent="0" marL="0">
              <a:buNone/>
            </a:pPr>
            <a:r>
              <a:rPr lang="en-US" sz="1275" b="1" dirty="0">
                <a:solidFill>
                  <a:srgbClr val="0D2E22"/>
                </a:solidFill>
                <a:latin typeface="Public Sans" pitchFamily="34" charset="0"/>
                <a:ea typeface="Public Sans" pitchFamily="34" charset="-122"/>
                <a:cs typeface="Public Sans" pitchFamily="34" charset="-120"/>
              </a:rPr>
              <a:t>Recent meetings</a:t>
            </a:r>
            <a:endParaRPr lang="en-US" sz="1275" dirty="0"/>
          </a:p>
        </p:txBody>
      </p:sp>
      <p:sp>
        <p:nvSpPr>
          <p:cNvPr id="56" name="Shape 54"/>
          <p:cNvSpPr/>
          <p:nvPr/>
        </p:nvSpPr>
        <p:spPr>
          <a:xfrm>
            <a:off x="3039946" y="5145426"/>
            <a:ext cx="14398857" cy="11206"/>
          </a:xfrm>
          <a:prstGeom prst="rect">
            <a:avLst/>
          </a:prstGeom>
          <a:solidFill>
            <a:srgbClr val="F1F4F7"/>
          </a:solidFill>
          <a:ln/>
        </p:spPr>
      </p:sp>
      <p:sp>
        <p:nvSpPr>
          <p:cNvPr id="57" name="Text 55"/>
          <p:cNvSpPr/>
          <p:nvPr/>
        </p:nvSpPr>
        <p:spPr>
          <a:xfrm>
            <a:off x="3230446" y="4655168"/>
            <a:ext cx="2661555" cy="228600"/>
          </a:xfrm>
          <a:prstGeom prst="rect">
            <a:avLst/>
          </a:prstGeom>
          <a:noFill/>
          <a:ln/>
        </p:spPr>
        <p:txBody>
          <a:bodyPr wrap="square" lIns="25400" tIns="25400" rIns="25400" bIns="25400" rtlCol="0" anchor="t">
            <a:normAutofit/>
          </a:bodyPr>
          <a:lstStyle/>
          <a:p>
            <a:pPr algn="l" indent="0" marL="0">
              <a:buNone/>
            </a:pPr>
            <a:r>
              <a:rPr lang="en-US" sz="1275" b="1" dirty="0">
                <a:solidFill>
                  <a:srgbClr val="0D2E22"/>
                </a:solidFill>
                <a:latin typeface="Public Sans" pitchFamily="34" charset="0"/>
                <a:ea typeface="Public Sans" pitchFamily="34" charset="-122"/>
                <a:cs typeface="Public Sans" pitchFamily="34" charset="-120"/>
              </a:rPr>
              <a:t>Portfolio review — H. Okonkwo</a:t>
            </a:r>
            <a:endParaRPr lang="en-US" sz="1275" dirty="0"/>
          </a:p>
        </p:txBody>
      </p:sp>
      <p:sp>
        <p:nvSpPr>
          <p:cNvPr id="58" name="Text 56"/>
          <p:cNvSpPr/>
          <p:nvPr/>
        </p:nvSpPr>
        <p:spPr>
          <a:xfrm>
            <a:off x="3230446" y="4845668"/>
            <a:ext cx="2661555" cy="194982"/>
          </a:xfrm>
          <a:prstGeom prst="rect">
            <a:avLst/>
          </a:prstGeom>
          <a:noFill/>
          <a:ln/>
        </p:spPr>
        <p:txBody>
          <a:bodyPr wrap="square" lIns="25400" tIns="25400" rIns="25400" bIns="25400" rtlCol="0" anchor="t">
            <a:normAutofit/>
          </a:bodyPr>
          <a:lstStyle/>
          <a:p>
            <a:pPr algn="l" indent="0" marL="0">
              <a:buNone/>
            </a:pPr>
            <a:r>
              <a:rPr lang="en-US" sz="1050" dirty="0">
                <a:solidFill>
                  <a:srgbClr val="8996A6"/>
                </a:solidFill>
                <a:latin typeface="Public Sans" pitchFamily="34" charset="0"/>
                <a:ea typeface="Public Sans" pitchFamily="34" charset="-122"/>
                <a:cs typeface="Public Sans" pitchFamily="34" charset="-120"/>
              </a:rPr>
              <a:t>Partner attending · Boardroom, Floor 12</a:t>
            </a:r>
            <a:endParaRPr lang="en-US" sz="1050" dirty="0"/>
          </a:p>
        </p:txBody>
      </p:sp>
      <p:sp>
        <p:nvSpPr>
          <p:cNvPr id="59" name="Shape 57"/>
          <p:cNvSpPr/>
          <p:nvPr/>
        </p:nvSpPr>
        <p:spPr>
          <a:xfrm>
            <a:off x="16351308" y="4693339"/>
            <a:ext cx="896996" cy="271042"/>
          </a:xfrm>
          <a:prstGeom prst="roundRect">
            <a:avLst>
              <a:gd name="adj" fmla="val 50000"/>
            </a:avLst>
          </a:prstGeom>
          <a:solidFill>
            <a:srgbClr val="E8F4EC"/>
          </a:solidFill>
          <a:ln/>
        </p:spPr>
      </p:sp>
      <p:sp>
        <p:nvSpPr>
          <p:cNvPr id="60" name="Text 58"/>
          <p:cNvSpPr/>
          <p:nvPr/>
        </p:nvSpPr>
        <p:spPr>
          <a:xfrm>
            <a:off x="16465608" y="4750489"/>
            <a:ext cx="744596" cy="194842"/>
          </a:xfrm>
          <a:prstGeom prst="rect">
            <a:avLst/>
          </a:prstGeom>
          <a:noFill/>
          <a:ln/>
        </p:spPr>
        <p:txBody>
          <a:bodyPr wrap="square" lIns="25400" tIns="25400" rIns="25400" bIns="25400" rtlCol="0" anchor="t">
            <a:normAutofit/>
          </a:bodyPr>
          <a:lstStyle/>
          <a:p>
            <a:pPr algn="l" indent="0" marL="0">
              <a:buNone/>
            </a:pPr>
            <a:r>
              <a:rPr lang="en-US" sz="975" b="1" dirty="0">
                <a:solidFill>
                  <a:srgbClr val="107C41"/>
                </a:solidFill>
                <a:latin typeface="IBM Plex Mono" pitchFamily="34" charset="0"/>
                <a:ea typeface="IBM Plex Mono" pitchFamily="34" charset="-122"/>
                <a:cs typeface="IBM Plex Mono" pitchFamily="34" charset="-120"/>
              </a:rPr>
              <a:t>Confirmed</a:t>
            </a:r>
            <a:endParaRPr lang="en-US" sz="975" dirty="0"/>
          </a:p>
        </p:txBody>
      </p:sp>
      <p:sp>
        <p:nvSpPr>
          <p:cNvPr id="61" name="Shape 59"/>
          <p:cNvSpPr/>
          <p:nvPr/>
        </p:nvSpPr>
        <p:spPr>
          <a:xfrm>
            <a:off x="3039946" y="5789764"/>
            <a:ext cx="14398857" cy="11206"/>
          </a:xfrm>
          <a:prstGeom prst="rect">
            <a:avLst/>
          </a:prstGeom>
          <a:solidFill>
            <a:srgbClr val="F1F4F7"/>
          </a:solidFill>
          <a:ln/>
        </p:spPr>
      </p:sp>
      <p:sp>
        <p:nvSpPr>
          <p:cNvPr id="62" name="Text 60"/>
          <p:cNvSpPr/>
          <p:nvPr/>
        </p:nvSpPr>
        <p:spPr>
          <a:xfrm>
            <a:off x="3230446" y="5299507"/>
            <a:ext cx="2814287" cy="228600"/>
          </a:xfrm>
          <a:prstGeom prst="rect">
            <a:avLst/>
          </a:prstGeom>
          <a:noFill/>
          <a:ln/>
        </p:spPr>
        <p:txBody>
          <a:bodyPr wrap="square" lIns="25400" tIns="25400" rIns="25400" bIns="25400" rtlCol="0" anchor="t">
            <a:normAutofit/>
          </a:bodyPr>
          <a:lstStyle/>
          <a:p>
            <a:pPr algn="l" indent="0" marL="0">
              <a:buNone/>
            </a:pPr>
            <a:r>
              <a:rPr lang="en-US" sz="1275" b="1" dirty="0">
                <a:solidFill>
                  <a:srgbClr val="0D2E22"/>
                </a:solidFill>
                <a:latin typeface="Public Sans" pitchFamily="34" charset="0"/>
                <a:ea typeface="Public Sans" pitchFamily="34" charset="-122"/>
                <a:cs typeface="Public Sans" pitchFamily="34" charset="-120"/>
              </a:rPr>
              <a:t>Onboarding — The Vasquez Trust</a:t>
            </a:r>
            <a:endParaRPr lang="en-US" sz="1275" dirty="0"/>
          </a:p>
        </p:txBody>
      </p:sp>
      <p:sp>
        <p:nvSpPr>
          <p:cNvPr id="63" name="Text 61"/>
          <p:cNvSpPr/>
          <p:nvPr/>
        </p:nvSpPr>
        <p:spPr>
          <a:xfrm>
            <a:off x="3230446" y="5490007"/>
            <a:ext cx="2814287" cy="194982"/>
          </a:xfrm>
          <a:prstGeom prst="rect">
            <a:avLst/>
          </a:prstGeom>
          <a:noFill/>
          <a:ln/>
        </p:spPr>
        <p:txBody>
          <a:bodyPr wrap="square" lIns="25400" tIns="25400" rIns="25400" bIns="25400" rtlCol="0" anchor="t">
            <a:normAutofit/>
          </a:bodyPr>
          <a:lstStyle/>
          <a:p>
            <a:pPr algn="l" indent="0" marL="0">
              <a:buNone/>
            </a:pPr>
            <a:r>
              <a:rPr lang="en-US" sz="1050" dirty="0">
                <a:solidFill>
                  <a:srgbClr val="8996A6"/>
                </a:solidFill>
                <a:latin typeface="Public Sans" pitchFamily="34" charset="0"/>
                <a:ea typeface="Public Sans" pitchFamily="34" charset="-122"/>
                <a:cs typeface="Public Sans" pitchFamily="34" charset="-120"/>
              </a:rPr>
              <a:t>Awaiting customer selection</a:t>
            </a:r>
            <a:endParaRPr lang="en-US" sz="1050" dirty="0"/>
          </a:p>
        </p:txBody>
      </p:sp>
      <p:sp>
        <p:nvSpPr>
          <p:cNvPr id="64" name="Shape 62"/>
          <p:cNvSpPr/>
          <p:nvPr/>
        </p:nvSpPr>
        <p:spPr>
          <a:xfrm>
            <a:off x="16722677" y="5337677"/>
            <a:ext cx="525626" cy="271042"/>
          </a:xfrm>
          <a:prstGeom prst="roundRect">
            <a:avLst>
              <a:gd name="adj" fmla="val 50000"/>
            </a:avLst>
          </a:prstGeom>
          <a:solidFill>
            <a:srgbClr val="FBF1E3"/>
          </a:solidFill>
          <a:ln/>
        </p:spPr>
      </p:sp>
      <p:sp>
        <p:nvSpPr>
          <p:cNvPr id="65" name="Text 63"/>
          <p:cNvSpPr/>
          <p:nvPr/>
        </p:nvSpPr>
        <p:spPr>
          <a:xfrm>
            <a:off x="16836977" y="5394827"/>
            <a:ext cx="373226" cy="194842"/>
          </a:xfrm>
          <a:prstGeom prst="rect">
            <a:avLst/>
          </a:prstGeom>
          <a:noFill/>
          <a:ln/>
        </p:spPr>
        <p:txBody>
          <a:bodyPr wrap="square" lIns="25400" tIns="25400" rIns="25400" bIns="25400" rtlCol="0" anchor="t">
            <a:normAutofit/>
          </a:bodyPr>
          <a:lstStyle/>
          <a:p>
            <a:pPr algn="l" indent="0" marL="0">
              <a:buNone/>
            </a:pPr>
            <a:r>
              <a:rPr lang="en-US" sz="975" b="1" dirty="0">
                <a:solidFill>
                  <a:srgbClr val="B4690E"/>
                </a:solidFill>
                <a:latin typeface="IBM Plex Mono" pitchFamily="34" charset="0"/>
                <a:ea typeface="IBM Plex Mono" pitchFamily="34" charset="-122"/>
                <a:cs typeface="IBM Plex Mono" pitchFamily="34" charset="-120"/>
              </a:rPr>
              <a:t>Sent</a:t>
            </a:r>
            <a:endParaRPr lang="en-US" sz="975" dirty="0"/>
          </a:p>
        </p:txBody>
      </p:sp>
      <p:sp>
        <p:nvSpPr>
          <p:cNvPr id="66" name="Text 64"/>
          <p:cNvSpPr/>
          <p:nvPr/>
        </p:nvSpPr>
        <p:spPr>
          <a:xfrm>
            <a:off x="3230446" y="5943845"/>
            <a:ext cx="2425040" cy="228600"/>
          </a:xfrm>
          <a:prstGeom prst="rect">
            <a:avLst/>
          </a:prstGeom>
          <a:noFill/>
          <a:ln/>
        </p:spPr>
        <p:txBody>
          <a:bodyPr wrap="square" lIns="25400" tIns="25400" rIns="25400" bIns="25400" rtlCol="0" anchor="t">
            <a:normAutofit/>
          </a:bodyPr>
          <a:lstStyle/>
          <a:p>
            <a:pPr algn="l" indent="0" marL="0">
              <a:buNone/>
            </a:pPr>
            <a:r>
              <a:rPr lang="en-US" sz="1275" b="1" dirty="0">
                <a:solidFill>
                  <a:srgbClr val="0D2E22"/>
                </a:solidFill>
                <a:latin typeface="Public Sans" pitchFamily="34" charset="0"/>
                <a:ea typeface="Public Sans" pitchFamily="34" charset="-122"/>
                <a:cs typeface="Public Sans" pitchFamily="34" charset="-120"/>
              </a:rPr>
              <a:t>Estate planning — D. Bianchi</a:t>
            </a:r>
            <a:endParaRPr lang="en-US" sz="1275" dirty="0"/>
          </a:p>
        </p:txBody>
      </p:sp>
      <p:sp>
        <p:nvSpPr>
          <p:cNvPr id="67" name="Text 65"/>
          <p:cNvSpPr/>
          <p:nvPr/>
        </p:nvSpPr>
        <p:spPr>
          <a:xfrm>
            <a:off x="3230446" y="6134345"/>
            <a:ext cx="2425040" cy="194982"/>
          </a:xfrm>
          <a:prstGeom prst="rect">
            <a:avLst/>
          </a:prstGeom>
          <a:noFill/>
          <a:ln/>
        </p:spPr>
        <p:txBody>
          <a:bodyPr wrap="square" lIns="25400" tIns="25400" rIns="25400" bIns="25400" rtlCol="0" anchor="t">
            <a:normAutofit/>
          </a:bodyPr>
          <a:lstStyle/>
          <a:p>
            <a:pPr algn="l" indent="0" marL="0">
              <a:buNone/>
            </a:pPr>
            <a:r>
              <a:rPr lang="en-US" sz="1050" dirty="0">
                <a:solidFill>
                  <a:srgbClr val="8996A6"/>
                </a:solidFill>
                <a:latin typeface="Public Sans" pitchFamily="34" charset="0"/>
                <a:ea typeface="Public Sans" pitchFamily="34" charset="-122"/>
                <a:cs typeface="Public Sans" pitchFamily="34" charset="-120"/>
              </a:rPr>
              <a:t>Meeting room TBC</a:t>
            </a:r>
            <a:endParaRPr lang="en-US" sz="1050" dirty="0"/>
          </a:p>
        </p:txBody>
      </p:sp>
      <p:sp>
        <p:nvSpPr>
          <p:cNvPr id="68" name="Shape 66"/>
          <p:cNvSpPr/>
          <p:nvPr/>
        </p:nvSpPr>
        <p:spPr>
          <a:xfrm>
            <a:off x="16648438" y="5982015"/>
            <a:ext cx="599865" cy="271042"/>
          </a:xfrm>
          <a:prstGeom prst="roundRect">
            <a:avLst>
              <a:gd name="adj" fmla="val 50000"/>
            </a:avLst>
          </a:prstGeom>
          <a:solidFill>
            <a:srgbClr val="EDF1E0"/>
          </a:solidFill>
          <a:ln/>
        </p:spPr>
      </p:sp>
      <p:sp>
        <p:nvSpPr>
          <p:cNvPr id="69" name="Text 67"/>
          <p:cNvSpPr/>
          <p:nvPr/>
        </p:nvSpPr>
        <p:spPr>
          <a:xfrm>
            <a:off x="16762738" y="6039165"/>
            <a:ext cx="447465" cy="194842"/>
          </a:xfrm>
          <a:prstGeom prst="rect">
            <a:avLst/>
          </a:prstGeom>
          <a:noFill/>
          <a:ln/>
        </p:spPr>
        <p:txBody>
          <a:bodyPr wrap="square" lIns="25400" tIns="25400" rIns="25400" bIns="25400" rtlCol="0" anchor="t">
            <a:normAutofit/>
          </a:bodyPr>
          <a:lstStyle/>
          <a:p>
            <a:pPr algn="l" indent="0" marL="0">
              <a:buNone/>
            </a:pPr>
            <a:r>
              <a:rPr lang="en-US" sz="975" b="1" dirty="0">
                <a:solidFill>
                  <a:srgbClr val="1C5C43"/>
                </a:solidFill>
                <a:latin typeface="IBM Plex Mono" pitchFamily="34" charset="0"/>
                <a:ea typeface="IBM Plex Mono" pitchFamily="34" charset="-122"/>
                <a:cs typeface="IBM Plex Mono" pitchFamily="34" charset="-120"/>
              </a:rPr>
              <a:t>Draft</a:t>
            </a:r>
            <a:endParaRPr lang="en-US" sz="97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660" y="533330"/>
            <a:ext cx="18608347" cy="307041"/>
          </a:xfrm>
          <a:prstGeom prst="rect">
            <a:avLst/>
          </a:prstGeom>
          <a:noFill/>
          <a:ln/>
        </p:spPr>
        <p:txBody>
          <a:bodyPr wrap="square" lIns="25400" tIns="25400" rIns="25400" bIns="25400" rtlCol="0" anchor="t">
            <a:normAutofit/>
          </a:bodyPr>
          <a:lstStyle/>
          <a:p>
            <a:pPr algn="l" indent="0" marL="0">
              <a:buNone/>
            </a:pPr>
            <a:r>
              <a:rPr lang="en-US" sz="1650" b="1" spc="198" kern="0" dirty="0">
                <a:solidFill>
                  <a:srgbClr val="1C5C43"/>
                </a:solidFill>
                <a:latin typeface="IBM Plex Mono" pitchFamily="34" charset="0"/>
                <a:ea typeface="IBM Plex Mono" pitchFamily="34" charset="-122"/>
                <a:cs typeface="IBM Plex Mono" pitchFamily="34" charset="-120"/>
              </a:rPr>
              <a:t>05 · OPTIONS CONSIDERED</a:t>
            </a:r>
            <a:endParaRPr lang="en-US" sz="1650" dirty="0"/>
          </a:p>
        </p:txBody>
      </p:sp>
      <p:sp>
        <p:nvSpPr>
          <p:cNvPr id="3" name="Text 1"/>
          <p:cNvSpPr/>
          <p:nvPr/>
        </p:nvSpPr>
        <p:spPr>
          <a:xfrm>
            <a:off x="685660" y="897521"/>
            <a:ext cx="18608347" cy="531159"/>
          </a:xfrm>
          <a:prstGeom prst="rect">
            <a:avLst/>
          </a:prstGeom>
          <a:noFill/>
          <a:ln/>
        </p:spPr>
        <p:txBody>
          <a:bodyPr wrap="square" lIns="25400" tIns="25400" rIns="25400" bIns="25400" rtlCol="0" anchor="t">
            <a:normAutofit/>
          </a:bodyPr>
          <a:lstStyle/>
          <a:p>
            <a:pPr algn="l" indent="0" marL="0">
              <a:buNone/>
            </a:pPr>
            <a:r>
              <a:rPr lang="en-US" sz="3300" b="1" spc="-33" kern="0" dirty="0">
                <a:solidFill>
                  <a:srgbClr val="0D2E22"/>
                </a:solidFill>
                <a:latin typeface="Public Sans" pitchFamily="34" charset="0"/>
                <a:ea typeface="Public Sans" pitchFamily="34" charset="-122"/>
                <a:cs typeface="Public Sans" pitchFamily="34" charset="-120"/>
              </a:rPr>
              <a:t>Buy before build — why not out-of-the-box</a:t>
            </a:r>
            <a:endParaRPr lang="en-US" sz="3300" dirty="0"/>
          </a:p>
        </p:txBody>
      </p:sp>
      <p:sp>
        <p:nvSpPr>
          <p:cNvPr id="4" name="Shape 2"/>
          <p:cNvSpPr/>
          <p:nvPr/>
        </p:nvSpPr>
        <p:spPr>
          <a:xfrm>
            <a:off x="4017134" y="1599990"/>
            <a:ext cx="2589084" cy="977713"/>
          </a:xfrm>
          <a:prstGeom prst="roundRect">
            <a:avLst>
              <a:gd name="adj" fmla="val 9742"/>
            </a:avLst>
          </a:prstGeom>
          <a:solidFill>
            <a:srgbClr val="F4F7FA"/>
          </a:solidFill>
          <a:ln/>
        </p:spPr>
      </p:sp>
      <p:sp>
        <p:nvSpPr>
          <p:cNvPr id="5" name="Text 3"/>
          <p:cNvSpPr/>
          <p:nvPr/>
        </p:nvSpPr>
        <p:spPr>
          <a:xfrm>
            <a:off x="4073547" y="1695240"/>
            <a:ext cx="2476256" cy="825313"/>
          </a:xfrm>
          <a:prstGeom prst="rect">
            <a:avLst/>
          </a:prstGeom>
          <a:noFill/>
          <a:ln/>
        </p:spPr>
        <p:txBody>
          <a:bodyPr wrap="square" lIns="25400" tIns="25400" rIns="25400" bIns="25400" rtlCol="0" anchor="ctr">
            <a:normAutofit/>
          </a:bodyPr>
          <a:lstStyle/>
          <a:p>
            <a:pPr algn="ctr" indent="0" marL="0">
              <a:buNone/>
            </a:pPr>
            <a:r>
              <a:rPr lang="en-US" sz="1350" b="1" dirty="0">
                <a:solidFill>
                  <a:srgbClr val="0D2E22"/>
                </a:solidFill>
                <a:latin typeface="Public Sans" pitchFamily="34" charset="0"/>
                <a:ea typeface="Public Sans" pitchFamily="34" charset="-122"/>
                <a:cs typeface="Public Sans" pitchFamily="34" charset="-120"/>
              </a:rPr>
              <a:t>Microsoft Bookings</a:t>
            </a:r>
            <a:endParaRPr lang="en-US" sz="1350" dirty="0"/>
          </a:p>
        </p:txBody>
      </p:sp>
      <p:sp>
        <p:nvSpPr>
          <p:cNvPr id="6" name="Shape 4"/>
          <p:cNvSpPr/>
          <p:nvPr/>
        </p:nvSpPr>
        <p:spPr>
          <a:xfrm>
            <a:off x="6701468" y="1599990"/>
            <a:ext cx="2589084" cy="977713"/>
          </a:xfrm>
          <a:prstGeom prst="roundRect">
            <a:avLst>
              <a:gd name="adj" fmla="val 9742"/>
            </a:avLst>
          </a:prstGeom>
          <a:solidFill>
            <a:srgbClr val="F4F7FA"/>
          </a:solidFill>
          <a:ln/>
        </p:spPr>
      </p:sp>
      <p:sp>
        <p:nvSpPr>
          <p:cNvPr id="7" name="Text 5"/>
          <p:cNvSpPr/>
          <p:nvPr/>
        </p:nvSpPr>
        <p:spPr>
          <a:xfrm>
            <a:off x="6757881" y="1695240"/>
            <a:ext cx="2476256" cy="825313"/>
          </a:xfrm>
          <a:prstGeom prst="rect">
            <a:avLst/>
          </a:prstGeom>
          <a:noFill/>
          <a:ln/>
        </p:spPr>
        <p:txBody>
          <a:bodyPr wrap="square" lIns="25400" tIns="25400" rIns="25400" bIns="25400" rtlCol="0" anchor="ctr">
            <a:normAutofit/>
          </a:bodyPr>
          <a:lstStyle/>
          <a:p>
            <a:pPr algn="ctr" indent="0" marL="0">
              <a:buNone/>
            </a:pPr>
            <a:r>
              <a:rPr lang="en-US" sz="1350" b="1" dirty="0">
                <a:solidFill>
                  <a:srgbClr val="0D2E22"/>
                </a:solidFill>
                <a:latin typeface="Public Sans" pitchFamily="34" charset="0"/>
                <a:ea typeface="Public Sans" pitchFamily="34" charset="-122"/>
                <a:cs typeface="Public Sans" pitchFamily="34" charset="-120"/>
              </a:rPr>
              <a:t>Scheduling poll (Outlook)</a:t>
            </a:r>
            <a:endParaRPr lang="en-US" sz="1350" dirty="0"/>
          </a:p>
        </p:txBody>
      </p:sp>
      <p:sp>
        <p:nvSpPr>
          <p:cNvPr id="8" name="Shape 6"/>
          <p:cNvSpPr/>
          <p:nvPr/>
        </p:nvSpPr>
        <p:spPr>
          <a:xfrm>
            <a:off x="9385802" y="1599990"/>
            <a:ext cx="2588909" cy="977713"/>
          </a:xfrm>
          <a:prstGeom prst="roundRect">
            <a:avLst>
              <a:gd name="adj" fmla="val 9742"/>
            </a:avLst>
          </a:prstGeom>
          <a:solidFill>
            <a:srgbClr val="F4F7FA"/>
          </a:solidFill>
          <a:ln/>
        </p:spPr>
      </p:sp>
      <p:sp>
        <p:nvSpPr>
          <p:cNvPr id="9" name="Text 7"/>
          <p:cNvSpPr/>
          <p:nvPr/>
        </p:nvSpPr>
        <p:spPr>
          <a:xfrm>
            <a:off x="9442218" y="1695240"/>
            <a:ext cx="2476076" cy="825313"/>
          </a:xfrm>
          <a:prstGeom prst="rect">
            <a:avLst/>
          </a:prstGeom>
          <a:noFill/>
          <a:ln/>
        </p:spPr>
        <p:txBody>
          <a:bodyPr wrap="square" lIns="25400" tIns="25400" rIns="25400" bIns="25400" rtlCol="0" anchor="ctr">
            <a:normAutofit/>
          </a:bodyPr>
          <a:lstStyle/>
          <a:p>
            <a:pPr algn="ctr" indent="0" marL="0">
              <a:buNone/>
            </a:pPr>
            <a:r>
              <a:rPr lang="en-US" sz="1350" b="1" dirty="0">
                <a:solidFill>
                  <a:srgbClr val="0D2E22"/>
                </a:solidFill>
                <a:latin typeface="Public Sans" pitchFamily="34" charset="0"/>
                <a:ea typeface="Public Sans" pitchFamily="34" charset="-122"/>
                <a:cs typeface="Public Sans" pitchFamily="34" charset="-120"/>
              </a:rPr>
              <a:t>Power Pages portal</a:t>
            </a:r>
            <a:endParaRPr lang="en-US" sz="1350" dirty="0"/>
          </a:p>
        </p:txBody>
      </p:sp>
      <p:sp>
        <p:nvSpPr>
          <p:cNvPr id="10" name="Shape 8"/>
          <p:cNvSpPr/>
          <p:nvPr/>
        </p:nvSpPr>
        <p:spPr>
          <a:xfrm>
            <a:off x="12069960" y="1599990"/>
            <a:ext cx="2589084" cy="977713"/>
          </a:xfrm>
          <a:prstGeom prst="roundRect">
            <a:avLst>
              <a:gd name="adj" fmla="val 9742"/>
            </a:avLst>
          </a:prstGeom>
          <a:solidFill>
            <a:srgbClr val="E8F1FB"/>
          </a:solidFill>
          <a:ln w="11206">
            <a:solidFill>
              <a:srgbClr val="B6D4F0"/>
            </a:solidFill>
            <a:prstDash val="solid"/>
          </a:ln>
        </p:spPr>
      </p:sp>
      <p:sp>
        <p:nvSpPr>
          <p:cNvPr id="11" name="Text 9"/>
          <p:cNvSpPr/>
          <p:nvPr/>
        </p:nvSpPr>
        <p:spPr>
          <a:xfrm>
            <a:off x="12714876" y="1896070"/>
            <a:ext cx="1375278" cy="239806"/>
          </a:xfrm>
          <a:prstGeom prst="rect">
            <a:avLst/>
          </a:prstGeom>
          <a:noFill/>
          <a:ln/>
        </p:spPr>
        <p:txBody>
          <a:bodyPr wrap="square" lIns="0" tIns="0" rIns="0" bIns="0" rtlCol="0" anchor="t">
            <a:normAutofit/>
          </a:bodyPr>
          <a:lstStyle/>
          <a:p>
            <a:pPr algn="ctr" indent="0" marL="0">
              <a:buNone/>
            </a:pPr>
            <a:r>
              <a:rPr lang="en-US" sz="1350" b="1" dirty="0">
                <a:solidFill>
                  <a:srgbClr val="0D2E22"/>
                </a:solidFill>
                <a:latin typeface="Public Sans" pitchFamily="34" charset="0"/>
                <a:ea typeface="Public Sans" pitchFamily="34" charset="-122"/>
                <a:cs typeface="Public Sans" pitchFamily="34" charset="-120"/>
              </a:rPr>
              <a:t>Native + Copilot</a:t>
            </a:r>
            <a:endParaRPr lang="en-US" sz="1350" dirty="0"/>
          </a:p>
        </p:txBody>
      </p:sp>
      <p:sp>
        <p:nvSpPr>
          <p:cNvPr id="12" name="Text 10"/>
          <p:cNvSpPr/>
          <p:nvPr/>
        </p:nvSpPr>
        <p:spPr>
          <a:xfrm>
            <a:off x="12937610" y="2135771"/>
            <a:ext cx="853608" cy="183776"/>
          </a:xfrm>
          <a:prstGeom prst="rect">
            <a:avLst/>
          </a:prstGeom>
          <a:noFill/>
          <a:ln/>
        </p:spPr>
        <p:txBody>
          <a:bodyPr wrap="square" lIns="25400" tIns="25400" rIns="25400" bIns="25400" rtlCol="0" anchor="t">
            <a:normAutofit/>
          </a:bodyPr>
          <a:lstStyle/>
          <a:p>
            <a:pPr algn="ctr" indent="0" marL="0">
              <a:buNone/>
            </a:pPr>
            <a:r>
              <a:rPr lang="en-US" sz="900" b="1" spc="72" kern="0" dirty="0">
                <a:solidFill>
                  <a:srgbClr val="0078D4"/>
                </a:solidFill>
                <a:latin typeface="IBM Plex Mono" pitchFamily="34" charset="0"/>
                <a:ea typeface="IBM Plex Mono" pitchFamily="34" charset="-122"/>
                <a:cs typeface="IBM Plex Mono" pitchFamily="34" charset="-120"/>
              </a:rPr>
              <a:t>ZERO BUILD</a:t>
            </a:r>
            <a:endParaRPr lang="en-US" sz="900" dirty="0"/>
          </a:p>
        </p:txBody>
      </p:sp>
      <p:sp>
        <p:nvSpPr>
          <p:cNvPr id="13" name="Shape 11"/>
          <p:cNvSpPr/>
          <p:nvPr/>
        </p:nvSpPr>
        <p:spPr>
          <a:xfrm>
            <a:off x="14754294" y="1599990"/>
            <a:ext cx="2848045" cy="977713"/>
          </a:xfrm>
          <a:prstGeom prst="roundRect">
            <a:avLst>
              <a:gd name="adj" fmla="val 9742"/>
            </a:avLst>
          </a:prstGeom>
          <a:solidFill>
            <a:srgbClr val="0D2E22"/>
          </a:solidFill>
          <a:ln/>
        </p:spPr>
      </p:sp>
      <p:sp>
        <p:nvSpPr>
          <p:cNvPr id="14" name="Text 12"/>
          <p:cNvSpPr/>
          <p:nvPr/>
        </p:nvSpPr>
        <p:spPr>
          <a:xfrm>
            <a:off x="15485848" y="1886615"/>
            <a:ext cx="1460964" cy="239806"/>
          </a:xfrm>
          <a:prstGeom prst="rect">
            <a:avLst/>
          </a:prstGeom>
          <a:noFill/>
          <a:ln/>
        </p:spPr>
        <p:txBody>
          <a:bodyPr wrap="square" lIns="0" tIns="0" rIns="0" bIns="0" rtlCol="0" anchor="t">
            <a:normAutofit/>
          </a:bodyPr>
          <a:lstStyle/>
          <a:p>
            <a:pPr algn="ctr" indent="0" marL="0">
              <a:buNone/>
            </a:pPr>
            <a:r>
              <a:rPr lang="en-US" sz="1350" b="1" dirty="0">
                <a:solidFill>
                  <a:srgbClr val="FFFFFF"/>
                </a:solidFill>
                <a:latin typeface="Public Sans" pitchFamily="34" charset="0"/>
                <a:ea typeface="Public Sans" pitchFamily="34" charset="-122"/>
                <a:cs typeface="Public Sans" pitchFamily="34" charset="-120"/>
              </a:rPr>
              <a:t>Code app + flows</a:t>
            </a:r>
            <a:endParaRPr lang="en-US" sz="1350" dirty="0"/>
          </a:p>
        </p:txBody>
      </p:sp>
      <p:sp>
        <p:nvSpPr>
          <p:cNvPr id="15" name="Text 13"/>
          <p:cNvSpPr/>
          <p:nvPr/>
        </p:nvSpPr>
        <p:spPr>
          <a:xfrm>
            <a:off x="15829254" y="2145401"/>
            <a:ext cx="698126" cy="183776"/>
          </a:xfrm>
          <a:prstGeom prst="rect">
            <a:avLst/>
          </a:prstGeom>
          <a:noFill/>
          <a:ln/>
        </p:spPr>
        <p:txBody>
          <a:bodyPr wrap="square" lIns="25400" tIns="25400" rIns="25400" bIns="25400" rtlCol="0" anchor="t">
            <a:normAutofit/>
          </a:bodyPr>
          <a:lstStyle/>
          <a:p>
            <a:pPr algn="ctr" indent="0" marL="0">
              <a:buNone/>
            </a:pPr>
            <a:r>
              <a:rPr lang="en-US" sz="900" b="1" spc="72" kern="0" dirty="0">
                <a:solidFill>
                  <a:srgbClr val="7FE6A8"/>
                </a:solidFill>
                <a:latin typeface="IBM Plex Mono" pitchFamily="34" charset="0"/>
                <a:ea typeface="IBM Plex Mono" pitchFamily="34" charset="-122"/>
                <a:cs typeface="IBM Plex Mono" pitchFamily="34" charset="-120"/>
              </a:rPr>
              <a:t>SELECTED</a:t>
            </a:r>
            <a:endParaRPr lang="en-US" sz="900" dirty="0"/>
          </a:p>
        </p:txBody>
      </p:sp>
      <p:sp>
        <p:nvSpPr>
          <p:cNvPr id="16" name="Text 14"/>
          <p:cNvSpPr/>
          <p:nvPr/>
        </p:nvSpPr>
        <p:spPr>
          <a:xfrm>
            <a:off x="742810" y="2672953"/>
            <a:ext cx="3276160" cy="1010035"/>
          </a:xfrm>
          <a:prstGeom prst="rect">
            <a:avLst/>
          </a:prstGeom>
          <a:noFill/>
          <a:ln/>
        </p:spPr>
        <p:txBody>
          <a:bodyPr wrap="square" lIns="25400" tIns="25400" rIns="25400" bIns="25400" rtlCol="0" anchor="ctr">
            <a:normAutofit/>
          </a:bodyPr>
          <a:lstStyle/>
          <a:p>
            <a:pPr algn="l" indent="0" marL="0">
              <a:buNone/>
            </a:pPr>
            <a:r>
              <a:rPr lang="en-US" sz="1425" b="1" dirty="0">
                <a:solidFill>
                  <a:srgbClr val="0D2E22"/>
                </a:solidFill>
                <a:latin typeface="Public Sans" pitchFamily="34" charset="0"/>
                <a:ea typeface="Public Sans" pitchFamily="34" charset="-122"/>
                <a:cs typeface="Public Sans" pitchFamily="34" charset="-120"/>
              </a:rPr>
              <a:t>Multi-attendee free/busy</a:t>
            </a:r>
            <a:endParaRPr lang="en-US" sz="1425" dirty="0"/>
          </a:p>
        </p:txBody>
      </p:sp>
      <p:sp>
        <p:nvSpPr>
          <p:cNvPr id="17" name="Shape 15"/>
          <p:cNvSpPr/>
          <p:nvPr/>
        </p:nvSpPr>
        <p:spPr>
          <a:xfrm>
            <a:off x="4017134" y="2672953"/>
            <a:ext cx="2589084" cy="971935"/>
          </a:xfrm>
          <a:prstGeom prst="roundRect">
            <a:avLst>
              <a:gd name="adj" fmla="val 9800"/>
            </a:avLst>
          </a:prstGeom>
          <a:solidFill>
            <a:srgbClr val="FFFFFF"/>
          </a:solidFill>
          <a:ln w="11206">
            <a:solidFill>
              <a:srgbClr val="E4E9EF"/>
            </a:solidFill>
            <a:prstDash val="solid"/>
          </a:ln>
        </p:spPr>
      </p:sp>
      <p:sp>
        <p:nvSpPr>
          <p:cNvPr id="18" name="Text 16"/>
          <p:cNvSpPr/>
          <p:nvPr/>
        </p:nvSpPr>
        <p:spPr>
          <a:xfrm>
            <a:off x="5212661" y="2936466"/>
            <a:ext cx="274054" cy="307041"/>
          </a:xfrm>
          <a:prstGeom prst="rect">
            <a:avLst/>
          </a:prstGeom>
          <a:noFill/>
          <a:ln/>
        </p:spPr>
        <p:txBody>
          <a:bodyPr wrap="square" lIns="25400" tIns="25400" rIns="25400" bIns="25400" rtlCol="0" anchor="t">
            <a:normAutofit/>
          </a:bodyPr>
          <a:lstStyle/>
          <a:p>
            <a:pPr algn="l" indent="0" marL="0">
              <a:buNone/>
            </a:pPr>
            <a:r>
              <a:rPr lang="en-US" sz="1800" b="1" dirty="0">
                <a:solidFill>
                  <a:srgbClr val="B4690E"/>
                </a:solidFill>
                <a:latin typeface="Public Sans" pitchFamily="34" charset="0"/>
                <a:ea typeface="Public Sans" pitchFamily="34" charset="-122"/>
                <a:cs typeface="Public Sans" pitchFamily="34" charset="-120"/>
              </a:rPr>
              <a:t>◐</a:t>
            </a:r>
            <a:endParaRPr lang="en-US" sz="1800" dirty="0"/>
          </a:p>
        </p:txBody>
      </p:sp>
      <p:sp>
        <p:nvSpPr>
          <p:cNvPr id="19" name="Text 17"/>
          <p:cNvSpPr/>
          <p:nvPr/>
        </p:nvSpPr>
        <p:spPr>
          <a:xfrm>
            <a:off x="4786557" y="3224317"/>
            <a:ext cx="1050061" cy="194982"/>
          </a:xfrm>
          <a:prstGeom prst="rect">
            <a:avLst/>
          </a:prstGeom>
          <a:noFill/>
          <a:ln/>
        </p:spPr>
        <p:txBody>
          <a:bodyPr wrap="square" lIns="25400" tIns="25400" rIns="25400" bIns="25400" rtlCol="0" anchor="t">
            <a:normAutofit/>
          </a:bodyPr>
          <a:lstStyle/>
          <a:p>
            <a:pPr algn="ctr" indent="0" marL="0">
              <a:lnSpc>
                <a:spcPct val="102000"/>
              </a:lnSpc>
              <a:buNone/>
            </a:pPr>
            <a:r>
              <a:rPr lang="en-US" sz="1050" dirty="0">
                <a:solidFill>
                  <a:srgbClr val="5B6675"/>
                </a:solidFill>
                <a:latin typeface="Public Sans" pitchFamily="34" charset="0"/>
                <a:ea typeface="Public Sans" pitchFamily="34" charset="-122"/>
                <a:cs typeface="Public Sans" pitchFamily="34" charset="-120"/>
              </a:rPr>
              <a:t>Staff pools only</a:t>
            </a:r>
            <a:endParaRPr lang="en-US" sz="1050" dirty="0"/>
          </a:p>
        </p:txBody>
      </p:sp>
      <p:sp>
        <p:nvSpPr>
          <p:cNvPr id="20" name="Shape 18"/>
          <p:cNvSpPr/>
          <p:nvPr/>
        </p:nvSpPr>
        <p:spPr>
          <a:xfrm>
            <a:off x="6701468" y="2672953"/>
            <a:ext cx="2589084" cy="971935"/>
          </a:xfrm>
          <a:prstGeom prst="roundRect">
            <a:avLst>
              <a:gd name="adj" fmla="val 9800"/>
            </a:avLst>
          </a:prstGeom>
          <a:solidFill>
            <a:srgbClr val="FFFFFF"/>
          </a:solidFill>
          <a:ln w="11206">
            <a:solidFill>
              <a:srgbClr val="E4E9EF"/>
            </a:solidFill>
            <a:prstDash val="solid"/>
          </a:ln>
        </p:spPr>
      </p:sp>
      <p:sp>
        <p:nvSpPr>
          <p:cNvPr id="21" name="Text 19"/>
          <p:cNvSpPr/>
          <p:nvPr/>
        </p:nvSpPr>
        <p:spPr>
          <a:xfrm>
            <a:off x="7892443" y="2930863"/>
            <a:ext cx="283334" cy="318247"/>
          </a:xfrm>
          <a:prstGeom prst="rect">
            <a:avLst/>
          </a:prstGeom>
          <a:noFill/>
          <a:ln/>
        </p:spPr>
        <p:txBody>
          <a:bodyPr wrap="square" lIns="25400" tIns="25400" rIns="25400" bIns="25400" rtlCol="0" anchor="t">
            <a:normAutofit/>
          </a:bodyPr>
          <a:lstStyle/>
          <a:p>
            <a:pPr algn="l" indent="0" marL="0">
              <a:buNone/>
            </a:pPr>
            <a:r>
              <a:rPr lang="en-US" sz="1800" b="1" dirty="0">
                <a:solidFill>
                  <a:srgbClr val="107C41"/>
                </a:solidFill>
                <a:latin typeface="Public Sans" pitchFamily="34" charset="0"/>
                <a:ea typeface="Public Sans" pitchFamily="34" charset="-122"/>
                <a:cs typeface="Public Sans" pitchFamily="34" charset="-120"/>
              </a:rPr>
              <a:t>✓</a:t>
            </a:r>
            <a:endParaRPr lang="en-US" sz="1800" dirty="0"/>
          </a:p>
        </p:txBody>
      </p:sp>
      <p:sp>
        <p:nvSpPr>
          <p:cNvPr id="22" name="Text 20"/>
          <p:cNvSpPr/>
          <p:nvPr/>
        </p:nvSpPr>
        <p:spPr>
          <a:xfrm>
            <a:off x="7467215" y="3229920"/>
            <a:ext cx="1057590" cy="194982"/>
          </a:xfrm>
          <a:prstGeom prst="rect">
            <a:avLst/>
          </a:prstGeom>
          <a:noFill/>
          <a:ln/>
        </p:spPr>
        <p:txBody>
          <a:bodyPr wrap="square" lIns="25400" tIns="25400" rIns="25400" bIns="25400" rtlCol="0" anchor="t">
            <a:normAutofit/>
          </a:bodyPr>
          <a:lstStyle/>
          <a:p>
            <a:pPr algn="ctr" indent="0" marL="0">
              <a:lnSpc>
                <a:spcPct val="102000"/>
              </a:lnSpc>
              <a:buNone/>
            </a:pPr>
            <a:r>
              <a:rPr lang="en-US" sz="1050" dirty="0">
                <a:solidFill>
                  <a:srgbClr val="5B6675"/>
                </a:solidFill>
                <a:latin typeface="Public Sans" pitchFamily="34" charset="0"/>
                <a:ea typeface="Public Sans" pitchFamily="34" charset="-122"/>
                <a:cs typeface="Public Sans" pitchFamily="34" charset="-120"/>
              </a:rPr>
              <a:t>Attendee voting</a:t>
            </a:r>
            <a:endParaRPr lang="en-US" sz="1050" dirty="0"/>
          </a:p>
        </p:txBody>
      </p:sp>
      <p:sp>
        <p:nvSpPr>
          <p:cNvPr id="23" name="Shape 21"/>
          <p:cNvSpPr/>
          <p:nvPr/>
        </p:nvSpPr>
        <p:spPr>
          <a:xfrm>
            <a:off x="9385802" y="2672953"/>
            <a:ext cx="2588909" cy="971935"/>
          </a:xfrm>
          <a:prstGeom prst="roundRect">
            <a:avLst>
              <a:gd name="adj" fmla="val 9800"/>
            </a:avLst>
          </a:prstGeom>
          <a:solidFill>
            <a:srgbClr val="FFFFFF"/>
          </a:solidFill>
          <a:ln w="11206">
            <a:solidFill>
              <a:srgbClr val="E4E9EF"/>
            </a:solidFill>
            <a:prstDash val="solid"/>
          </a:ln>
        </p:spPr>
      </p:sp>
      <p:sp>
        <p:nvSpPr>
          <p:cNvPr id="24" name="Text 22"/>
          <p:cNvSpPr/>
          <p:nvPr/>
        </p:nvSpPr>
        <p:spPr>
          <a:xfrm>
            <a:off x="10611270" y="2936466"/>
            <a:ext cx="213997" cy="307041"/>
          </a:xfrm>
          <a:prstGeom prst="rect">
            <a:avLst/>
          </a:prstGeom>
          <a:noFill/>
          <a:ln/>
        </p:spPr>
        <p:txBody>
          <a:bodyPr wrap="square" lIns="25400" tIns="25400" rIns="25400" bIns="25400" rtlCol="0" anchor="t">
            <a:normAutofit/>
          </a:bodyPr>
          <a:lstStyle/>
          <a:p>
            <a:pPr algn="l" indent="0" marL="0">
              <a:buNone/>
            </a:pPr>
            <a:r>
              <a:rPr lang="en-US" sz="1800" b="1" dirty="0">
                <a:solidFill>
                  <a:srgbClr val="B42318"/>
                </a:solidFill>
                <a:latin typeface="Public Sans" pitchFamily="34" charset="0"/>
                <a:ea typeface="Public Sans" pitchFamily="34" charset="-122"/>
                <a:cs typeface="Public Sans" pitchFamily="34" charset="-120"/>
              </a:rPr>
              <a:t>✕</a:t>
            </a:r>
            <a:endParaRPr lang="en-US" sz="1800" dirty="0"/>
          </a:p>
        </p:txBody>
      </p:sp>
      <p:sp>
        <p:nvSpPr>
          <p:cNvPr id="25" name="Text 23"/>
          <p:cNvSpPr/>
          <p:nvPr/>
        </p:nvSpPr>
        <p:spPr>
          <a:xfrm>
            <a:off x="10233842" y="3224317"/>
            <a:ext cx="892829" cy="194982"/>
          </a:xfrm>
          <a:prstGeom prst="rect">
            <a:avLst/>
          </a:prstGeom>
          <a:noFill/>
          <a:ln/>
        </p:spPr>
        <p:txBody>
          <a:bodyPr wrap="square" lIns="25400" tIns="25400" rIns="25400" bIns="25400" rtlCol="0" anchor="t">
            <a:normAutofit/>
          </a:bodyPr>
          <a:lstStyle/>
          <a:p>
            <a:pPr algn="ctr" indent="0" marL="0">
              <a:lnSpc>
                <a:spcPct val="102000"/>
              </a:lnSpc>
              <a:buNone/>
            </a:pPr>
            <a:r>
              <a:rPr lang="en-US" sz="1050" dirty="0">
                <a:solidFill>
                  <a:srgbClr val="5B6675"/>
                </a:solidFill>
                <a:latin typeface="Public Sans" pitchFamily="34" charset="0"/>
                <a:ea typeface="Public Sans" pitchFamily="34" charset="-122"/>
                <a:cs typeface="Public Sans" pitchFamily="34" charset="-120"/>
              </a:rPr>
              <a:t>Custom build</a:t>
            </a:r>
            <a:endParaRPr lang="en-US" sz="1050" dirty="0"/>
          </a:p>
        </p:txBody>
      </p:sp>
      <p:sp>
        <p:nvSpPr>
          <p:cNvPr id="26" name="Shape 24"/>
          <p:cNvSpPr/>
          <p:nvPr/>
        </p:nvSpPr>
        <p:spPr>
          <a:xfrm>
            <a:off x="12069960" y="2672953"/>
            <a:ext cx="2589084" cy="971935"/>
          </a:xfrm>
          <a:prstGeom prst="roundRect">
            <a:avLst>
              <a:gd name="adj" fmla="val 9800"/>
            </a:avLst>
          </a:prstGeom>
          <a:solidFill>
            <a:srgbClr val="F5F9FD"/>
          </a:solidFill>
          <a:ln w="11206">
            <a:solidFill>
              <a:srgbClr val="D8E7F5"/>
            </a:solidFill>
            <a:prstDash val="solid"/>
          </a:ln>
        </p:spPr>
      </p:sp>
      <p:sp>
        <p:nvSpPr>
          <p:cNvPr id="27" name="Text 25"/>
          <p:cNvSpPr/>
          <p:nvPr/>
        </p:nvSpPr>
        <p:spPr>
          <a:xfrm>
            <a:off x="13260935" y="2930863"/>
            <a:ext cx="283334" cy="318247"/>
          </a:xfrm>
          <a:prstGeom prst="rect">
            <a:avLst/>
          </a:prstGeom>
          <a:noFill/>
          <a:ln/>
        </p:spPr>
        <p:txBody>
          <a:bodyPr wrap="square" lIns="25400" tIns="25400" rIns="25400" bIns="25400" rtlCol="0" anchor="t">
            <a:normAutofit/>
          </a:bodyPr>
          <a:lstStyle/>
          <a:p>
            <a:pPr algn="l" indent="0" marL="0">
              <a:buNone/>
            </a:pPr>
            <a:r>
              <a:rPr lang="en-US" sz="1800" b="1" dirty="0">
                <a:solidFill>
                  <a:srgbClr val="107C41"/>
                </a:solidFill>
                <a:latin typeface="Public Sans" pitchFamily="34" charset="0"/>
                <a:ea typeface="Public Sans" pitchFamily="34" charset="-122"/>
                <a:cs typeface="Public Sans" pitchFamily="34" charset="-120"/>
              </a:rPr>
              <a:t>✓</a:t>
            </a:r>
            <a:endParaRPr lang="en-US" sz="1800" dirty="0"/>
          </a:p>
        </p:txBody>
      </p:sp>
      <p:sp>
        <p:nvSpPr>
          <p:cNvPr id="28" name="Text 26"/>
          <p:cNvSpPr/>
          <p:nvPr/>
        </p:nvSpPr>
        <p:spPr>
          <a:xfrm>
            <a:off x="12919401" y="3229920"/>
            <a:ext cx="890027" cy="194982"/>
          </a:xfrm>
          <a:prstGeom prst="rect">
            <a:avLst/>
          </a:prstGeom>
          <a:noFill/>
          <a:ln/>
        </p:spPr>
        <p:txBody>
          <a:bodyPr wrap="square" lIns="25400" tIns="25400" rIns="25400" bIns="25400" rtlCol="0" anchor="t">
            <a:normAutofit/>
          </a:bodyPr>
          <a:lstStyle/>
          <a:p>
            <a:pPr algn="ctr" indent="0" marL="0">
              <a:lnSpc>
                <a:spcPct val="102000"/>
              </a:lnSpc>
              <a:buNone/>
            </a:pPr>
            <a:r>
              <a:rPr lang="en-US" sz="1050" dirty="0">
                <a:solidFill>
                  <a:srgbClr val="5B6675"/>
                </a:solidFill>
                <a:latin typeface="Public Sans" pitchFamily="34" charset="0"/>
                <a:ea typeface="Public Sans" pitchFamily="34" charset="-122"/>
                <a:cs typeface="Public Sans" pitchFamily="34" charset="-120"/>
              </a:rPr>
              <a:t>Copilot + poll</a:t>
            </a:r>
            <a:endParaRPr lang="en-US" sz="1050" dirty="0"/>
          </a:p>
        </p:txBody>
      </p:sp>
      <p:sp>
        <p:nvSpPr>
          <p:cNvPr id="29" name="Shape 27"/>
          <p:cNvSpPr/>
          <p:nvPr/>
        </p:nvSpPr>
        <p:spPr>
          <a:xfrm>
            <a:off x="14754294" y="2672953"/>
            <a:ext cx="2848045" cy="971935"/>
          </a:xfrm>
          <a:prstGeom prst="roundRect">
            <a:avLst>
              <a:gd name="adj" fmla="val 9800"/>
            </a:avLst>
          </a:prstGeom>
          <a:solidFill>
            <a:srgbClr val="F0F6F2"/>
          </a:solidFill>
          <a:ln w="11206">
            <a:solidFill>
              <a:srgbClr val="BCD8C9"/>
            </a:solidFill>
            <a:prstDash val="solid"/>
          </a:ln>
        </p:spPr>
      </p:sp>
      <p:sp>
        <p:nvSpPr>
          <p:cNvPr id="30" name="Text 28"/>
          <p:cNvSpPr/>
          <p:nvPr/>
        </p:nvSpPr>
        <p:spPr>
          <a:xfrm>
            <a:off x="16074662" y="2930863"/>
            <a:ext cx="283334" cy="318247"/>
          </a:xfrm>
          <a:prstGeom prst="rect">
            <a:avLst/>
          </a:prstGeom>
          <a:noFill/>
          <a:ln/>
        </p:spPr>
        <p:txBody>
          <a:bodyPr wrap="square" lIns="25400" tIns="25400" rIns="25400" bIns="25400" rtlCol="0" anchor="t">
            <a:normAutofit/>
          </a:bodyPr>
          <a:lstStyle/>
          <a:p>
            <a:pPr algn="l" indent="0" marL="0">
              <a:buNone/>
            </a:pPr>
            <a:r>
              <a:rPr lang="en-US" sz="1800" b="1" dirty="0">
                <a:solidFill>
                  <a:srgbClr val="107C41"/>
                </a:solidFill>
                <a:latin typeface="Public Sans" pitchFamily="34" charset="0"/>
                <a:ea typeface="Public Sans" pitchFamily="34" charset="-122"/>
                <a:cs typeface="Public Sans" pitchFamily="34" charset="-120"/>
              </a:rPr>
              <a:t>✓</a:t>
            </a:r>
            <a:endParaRPr lang="en-US" sz="1800" dirty="0"/>
          </a:p>
        </p:txBody>
      </p:sp>
      <p:sp>
        <p:nvSpPr>
          <p:cNvPr id="31" name="Text 29"/>
          <p:cNvSpPr/>
          <p:nvPr/>
        </p:nvSpPr>
        <p:spPr>
          <a:xfrm>
            <a:off x="15334146" y="3229920"/>
            <a:ext cx="1688341" cy="194982"/>
          </a:xfrm>
          <a:prstGeom prst="rect">
            <a:avLst/>
          </a:prstGeom>
          <a:noFill/>
          <a:ln/>
        </p:spPr>
        <p:txBody>
          <a:bodyPr wrap="square" lIns="25400" tIns="25400" rIns="25400" bIns="25400" rtlCol="0" anchor="t">
            <a:normAutofit/>
          </a:bodyPr>
          <a:lstStyle/>
          <a:p>
            <a:pPr algn="ctr" indent="0" marL="0">
              <a:lnSpc>
                <a:spcPct val="102000"/>
              </a:lnSpc>
              <a:buNone/>
            </a:pPr>
            <a:r>
              <a:rPr lang="en-US" sz="1050" dirty="0">
                <a:solidFill>
                  <a:srgbClr val="5B6675"/>
                </a:solidFill>
                <a:latin typeface="Public Sans" pitchFamily="34" charset="0"/>
                <a:ea typeface="Public Sans" pitchFamily="34" charset="-122"/>
                <a:cs typeface="Public Sans" pitchFamily="34" charset="-120"/>
              </a:rPr>
              <a:t>Graph findMeetingTimes</a:t>
            </a:r>
            <a:endParaRPr lang="en-US" sz="1050" dirty="0"/>
          </a:p>
        </p:txBody>
      </p:sp>
      <p:sp>
        <p:nvSpPr>
          <p:cNvPr id="32" name="Text 30"/>
          <p:cNvSpPr/>
          <p:nvPr/>
        </p:nvSpPr>
        <p:spPr>
          <a:xfrm>
            <a:off x="742810" y="3740138"/>
            <a:ext cx="3276160" cy="1010035"/>
          </a:xfrm>
          <a:prstGeom prst="rect">
            <a:avLst/>
          </a:prstGeom>
          <a:noFill/>
          <a:ln/>
        </p:spPr>
        <p:txBody>
          <a:bodyPr wrap="square" lIns="25400" tIns="25400" rIns="25400" bIns="25400" rtlCol="0" anchor="ctr">
            <a:normAutofit/>
          </a:bodyPr>
          <a:lstStyle/>
          <a:p>
            <a:pPr algn="l" indent="0" marL="0">
              <a:buNone/>
            </a:pPr>
            <a:r>
              <a:rPr lang="en-US" sz="1425" b="1" dirty="0">
                <a:solidFill>
                  <a:srgbClr val="0D2E22"/>
                </a:solidFill>
                <a:latin typeface="Public Sans" pitchFamily="34" charset="0"/>
                <a:ea typeface="Public Sans" pitchFamily="34" charset="-122"/>
                <a:cs typeface="Public Sans" pitchFamily="34" charset="-120"/>
              </a:rPr>
              <a:t>Meeting-room reservation</a:t>
            </a:r>
            <a:endParaRPr lang="en-US" sz="1425" dirty="0"/>
          </a:p>
        </p:txBody>
      </p:sp>
      <p:sp>
        <p:nvSpPr>
          <p:cNvPr id="33" name="Shape 31"/>
          <p:cNvSpPr/>
          <p:nvPr/>
        </p:nvSpPr>
        <p:spPr>
          <a:xfrm>
            <a:off x="4017134" y="3740138"/>
            <a:ext cx="2589084" cy="971935"/>
          </a:xfrm>
          <a:prstGeom prst="roundRect">
            <a:avLst>
              <a:gd name="adj" fmla="val 9800"/>
            </a:avLst>
          </a:prstGeom>
          <a:solidFill>
            <a:srgbClr val="FFFFFF"/>
          </a:solidFill>
          <a:ln w="11206">
            <a:solidFill>
              <a:srgbClr val="E4E9EF"/>
            </a:solidFill>
            <a:prstDash val="solid"/>
          </a:ln>
        </p:spPr>
      </p:sp>
      <p:sp>
        <p:nvSpPr>
          <p:cNvPr id="34" name="Text 32"/>
          <p:cNvSpPr/>
          <p:nvPr/>
        </p:nvSpPr>
        <p:spPr>
          <a:xfrm>
            <a:off x="5242777" y="4003652"/>
            <a:ext cx="213997" cy="307041"/>
          </a:xfrm>
          <a:prstGeom prst="rect">
            <a:avLst/>
          </a:prstGeom>
          <a:noFill/>
          <a:ln/>
        </p:spPr>
        <p:txBody>
          <a:bodyPr wrap="square" lIns="25400" tIns="25400" rIns="25400" bIns="25400" rtlCol="0" anchor="t">
            <a:normAutofit/>
          </a:bodyPr>
          <a:lstStyle/>
          <a:p>
            <a:pPr algn="l" indent="0" marL="0">
              <a:buNone/>
            </a:pPr>
            <a:r>
              <a:rPr lang="en-US" sz="1800" b="1" dirty="0">
                <a:solidFill>
                  <a:srgbClr val="B42318"/>
                </a:solidFill>
                <a:latin typeface="Public Sans" pitchFamily="34" charset="0"/>
                <a:ea typeface="Public Sans" pitchFamily="34" charset="-122"/>
                <a:cs typeface="Public Sans" pitchFamily="34" charset="-120"/>
              </a:rPr>
              <a:t>✕</a:t>
            </a:r>
            <a:endParaRPr lang="en-US" sz="1800" dirty="0"/>
          </a:p>
        </p:txBody>
      </p:sp>
      <p:sp>
        <p:nvSpPr>
          <p:cNvPr id="35" name="Text 33"/>
          <p:cNvSpPr/>
          <p:nvPr/>
        </p:nvSpPr>
        <p:spPr>
          <a:xfrm>
            <a:off x="4827704" y="4291503"/>
            <a:ext cx="967943" cy="194982"/>
          </a:xfrm>
          <a:prstGeom prst="rect">
            <a:avLst/>
          </a:prstGeom>
          <a:noFill/>
          <a:ln/>
        </p:spPr>
        <p:txBody>
          <a:bodyPr wrap="square" lIns="25400" tIns="25400" rIns="25400" bIns="25400" rtlCol="0" anchor="t">
            <a:normAutofit/>
          </a:bodyPr>
          <a:lstStyle/>
          <a:p>
            <a:pPr algn="ctr" indent="0" marL="0">
              <a:lnSpc>
                <a:spcPct val="102000"/>
              </a:lnSpc>
              <a:buNone/>
            </a:pPr>
            <a:r>
              <a:rPr lang="en-US" sz="1050" dirty="0">
                <a:solidFill>
                  <a:srgbClr val="5B6675"/>
                </a:solidFill>
                <a:latin typeface="Public Sans" pitchFamily="34" charset="0"/>
                <a:ea typeface="Public Sans" pitchFamily="34" charset="-122"/>
                <a:cs typeface="Public Sans" pitchFamily="34" charset="-120"/>
              </a:rPr>
              <a:t>Not supported</a:t>
            </a:r>
            <a:endParaRPr lang="en-US" sz="1050" dirty="0"/>
          </a:p>
        </p:txBody>
      </p:sp>
      <p:sp>
        <p:nvSpPr>
          <p:cNvPr id="36" name="Shape 34"/>
          <p:cNvSpPr/>
          <p:nvPr/>
        </p:nvSpPr>
        <p:spPr>
          <a:xfrm>
            <a:off x="6701468" y="3740138"/>
            <a:ext cx="2589084" cy="971935"/>
          </a:xfrm>
          <a:prstGeom prst="roundRect">
            <a:avLst>
              <a:gd name="adj" fmla="val 9800"/>
            </a:avLst>
          </a:prstGeom>
          <a:solidFill>
            <a:srgbClr val="FFFFFF"/>
          </a:solidFill>
          <a:ln w="11206">
            <a:solidFill>
              <a:srgbClr val="E4E9EF"/>
            </a:solidFill>
            <a:prstDash val="solid"/>
          </a:ln>
        </p:spPr>
      </p:sp>
      <p:sp>
        <p:nvSpPr>
          <p:cNvPr id="37" name="Text 35"/>
          <p:cNvSpPr/>
          <p:nvPr/>
        </p:nvSpPr>
        <p:spPr>
          <a:xfrm>
            <a:off x="7927111" y="4003652"/>
            <a:ext cx="213997" cy="307041"/>
          </a:xfrm>
          <a:prstGeom prst="rect">
            <a:avLst/>
          </a:prstGeom>
          <a:noFill/>
          <a:ln/>
        </p:spPr>
        <p:txBody>
          <a:bodyPr wrap="square" lIns="25400" tIns="25400" rIns="25400" bIns="25400" rtlCol="0" anchor="t">
            <a:normAutofit/>
          </a:bodyPr>
          <a:lstStyle/>
          <a:p>
            <a:pPr algn="l" indent="0" marL="0">
              <a:buNone/>
            </a:pPr>
            <a:r>
              <a:rPr lang="en-US" sz="1800" b="1" dirty="0">
                <a:solidFill>
                  <a:srgbClr val="B42318"/>
                </a:solidFill>
                <a:latin typeface="Public Sans" pitchFamily="34" charset="0"/>
                <a:ea typeface="Public Sans" pitchFamily="34" charset="-122"/>
                <a:cs typeface="Public Sans" pitchFamily="34" charset="-120"/>
              </a:rPr>
              <a:t>✕</a:t>
            </a:r>
            <a:endParaRPr lang="en-US" sz="1800" dirty="0"/>
          </a:p>
        </p:txBody>
      </p:sp>
      <p:sp>
        <p:nvSpPr>
          <p:cNvPr id="38" name="Text 36"/>
          <p:cNvSpPr/>
          <p:nvPr/>
        </p:nvSpPr>
        <p:spPr>
          <a:xfrm>
            <a:off x="7512038" y="4291503"/>
            <a:ext cx="967943" cy="194982"/>
          </a:xfrm>
          <a:prstGeom prst="rect">
            <a:avLst/>
          </a:prstGeom>
          <a:noFill/>
          <a:ln/>
        </p:spPr>
        <p:txBody>
          <a:bodyPr wrap="square" lIns="25400" tIns="25400" rIns="25400" bIns="25400" rtlCol="0" anchor="t">
            <a:normAutofit/>
          </a:bodyPr>
          <a:lstStyle/>
          <a:p>
            <a:pPr algn="ctr" indent="0" marL="0">
              <a:lnSpc>
                <a:spcPct val="102000"/>
              </a:lnSpc>
              <a:buNone/>
            </a:pPr>
            <a:r>
              <a:rPr lang="en-US" sz="1050" dirty="0">
                <a:solidFill>
                  <a:srgbClr val="5B6675"/>
                </a:solidFill>
                <a:latin typeface="Public Sans" pitchFamily="34" charset="0"/>
                <a:ea typeface="Public Sans" pitchFamily="34" charset="-122"/>
                <a:cs typeface="Public Sans" pitchFamily="34" charset="-120"/>
              </a:rPr>
              <a:t>Not supported</a:t>
            </a:r>
            <a:endParaRPr lang="en-US" sz="1050" dirty="0"/>
          </a:p>
        </p:txBody>
      </p:sp>
      <p:sp>
        <p:nvSpPr>
          <p:cNvPr id="39" name="Shape 37"/>
          <p:cNvSpPr/>
          <p:nvPr/>
        </p:nvSpPr>
        <p:spPr>
          <a:xfrm>
            <a:off x="9385802" y="3740138"/>
            <a:ext cx="2588909" cy="971935"/>
          </a:xfrm>
          <a:prstGeom prst="roundRect">
            <a:avLst>
              <a:gd name="adj" fmla="val 9800"/>
            </a:avLst>
          </a:prstGeom>
          <a:solidFill>
            <a:srgbClr val="FFFFFF"/>
          </a:solidFill>
          <a:ln w="11206">
            <a:solidFill>
              <a:srgbClr val="E4E9EF"/>
            </a:solidFill>
            <a:prstDash val="solid"/>
          </a:ln>
        </p:spPr>
      </p:sp>
      <p:sp>
        <p:nvSpPr>
          <p:cNvPr id="40" name="Text 38"/>
          <p:cNvSpPr/>
          <p:nvPr/>
        </p:nvSpPr>
        <p:spPr>
          <a:xfrm>
            <a:off x="10611270" y="4003652"/>
            <a:ext cx="213997" cy="307041"/>
          </a:xfrm>
          <a:prstGeom prst="rect">
            <a:avLst/>
          </a:prstGeom>
          <a:noFill/>
          <a:ln/>
        </p:spPr>
        <p:txBody>
          <a:bodyPr wrap="square" lIns="25400" tIns="25400" rIns="25400" bIns="25400" rtlCol="0" anchor="t">
            <a:normAutofit/>
          </a:bodyPr>
          <a:lstStyle/>
          <a:p>
            <a:pPr algn="l" indent="0" marL="0">
              <a:buNone/>
            </a:pPr>
            <a:r>
              <a:rPr lang="en-US" sz="1800" b="1" dirty="0">
                <a:solidFill>
                  <a:srgbClr val="B42318"/>
                </a:solidFill>
                <a:latin typeface="Public Sans" pitchFamily="34" charset="0"/>
                <a:ea typeface="Public Sans" pitchFamily="34" charset="-122"/>
                <a:cs typeface="Public Sans" pitchFamily="34" charset="-120"/>
              </a:rPr>
              <a:t>✕</a:t>
            </a:r>
            <a:endParaRPr lang="en-US" sz="1800" dirty="0"/>
          </a:p>
        </p:txBody>
      </p:sp>
      <p:sp>
        <p:nvSpPr>
          <p:cNvPr id="41" name="Text 39"/>
          <p:cNvSpPr/>
          <p:nvPr/>
        </p:nvSpPr>
        <p:spPr>
          <a:xfrm>
            <a:off x="10233842" y="4291503"/>
            <a:ext cx="892829" cy="194982"/>
          </a:xfrm>
          <a:prstGeom prst="rect">
            <a:avLst/>
          </a:prstGeom>
          <a:noFill/>
          <a:ln/>
        </p:spPr>
        <p:txBody>
          <a:bodyPr wrap="square" lIns="25400" tIns="25400" rIns="25400" bIns="25400" rtlCol="0" anchor="t">
            <a:normAutofit/>
          </a:bodyPr>
          <a:lstStyle/>
          <a:p>
            <a:pPr algn="ctr" indent="0" marL="0">
              <a:lnSpc>
                <a:spcPct val="102000"/>
              </a:lnSpc>
              <a:buNone/>
            </a:pPr>
            <a:r>
              <a:rPr lang="en-US" sz="1050" dirty="0">
                <a:solidFill>
                  <a:srgbClr val="5B6675"/>
                </a:solidFill>
                <a:latin typeface="Public Sans" pitchFamily="34" charset="0"/>
                <a:ea typeface="Public Sans" pitchFamily="34" charset="-122"/>
                <a:cs typeface="Public Sans" pitchFamily="34" charset="-120"/>
              </a:rPr>
              <a:t>Custom build</a:t>
            </a:r>
            <a:endParaRPr lang="en-US" sz="1050" dirty="0"/>
          </a:p>
        </p:txBody>
      </p:sp>
      <p:sp>
        <p:nvSpPr>
          <p:cNvPr id="42" name="Shape 40"/>
          <p:cNvSpPr/>
          <p:nvPr/>
        </p:nvSpPr>
        <p:spPr>
          <a:xfrm>
            <a:off x="12069960" y="3740138"/>
            <a:ext cx="2589084" cy="971935"/>
          </a:xfrm>
          <a:prstGeom prst="roundRect">
            <a:avLst>
              <a:gd name="adj" fmla="val 9800"/>
            </a:avLst>
          </a:prstGeom>
          <a:solidFill>
            <a:srgbClr val="F5F9FD"/>
          </a:solidFill>
          <a:ln w="11206">
            <a:solidFill>
              <a:srgbClr val="D8E7F5"/>
            </a:solidFill>
            <a:prstDash val="solid"/>
          </a:ln>
        </p:spPr>
      </p:sp>
      <p:sp>
        <p:nvSpPr>
          <p:cNvPr id="43" name="Text 41"/>
          <p:cNvSpPr/>
          <p:nvPr/>
        </p:nvSpPr>
        <p:spPr>
          <a:xfrm>
            <a:off x="13265488" y="4003652"/>
            <a:ext cx="274054" cy="307041"/>
          </a:xfrm>
          <a:prstGeom prst="rect">
            <a:avLst/>
          </a:prstGeom>
          <a:noFill/>
          <a:ln/>
        </p:spPr>
        <p:txBody>
          <a:bodyPr wrap="square" lIns="25400" tIns="25400" rIns="25400" bIns="25400" rtlCol="0" anchor="t">
            <a:normAutofit/>
          </a:bodyPr>
          <a:lstStyle/>
          <a:p>
            <a:pPr algn="l" indent="0" marL="0">
              <a:buNone/>
            </a:pPr>
            <a:r>
              <a:rPr lang="en-US" sz="1800" b="1" dirty="0">
                <a:solidFill>
                  <a:srgbClr val="B4690E"/>
                </a:solidFill>
                <a:latin typeface="Public Sans" pitchFamily="34" charset="0"/>
                <a:ea typeface="Public Sans" pitchFamily="34" charset="-122"/>
                <a:cs typeface="Public Sans" pitchFamily="34" charset="-120"/>
              </a:rPr>
              <a:t>◐</a:t>
            </a:r>
            <a:endParaRPr lang="en-US" sz="1800" dirty="0"/>
          </a:p>
        </p:txBody>
      </p:sp>
      <p:sp>
        <p:nvSpPr>
          <p:cNvPr id="44" name="Text 42"/>
          <p:cNvSpPr/>
          <p:nvPr/>
        </p:nvSpPr>
        <p:spPr>
          <a:xfrm>
            <a:off x="12662760" y="4291503"/>
            <a:ext cx="1403484" cy="194982"/>
          </a:xfrm>
          <a:prstGeom prst="rect">
            <a:avLst/>
          </a:prstGeom>
          <a:noFill/>
          <a:ln/>
        </p:spPr>
        <p:txBody>
          <a:bodyPr wrap="square" lIns="25400" tIns="25400" rIns="25400" bIns="25400" rtlCol="0" anchor="t">
            <a:normAutofit/>
          </a:bodyPr>
          <a:lstStyle/>
          <a:p>
            <a:pPr algn="ctr" indent="0" marL="0">
              <a:lnSpc>
                <a:spcPct val="102000"/>
              </a:lnSpc>
              <a:buNone/>
            </a:pPr>
            <a:r>
              <a:rPr lang="en-US" sz="1050" dirty="0">
                <a:solidFill>
                  <a:srgbClr val="5B6675"/>
                </a:solidFill>
                <a:latin typeface="Public Sans" pitchFamily="34" charset="0"/>
                <a:ea typeface="Public Sans" pitchFamily="34" charset="-122"/>
                <a:cs typeface="Public Sans" pitchFamily="34" charset="-120"/>
              </a:rPr>
              <a:t>Manual Room Finder</a:t>
            </a:r>
            <a:endParaRPr lang="en-US" sz="1050" dirty="0"/>
          </a:p>
        </p:txBody>
      </p:sp>
      <p:sp>
        <p:nvSpPr>
          <p:cNvPr id="45" name="Shape 43"/>
          <p:cNvSpPr/>
          <p:nvPr/>
        </p:nvSpPr>
        <p:spPr>
          <a:xfrm>
            <a:off x="14754294" y="3740138"/>
            <a:ext cx="2848045" cy="971935"/>
          </a:xfrm>
          <a:prstGeom prst="roundRect">
            <a:avLst>
              <a:gd name="adj" fmla="val 9800"/>
            </a:avLst>
          </a:prstGeom>
          <a:solidFill>
            <a:srgbClr val="F0F6F2"/>
          </a:solidFill>
          <a:ln w="11206">
            <a:solidFill>
              <a:srgbClr val="BCD8C9"/>
            </a:solidFill>
            <a:prstDash val="solid"/>
          </a:ln>
        </p:spPr>
      </p:sp>
      <p:sp>
        <p:nvSpPr>
          <p:cNvPr id="46" name="Text 44"/>
          <p:cNvSpPr/>
          <p:nvPr/>
        </p:nvSpPr>
        <p:spPr>
          <a:xfrm>
            <a:off x="16074662" y="3998048"/>
            <a:ext cx="283334" cy="318247"/>
          </a:xfrm>
          <a:prstGeom prst="rect">
            <a:avLst/>
          </a:prstGeom>
          <a:noFill/>
          <a:ln/>
        </p:spPr>
        <p:txBody>
          <a:bodyPr wrap="square" lIns="25400" tIns="25400" rIns="25400" bIns="25400" rtlCol="0" anchor="t">
            <a:normAutofit/>
          </a:bodyPr>
          <a:lstStyle/>
          <a:p>
            <a:pPr algn="l" indent="0" marL="0">
              <a:buNone/>
            </a:pPr>
            <a:r>
              <a:rPr lang="en-US" sz="1800" b="1" dirty="0">
                <a:solidFill>
                  <a:srgbClr val="107C41"/>
                </a:solidFill>
                <a:latin typeface="Public Sans" pitchFamily="34" charset="0"/>
                <a:ea typeface="Public Sans" pitchFamily="34" charset="-122"/>
                <a:cs typeface="Public Sans" pitchFamily="34" charset="-120"/>
              </a:rPr>
              <a:t>✓</a:t>
            </a:r>
            <a:endParaRPr lang="en-US" sz="1800" dirty="0"/>
          </a:p>
        </p:txBody>
      </p:sp>
      <p:sp>
        <p:nvSpPr>
          <p:cNvPr id="47" name="Text 45"/>
          <p:cNvSpPr/>
          <p:nvPr/>
        </p:nvSpPr>
        <p:spPr>
          <a:xfrm>
            <a:off x="15251144" y="4297105"/>
            <a:ext cx="1854171" cy="194982"/>
          </a:xfrm>
          <a:prstGeom prst="rect">
            <a:avLst/>
          </a:prstGeom>
          <a:noFill/>
          <a:ln/>
        </p:spPr>
        <p:txBody>
          <a:bodyPr wrap="square" lIns="25400" tIns="25400" rIns="25400" bIns="25400" rtlCol="0" anchor="t">
            <a:normAutofit/>
          </a:bodyPr>
          <a:lstStyle/>
          <a:p>
            <a:pPr algn="ctr" indent="0" marL="0">
              <a:lnSpc>
                <a:spcPct val="102000"/>
              </a:lnSpc>
              <a:buNone/>
            </a:pPr>
            <a:r>
              <a:rPr lang="en-US" sz="1050" dirty="0">
                <a:solidFill>
                  <a:srgbClr val="5B6675"/>
                </a:solidFill>
                <a:latin typeface="Public Sans" pitchFamily="34" charset="0"/>
                <a:ea typeface="Public Sans" pitchFamily="34" charset="-122"/>
                <a:cs typeface="Public Sans" pitchFamily="34" charset="-120"/>
              </a:rPr>
              <a:t>Room as resource attendee</a:t>
            </a:r>
            <a:endParaRPr lang="en-US" sz="1050" dirty="0"/>
          </a:p>
        </p:txBody>
      </p:sp>
      <p:sp>
        <p:nvSpPr>
          <p:cNvPr id="48" name="Text 46"/>
          <p:cNvSpPr/>
          <p:nvPr/>
        </p:nvSpPr>
        <p:spPr>
          <a:xfrm>
            <a:off x="742810" y="4807323"/>
            <a:ext cx="3276160" cy="1010035"/>
          </a:xfrm>
          <a:prstGeom prst="rect">
            <a:avLst/>
          </a:prstGeom>
          <a:noFill/>
          <a:ln/>
        </p:spPr>
        <p:txBody>
          <a:bodyPr wrap="square" lIns="25400" tIns="25400" rIns="25400" bIns="25400" rtlCol="0" anchor="ctr">
            <a:normAutofit/>
          </a:bodyPr>
          <a:lstStyle/>
          <a:p>
            <a:pPr algn="l" indent="0" marL="0">
              <a:buNone/>
            </a:pPr>
            <a:r>
              <a:rPr lang="en-US" sz="1425" b="1" dirty="0">
                <a:solidFill>
                  <a:srgbClr val="0D2E22"/>
                </a:solidFill>
                <a:latin typeface="Public Sans" pitchFamily="34" charset="0"/>
                <a:ea typeface="Public Sans" pitchFamily="34" charset="-122"/>
                <a:cs typeface="Public Sans" pitchFamily="34" charset="-120"/>
              </a:rPr>
              <a:t>Partner logic from CRM</a:t>
            </a:r>
            <a:endParaRPr lang="en-US" sz="1425" dirty="0"/>
          </a:p>
        </p:txBody>
      </p:sp>
      <p:sp>
        <p:nvSpPr>
          <p:cNvPr id="49" name="Shape 47"/>
          <p:cNvSpPr/>
          <p:nvPr/>
        </p:nvSpPr>
        <p:spPr>
          <a:xfrm>
            <a:off x="4017134" y="4807323"/>
            <a:ext cx="2589084" cy="971935"/>
          </a:xfrm>
          <a:prstGeom prst="roundRect">
            <a:avLst>
              <a:gd name="adj" fmla="val 9800"/>
            </a:avLst>
          </a:prstGeom>
          <a:solidFill>
            <a:srgbClr val="FFFFFF"/>
          </a:solidFill>
          <a:ln w="11206">
            <a:solidFill>
              <a:srgbClr val="E4E9EF"/>
            </a:solidFill>
            <a:prstDash val="solid"/>
          </a:ln>
        </p:spPr>
      </p:sp>
      <p:sp>
        <p:nvSpPr>
          <p:cNvPr id="50" name="Text 48"/>
          <p:cNvSpPr/>
          <p:nvPr/>
        </p:nvSpPr>
        <p:spPr>
          <a:xfrm>
            <a:off x="5242777" y="5158733"/>
            <a:ext cx="213997" cy="307041"/>
          </a:xfrm>
          <a:prstGeom prst="rect">
            <a:avLst/>
          </a:prstGeom>
          <a:noFill/>
          <a:ln/>
        </p:spPr>
        <p:txBody>
          <a:bodyPr wrap="square" lIns="25400" tIns="25400" rIns="25400" bIns="25400" rtlCol="0" anchor="t">
            <a:normAutofit/>
          </a:bodyPr>
          <a:lstStyle/>
          <a:p>
            <a:pPr algn="l" indent="0" marL="0">
              <a:buNone/>
            </a:pPr>
            <a:r>
              <a:rPr lang="en-US" sz="1800" b="1" dirty="0">
                <a:solidFill>
                  <a:srgbClr val="B42318"/>
                </a:solidFill>
                <a:latin typeface="Public Sans" pitchFamily="34" charset="0"/>
                <a:ea typeface="Public Sans" pitchFamily="34" charset="-122"/>
                <a:cs typeface="Public Sans" pitchFamily="34" charset="-120"/>
              </a:rPr>
              <a:t>✕</a:t>
            </a:r>
            <a:endParaRPr lang="en-US" sz="1800" dirty="0"/>
          </a:p>
        </p:txBody>
      </p:sp>
      <p:sp>
        <p:nvSpPr>
          <p:cNvPr id="51" name="Shape 49"/>
          <p:cNvSpPr/>
          <p:nvPr/>
        </p:nvSpPr>
        <p:spPr>
          <a:xfrm>
            <a:off x="6701468" y="4807323"/>
            <a:ext cx="2589084" cy="971935"/>
          </a:xfrm>
          <a:prstGeom prst="roundRect">
            <a:avLst>
              <a:gd name="adj" fmla="val 9800"/>
            </a:avLst>
          </a:prstGeom>
          <a:solidFill>
            <a:srgbClr val="FFFFFF"/>
          </a:solidFill>
          <a:ln w="11206">
            <a:solidFill>
              <a:srgbClr val="E4E9EF"/>
            </a:solidFill>
            <a:prstDash val="solid"/>
          </a:ln>
        </p:spPr>
      </p:sp>
      <p:sp>
        <p:nvSpPr>
          <p:cNvPr id="52" name="Text 50"/>
          <p:cNvSpPr/>
          <p:nvPr/>
        </p:nvSpPr>
        <p:spPr>
          <a:xfrm>
            <a:off x="7927111" y="5158733"/>
            <a:ext cx="213997" cy="307041"/>
          </a:xfrm>
          <a:prstGeom prst="rect">
            <a:avLst/>
          </a:prstGeom>
          <a:noFill/>
          <a:ln/>
        </p:spPr>
        <p:txBody>
          <a:bodyPr wrap="square" lIns="25400" tIns="25400" rIns="25400" bIns="25400" rtlCol="0" anchor="t">
            <a:normAutofit/>
          </a:bodyPr>
          <a:lstStyle/>
          <a:p>
            <a:pPr algn="l" indent="0" marL="0">
              <a:buNone/>
            </a:pPr>
            <a:r>
              <a:rPr lang="en-US" sz="1800" b="1" dirty="0">
                <a:solidFill>
                  <a:srgbClr val="B42318"/>
                </a:solidFill>
                <a:latin typeface="Public Sans" pitchFamily="34" charset="0"/>
                <a:ea typeface="Public Sans" pitchFamily="34" charset="-122"/>
                <a:cs typeface="Public Sans" pitchFamily="34" charset="-120"/>
              </a:rPr>
              <a:t>✕</a:t>
            </a:r>
            <a:endParaRPr lang="en-US" sz="1800" dirty="0"/>
          </a:p>
        </p:txBody>
      </p:sp>
      <p:sp>
        <p:nvSpPr>
          <p:cNvPr id="53" name="Shape 51"/>
          <p:cNvSpPr/>
          <p:nvPr/>
        </p:nvSpPr>
        <p:spPr>
          <a:xfrm>
            <a:off x="9385802" y="4807323"/>
            <a:ext cx="2588909" cy="971935"/>
          </a:xfrm>
          <a:prstGeom prst="roundRect">
            <a:avLst>
              <a:gd name="adj" fmla="val 9800"/>
            </a:avLst>
          </a:prstGeom>
          <a:solidFill>
            <a:srgbClr val="FFFFFF"/>
          </a:solidFill>
          <a:ln w="11206">
            <a:solidFill>
              <a:srgbClr val="E4E9EF"/>
            </a:solidFill>
            <a:prstDash val="solid"/>
          </a:ln>
        </p:spPr>
      </p:sp>
      <p:sp>
        <p:nvSpPr>
          <p:cNvPr id="54" name="Text 52"/>
          <p:cNvSpPr/>
          <p:nvPr/>
        </p:nvSpPr>
        <p:spPr>
          <a:xfrm>
            <a:off x="10581329" y="5070836"/>
            <a:ext cx="274054" cy="307041"/>
          </a:xfrm>
          <a:prstGeom prst="rect">
            <a:avLst/>
          </a:prstGeom>
          <a:noFill/>
          <a:ln/>
        </p:spPr>
        <p:txBody>
          <a:bodyPr wrap="square" lIns="25400" tIns="25400" rIns="25400" bIns="25400" rtlCol="0" anchor="t">
            <a:normAutofit/>
          </a:bodyPr>
          <a:lstStyle/>
          <a:p>
            <a:pPr algn="l" indent="0" marL="0">
              <a:buNone/>
            </a:pPr>
            <a:r>
              <a:rPr lang="en-US" sz="1800" b="1" dirty="0">
                <a:solidFill>
                  <a:srgbClr val="B4690E"/>
                </a:solidFill>
                <a:latin typeface="Public Sans" pitchFamily="34" charset="0"/>
                <a:ea typeface="Public Sans" pitchFamily="34" charset="-122"/>
                <a:cs typeface="Public Sans" pitchFamily="34" charset="-120"/>
              </a:rPr>
              <a:t>◐</a:t>
            </a:r>
            <a:endParaRPr lang="en-US" sz="1800" dirty="0"/>
          </a:p>
        </p:txBody>
      </p:sp>
      <p:sp>
        <p:nvSpPr>
          <p:cNvPr id="55" name="Text 53"/>
          <p:cNvSpPr/>
          <p:nvPr/>
        </p:nvSpPr>
        <p:spPr>
          <a:xfrm>
            <a:off x="10199874" y="5358687"/>
            <a:ext cx="960764" cy="194982"/>
          </a:xfrm>
          <a:prstGeom prst="rect">
            <a:avLst/>
          </a:prstGeom>
          <a:noFill/>
          <a:ln/>
        </p:spPr>
        <p:txBody>
          <a:bodyPr wrap="square" lIns="25400" tIns="25400" rIns="25400" bIns="25400" rtlCol="0" anchor="t">
            <a:normAutofit/>
          </a:bodyPr>
          <a:lstStyle/>
          <a:p>
            <a:pPr algn="ctr" indent="0" marL="0">
              <a:lnSpc>
                <a:spcPct val="102000"/>
              </a:lnSpc>
              <a:buNone/>
            </a:pPr>
            <a:r>
              <a:rPr lang="en-US" sz="1050" dirty="0">
                <a:solidFill>
                  <a:srgbClr val="5B6675"/>
                </a:solidFill>
                <a:latin typeface="Public Sans" pitchFamily="34" charset="0"/>
                <a:ea typeface="Public Sans" pitchFamily="34" charset="-122"/>
                <a:cs typeface="Public Sans" pitchFamily="34" charset="-120"/>
              </a:rPr>
              <a:t>Heavy to build</a:t>
            </a:r>
            <a:endParaRPr lang="en-US" sz="1050" dirty="0"/>
          </a:p>
        </p:txBody>
      </p:sp>
      <p:sp>
        <p:nvSpPr>
          <p:cNvPr id="56" name="Shape 54"/>
          <p:cNvSpPr/>
          <p:nvPr/>
        </p:nvSpPr>
        <p:spPr>
          <a:xfrm>
            <a:off x="12069960" y="4807323"/>
            <a:ext cx="2589084" cy="971935"/>
          </a:xfrm>
          <a:prstGeom prst="roundRect">
            <a:avLst>
              <a:gd name="adj" fmla="val 9800"/>
            </a:avLst>
          </a:prstGeom>
          <a:solidFill>
            <a:srgbClr val="F5F9FD"/>
          </a:solidFill>
          <a:ln w="11206">
            <a:solidFill>
              <a:srgbClr val="D8E7F5"/>
            </a:solidFill>
            <a:prstDash val="solid"/>
          </a:ln>
        </p:spPr>
      </p:sp>
      <p:sp>
        <p:nvSpPr>
          <p:cNvPr id="57" name="Text 55"/>
          <p:cNvSpPr/>
          <p:nvPr/>
        </p:nvSpPr>
        <p:spPr>
          <a:xfrm>
            <a:off x="13295604" y="5070836"/>
            <a:ext cx="213997" cy="307041"/>
          </a:xfrm>
          <a:prstGeom prst="rect">
            <a:avLst/>
          </a:prstGeom>
          <a:noFill/>
          <a:ln/>
        </p:spPr>
        <p:txBody>
          <a:bodyPr wrap="square" lIns="25400" tIns="25400" rIns="25400" bIns="25400" rtlCol="0" anchor="t">
            <a:normAutofit/>
          </a:bodyPr>
          <a:lstStyle/>
          <a:p>
            <a:pPr algn="l" indent="0" marL="0">
              <a:buNone/>
            </a:pPr>
            <a:r>
              <a:rPr lang="en-US" sz="1800" b="1" dirty="0">
                <a:solidFill>
                  <a:srgbClr val="B42318"/>
                </a:solidFill>
                <a:latin typeface="Public Sans" pitchFamily="34" charset="0"/>
                <a:ea typeface="Public Sans" pitchFamily="34" charset="-122"/>
                <a:cs typeface="Public Sans" pitchFamily="34" charset="-120"/>
              </a:rPr>
              <a:t>✕</a:t>
            </a:r>
            <a:endParaRPr lang="en-US" sz="1800" dirty="0"/>
          </a:p>
        </p:txBody>
      </p:sp>
      <p:sp>
        <p:nvSpPr>
          <p:cNvPr id="58" name="Text 56"/>
          <p:cNvSpPr/>
          <p:nvPr/>
        </p:nvSpPr>
        <p:spPr>
          <a:xfrm>
            <a:off x="12952669" y="5358687"/>
            <a:ext cx="823667" cy="194982"/>
          </a:xfrm>
          <a:prstGeom prst="rect">
            <a:avLst/>
          </a:prstGeom>
          <a:noFill/>
          <a:ln/>
        </p:spPr>
        <p:txBody>
          <a:bodyPr wrap="square" lIns="25400" tIns="25400" rIns="25400" bIns="25400" rtlCol="0" anchor="t">
            <a:normAutofit/>
          </a:bodyPr>
          <a:lstStyle/>
          <a:p>
            <a:pPr algn="ctr" indent="0" marL="0">
              <a:lnSpc>
                <a:spcPct val="102000"/>
              </a:lnSpc>
              <a:buNone/>
            </a:pPr>
            <a:r>
              <a:rPr lang="en-US" sz="1050" dirty="0">
                <a:solidFill>
                  <a:srgbClr val="5B6675"/>
                </a:solidFill>
                <a:latin typeface="Public Sans" pitchFamily="34" charset="0"/>
                <a:ea typeface="Public Sans" pitchFamily="34" charset="-122"/>
                <a:cs typeface="Public Sans" pitchFamily="34" charset="-120"/>
              </a:rPr>
              <a:t>RM memory</a:t>
            </a:r>
            <a:endParaRPr lang="en-US" sz="1050" dirty="0"/>
          </a:p>
        </p:txBody>
      </p:sp>
      <p:sp>
        <p:nvSpPr>
          <p:cNvPr id="59" name="Shape 57"/>
          <p:cNvSpPr/>
          <p:nvPr/>
        </p:nvSpPr>
        <p:spPr>
          <a:xfrm>
            <a:off x="14754294" y="4807323"/>
            <a:ext cx="2848045" cy="971935"/>
          </a:xfrm>
          <a:prstGeom prst="roundRect">
            <a:avLst>
              <a:gd name="adj" fmla="val 9800"/>
            </a:avLst>
          </a:prstGeom>
          <a:solidFill>
            <a:srgbClr val="F0F6F2"/>
          </a:solidFill>
          <a:ln w="11206">
            <a:solidFill>
              <a:srgbClr val="BCD8C9"/>
            </a:solidFill>
            <a:prstDash val="solid"/>
          </a:ln>
        </p:spPr>
      </p:sp>
      <p:sp>
        <p:nvSpPr>
          <p:cNvPr id="60" name="Text 58"/>
          <p:cNvSpPr/>
          <p:nvPr/>
        </p:nvSpPr>
        <p:spPr>
          <a:xfrm>
            <a:off x="16074662" y="5065234"/>
            <a:ext cx="283334" cy="318247"/>
          </a:xfrm>
          <a:prstGeom prst="rect">
            <a:avLst/>
          </a:prstGeom>
          <a:noFill/>
          <a:ln/>
        </p:spPr>
        <p:txBody>
          <a:bodyPr wrap="square" lIns="25400" tIns="25400" rIns="25400" bIns="25400" rtlCol="0" anchor="t">
            <a:normAutofit/>
          </a:bodyPr>
          <a:lstStyle/>
          <a:p>
            <a:pPr algn="l" indent="0" marL="0">
              <a:buNone/>
            </a:pPr>
            <a:r>
              <a:rPr lang="en-US" sz="1800" b="1" dirty="0">
                <a:solidFill>
                  <a:srgbClr val="107C41"/>
                </a:solidFill>
                <a:latin typeface="Public Sans" pitchFamily="34" charset="0"/>
                <a:ea typeface="Public Sans" pitchFamily="34" charset="-122"/>
                <a:cs typeface="Public Sans" pitchFamily="34" charset="-120"/>
              </a:rPr>
              <a:t>✓</a:t>
            </a:r>
            <a:endParaRPr lang="en-US" sz="1800" dirty="0"/>
          </a:p>
        </p:txBody>
      </p:sp>
      <p:sp>
        <p:nvSpPr>
          <p:cNvPr id="61" name="Text 59"/>
          <p:cNvSpPr/>
          <p:nvPr/>
        </p:nvSpPr>
        <p:spPr>
          <a:xfrm>
            <a:off x="15411196" y="5364291"/>
            <a:ext cx="1534068" cy="194982"/>
          </a:xfrm>
          <a:prstGeom prst="rect">
            <a:avLst/>
          </a:prstGeom>
          <a:noFill/>
          <a:ln/>
        </p:spPr>
        <p:txBody>
          <a:bodyPr wrap="square" lIns="25400" tIns="25400" rIns="25400" bIns="25400" rtlCol="0" anchor="t">
            <a:normAutofit/>
          </a:bodyPr>
          <a:lstStyle/>
          <a:p>
            <a:pPr algn="ctr" indent="0" marL="0">
              <a:lnSpc>
                <a:spcPct val="102000"/>
              </a:lnSpc>
              <a:buNone/>
            </a:pPr>
            <a:r>
              <a:rPr lang="en-US" sz="1050" dirty="0">
                <a:solidFill>
                  <a:srgbClr val="5B6675"/>
                </a:solidFill>
                <a:latin typeface="Public Sans" pitchFamily="34" charset="0"/>
                <a:ea typeface="Public Sans" pitchFamily="34" charset="-122"/>
                <a:cs typeface="Public Sans" pitchFamily="34" charset="-120"/>
              </a:rPr>
              <a:t>Dataverse partner flag</a:t>
            </a:r>
            <a:endParaRPr lang="en-US" sz="1050" dirty="0"/>
          </a:p>
        </p:txBody>
      </p:sp>
      <p:sp>
        <p:nvSpPr>
          <p:cNvPr id="62" name="Text 60"/>
          <p:cNvSpPr/>
          <p:nvPr/>
        </p:nvSpPr>
        <p:spPr>
          <a:xfrm>
            <a:off x="742810" y="5874508"/>
            <a:ext cx="3276160" cy="1010035"/>
          </a:xfrm>
          <a:prstGeom prst="rect">
            <a:avLst/>
          </a:prstGeom>
          <a:noFill/>
          <a:ln/>
        </p:spPr>
        <p:txBody>
          <a:bodyPr wrap="square" lIns="25400" tIns="25400" rIns="25400" bIns="25400" rtlCol="0" anchor="ctr">
            <a:normAutofit/>
          </a:bodyPr>
          <a:lstStyle/>
          <a:p>
            <a:pPr algn="l" indent="0" marL="0">
              <a:buNone/>
            </a:pPr>
            <a:r>
              <a:rPr lang="en-US" sz="1425" b="1" dirty="0">
                <a:solidFill>
                  <a:srgbClr val="0D2E22"/>
                </a:solidFill>
                <a:latin typeface="Public Sans" pitchFamily="34" charset="0"/>
                <a:ea typeface="Public Sans" pitchFamily="34" charset="-122"/>
                <a:cs typeface="Public Sans" pitchFamily="34" charset="-120"/>
              </a:rPr>
              <a:t>White-glove branded UX</a:t>
            </a:r>
            <a:endParaRPr lang="en-US" sz="1425" dirty="0"/>
          </a:p>
        </p:txBody>
      </p:sp>
      <p:sp>
        <p:nvSpPr>
          <p:cNvPr id="63" name="Shape 61"/>
          <p:cNvSpPr/>
          <p:nvPr/>
        </p:nvSpPr>
        <p:spPr>
          <a:xfrm>
            <a:off x="4017134" y="5874508"/>
            <a:ext cx="2589084" cy="971935"/>
          </a:xfrm>
          <a:prstGeom prst="roundRect">
            <a:avLst>
              <a:gd name="adj" fmla="val 9800"/>
            </a:avLst>
          </a:prstGeom>
          <a:solidFill>
            <a:srgbClr val="FFFFFF"/>
          </a:solidFill>
          <a:ln w="11206">
            <a:solidFill>
              <a:srgbClr val="E4E9EF"/>
            </a:solidFill>
            <a:prstDash val="solid"/>
          </a:ln>
        </p:spPr>
      </p:sp>
      <p:sp>
        <p:nvSpPr>
          <p:cNvPr id="64" name="Text 62"/>
          <p:cNvSpPr/>
          <p:nvPr/>
        </p:nvSpPr>
        <p:spPr>
          <a:xfrm>
            <a:off x="5212661" y="6138022"/>
            <a:ext cx="274054" cy="307041"/>
          </a:xfrm>
          <a:prstGeom prst="rect">
            <a:avLst/>
          </a:prstGeom>
          <a:noFill/>
          <a:ln/>
        </p:spPr>
        <p:txBody>
          <a:bodyPr wrap="square" lIns="25400" tIns="25400" rIns="25400" bIns="25400" rtlCol="0" anchor="t">
            <a:normAutofit/>
          </a:bodyPr>
          <a:lstStyle/>
          <a:p>
            <a:pPr algn="l" indent="0" marL="0">
              <a:buNone/>
            </a:pPr>
            <a:r>
              <a:rPr lang="en-US" sz="1800" b="1" dirty="0">
                <a:solidFill>
                  <a:srgbClr val="B4690E"/>
                </a:solidFill>
                <a:latin typeface="Public Sans" pitchFamily="34" charset="0"/>
                <a:ea typeface="Public Sans" pitchFamily="34" charset="-122"/>
                <a:cs typeface="Public Sans" pitchFamily="34" charset="-120"/>
              </a:rPr>
              <a:t>◐</a:t>
            </a:r>
            <a:endParaRPr lang="en-US" sz="1800" dirty="0"/>
          </a:p>
        </p:txBody>
      </p:sp>
      <p:sp>
        <p:nvSpPr>
          <p:cNvPr id="65" name="Text 63"/>
          <p:cNvSpPr/>
          <p:nvPr/>
        </p:nvSpPr>
        <p:spPr>
          <a:xfrm>
            <a:off x="4768348" y="6425873"/>
            <a:ext cx="1086480" cy="194982"/>
          </a:xfrm>
          <a:prstGeom prst="rect">
            <a:avLst/>
          </a:prstGeom>
          <a:noFill/>
          <a:ln/>
        </p:spPr>
        <p:txBody>
          <a:bodyPr wrap="square" lIns="25400" tIns="25400" rIns="25400" bIns="25400" rtlCol="0" anchor="t">
            <a:normAutofit/>
          </a:bodyPr>
          <a:lstStyle/>
          <a:p>
            <a:pPr algn="ctr" indent="0" marL="0">
              <a:lnSpc>
                <a:spcPct val="102000"/>
              </a:lnSpc>
              <a:buNone/>
            </a:pPr>
            <a:r>
              <a:rPr lang="en-US" sz="1050" dirty="0">
                <a:solidFill>
                  <a:srgbClr val="5B6675"/>
                </a:solidFill>
                <a:latin typeface="Public Sans" pitchFamily="34" charset="0"/>
                <a:ea typeface="Public Sans" pitchFamily="34" charset="-122"/>
                <a:cs typeface="Public Sans" pitchFamily="34" charset="-120"/>
              </a:rPr>
              <a:t>Limited theming</a:t>
            </a:r>
            <a:endParaRPr lang="en-US" sz="1050" dirty="0"/>
          </a:p>
        </p:txBody>
      </p:sp>
      <p:sp>
        <p:nvSpPr>
          <p:cNvPr id="66" name="Shape 64"/>
          <p:cNvSpPr/>
          <p:nvPr/>
        </p:nvSpPr>
        <p:spPr>
          <a:xfrm>
            <a:off x="6701468" y="5874508"/>
            <a:ext cx="2589084" cy="971935"/>
          </a:xfrm>
          <a:prstGeom prst="roundRect">
            <a:avLst>
              <a:gd name="adj" fmla="val 9800"/>
            </a:avLst>
          </a:prstGeom>
          <a:solidFill>
            <a:srgbClr val="FFFFFF"/>
          </a:solidFill>
          <a:ln w="11206">
            <a:solidFill>
              <a:srgbClr val="E4E9EF"/>
            </a:solidFill>
            <a:prstDash val="solid"/>
          </a:ln>
        </p:spPr>
      </p:sp>
      <p:sp>
        <p:nvSpPr>
          <p:cNvPr id="67" name="Text 65"/>
          <p:cNvSpPr/>
          <p:nvPr/>
        </p:nvSpPr>
        <p:spPr>
          <a:xfrm>
            <a:off x="7927111" y="6138022"/>
            <a:ext cx="213997" cy="307041"/>
          </a:xfrm>
          <a:prstGeom prst="rect">
            <a:avLst/>
          </a:prstGeom>
          <a:noFill/>
          <a:ln/>
        </p:spPr>
        <p:txBody>
          <a:bodyPr wrap="square" lIns="25400" tIns="25400" rIns="25400" bIns="25400" rtlCol="0" anchor="t">
            <a:normAutofit/>
          </a:bodyPr>
          <a:lstStyle/>
          <a:p>
            <a:pPr algn="l" indent="0" marL="0">
              <a:buNone/>
            </a:pPr>
            <a:r>
              <a:rPr lang="en-US" sz="1800" b="1" dirty="0">
                <a:solidFill>
                  <a:srgbClr val="B42318"/>
                </a:solidFill>
                <a:latin typeface="Public Sans" pitchFamily="34" charset="0"/>
                <a:ea typeface="Public Sans" pitchFamily="34" charset="-122"/>
                <a:cs typeface="Public Sans" pitchFamily="34" charset="-120"/>
              </a:rPr>
              <a:t>✕</a:t>
            </a:r>
            <a:endParaRPr lang="en-US" sz="1800" dirty="0"/>
          </a:p>
        </p:txBody>
      </p:sp>
      <p:sp>
        <p:nvSpPr>
          <p:cNvPr id="68" name="Text 66"/>
          <p:cNvSpPr/>
          <p:nvPr/>
        </p:nvSpPr>
        <p:spPr>
          <a:xfrm>
            <a:off x="7631100" y="6425873"/>
            <a:ext cx="729643" cy="194982"/>
          </a:xfrm>
          <a:prstGeom prst="rect">
            <a:avLst/>
          </a:prstGeom>
          <a:noFill/>
          <a:ln/>
        </p:spPr>
        <p:txBody>
          <a:bodyPr wrap="square" lIns="25400" tIns="25400" rIns="25400" bIns="25400" rtlCol="0" anchor="t">
            <a:normAutofit/>
          </a:bodyPr>
          <a:lstStyle/>
          <a:p>
            <a:pPr algn="ctr" indent="0" marL="0">
              <a:lnSpc>
                <a:spcPct val="102000"/>
              </a:lnSpc>
              <a:buNone/>
            </a:pPr>
            <a:r>
              <a:rPr lang="en-US" sz="1050" dirty="0">
                <a:solidFill>
                  <a:srgbClr val="5B6675"/>
                </a:solidFill>
                <a:latin typeface="Public Sans" pitchFamily="34" charset="0"/>
                <a:ea typeface="Public Sans" pitchFamily="34" charset="-122"/>
                <a:cs typeface="Public Sans" pitchFamily="34" charset="-120"/>
              </a:rPr>
              <a:t>Outlook UI</a:t>
            </a:r>
            <a:endParaRPr lang="en-US" sz="1050" dirty="0"/>
          </a:p>
        </p:txBody>
      </p:sp>
      <p:sp>
        <p:nvSpPr>
          <p:cNvPr id="69" name="Shape 67"/>
          <p:cNvSpPr/>
          <p:nvPr/>
        </p:nvSpPr>
        <p:spPr>
          <a:xfrm>
            <a:off x="9385802" y="5874508"/>
            <a:ext cx="2588909" cy="971935"/>
          </a:xfrm>
          <a:prstGeom prst="roundRect">
            <a:avLst>
              <a:gd name="adj" fmla="val 9800"/>
            </a:avLst>
          </a:prstGeom>
          <a:solidFill>
            <a:srgbClr val="FFFFFF"/>
          </a:solidFill>
          <a:ln w="11206">
            <a:solidFill>
              <a:srgbClr val="E4E9EF"/>
            </a:solidFill>
            <a:prstDash val="solid"/>
          </a:ln>
        </p:spPr>
      </p:sp>
      <p:sp>
        <p:nvSpPr>
          <p:cNvPr id="70" name="Text 68"/>
          <p:cNvSpPr/>
          <p:nvPr/>
        </p:nvSpPr>
        <p:spPr>
          <a:xfrm>
            <a:off x="10576601" y="6220315"/>
            <a:ext cx="283334" cy="318247"/>
          </a:xfrm>
          <a:prstGeom prst="rect">
            <a:avLst/>
          </a:prstGeom>
          <a:noFill/>
          <a:ln/>
        </p:spPr>
        <p:txBody>
          <a:bodyPr wrap="square" lIns="25400" tIns="25400" rIns="25400" bIns="25400" rtlCol="0" anchor="t">
            <a:normAutofit/>
          </a:bodyPr>
          <a:lstStyle/>
          <a:p>
            <a:pPr algn="l" indent="0" marL="0">
              <a:buNone/>
            </a:pPr>
            <a:r>
              <a:rPr lang="en-US" sz="1800" b="1" dirty="0">
                <a:solidFill>
                  <a:srgbClr val="107C41"/>
                </a:solidFill>
                <a:latin typeface="Public Sans" pitchFamily="34" charset="0"/>
                <a:ea typeface="Public Sans" pitchFamily="34" charset="-122"/>
                <a:cs typeface="Public Sans" pitchFamily="34" charset="-120"/>
              </a:rPr>
              <a:t>✓</a:t>
            </a:r>
            <a:endParaRPr lang="en-US" sz="1800" dirty="0"/>
          </a:p>
        </p:txBody>
      </p:sp>
      <p:sp>
        <p:nvSpPr>
          <p:cNvPr id="71" name="Shape 69"/>
          <p:cNvSpPr/>
          <p:nvPr/>
        </p:nvSpPr>
        <p:spPr>
          <a:xfrm>
            <a:off x="12069960" y="5874508"/>
            <a:ext cx="2589084" cy="971935"/>
          </a:xfrm>
          <a:prstGeom prst="roundRect">
            <a:avLst>
              <a:gd name="adj" fmla="val 9800"/>
            </a:avLst>
          </a:prstGeom>
          <a:solidFill>
            <a:srgbClr val="F5F9FD"/>
          </a:solidFill>
          <a:ln w="11206">
            <a:solidFill>
              <a:srgbClr val="D8E7F5"/>
            </a:solidFill>
            <a:prstDash val="solid"/>
          </a:ln>
        </p:spPr>
      </p:sp>
      <p:sp>
        <p:nvSpPr>
          <p:cNvPr id="72" name="Text 70"/>
          <p:cNvSpPr/>
          <p:nvPr/>
        </p:nvSpPr>
        <p:spPr>
          <a:xfrm>
            <a:off x="13265488" y="6138022"/>
            <a:ext cx="274054" cy="307041"/>
          </a:xfrm>
          <a:prstGeom prst="rect">
            <a:avLst/>
          </a:prstGeom>
          <a:noFill/>
          <a:ln/>
        </p:spPr>
        <p:txBody>
          <a:bodyPr wrap="square" lIns="25400" tIns="25400" rIns="25400" bIns="25400" rtlCol="0" anchor="t">
            <a:normAutofit/>
          </a:bodyPr>
          <a:lstStyle/>
          <a:p>
            <a:pPr algn="l" indent="0" marL="0">
              <a:buNone/>
            </a:pPr>
            <a:r>
              <a:rPr lang="en-US" sz="1800" b="1" dirty="0">
                <a:solidFill>
                  <a:srgbClr val="B4690E"/>
                </a:solidFill>
                <a:latin typeface="Public Sans" pitchFamily="34" charset="0"/>
                <a:ea typeface="Public Sans" pitchFamily="34" charset="-122"/>
                <a:cs typeface="Public Sans" pitchFamily="34" charset="-120"/>
              </a:rPr>
              <a:t>◐</a:t>
            </a:r>
            <a:endParaRPr lang="en-US" sz="1800" dirty="0"/>
          </a:p>
        </p:txBody>
      </p:sp>
      <p:sp>
        <p:nvSpPr>
          <p:cNvPr id="73" name="Text 71"/>
          <p:cNvSpPr/>
          <p:nvPr/>
        </p:nvSpPr>
        <p:spPr>
          <a:xfrm>
            <a:off x="12766371" y="6425873"/>
            <a:ext cx="1196088" cy="194982"/>
          </a:xfrm>
          <a:prstGeom prst="rect">
            <a:avLst/>
          </a:prstGeom>
          <a:noFill/>
          <a:ln/>
        </p:spPr>
        <p:txBody>
          <a:bodyPr wrap="square" lIns="25400" tIns="25400" rIns="25400" bIns="25400" rtlCol="0" anchor="t">
            <a:normAutofit/>
          </a:bodyPr>
          <a:lstStyle/>
          <a:p>
            <a:pPr algn="ctr" indent="0" marL="0">
              <a:lnSpc>
                <a:spcPct val="102000"/>
              </a:lnSpc>
              <a:buNone/>
            </a:pPr>
            <a:r>
              <a:rPr lang="en-US" sz="1050" dirty="0">
                <a:solidFill>
                  <a:srgbClr val="5B6675"/>
                </a:solidFill>
                <a:latin typeface="Public Sans" pitchFamily="34" charset="0"/>
                <a:ea typeface="Public Sans" pitchFamily="34" charset="-122"/>
                <a:cs typeface="Public Sans" pitchFamily="34" charset="-120"/>
              </a:rPr>
              <a:t>Bookings theming</a:t>
            </a:r>
            <a:endParaRPr lang="en-US" sz="1050" dirty="0"/>
          </a:p>
        </p:txBody>
      </p:sp>
      <p:sp>
        <p:nvSpPr>
          <p:cNvPr id="74" name="Shape 72"/>
          <p:cNvSpPr/>
          <p:nvPr/>
        </p:nvSpPr>
        <p:spPr>
          <a:xfrm>
            <a:off x="14754294" y="5874508"/>
            <a:ext cx="2848045" cy="971935"/>
          </a:xfrm>
          <a:prstGeom prst="roundRect">
            <a:avLst>
              <a:gd name="adj" fmla="val 9800"/>
            </a:avLst>
          </a:prstGeom>
          <a:solidFill>
            <a:srgbClr val="F0F6F2"/>
          </a:solidFill>
          <a:ln w="11206">
            <a:solidFill>
              <a:srgbClr val="BCD8C9"/>
            </a:solidFill>
            <a:prstDash val="solid"/>
          </a:ln>
        </p:spPr>
      </p:sp>
      <p:sp>
        <p:nvSpPr>
          <p:cNvPr id="75" name="Text 73"/>
          <p:cNvSpPr/>
          <p:nvPr/>
        </p:nvSpPr>
        <p:spPr>
          <a:xfrm>
            <a:off x="16074662" y="6132419"/>
            <a:ext cx="283334" cy="318247"/>
          </a:xfrm>
          <a:prstGeom prst="rect">
            <a:avLst/>
          </a:prstGeom>
          <a:noFill/>
          <a:ln/>
        </p:spPr>
        <p:txBody>
          <a:bodyPr wrap="square" lIns="25400" tIns="25400" rIns="25400" bIns="25400" rtlCol="0" anchor="t">
            <a:normAutofit/>
          </a:bodyPr>
          <a:lstStyle/>
          <a:p>
            <a:pPr algn="l" indent="0" marL="0">
              <a:buNone/>
            </a:pPr>
            <a:r>
              <a:rPr lang="en-US" sz="1800" b="1" dirty="0">
                <a:solidFill>
                  <a:srgbClr val="107C41"/>
                </a:solidFill>
                <a:latin typeface="Public Sans" pitchFamily="34" charset="0"/>
                <a:ea typeface="Public Sans" pitchFamily="34" charset="-122"/>
                <a:cs typeface="Public Sans" pitchFamily="34" charset="-120"/>
              </a:rPr>
              <a:t>✓</a:t>
            </a:r>
            <a:endParaRPr lang="en-US" sz="1800" dirty="0"/>
          </a:p>
        </p:txBody>
      </p:sp>
      <p:sp>
        <p:nvSpPr>
          <p:cNvPr id="76" name="Text 74"/>
          <p:cNvSpPr/>
          <p:nvPr/>
        </p:nvSpPr>
        <p:spPr>
          <a:xfrm>
            <a:off x="15660639" y="6431475"/>
            <a:ext cx="1035353" cy="194982"/>
          </a:xfrm>
          <a:prstGeom prst="rect">
            <a:avLst/>
          </a:prstGeom>
          <a:noFill/>
          <a:ln/>
        </p:spPr>
        <p:txBody>
          <a:bodyPr wrap="square" lIns="25400" tIns="25400" rIns="25400" bIns="25400" rtlCol="0" anchor="t">
            <a:normAutofit/>
          </a:bodyPr>
          <a:lstStyle/>
          <a:p>
            <a:pPr algn="ctr" indent="0" marL="0">
              <a:lnSpc>
                <a:spcPct val="102000"/>
              </a:lnSpc>
              <a:buNone/>
            </a:pPr>
            <a:r>
              <a:rPr lang="en-US" sz="1050" dirty="0">
                <a:solidFill>
                  <a:srgbClr val="5B6675"/>
                </a:solidFill>
                <a:latin typeface="Public Sans" pitchFamily="34" charset="0"/>
                <a:ea typeface="Public Sans" pitchFamily="34" charset="-122"/>
                <a:cs typeface="Public Sans" pitchFamily="34" charset="-120"/>
              </a:rPr>
              <a:t>Static Web App</a:t>
            </a:r>
            <a:endParaRPr lang="en-US" sz="1050" dirty="0"/>
          </a:p>
        </p:txBody>
      </p:sp>
      <p:sp>
        <p:nvSpPr>
          <p:cNvPr id="77" name="Text 75"/>
          <p:cNvSpPr/>
          <p:nvPr/>
        </p:nvSpPr>
        <p:spPr>
          <a:xfrm>
            <a:off x="742810" y="6941694"/>
            <a:ext cx="3276160" cy="1010035"/>
          </a:xfrm>
          <a:prstGeom prst="rect">
            <a:avLst/>
          </a:prstGeom>
          <a:noFill/>
          <a:ln/>
        </p:spPr>
        <p:txBody>
          <a:bodyPr wrap="square" lIns="25400" tIns="25400" rIns="25400" bIns="25400" rtlCol="0" anchor="ctr">
            <a:normAutofit/>
          </a:bodyPr>
          <a:lstStyle/>
          <a:p>
            <a:pPr algn="l" indent="0" marL="0">
              <a:buNone/>
            </a:pPr>
            <a:r>
              <a:rPr lang="en-US" sz="1425" b="1" dirty="0">
                <a:solidFill>
                  <a:srgbClr val="0D2E22"/>
                </a:solidFill>
                <a:latin typeface="Public Sans" pitchFamily="34" charset="0"/>
                <a:ea typeface="Public Sans" pitchFamily="34" charset="-122"/>
                <a:cs typeface="Public Sans" pitchFamily="34" charset="-120"/>
              </a:rPr>
              <a:t>Ops fan-out &amp; audit</a:t>
            </a:r>
            <a:endParaRPr lang="en-US" sz="1425" dirty="0"/>
          </a:p>
        </p:txBody>
      </p:sp>
      <p:sp>
        <p:nvSpPr>
          <p:cNvPr id="78" name="Shape 76"/>
          <p:cNvSpPr/>
          <p:nvPr/>
        </p:nvSpPr>
        <p:spPr>
          <a:xfrm>
            <a:off x="4017134" y="6941694"/>
            <a:ext cx="2589084" cy="971935"/>
          </a:xfrm>
          <a:prstGeom prst="roundRect">
            <a:avLst>
              <a:gd name="adj" fmla="val 9800"/>
            </a:avLst>
          </a:prstGeom>
          <a:solidFill>
            <a:srgbClr val="FFFFFF"/>
          </a:solidFill>
          <a:ln w="11206">
            <a:solidFill>
              <a:srgbClr val="E4E9EF"/>
            </a:solidFill>
            <a:prstDash val="solid"/>
          </a:ln>
        </p:spPr>
      </p:sp>
      <p:sp>
        <p:nvSpPr>
          <p:cNvPr id="79" name="Text 77"/>
          <p:cNvSpPr/>
          <p:nvPr/>
        </p:nvSpPr>
        <p:spPr>
          <a:xfrm>
            <a:off x="5212661" y="7205207"/>
            <a:ext cx="274054" cy="307041"/>
          </a:xfrm>
          <a:prstGeom prst="rect">
            <a:avLst/>
          </a:prstGeom>
          <a:noFill/>
          <a:ln/>
        </p:spPr>
        <p:txBody>
          <a:bodyPr wrap="square" lIns="25400" tIns="25400" rIns="25400" bIns="25400" rtlCol="0" anchor="t">
            <a:normAutofit/>
          </a:bodyPr>
          <a:lstStyle/>
          <a:p>
            <a:pPr algn="l" indent="0" marL="0">
              <a:buNone/>
            </a:pPr>
            <a:r>
              <a:rPr lang="en-US" sz="1800" b="1" dirty="0">
                <a:solidFill>
                  <a:srgbClr val="B4690E"/>
                </a:solidFill>
                <a:latin typeface="Public Sans" pitchFamily="34" charset="0"/>
                <a:ea typeface="Public Sans" pitchFamily="34" charset="-122"/>
                <a:cs typeface="Public Sans" pitchFamily="34" charset="-120"/>
              </a:rPr>
              <a:t>◐</a:t>
            </a:r>
            <a:endParaRPr lang="en-US" sz="1800" dirty="0"/>
          </a:p>
        </p:txBody>
      </p:sp>
      <p:sp>
        <p:nvSpPr>
          <p:cNvPr id="80" name="Text 78"/>
          <p:cNvSpPr/>
          <p:nvPr/>
        </p:nvSpPr>
        <p:spPr>
          <a:xfrm>
            <a:off x="4795837" y="7493058"/>
            <a:ext cx="1031676" cy="194982"/>
          </a:xfrm>
          <a:prstGeom prst="rect">
            <a:avLst/>
          </a:prstGeom>
          <a:noFill/>
          <a:ln/>
        </p:spPr>
        <p:txBody>
          <a:bodyPr wrap="square" lIns="25400" tIns="25400" rIns="25400" bIns="25400" rtlCol="0" anchor="t">
            <a:normAutofit/>
          </a:bodyPr>
          <a:lstStyle/>
          <a:p>
            <a:pPr algn="ctr" indent="0" marL="0">
              <a:lnSpc>
                <a:spcPct val="102000"/>
              </a:lnSpc>
              <a:buNone/>
            </a:pPr>
            <a:r>
              <a:rPr lang="en-US" sz="1050" dirty="0">
                <a:solidFill>
                  <a:srgbClr val="5B6675"/>
                </a:solidFill>
                <a:latin typeface="Public Sans" pitchFamily="34" charset="0"/>
                <a:ea typeface="Public Sans" pitchFamily="34" charset="-122"/>
                <a:cs typeface="Public Sans" pitchFamily="34" charset="-120"/>
              </a:rPr>
              <a:t>Via flow trigger</a:t>
            </a:r>
            <a:endParaRPr lang="en-US" sz="1050" dirty="0"/>
          </a:p>
        </p:txBody>
      </p:sp>
      <p:sp>
        <p:nvSpPr>
          <p:cNvPr id="81" name="Shape 79"/>
          <p:cNvSpPr/>
          <p:nvPr/>
        </p:nvSpPr>
        <p:spPr>
          <a:xfrm>
            <a:off x="6701468" y="6941694"/>
            <a:ext cx="2589084" cy="971935"/>
          </a:xfrm>
          <a:prstGeom prst="roundRect">
            <a:avLst>
              <a:gd name="adj" fmla="val 9800"/>
            </a:avLst>
          </a:prstGeom>
          <a:solidFill>
            <a:srgbClr val="FFFFFF"/>
          </a:solidFill>
          <a:ln w="11206">
            <a:solidFill>
              <a:srgbClr val="E4E9EF"/>
            </a:solidFill>
            <a:prstDash val="solid"/>
          </a:ln>
        </p:spPr>
      </p:sp>
      <p:sp>
        <p:nvSpPr>
          <p:cNvPr id="82" name="Text 80"/>
          <p:cNvSpPr/>
          <p:nvPr/>
        </p:nvSpPr>
        <p:spPr>
          <a:xfrm>
            <a:off x="7927111" y="7293103"/>
            <a:ext cx="213997" cy="307041"/>
          </a:xfrm>
          <a:prstGeom prst="rect">
            <a:avLst/>
          </a:prstGeom>
          <a:noFill/>
          <a:ln/>
        </p:spPr>
        <p:txBody>
          <a:bodyPr wrap="square" lIns="25400" tIns="25400" rIns="25400" bIns="25400" rtlCol="0" anchor="t">
            <a:normAutofit/>
          </a:bodyPr>
          <a:lstStyle/>
          <a:p>
            <a:pPr algn="l" indent="0" marL="0">
              <a:buNone/>
            </a:pPr>
            <a:r>
              <a:rPr lang="en-US" sz="1800" b="1" dirty="0">
                <a:solidFill>
                  <a:srgbClr val="B42318"/>
                </a:solidFill>
                <a:latin typeface="Public Sans" pitchFamily="34" charset="0"/>
                <a:ea typeface="Public Sans" pitchFamily="34" charset="-122"/>
                <a:cs typeface="Public Sans" pitchFamily="34" charset="-120"/>
              </a:rPr>
              <a:t>✕</a:t>
            </a:r>
            <a:endParaRPr lang="en-US" sz="1800" dirty="0"/>
          </a:p>
        </p:txBody>
      </p:sp>
      <p:sp>
        <p:nvSpPr>
          <p:cNvPr id="83" name="Shape 81"/>
          <p:cNvSpPr/>
          <p:nvPr/>
        </p:nvSpPr>
        <p:spPr>
          <a:xfrm>
            <a:off x="9385802" y="6941694"/>
            <a:ext cx="2588909" cy="971935"/>
          </a:xfrm>
          <a:prstGeom prst="roundRect">
            <a:avLst>
              <a:gd name="adj" fmla="val 9800"/>
            </a:avLst>
          </a:prstGeom>
          <a:solidFill>
            <a:srgbClr val="FFFFFF"/>
          </a:solidFill>
          <a:ln w="11206">
            <a:solidFill>
              <a:srgbClr val="E4E9EF"/>
            </a:solidFill>
            <a:prstDash val="solid"/>
          </a:ln>
        </p:spPr>
      </p:sp>
      <p:sp>
        <p:nvSpPr>
          <p:cNvPr id="84" name="Text 82"/>
          <p:cNvSpPr/>
          <p:nvPr/>
        </p:nvSpPr>
        <p:spPr>
          <a:xfrm>
            <a:off x="10576601" y="7287500"/>
            <a:ext cx="283334" cy="318247"/>
          </a:xfrm>
          <a:prstGeom prst="rect">
            <a:avLst/>
          </a:prstGeom>
          <a:noFill/>
          <a:ln/>
        </p:spPr>
        <p:txBody>
          <a:bodyPr wrap="square" lIns="25400" tIns="25400" rIns="25400" bIns="25400" rtlCol="0" anchor="t">
            <a:normAutofit/>
          </a:bodyPr>
          <a:lstStyle/>
          <a:p>
            <a:pPr algn="l" indent="0" marL="0">
              <a:buNone/>
            </a:pPr>
            <a:r>
              <a:rPr lang="en-US" sz="1800" b="1" dirty="0">
                <a:solidFill>
                  <a:srgbClr val="107C41"/>
                </a:solidFill>
                <a:latin typeface="Public Sans" pitchFamily="34" charset="0"/>
                <a:ea typeface="Public Sans" pitchFamily="34" charset="-122"/>
                <a:cs typeface="Public Sans" pitchFamily="34" charset="-120"/>
              </a:rPr>
              <a:t>✓</a:t>
            </a:r>
            <a:endParaRPr lang="en-US" sz="1800" dirty="0"/>
          </a:p>
        </p:txBody>
      </p:sp>
      <p:sp>
        <p:nvSpPr>
          <p:cNvPr id="85" name="Shape 83"/>
          <p:cNvSpPr/>
          <p:nvPr/>
        </p:nvSpPr>
        <p:spPr>
          <a:xfrm>
            <a:off x="12069960" y="6941694"/>
            <a:ext cx="2589084" cy="971935"/>
          </a:xfrm>
          <a:prstGeom prst="roundRect">
            <a:avLst>
              <a:gd name="adj" fmla="val 9800"/>
            </a:avLst>
          </a:prstGeom>
          <a:solidFill>
            <a:srgbClr val="F5F9FD"/>
          </a:solidFill>
          <a:ln w="11206">
            <a:solidFill>
              <a:srgbClr val="D8E7F5"/>
            </a:solidFill>
            <a:prstDash val="solid"/>
          </a:ln>
        </p:spPr>
      </p:sp>
      <p:sp>
        <p:nvSpPr>
          <p:cNvPr id="86" name="Text 84"/>
          <p:cNvSpPr/>
          <p:nvPr/>
        </p:nvSpPr>
        <p:spPr>
          <a:xfrm>
            <a:off x="13265488" y="7205207"/>
            <a:ext cx="274054" cy="307041"/>
          </a:xfrm>
          <a:prstGeom prst="rect">
            <a:avLst/>
          </a:prstGeom>
          <a:noFill/>
          <a:ln/>
        </p:spPr>
        <p:txBody>
          <a:bodyPr wrap="square" lIns="25400" tIns="25400" rIns="25400" bIns="25400" rtlCol="0" anchor="t">
            <a:normAutofit/>
          </a:bodyPr>
          <a:lstStyle/>
          <a:p>
            <a:pPr algn="l" indent="0" marL="0">
              <a:buNone/>
            </a:pPr>
            <a:r>
              <a:rPr lang="en-US" sz="1800" b="1" dirty="0">
                <a:solidFill>
                  <a:srgbClr val="B4690E"/>
                </a:solidFill>
                <a:latin typeface="Public Sans" pitchFamily="34" charset="0"/>
                <a:ea typeface="Public Sans" pitchFamily="34" charset="-122"/>
                <a:cs typeface="Public Sans" pitchFamily="34" charset="-120"/>
              </a:rPr>
              <a:t>◐</a:t>
            </a:r>
            <a:endParaRPr lang="en-US" sz="1800" dirty="0"/>
          </a:p>
        </p:txBody>
      </p:sp>
      <p:sp>
        <p:nvSpPr>
          <p:cNvPr id="87" name="Text 85"/>
          <p:cNvSpPr/>
          <p:nvPr/>
        </p:nvSpPr>
        <p:spPr>
          <a:xfrm>
            <a:off x="12641197" y="7493058"/>
            <a:ext cx="1446434" cy="194982"/>
          </a:xfrm>
          <a:prstGeom prst="rect">
            <a:avLst/>
          </a:prstGeom>
          <a:noFill/>
          <a:ln/>
        </p:spPr>
        <p:txBody>
          <a:bodyPr wrap="square" lIns="25400" tIns="25400" rIns="25400" bIns="25400" rtlCol="0" anchor="t">
            <a:normAutofit/>
          </a:bodyPr>
          <a:lstStyle/>
          <a:p>
            <a:pPr algn="ctr" indent="0" marL="0">
              <a:lnSpc>
                <a:spcPct val="102000"/>
              </a:lnSpc>
              <a:buNone/>
            </a:pPr>
            <a:r>
              <a:rPr lang="en-US" sz="1050" dirty="0">
                <a:solidFill>
                  <a:srgbClr val="5B6675"/>
                </a:solidFill>
                <a:latin typeface="Public Sans" pitchFamily="34" charset="0"/>
                <a:ea typeface="Public Sans" pitchFamily="34" charset="-122"/>
                <a:cs typeface="Public Sans" pitchFamily="34" charset="-120"/>
              </a:rPr>
              <a:t>Ops mailbox on invite</a:t>
            </a:r>
            <a:endParaRPr lang="en-US" sz="1050" dirty="0"/>
          </a:p>
        </p:txBody>
      </p:sp>
      <p:sp>
        <p:nvSpPr>
          <p:cNvPr id="88" name="Shape 86"/>
          <p:cNvSpPr/>
          <p:nvPr/>
        </p:nvSpPr>
        <p:spPr>
          <a:xfrm>
            <a:off x="14754294" y="6941694"/>
            <a:ext cx="2848045" cy="971935"/>
          </a:xfrm>
          <a:prstGeom prst="roundRect">
            <a:avLst>
              <a:gd name="adj" fmla="val 9800"/>
            </a:avLst>
          </a:prstGeom>
          <a:solidFill>
            <a:srgbClr val="F0F6F2"/>
          </a:solidFill>
          <a:ln w="11206">
            <a:solidFill>
              <a:srgbClr val="BCD8C9"/>
            </a:solidFill>
            <a:prstDash val="solid"/>
          </a:ln>
        </p:spPr>
      </p:sp>
      <p:sp>
        <p:nvSpPr>
          <p:cNvPr id="89" name="Text 87"/>
          <p:cNvSpPr/>
          <p:nvPr/>
        </p:nvSpPr>
        <p:spPr>
          <a:xfrm>
            <a:off x="16074662" y="7199604"/>
            <a:ext cx="283334" cy="318247"/>
          </a:xfrm>
          <a:prstGeom prst="rect">
            <a:avLst/>
          </a:prstGeom>
          <a:noFill/>
          <a:ln/>
        </p:spPr>
        <p:txBody>
          <a:bodyPr wrap="square" lIns="25400" tIns="25400" rIns="25400" bIns="25400" rtlCol="0" anchor="t">
            <a:normAutofit/>
          </a:bodyPr>
          <a:lstStyle/>
          <a:p>
            <a:pPr algn="l" indent="0" marL="0">
              <a:buNone/>
            </a:pPr>
            <a:r>
              <a:rPr lang="en-US" sz="1800" b="1" dirty="0">
                <a:solidFill>
                  <a:srgbClr val="107C41"/>
                </a:solidFill>
                <a:latin typeface="Public Sans" pitchFamily="34" charset="0"/>
                <a:ea typeface="Public Sans" pitchFamily="34" charset="-122"/>
                <a:cs typeface="Public Sans" pitchFamily="34" charset="-120"/>
              </a:rPr>
              <a:t>✓</a:t>
            </a:r>
            <a:endParaRPr lang="en-US" sz="1800" dirty="0"/>
          </a:p>
        </p:txBody>
      </p:sp>
      <p:sp>
        <p:nvSpPr>
          <p:cNvPr id="90" name="Text 88"/>
          <p:cNvSpPr/>
          <p:nvPr/>
        </p:nvSpPr>
        <p:spPr>
          <a:xfrm>
            <a:off x="15625622" y="7498661"/>
            <a:ext cx="1105215" cy="194982"/>
          </a:xfrm>
          <a:prstGeom prst="rect">
            <a:avLst/>
          </a:prstGeom>
          <a:noFill/>
          <a:ln/>
        </p:spPr>
        <p:txBody>
          <a:bodyPr wrap="square" lIns="25400" tIns="25400" rIns="25400" bIns="25400" rtlCol="0" anchor="t">
            <a:normAutofit/>
          </a:bodyPr>
          <a:lstStyle/>
          <a:p>
            <a:pPr algn="ctr" indent="0" marL="0">
              <a:lnSpc>
                <a:spcPct val="102000"/>
              </a:lnSpc>
              <a:buNone/>
            </a:pPr>
            <a:r>
              <a:rPr lang="en-US" sz="1050" dirty="0">
                <a:solidFill>
                  <a:srgbClr val="5B6675"/>
                </a:solidFill>
                <a:latin typeface="Public Sans" pitchFamily="34" charset="0"/>
                <a:ea typeface="Public Sans" pitchFamily="34" charset="-122"/>
                <a:cs typeface="Public Sans" pitchFamily="34" charset="-120"/>
              </a:rPr>
              <a:t>Power Automate</a:t>
            </a:r>
            <a:endParaRPr lang="en-US" sz="1050" dirty="0"/>
          </a:p>
        </p:txBody>
      </p:sp>
      <p:sp>
        <p:nvSpPr>
          <p:cNvPr id="91" name="Text 89"/>
          <p:cNvSpPr/>
          <p:nvPr/>
        </p:nvSpPr>
        <p:spPr>
          <a:xfrm>
            <a:off x="742810" y="8008879"/>
            <a:ext cx="3276160" cy="1010035"/>
          </a:xfrm>
          <a:prstGeom prst="rect">
            <a:avLst/>
          </a:prstGeom>
          <a:noFill/>
          <a:ln/>
        </p:spPr>
        <p:txBody>
          <a:bodyPr wrap="square" lIns="25400" tIns="25400" rIns="25400" bIns="25400" rtlCol="0" anchor="ctr">
            <a:normAutofit/>
          </a:bodyPr>
          <a:lstStyle/>
          <a:p>
            <a:pPr algn="l" indent="0" marL="0">
              <a:buNone/>
            </a:pPr>
            <a:r>
              <a:rPr lang="en-US" sz="1425" b="1" dirty="0">
                <a:solidFill>
                  <a:srgbClr val="0D2E22"/>
                </a:solidFill>
                <a:latin typeface="Public Sans" pitchFamily="34" charset="0"/>
                <a:ea typeface="Public Sans" pitchFamily="34" charset="-122"/>
                <a:cs typeface="Public Sans" pitchFamily="34" charset="-120"/>
              </a:rPr>
              <a:t>Licensing footprint</a:t>
            </a:r>
            <a:endParaRPr lang="en-US" sz="1425" dirty="0"/>
          </a:p>
        </p:txBody>
      </p:sp>
      <p:sp>
        <p:nvSpPr>
          <p:cNvPr id="92" name="Shape 90"/>
          <p:cNvSpPr/>
          <p:nvPr/>
        </p:nvSpPr>
        <p:spPr>
          <a:xfrm>
            <a:off x="4017134" y="8008879"/>
            <a:ext cx="2589084" cy="971935"/>
          </a:xfrm>
          <a:prstGeom prst="roundRect">
            <a:avLst>
              <a:gd name="adj" fmla="val 9800"/>
            </a:avLst>
          </a:prstGeom>
          <a:solidFill>
            <a:srgbClr val="FFFFFF"/>
          </a:solidFill>
          <a:ln w="11206">
            <a:solidFill>
              <a:srgbClr val="E4E9EF"/>
            </a:solidFill>
            <a:prstDash val="solid"/>
          </a:ln>
        </p:spPr>
      </p:sp>
      <p:sp>
        <p:nvSpPr>
          <p:cNvPr id="93" name="Text 91"/>
          <p:cNvSpPr/>
          <p:nvPr/>
        </p:nvSpPr>
        <p:spPr>
          <a:xfrm>
            <a:off x="5208109" y="8266789"/>
            <a:ext cx="283334" cy="318247"/>
          </a:xfrm>
          <a:prstGeom prst="rect">
            <a:avLst/>
          </a:prstGeom>
          <a:noFill/>
          <a:ln/>
        </p:spPr>
        <p:txBody>
          <a:bodyPr wrap="square" lIns="25400" tIns="25400" rIns="25400" bIns="25400" rtlCol="0" anchor="t">
            <a:normAutofit/>
          </a:bodyPr>
          <a:lstStyle/>
          <a:p>
            <a:pPr algn="l" indent="0" marL="0">
              <a:buNone/>
            </a:pPr>
            <a:r>
              <a:rPr lang="en-US" sz="1800" b="1" dirty="0">
                <a:solidFill>
                  <a:srgbClr val="107C41"/>
                </a:solidFill>
                <a:latin typeface="Public Sans" pitchFamily="34" charset="0"/>
                <a:ea typeface="Public Sans" pitchFamily="34" charset="-122"/>
                <a:cs typeface="Public Sans" pitchFamily="34" charset="-120"/>
              </a:rPr>
              <a:t>✓</a:t>
            </a:r>
            <a:endParaRPr lang="en-US" sz="1800" dirty="0"/>
          </a:p>
        </p:txBody>
      </p:sp>
      <p:sp>
        <p:nvSpPr>
          <p:cNvPr id="94" name="Text 92"/>
          <p:cNvSpPr/>
          <p:nvPr/>
        </p:nvSpPr>
        <p:spPr>
          <a:xfrm>
            <a:off x="4763270" y="8565846"/>
            <a:ext cx="1096636" cy="194982"/>
          </a:xfrm>
          <a:prstGeom prst="rect">
            <a:avLst/>
          </a:prstGeom>
          <a:noFill/>
          <a:ln/>
        </p:spPr>
        <p:txBody>
          <a:bodyPr wrap="square" lIns="25400" tIns="25400" rIns="25400" bIns="25400" rtlCol="0" anchor="t">
            <a:normAutofit/>
          </a:bodyPr>
          <a:lstStyle/>
          <a:p>
            <a:pPr algn="ctr" indent="0" marL="0">
              <a:lnSpc>
                <a:spcPct val="102000"/>
              </a:lnSpc>
              <a:buNone/>
            </a:pPr>
            <a:r>
              <a:rPr lang="en-US" sz="1050" dirty="0">
                <a:solidFill>
                  <a:srgbClr val="5B6675"/>
                </a:solidFill>
                <a:latin typeface="Public Sans" pitchFamily="34" charset="0"/>
                <a:ea typeface="Public Sans" pitchFamily="34" charset="-122"/>
                <a:cs typeface="Public Sans" pitchFamily="34" charset="-120"/>
              </a:rPr>
              <a:t>In Microsoft 365</a:t>
            </a:r>
            <a:endParaRPr lang="en-US" sz="1050" dirty="0"/>
          </a:p>
        </p:txBody>
      </p:sp>
      <p:sp>
        <p:nvSpPr>
          <p:cNvPr id="95" name="Shape 93"/>
          <p:cNvSpPr/>
          <p:nvPr/>
        </p:nvSpPr>
        <p:spPr>
          <a:xfrm>
            <a:off x="6701468" y="8008879"/>
            <a:ext cx="2589084" cy="971935"/>
          </a:xfrm>
          <a:prstGeom prst="roundRect">
            <a:avLst>
              <a:gd name="adj" fmla="val 9800"/>
            </a:avLst>
          </a:prstGeom>
          <a:solidFill>
            <a:srgbClr val="FFFFFF"/>
          </a:solidFill>
          <a:ln w="11206">
            <a:solidFill>
              <a:srgbClr val="E4E9EF"/>
            </a:solidFill>
            <a:prstDash val="solid"/>
          </a:ln>
        </p:spPr>
      </p:sp>
      <p:sp>
        <p:nvSpPr>
          <p:cNvPr id="96" name="Text 94"/>
          <p:cNvSpPr/>
          <p:nvPr/>
        </p:nvSpPr>
        <p:spPr>
          <a:xfrm>
            <a:off x="7892443" y="8266789"/>
            <a:ext cx="283334" cy="318247"/>
          </a:xfrm>
          <a:prstGeom prst="rect">
            <a:avLst/>
          </a:prstGeom>
          <a:noFill/>
          <a:ln/>
        </p:spPr>
        <p:txBody>
          <a:bodyPr wrap="square" lIns="25400" tIns="25400" rIns="25400" bIns="25400" rtlCol="0" anchor="t">
            <a:normAutofit/>
          </a:bodyPr>
          <a:lstStyle/>
          <a:p>
            <a:pPr algn="l" indent="0" marL="0">
              <a:buNone/>
            </a:pPr>
            <a:r>
              <a:rPr lang="en-US" sz="1800" b="1" dirty="0">
                <a:solidFill>
                  <a:srgbClr val="107C41"/>
                </a:solidFill>
                <a:latin typeface="Public Sans" pitchFamily="34" charset="0"/>
                <a:ea typeface="Public Sans" pitchFamily="34" charset="-122"/>
                <a:cs typeface="Public Sans" pitchFamily="34" charset="-120"/>
              </a:rPr>
              <a:t>✓</a:t>
            </a:r>
            <a:endParaRPr lang="en-US" sz="1800" dirty="0"/>
          </a:p>
        </p:txBody>
      </p:sp>
      <p:sp>
        <p:nvSpPr>
          <p:cNvPr id="97" name="Text 95"/>
          <p:cNvSpPr/>
          <p:nvPr/>
        </p:nvSpPr>
        <p:spPr>
          <a:xfrm>
            <a:off x="7447604" y="8565846"/>
            <a:ext cx="1096636" cy="194982"/>
          </a:xfrm>
          <a:prstGeom prst="rect">
            <a:avLst/>
          </a:prstGeom>
          <a:noFill/>
          <a:ln/>
        </p:spPr>
        <p:txBody>
          <a:bodyPr wrap="square" lIns="25400" tIns="25400" rIns="25400" bIns="25400" rtlCol="0" anchor="t">
            <a:normAutofit/>
          </a:bodyPr>
          <a:lstStyle/>
          <a:p>
            <a:pPr algn="ctr" indent="0" marL="0">
              <a:lnSpc>
                <a:spcPct val="102000"/>
              </a:lnSpc>
              <a:buNone/>
            </a:pPr>
            <a:r>
              <a:rPr lang="en-US" sz="1050" dirty="0">
                <a:solidFill>
                  <a:srgbClr val="5B6675"/>
                </a:solidFill>
                <a:latin typeface="Public Sans" pitchFamily="34" charset="0"/>
                <a:ea typeface="Public Sans" pitchFamily="34" charset="-122"/>
                <a:cs typeface="Public Sans" pitchFamily="34" charset="-120"/>
              </a:rPr>
              <a:t>In Microsoft 365</a:t>
            </a:r>
            <a:endParaRPr lang="en-US" sz="1050" dirty="0"/>
          </a:p>
        </p:txBody>
      </p:sp>
      <p:sp>
        <p:nvSpPr>
          <p:cNvPr id="98" name="Shape 96"/>
          <p:cNvSpPr/>
          <p:nvPr/>
        </p:nvSpPr>
        <p:spPr>
          <a:xfrm>
            <a:off x="9385802" y="8008879"/>
            <a:ext cx="2588909" cy="971935"/>
          </a:xfrm>
          <a:prstGeom prst="roundRect">
            <a:avLst>
              <a:gd name="adj" fmla="val 9800"/>
            </a:avLst>
          </a:prstGeom>
          <a:solidFill>
            <a:srgbClr val="FFFFFF"/>
          </a:solidFill>
          <a:ln w="11206">
            <a:solidFill>
              <a:srgbClr val="E4E9EF"/>
            </a:solidFill>
            <a:prstDash val="solid"/>
          </a:ln>
        </p:spPr>
      </p:sp>
      <p:sp>
        <p:nvSpPr>
          <p:cNvPr id="99" name="Text 97"/>
          <p:cNvSpPr/>
          <p:nvPr/>
        </p:nvSpPr>
        <p:spPr>
          <a:xfrm>
            <a:off x="10611270" y="8272392"/>
            <a:ext cx="213997" cy="307041"/>
          </a:xfrm>
          <a:prstGeom prst="rect">
            <a:avLst/>
          </a:prstGeom>
          <a:noFill/>
          <a:ln/>
        </p:spPr>
        <p:txBody>
          <a:bodyPr wrap="square" lIns="25400" tIns="25400" rIns="25400" bIns="25400" rtlCol="0" anchor="t">
            <a:normAutofit/>
          </a:bodyPr>
          <a:lstStyle/>
          <a:p>
            <a:pPr algn="l" indent="0" marL="0">
              <a:buNone/>
            </a:pPr>
            <a:r>
              <a:rPr lang="en-US" sz="1800" b="1" dirty="0">
                <a:solidFill>
                  <a:srgbClr val="B42318"/>
                </a:solidFill>
                <a:latin typeface="Public Sans" pitchFamily="34" charset="0"/>
                <a:ea typeface="Public Sans" pitchFamily="34" charset="-122"/>
                <a:cs typeface="Public Sans" pitchFamily="34" charset="-120"/>
              </a:rPr>
              <a:t>✕</a:t>
            </a:r>
            <a:endParaRPr lang="en-US" sz="1800" dirty="0"/>
          </a:p>
        </p:txBody>
      </p:sp>
      <p:sp>
        <p:nvSpPr>
          <p:cNvPr id="100" name="Text 98"/>
          <p:cNvSpPr/>
          <p:nvPr/>
        </p:nvSpPr>
        <p:spPr>
          <a:xfrm>
            <a:off x="10097795" y="8560243"/>
            <a:ext cx="1164746" cy="194982"/>
          </a:xfrm>
          <a:prstGeom prst="rect">
            <a:avLst/>
          </a:prstGeom>
          <a:noFill/>
          <a:ln/>
        </p:spPr>
        <p:txBody>
          <a:bodyPr wrap="square" lIns="25400" tIns="25400" rIns="25400" bIns="25400" rtlCol="0" anchor="t">
            <a:normAutofit/>
          </a:bodyPr>
          <a:lstStyle/>
          <a:p>
            <a:pPr algn="ctr" indent="0" marL="0">
              <a:lnSpc>
                <a:spcPct val="102000"/>
              </a:lnSpc>
              <a:buNone/>
            </a:pPr>
            <a:r>
              <a:rPr lang="en-US" sz="1050" dirty="0">
                <a:solidFill>
                  <a:srgbClr val="5B6675"/>
                </a:solidFill>
                <a:latin typeface="Public Sans" pitchFamily="34" charset="0"/>
                <a:ea typeface="Public Sans" pitchFamily="34" charset="-122"/>
                <a:cs typeface="Public Sans" pitchFamily="34" charset="-120"/>
              </a:rPr>
              <a:t>Capacity licences</a:t>
            </a:r>
            <a:endParaRPr lang="en-US" sz="1050" dirty="0"/>
          </a:p>
        </p:txBody>
      </p:sp>
      <p:sp>
        <p:nvSpPr>
          <p:cNvPr id="101" name="Shape 99"/>
          <p:cNvSpPr/>
          <p:nvPr/>
        </p:nvSpPr>
        <p:spPr>
          <a:xfrm>
            <a:off x="12069960" y="8008879"/>
            <a:ext cx="2589084" cy="971935"/>
          </a:xfrm>
          <a:prstGeom prst="roundRect">
            <a:avLst>
              <a:gd name="adj" fmla="val 9800"/>
            </a:avLst>
          </a:prstGeom>
          <a:solidFill>
            <a:srgbClr val="F5F9FD"/>
          </a:solidFill>
          <a:ln w="11206">
            <a:solidFill>
              <a:srgbClr val="D8E7F5"/>
            </a:solidFill>
            <a:prstDash val="solid"/>
          </a:ln>
        </p:spPr>
      </p:sp>
      <p:sp>
        <p:nvSpPr>
          <p:cNvPr id="102" name="Text 100"/>
          <p:cNvSpPr/>
          <p:nvPr/>
        </p:nvSpPr>
        <p:spPr>
          <a:xfrm>
            <a:off x="13260935" y="8266789"/>
            <a:ext cx="283334" cy="318247"/>
          </a:xfrm>
          <a:prstGeom prst="rect">
            <a:avLst/>
          </a:prstGeom>
          <a:noFill/>
          <a:ln/>
        </p:spPr>
        <p:txBody>
          <a:bodyPr wrap="square" lIns="25400" tIns="25400" rIns="25400" bIns="25400" rtlCol="0" anchor="t">
            <a:normAutofit/>
          </a:bodyPr>
          <a:lstStyle/>
          <a:p>
            <a:pPr algn="l" indent="0" marL="0">
              <a:buNone/>
            </a:pPr>
            <a:r>
              <a:rPr lang="en-US" sz="1800" b="1" dirty="0">
                <a:solidFill>
                  <a:srgbClr val="107C41"/>
                </a:solidFill>
                <a:latin typeface="Public Sans" pitchFamily="34" charset="0"/>
                <a:ea typeface="Public Sans" pitchFamily="34" charset="-122"/>
                <a:cs typeface="Public Sans" pitchFamily="34" charset="-120"/>
              </a:rPr>
              <a:t>✓</a:t>
            </a:r>
            <a:endParaRPr lang="en-US" sz="1800" dirty="0"/>
          </a:p>
        </p:txBody>
      </p:sp>
      <p:sp>
        <p:nvSpPr>
          <p:cNvPr id="103" name="Text 101"/>
          <p:cNvSpPr/>
          <p:nvPr/>
        </p:nvSpPr>
        <p:spPr>
          <a:xfrm>
            <a:off x="12862672" y="8565846"/>
            <a:ext cx="1003487" cy="194982"/>
          </a:xfrm>
          <a:prstGeom prst="rect">
            <a:avLst/>
          </a:prstGeom>
          <a:noFill/>
          <a:ln/>
        </p:spPr>
        <p:txBody>
          <a:bodyPr wrap="square" lIns="25400" tIns="25400" rIns="25400" bIns="25400" rtlCol="0" anchor="t">
            <a:normAutofit/>
          </a:bodyPr>
          <a:lstStyle/>
          <a:p>
            <a:pPr algn="ctr" indent="0" marL="0">
              <a:lnSpc>
                <a:spcPct val="102000"/>
              </a:lnSpc>
              <a:buNone/>
            </a:pPr>
            <a:r>
              <a:rPr lang="en-US" sz="1050" dirty="0">
                <a:solidFill>
                  <a:srgbClr val="5B6675"/>
                </a:solidFill>
                <a:latin typeface="Public Sans" pitchFamily="34" charset="0"/>
                <a:ea typeface="Public Sans" pitchFamily="34" charset="-122"/>
                <a:cs typeface="Public Sans" pitchFamily="34" charset="-120"/>
              </a:rPr>
              <a:t>Already owned</a:t>
            </a:r>
            <a:endParaRPr lang="en-US" sz="1050" dirty="0"/>
          </a:p>
        </p:txBody>
      </p:sp>
      <p:sp>
        <p:nvSpPr>
          <p:cNvPr id="104" name="Shape 102"/>
          <p:cNvSpPr/>
          <p:nvPr/>
        </p:nvSpPr>
        <p:spPr>
          <a:xfrm>
            <a:off x="14754294" y="8008879"/>
            <a:ext cx="2848045" cy="971935"/>
          </a:xfrm>
          <a:prstGeom prst="roundRect">
            <a:avLst>
              <a:gd name="adj" fmla="val 9800"/>
            </a:avLst>
          </a:prstGeom>
          <a:solidFill>
            <a:srgbClr val="F0F6F2"/>
          </a:solidFill>
          <a:ln w="11206">
            <a:solidFill>
              <a:srgbClr val="BCD8C9"/>
            </a:solidFill>
            <a:prstDash val="solid"/>
          </a:ln>
        </p:spPr>
      </p:sp>
      <p:sp>
        <p:nvSpPr>
          <p:cNvPr id="105" name="Text 103"/>
          <p:cNvSpPr/>
          <p:nvPr/>
        </p:nvSpPr>
        <p:spPr>
          <a:xfrm>
            <a:off x="16079389" y="8272392"/>
            <a:ext cx="274054" cy="307041"/>
          </a:xfrm>
          <a:prstGeom prst="rect">
            <a:avLst/>
          </a:prstGeom>
          <a:noFill/>
          <a:ln/>
        </p:spPr>
        <p:txBody>
          <a:bodyPr wrap="square" lIns="25400" tIns="25400" rIns="25400" bIns="25400" rtlCol="0" anchor="t">
            <a:normAutofit/>
          </a:bodyPr>
          <a:lstStyle/>
          <a:p>
            <a:pPr algn="l" indent="0" marL="0">
              <a:buNone/>
            </a:pPr>
            <a:r>
              <a:rPr lang="en-US" sz="1800" b="1" dirty="0">
                <a:solidFill>
                  <a:srgbClr val="B4690E"/>
                </a:solidFill>
                <a:latin typeface="Public Sans" pitchFamily="34" charset="0"/>
                <a:ea typeface="Public Sans" pitchFamily="34" charset="-122"/>
                <a:cs typeface="Public Sans" pitchFamily="34" charset="-120"/>
              </a:rPr>
              <a:t>◐</a:t>
            </a:r>
            <a:endParaRPr lang="en-US" sz="1800" dirty="0"/>
          </a:p>
        </p:txBody>
      </p:sp>
      <p:sp>
        <p:nvSpPr>
          <p:cNvPr id="106" name="Text 104"/>
          <p:cNvSpPr/>
          <p:nvPr/>
        </p:nvSpPr>
        <p:spPr>
          <a:xfrm>
            <a:off x="15357451" y="8560243"/>
            <a:ext cx="1641732" cy="194982"/>
          </a:xfrm>
          <a:prstGeom prst="rect">
            <a:avLst/>
          </a:prstGeom>
          <a:noFill/>
          <a:ln/>
        </p:spPr>
        <p:txBody>
          <a:bodyPr wrap="square" lIns="25400" tIns="25400" rIns="25400" bIns="25400" rtlCol="0" anchor="t">
            <a:normAutofit/>
          </a:bodyPr>
          <a:lstStyle/>
          <a:p>
            <a:pPr algn="ctr" indent="0" marL="0">
              <a:lnSpc>
                <a:spcPct val="102000"/>
              </a:lnSpc>
              <a:buNone/>
            </a:pPr>
            <a:r>
              <a:rPr lang="en-US" sz="1050" dirty="0">
                <a:solidFill>
                  <a:srgbClr val="5B6675"/>
                </a:solidFill>
                <a:latin typeface="Public Sans" pitchFamily="34" charset="0"/>
                <a:ea typeface="Public Sans" pitchFamily="34" charset="-122"/>
                <a:cs typeface="Public Sans" pitchFamily="34" charset="-120"/>
              </a:rPr>
              <a:t>Premium — RM/EA only</a:t>
            </a:r>
            <a:endParaRPr lang="en-US" sz="1050" dirty="0"/>
          </a:p>
        </p:txBody>
      </p:sp>
      <p:sp>
        <p:nvSpPr>
          <p:cNvPr id="107" name="Shape 105"/>
          <p:cNvSpPr/>
          <p:nvPr/>
        </p:nvSpPr>
        <p:spPr>
          <a:xfrm>
            <a:off x="685660" y="9153279"/>
            <a:ext cx="16916679" cy="714725"/>
          </a:xfrm>
          <a:prstGeom prst="roundRect">
            <a:avLst>
              <a:gd name="adj" fmla="val 13327"/>
            </a:avLst>
          </a:prstGeom>
          <a:solidFill>
            <a:srgbClr val="F0F6F2"/>
          </a:solidFill>
          <a:ln w="11206">
            <a:solidFill>
              <a:srgbClr val="BCD8C9"/>
            </a:solidFill>
            <a:prstDash val="solid"/>
          </a:ln>
        </p:spPr>
      </p:sp>
      <p:sp>
        <p:nvSpPr>
          <p:cNvPr id="108" name="Text 106"/>
          <p:cNvSpPr/>
          <p:nvPr/>
        </p:nvSpPr>
        <p:spPr>
          <a:xfrm>
            <a:off x="887366" y="9297835"/>
            <a:ext cx="17020768" cy="463713"/>
          </a:xfrm>
          <a:prstGeom prst="rect">
            <a:avLst/>
          </a:prstGeom>
          <a:noFill/>
          <a:ln/>
        </p:spPr>
        <p:txBody>
          <a:bodyPr wrap="square" lIns="25400" tIns="25400" rIns="25400" bIns="25400" rtlCol="0" anchor="t">
            <a:normAutofit/>
          </a:bodyPr>
          <a:lstStyle/>
          <a:p>
            <a:pPr algn="l" indent="0" marL="0">
              <a:buNone/>
            </a:pPr>
            <a:r>
              <a:rPr lang="en-US" sz="1425" b="1" dirty="0">
                <a:solidFill>
                  <a:srgbClr val="1C5C43"/>
                </a:solidFill>
                <a:latin typeface="Public Sans" pitchFamily="34" charset="0"/>
                <a:ea typeface="Public Sans" pitchFamily="34" charset="-122"/>
                <a:cs typeface="Public Sans" pitchFamily="34" charset="-120"/>
              </a:rPr>
              <a:t>Verdict </a:t>
            </a:r>
            <a:pPr algn="l" indent="0" marL="0">
              <a:buNone/>
            </a:pPr>
            <a:r>
              <a:rPr lang="en-US" sz="1425" dirty="0">
                <a:solidFill>
                  <a:srgbClr val="1C5C43"/>
                </a:solidFill>
                <a:highlight>
                  <a:srgbClr val="F0F6F2"/>
                </a:highlight>
                <a:latin typeface="Public Sans" pitchFamily="34" charset="0"/>
                <a:ea typeface="Public Sans" pitchFamily="34" charset="-122"/>
                <a:cs typeface="Public Sans" pitchFamily="34" charset="-120"/>
              </a:rPr>
              <a:t>— native + Copilot is now a serious contender: it clears five of six criteria at some level, for nothing. The build is only justified by the two it cannot do — the CRM-driven partner rule and enforced rooms — plus case-level audit. If those are worth less than the build, we should not build.</a:t>
            </a:r>
            <a:endParaRPr lang="en-US" sz="142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660" y="533330"/>
            <a:ext cx="18608347" cy="307041"/>
          </a:xfrm>
          <a:prstGeom prst="rect">
            <a:avLst/>
          </a:prstGeom>
          <a:noFill/>
          <a:ln/>
        </p:spPr>
        <p:txBody>
          <a:bodyPr wrap="square" lIns="25400" tIns="25400" rIns="25400" bIns="25400" rtlCol="0" anchor="t">
            <a:normAutofit/>
          </a:bodyPr>
          <a:lstStyle/>
          <a:p>
            <a:pPr algn="l" indent="0" marL="0">
              <a:buNone/>
            </a:pPr>
            <a:r>
              <a:rPr lang="en-US" sz="1650" b="1" spc="198" kern="0" dirty="0">
                <a:solidFill>
                  <a:srgbClr val="1C5C43"/>
                </a:solidFill>
                <a:latin typeface="IBM Plex Mono" pitchFamily="34" charset="0"/>
                <a:ea typeface="IBM Plex Mono" pitchFamily="34" charset="-122"/>
                <a:cs typeface="IBM Plex Mono" pitchFamily="34" charset="-120"/>
              </a:rPr>
              <a:t>05 · SOLUTION ARCHITECTURE</a:t>
            </a:r>
            <a:endParaRPr lang="en-US" sz="1650" dirty="0"/>
          </a:p>
        </p:txBody>
      </p:sp>
      <p:sp>
        <p:nvSpPr>
          <p:cNvPr id="3" name="Text 1"/>
          <p:cNvSpPr/>
          <p:nvPr/>
        </p:nvSpPr>
        <p:spPr>
          <a:xfrm>
            <a:off x="685660" y="897521"/>
            <a:ext cx="18608347" cy="531159"/>
          </a:xfrm>
          <a:prstGeom prst="rect">
            <a:avLst/>
          </a:prstGeom>
          <a:noFill/>
          <a:ln/>
        </p:spPr>
        <p:txBody>
          <a:bodyPr wrap="square" lIns="25400" tIns="25400" rIns="25400" bIns="25400" rtlCol="0" anchor="t">
            <a:normAutofit/>
          </a:bodyPr>
          <a:lstStyle/>
          <a:p>
            <a:pPr algn="l" indent="0" marL="0">
              <a:buNone/>
            </a:pPr>
            <a:r>
              <a:rPr lang="en-US" sz="3300" b="1" spc="-33" kern="0" dirty="0">
                <a:solidFill>
                  <a:srgbClr val="0D2E22"/>
                </a:solidFill>
                <a:latin typeface="Public Sans" pitchFamily="34" charset="0"/>
                <a:ea typeface="Public Sans" pitchFamily="34" charset="-122"/>
                <a:cs typeface="Public Sans" pitchFamily="34" charset="-120"/>
              </a:rPr>
              <a:t>High-level logical architecture</a:t>
            </a:r>
            <a:endParaRPr lang="en-US" sz="3300" dirty="0"/>
          </a:p>
        </p:txBody>
      </p:sp>
      <p:sp>
        <p:nvSpPr>
          <p:cNvPr id="4" name="Shape 2"/>
          <p:cNvSpPr/>
          <p:nvPr/>
        </p:nvSpPr>
        <p:spPr>
          <a:xfrm>
            <a:off x="685660" y="1638160"/>
            <a:ext cx="14859349" cy="1301633"/>
          </a:xfrm>
          <a:prstGeom prst="roundRect">
            <a:avLst>
              <a:gd name="adj" fmla="val 8781"/>
            </a:avLst>
          </a:prstGeom>
          <a:solidFill>
            <a:srgbClr val="F4F7FA"/>
          </a:solidFill>
          <a:ln w="11206">
            <a:solidFill>
              <a:srgbClr val="E0E6ED"/>
            </a:solidFill>
            <a:prstDash val="solid"/>
          </a:ln>
        </p:spPr>
      </p:sp>
      <p:sp>
        <p:nvSpPr>
          <p:cNvPr id="5" name="Text 3"/>
          <p:cNvSpPr/>
          <p:nvPr/>
        </p:nvSpPr>
        <p:spPr>
          <a:xfrm>
            <a:off x="887366" y="1801696"/>
            <a:ext cx="15901531" cy="228600"/>
          </a:xfrm>
          <a:prstGeom prst="rect">
            <a:avLst/>
          </a:prstGeom>
          <a:noFill/>
          <a:ln/>
        </p:spPr>
        <p:txBody>
          <a:bodyPr wrap="square" lIns="25400" tIns="25400" rIns="25400" bIns="25400" rtlCol="0" anchor="t">
            <a:normAutofit/>
          </a:bodyPr>
          <a:lstStyle/>
          <a:p>
            <a:pPr algn="l" indent="0" marL="0">
              <a:buNone/>
            </a:pPr>
            <a:r>
              <a:rPr lang="en-US" sz="1125" b="1" spc="56" kern="0" dirty="0">
                <a:solidFill>
                  <a:srgbClr val="8996A6"/>
                </a:solidFill>
                <a:latin typeface="IBM Plex Mono" pitchFamily="34" charset="0"/>
                <a:ea typeface="IBM Plex Mono" pitchFamily="34" charset="-122"/>
                <a:cs typeface="IBM Plex Mono" pitchFamily="34" charset="-120"/>
              </a:rPr>
              <a:t>EXPERIENCE LAYER</a:t>
            </a:r>
            <a:endParaRPr lang="en-US" sz="1125" dirty="0"/>
          </a:p>
        </p:txBody>
      </p:sp>
      <p:sp>
        <p:nvSpPr>
          <p:cNvPr id="6" name="Shape 4"/>
          <p:cNvSpPr/>
          <p:nvPr/>
        </p:nvSpPr>
        <p:spPr>
          <a:xfrm>
            <a:off x="887366" y="2106356"/>
            <a:ext cx="7170889" cy="669902"/>
          </a:xfrm>
          <a:prstGeom prst="roundRect">
            <a:avLst>
              <a:gd name="adj" fmla="val 14218"/>
            </a:avLst>
          </a:prstGeom>
          <a:solidFill>
            <a:srgbClr val="FFFFFF"/>
          </a:solidFill>
          <a:ln w="11206">
            <a:solidFill>
              <a:srgbClr val="DBE2EA"/>
            </a:solidFill>
            <a:prstDash val="solid"/>
          </a:ln>
        </p:spPr>
      </p:sp>
      <p:sp>
        <p:nvSpPr>
          <p:cNvPr id="7" name="Shape 5"/>
          <p:cNvSpPr/>
          <p:nvPr/>
        </p:nvSpPr>
        <p:spPr>
          <a:xfrm>
            <a:off x="1050902" y="2269891"/>
            <a:ext cx="342830" cy="342830"/>
          </a:xfrm>
          <a:prstGeom prst="roundRect">
            <a:avLst>
              <a:gd name="adj" fmla="val 22227"/>
            </a:avLst>
          </a:prstGeom>
          <a:solidFill>
            <a:srgbClr val="742774"/>
          </a:solidFill>
          <a:ln/>
        </p:spPr>
      </p:sp>
      <p:sp>
        <p:nvSpPr>
          <p:cNvPr id="8" name="Text 6"/>
          <p:cNvSpPr/>
          <p:nvPr/>
        </p:nvSpPr>
        <p:spPr>
          <a:xfrm>
            <a:off x="1012802" y="2269891"/>
            <a:ext cx="419030" cy="380930"/>
          </a:xfrm>
          <a:prstGeom prst="rect">
            <a:avLst/>
          </a:prstGeom>
          <a:noFill/>
          <a:ln/>
        </p:spPr>
        <p:txBody>
          <a:bodyPr wrap="square" lIns="25400" tIns="25400" rIns="25400" bIns="25400" rtlCol="0" anchor="ctr">
            <a:normAutofit/>
          </a:bodyPr>
          <a:lstStyle/>
          <a:p>
            <a:pPr algn="ctr" indent="0" marL="0">
              <a:buNone/>
            </a:pPr>
            <a:r>
              <a:rPr lang="en-US" sz="1050" b="1" dirty="0">
                <a:solidFill>
                  <a:srgbClr val="FFFFFF"/>
                </a:solidFill>
                <a:latin typeface="IBM Plex Mono" pitchFamily="34" charset="0"/>
                <a:ea typeface="IBM Plex Mono" pitchFamily="34" charset="-122"/>
                <a:cs typeface="IBM Plex Mono" pitchFamily="34" charset="-120"/>
              </a:rPr>
              <a:t>Ap</a:t>
            </a:r>
            <a:endParaRPr lang="en-US" sz="1050" dirty="0"/>
          </a:p>
        </p:txBody>
      </p:sp>
      <p:sp>
        <p:nvSpPr>
          <p:cNvPr id="9" name="Text 7"/>
          <p:cNvSpPr/>
          <p:nvPr/>
        </p:nvSpPr>
        <p:spPr>
          <a:xfrm>
            <a:off x="1507891" y="2250806"/>
            <a:ext cx="2032712" cy="251012"/>
          </a:xfrm>
          <a:prstGeom prst="rect">
            <a:avLst/>
          </a:prstGeom>
          <a:noFill/>
          <a:ln/>
        </p:spPr>
        <p:txBody>
          <a:bodyPr wrap="square" lIns="25400" tIns="25400" rIns="25400" bIns="25400" rtlCol="0" anchor="t">
            <a:normAutofit/>
          </a:bodyPr>
          <a:lstStyle/>
          <a:p>
            <a:pPr algn="l" indent="0" marL="0">
              <a:buNone/>
            </a:pPr>
            <a:r>
              <a:rPr lang="en-US" sz="1425" b="1" dirty="0">
                <a:solidFill>
                  <a:srgbClr val="0D2E22"/>
                </a:solidFill>
                <a:latin typeface="Public Sans" pitchFamily="34" charset="0"/>
                <a:ea typeface="Public Sans" pitchFamily="34" charset="-122"/>
                <a:cs typeface="Public Sans" pitchFamily="34" charset="-120"/>
              </a:rPr>
              <a:t>Power Apps CodeApp</a:t>
            </a:r>
            <a:endParaRPr lang="en-US" sz="1425" dirty="0"/>
          </a:p>
        </p:txBody>
      </p:sp>
      <p:sp>
        <p:nvSpPr>
          <p:cNvPr id="10" name="Text 8"/>
          <p:cNvSpPr/>
          <p:nvPr/>
        </p:nvSpPr>
        <p:spPr>
          <a:xfrm>
            <a:off x="1507891" y="2463718"/>
            <a:ext cx="2032712" cy="206188"/>
          </a:xfrm>
          <a:prstGeom prst="rect">
            <a:avLst/>
          </a:prstGeom>
          <a:noFill/>
          <a:ln/>
        </p:spPr>
        <p:txBody>
          <a:bodyPr wrap="square" lIns="25400" tIns="25400" rIns="25400" bIns="25400" rtlCol="0" anchor="t">
            <a:normAutofit/>
          </a:bodyPr>
          <a:lstStyle/>
          <a:p>
            <a:pPr algn="l" indent="0" marL="0">
              <a:buNone/>
            </a:pPr>
            <a:r>
              <a:rPr lang="en-US" sz="1125" dirty="0">
                <a:solidFill>
                  <a:srgbClr val="5B6675"/>
                </a:solidFill>
                <a:latin typeface="Public Sans" pitchFamily="34" charset="0"/>
                <a:ea typeface="Public Sans" pitchFamily="34" charset="-122"/>
                <a:cs typeface="Public Sans" pitchFamily="34" charset="-120"/>
              </a:rPr>
              <a:t>RM experience (React/TS)</a:t>
            </a:r>
            <a:endParaRPr lang="en-US" sz="1125" dirty="0"/>
          </a:p>
        </p:txBody>
      </p:sp>
      <p:sp>
        <p:nvSpPr>
          <p:cNvPr id="11" name="Shape 9"/>
          <p:cNvSpPr/>
          <p:nvPr/>
        </p:nvSpPr>
        <p:spPr>
          <a:xfrm>
            <a:off x="8172415" y="2106356"/>
            <a:ext cx="7170889" cy="669902"/>
          </a:xfrm>
          <a:prstGeom prst="roundRect">
            <a:avLst>
              <a:gd name="adj" fmla="val 14218"/>
            </a:avLst>
          </a:prstGeom>
          <a:solidFill>
            <a:srgbClr val="FFFFFF"/>
          </a:solidFill>
          <a:ln w="11206">
            <a:solidFill>
              <a:srgbClr val="DBE2EA"/>
            </a:solidFill>
            <a:prstDash val="solid"/>
          </a:ln>
        </p:spPr>
      </p:sp>
      <p:sp>
        <p:nvSpPr>
          <p:cNvPr id="12" name="Shape 10"/>
          <p:cNvSpPr/>
          <p:nvPr/>
        </p:nvSpPr>
        <p:spPr>
          <a:xfrm>
            <a:off x="8335950" y="2269891"/>
            <a:ext cx="342830" cy="342830"/>
          </a:xfrm>
          <a:prstGeom prst="roundRect">
            <a:avLst>
              <a:gd name="adj" fmla="val 22227"/>
            </a:avLst>
          </a:prstGeom>
          <a:solidFill>
            <a:srgbClr val="742774"/>
          </a:solidFill>
          <a:ln/>
        </p:spPr>
      </p:sp>
      <p:sp>
        <p:nvSpPr>
          <p:cNvPr id="13" name="Text 11"/>
          <p:cNvSpPr/>
          <p:nvPr/>
        </p:nvSpPr>
        <p:spPr>
          <a:xfrm>
            <a:off x="8297850" y="2269891"/>
            <a:ext cx="419030" cy="380930"/>
          </a:xfrm>
          <a:prstGeom prst="rect">
            <a:avLst/>
          </a:prstGeom>
          <a:noFill/>
          <a:ln/>
        </p:spPr>
        <p:txBody>
          <a:bodyPr wrap="square" lIns="25400" tIns="25400" rIns="25400" bIns="25400" rtlCol="0" anchor="ctr">
            <a:normAutofit/>
          </a:bodyPr>
          <a:lstStyle/>
          <a:p>
            <a:pPr algn="ctr" indent="0" marL="0">
              <a:buNone/>
            </a:pPr>
            <a:r>
              <a:rPr lang="en-US" sz="900" b="1" dirty="0">
                <a:solidFill>
                  <a:srgbClr val="FFFFFF"/>
                </a:solidFill>
                <a:latin typeface="IBM Plex Mono" pitchFamily="34" charset="0"/>
                <a:ea typeface="IBM Plex Mono" pitchFamily="34" charset="-122"/>
                <a:cs typeface="IBM Plex Mono" pitchFamily="34" charset="-120"/>
              </a:rPr>
              <a:t>Web</a:t>
            </a:r>
            <a:endParaRPr lang="en-US" sz="900" dirty="0"/>
          </a:p>
        </p:txBody>
      </p:sp>
      <p:sp>
        <p:nvSpPr>
          <p:cNvPr id="14" name="Text 12"/>
          <p:cNvSpPr/>
          <p:nvPr/>
        </p:nvSpPr>
        <p:spPr>
          <a:xfrm>
            <a:off x="8792940" y="2250806"/>
            <a:ext cx="2560632" cy="251012"/>
          </a:xfrm>
          <a:prstGeom prst="rect">
            <a:avLst/>
          </a:prstGeom>
          <a:noFill/>
          <a:ln/>
        </p:spPr>
        <p:txBody>
          <a:bodyPr wrap="square" lIns="25400" tIns="25400" rIns="25400" bIns="25400" rtlCol="0" anchor="t">
            <a:normAutofit/>
          </a:bodyPr>
          <a:lstStyle/>
          <a:p>
            <a:pPr algn="l" indent="0" marL="0">
              <a:buNone/>
            </a:pPr>
            <a:r>
              <a:rPr lang="en-US" sz="1425" b="1" dirty="0">
                <a:solidFill>
                  <a:srgbClr val="0D2E22"/>
                </a:solidFill>
                <a:latin typeface="Public Sans" pitchFamily="34" charset="0"/>
                <a:ea typeface="Public Sans" pitchFamily="34" charset="-122"/>
                <a:cs typeface="Public Sans" pitchFamily="34" charset="-120"/>
              </a:rPr>
              <a:t>Customer Booking Page</a:t>
            </a:r>
            <a:endParaRPr lang="en-US" sz="1425" dirty="0"/>
          </a:p>
        </p:txBody>
      </p:sp>
      <p:sp>
        <p:nvSpPr>
          <p:cNvPr id="15" name="Text 13"/>
          <p:cNvSpPr/>
          <p:nvPr/>
        </p:nvSpPr>
        <p:spPr>
          <a:xfrm>
            <a:off x="8792940" y="2463718"/>
            <a:ext cx="2560632" cy="206188"/>
          </a:xfrm>
          <a:prstGeom prst="rect">
            <a:avLst/>
          </a:prstGeom>
          <a:noFill/>
          <a:ln/>
        </p:spPr>
        <p:txBody>
          <a:bodyPr wrap="square" lIns="25400" tIns="25400" rIns="25400" bIns="25400" rtlCol="0" anchor="t">
            <a:normAutofit/>
          </a:bodyPr>
          <a:lstStyle/>
          <a:p>
            <a:pPr algn="l" indent="0" marL="0">
              <a:buNone/>
            </a:pPr>
            <a:r>
              <a:rPr lang="en-US" sz="1125" dirty="0">
                <a:solidFill>
                  <a:srgbClr val="5B6675"/>
                </a:solidFill>
                <a:latin typeface="Public Sans" pitchFamily="34" charset="0"/>
                <a:ea typeface="Public Sans" pitchFamily="34" charset="-122"/>
                <a:cs typeface="Public Sans" pitchFamily="34" charset="-120"/>
              </a:rPr>
              <a:t>Azure Static Web App — tokenised</a:t>
            </a:r>
            <a:endParaRPr lang="en-US" sz="1125" dirty="0"/>
          </a:p>
        </p:txBody>
      </p:sp>
      <p:sp>
        <p:nvSpPr>
          <p:cNvPr id="16" name="Shape 14"/>
          <p:cNvSpPr/>
          <p:nvPr/>
        </p:nvSpPr>
        <p:spPr>
          <a:xfrm>
            <a:off x="685660" y="3073038"/>
            <a:ext cx="14859349" cy="1312839"/>
          </a:xfrm>
          <a:prstGeom prst="roundRect">
            <a:avLst>
              <a:gd name="adj" fmla="val 8706"/>
            </a:avLst>
          </a:prstGeom>
          <a:solidFill>
            <a:srgbClr val="EFF2E4"/>
          </a:solidFill>
          <a:ln w="11206">
            <a:solidFill>
              <a:srgbClr val="D3D7F2"/>
            </a:solidFill>
            <a:prstDash val="solid"/>
          </a:ln>
        </p:spPr>
      </p:sp>
      <p:sp>
        <p:nvSpPr>
          <p:cNvPr id="17" name="Text 15"/>
          <p:cNvSpPr/>
          <p:nvPr/>
        </p:nvSpPr>
        <p:spPr>
          <a:xfrm>
            <a:off x="887366" y="3236574"/>
            <a:ext cx="15901531" cy="228600"/>
          </a:xfrm>
          <a:prstGeom prst="rect">
            <a:avLst/>
          </a:prstGeom>
          <a:noFill/>
          <a:ln/>
        </p:spPr>
        <p:txBody>
          <a:bodyPr wrap="square" lIns="25400" tIns="25400" rIns="25400" bIns="25400" rtlCol="0" anchor="t">
            <a:normAutofit/>
          </a:bodyPr>
          <a:lstStyle/>
          <a:p>
            <a:pPr algn="l" indent="0" marL="0">
              <a:buNone/>
            </a:pPr>
            <a:r>
              <a:rPr lang="en-US" sz="1125" b="1" spc="56" kern="0" dirty="0">
                <a:solidFill>
                  <a:srgbClr val="5059C9"/>
                </a:solidFill>
                <a:latin typeface="IBM Plex Mono" pitchFamily="34" charset="0"/>
                <a:ea typeface="IBM Plex Mono" pitchFamily="34" charset="-122"/>
                <a:cs typeface="IBM Plex Mono" pitchFamily="34" charset="-120"/>
              </a:rPr>
              <a:t>ORCHESTRATION, INTEGRATION &amp; AI</a:t>
            </a:r>
            <a:endParaRPr lang="en-US" sz="1125" dirty="0"/>
          </a:p>
        </p:txBody>
      </p:sp>
      <p:sp>
        <p:nvSpPr>
          <p:cNvPr id="18" name="Shape 16"/>
          <p:cNvSpPr/>
          <p:nvPr/>
        </p:nvSpPr>
        <p:spPr>
          <a:xfrm>
            <a:off x="887366" y="3541234"/>
            <a:ext cx="4742539" cy="681107"/>
          </a:xfrm>
          <a:prstGeom prst="roundRect">
            <a:avLst>
              <a:gd name="adj" fmla="val 13985"/>
            </a:avLst>
          </a:prstGeom>
          <a:solidFill>
            <a:srgbClr val="FFFFFF"/>
          </a:solidFill>
          <a:ln w="11206">
            <a:solidFill>
              <a:srgbClr val="D3D7F2"/>
            </a:solidFill>
            <a:prstDash val="solid"/>
          </a:ln>
        </p:spPr>
      </p:sp>
      <p:sp>
        <p:nvSpPr>
          <p:cNvPr id="19" name="Shape 17"/>
          <p:cNvSpPr/>
          <p:nvPr/>
        </p:nvSpPr>
        <p:spPr>
          <a:xfrm>
            <a:off x="1050902" y="3710372"/>
            <a:ext cx="342830" cy="342830"/>
          </a:xfrm>
          <a:prstGeom prst="roundRect">
            <a:avLst>
              <a:gd name="adj" fmla="val 22227"/>
            </a:avLst>
          </a:prstGeom>
          <a:solidFill>
            <a:srgbClr val="14513A"/>
          </a:solidFill>
          <a:ln/>
        </p:spPr>
      </p:sp>
      <p:sp>
        <p:nvSpPr>
          <p:cNvPr id="20" name="Text 18"/>
          <p:cNvSpPr/>
          <p:nvPr/>
        </p:nvSpPr>
        <p:spPr>
          <a:xfrm>
            <a:off x="1012802" y="3710372"/>
            <a:ext cx="419030" cy="380930"/>
          </a:xfrm>
          <a:prstGeom prst="rect">
            <a:avLst/>
          </a:prstGeom>
          <a:noFill/>
          <a:ln/>
        </p:spPr>
        <p:txBody>
          <a:bodyPr wrap="square" lIns="25400" tIns="25400" rIns="25400" bIns="25400" rtlCol="0" anchor="ctr">
            <a:normAutofit/>
          </a:bodyPr>
          <a:lstStyle/>
          <a:p>
            <a:pPr algn="ctr" indent="0" marL="0">
              <a:buNone/>
            </a:pPr>
            <a:r>
              <a:rPr lang="en-US" sz="1050" b="1" dirty="0">
                <a:solidFill>
                  <a:srgbClr val="FFFFFF"/>
                </a:solidFill>
                <a:latin typeface="IBM Plex Mono" pitchFamily="34" charset="0"/>
                <a:ea typeface="IBM Plex Mono" pitchFamily="34" charset="-122"/>
                <a:cs typeface="IBM Plex Mono" pitchFamily="34" charset="-120"/>
              </a:rPr>
              <a:t>Fl</a:t>
            </a:r>
            <a:endParaRPr lang="en-US" sz="1050" dirty="0"/>
          </a:p>
        </p:txBody>
      </p:sp>
      <p:sp>
        <p:nvSpPr>
          <p:cNvPr id="21" name="Text 19"/>
          <p:cNvSpPr/>
          <p:nvPr/>
        </p:nvSpPr>
        <p:spPr>
          <a:xfrm>
            <a:off x="1507891" y="3691287"/>
            <a:ext cx="1554483" cy="251012"/>
          </a:xfrm>
          <a:prstGeom prst="rect">
            <a:avLst/>
          </a:prstGeom>
          <a:noFill/>
          <a:ln/>
        </p:spPr>
        <p:txBody>
          <a:bodyPr wrap="square" lIns="25400" tIns="25400" rIns="25400" bIns="25400" rtlCol="0" anchor="t">
            <a:normAutofit/>
          </a:bodyPr>
          <a:lstStyle/>
          <a:p>
            <a:pPr algn="l" indent="0" marL="0">
              <a:buNone/>
            </a:pPr>
            <a:r>
              <a:rPr lang="en-US" sz="1425" b="1" dirty="0">
                <a:solidFill>
                  <a:srgbClr val="0D2E22"/>
                </a:solidFill>
                <a:latin typeface="Public Sans" pitchFamily="34" charset="0"/>
                <a:ea typeface="Public Sans" pitchFamily="34" charset="-122"/>
                <a:cs typeface="Public Sans" pitchFamily="34" charset="-120"/>
              </a:rPr>
              <a:t>Power Automate</a:t>
            </a:r>
            <a:endParaRPr lang="en-US" sz="1425" dirty="0"/>
          </a:p>
        </p:txBody>
      </p:sp>
      <p:sp>
        <p:nvSpPr>
          <p:cNvPr id="22" name="Text 20"/>
          <p:cNvSpPr/>
          <p:nvPr/>
        </p:nvSpPr>
        <p:spPr>
          <a:xfrm>
            <a:off x="1507891" y="3904199"/>
            <a:ext cx="1554483" cy="206188"/>
          </a:xfrm>
          <a:prstGeom prst="rect">
            <a:avLst/>
          </a:prstGeom>
          <a:noFill/>
          <a:ln/>
        </p:spPr>
        <p:txBody>
          <a:bodyPr wrap="square" lIns="25400" tIns="25400" rIns="25400" bIns="25400" rtlCol="0" anchor="t">
            <a:normAutofit/>
          </a:bodyPr>
          <a:lstStyle/>
          <a:p>
            <a:pPr algn="l" indent="0" marL="0">
              <a:buNone/>
            </a:pPr>
            <a:r>
              <a:rPr lang="en-US" sz="1125" dirty="0">
                <a:solidFill>
                  <a:srgbClr val="5B6675"/>
                </a:solidFill>
                <a:latin typeface="Public Sans" pitchFamily="34" charset="0"/>
                <a:ea typeface="Public Sans" pitchFamily="34" charset="-122"/>
                <a:cs typeface="Public Sans" pitchFamily="34" charset="-120"/>
              </a:rPr>
              <a:t>Event-driven flows</a:t>
            </a:r>
            <a:endParaRPr lang="en-US" sz="1125" dirty="0"/>
          </a:p>
        </p:txBody>
      </p:sp>
      <p:sp>
        <p:nvSpPr>
          <p:cNvPr id="23" name="Shape 21"/>
          <p:cNvSpPr/>
          <p:nvPr/>
        </p:nvSpPr>
        <p:spPr>
          <a:xfrm>
            <a:off x="5744065" y="3541234"/>
            <a:ext cx="4742539" cy="681107"/>
          </a:xfrm>
          <a:prstGeom prst="roundRect">
            <a:avLst>
              <a:gd name="adj" fmla="val 13985"/>
            </a:avLst>
          </a:prstGeom>
          <a:solidFill>
            <a:srgbClr val="FFFFFF"/>
          </a:solidFill>
          <a:ln w="11206">
            <a:solidFill>
              <a:srgbClr val="D3D7F2"/>
            </a:solidFill>
            <a:prstDash val="solid"/>
          </a:ln>
        </p:spPr>
      </p:sp>
      <p:sp>
        <p:nvSpPr>
          <p:cNvPr id="24" name="Shape 22"/>
          <p:cNvSpPr/>
          <p:nvPr/>
        </p:nvSpPr>
        <p:spPr>
          <a:xfrm>
            <a:off x="5907601" y="3710372"/>
            <a:ext cx="342830" cy="342830"/>
          </a:xfrm>
          <a:prstGeom prst="roundRect">
            <a:avLst>
              <a:gd name="adj" fmla="val 22227"/>
            </a:avLst>
          </a:prstGeom>
          <a:solidFill>
            <a:srgbClr val="1C5C43"/>
          </a:solidFill>
          <a:ln/>
        </p:spPr>
      </p:sp>
      <p:sp>
        <p:nvSpPr>
          <p:cNvPr id="25" name="Text 23"/>
          <p:cNvSpPr/>
          <p:nvPr/>
        </p:nvSpPr>
        <p:spPr>
          <a:xfrm>
            <a:off x="5869501" y="3710372"/>
            <a:ext cx="419030" cy="380930"/>
          </a:xfrm>
          <a:prstGeom prst="rect">
            <a:avLst/>
          </a:prstGeom>
          <a:noFill/>
          <a:ln/>
        </p:spPr>
        <p:txBody>
          <a:bodyPr wrap="square" lIns="25400" tIns="25400" rIns="25400" bIns="25400" rtlCol="0" anchor="ctr">
            <a:normAutofit/>
          </a:bodyPr>
          <a:lstStyle/>
          <a:p>
            <a:pPr algn="ctr" indent="0" marL="0">
              <a:buNone/>
            </a:pPr>
            <a:r>
              <a:rPr lang="en-US" sz="1050" b="1" dirty="0">
                <a:solidFill>
                  <a:srgbClr val="FFFFFF"/>
                </a:solidFill>
                <a:latin typeface="IBM Plex Mono" pitchFamily="34" charset="0"/>
                <a:ea typeface="IBM Plex Mono" pitchFamily="34" charset="-122"/>
                <a:cs typeface="IBM Plex Mono" pitchFamily="34" charset="-120"/>
              </a:rPr>
              <a:t>Gr</a:t>
            </a:r>
            <a:endParaRPr lang="en-US" sz="1050" dirty="0"/>
          </a:p>
        </p:txBody>
      </p:sp>
      <p:sp>
        <p:nvSpPr>
          <p:cNvPr id="26" name="Text 24"/>
          <p:cNvSpPr/>
          <p:nvPr/>
        </p:nvSpPr>
        <p:spPr>
          <a:xfrm>
            <a:off x="6364591" y="3691287"/>
            <a:ext cx="1897121" cy="251012"/>
          </a:xfrm>
          <a:prstGeom prst="rect">
            <a:avLst/>
          </a:prstGeom>
          <a:noFill/>
          <a:ln/>
        </p:spPr>
        <p:txBody>
          <a:bodyPr wrap="square" lIns="25400" tIns="25400" rIns="25400" bIns="25400" rtlCol="0" anchor="t">
            <a:normAutofit/>
          </a:bodyPr>
          <a:lstStyle/>
          <a:p>
            <a:pPr algn="l" indent="0" marL="0">
              <a:buNone/>
            </a:pPr>
            <a:r>
              <a:rPr lang="en-US" sz="1425" b="1" dirty="0">
                <a:solidFill>
                  <a:srgbClr val="0D2E22"/>
                </a:solidFill>
                <a:latin typeface="Public Sans" pitchFamily="34" charset="0"/>
                <a:ea typeface="Public Sans" pitchFamily="34" charset="-122"/>
                <a:cs typeface="Public Sans" pitchFamily="34" charset="-120"/>
              </a:rPr>
              <a:t>Microsoft Graph API</a:t>
            </a:r>
            <a:endParaRPr lang="en-US" sz="1425" dirty="0"/>
          </a:p>
        </p:txBody>
      </p:sp>
      <p:sp>
        <p:nvSpPr>
          <p:cNvPr id="27" name="Text 25"/>
          <p:cNvSpPr/>
          <p:nvPr/>
        </p:nvSpPr>
        <p:spPr>
          <a:xfrm>
            <a:off x="6364591" y="3904199"/>
            <a:ext cx="1897121" cy="206188"/>
          </a:xfrm>
          <a:prstGeom prst="rect">
            <a:avLst/>
          </a:prstGeom>
          <a:noFill/>
          <a:ln/>
        </p:spPr>
        <p:txBody>
          <a:bodyPr wrap="square" lIns="25400" tIns="25400" rIns="25400" bIns="25400" rtlCol="0" anchor="t">
            <a:normAutofit/>
          </a:bodyPr>
          <a:lstStyle/>
          <a:p>
            <a:pPr algn="l" indent="0" marL="0">
              <a:buNone/>
            </a:pPr>
            <a:r>
              <a:rPr lang="en-US" sz="1125" dirty="0">
                <a:solidFill>
                  <a:srgbClr val="5B6675"/>
                </a:solidFill>
                <a:latin typeface="Public Sans" pitchFamily="34" charset="0"/>
                <a:ea typeface="Public Sans" pitchFamily="34" charset="-122"/>
                <a:cs typeface="Public Sans" pitchFamily="34" charset="-120"/>
              </a:rPr>
              <a:t>Availability &amp; scheduling</a:t>
            </a:r>
            <a:endParaRPr lang="en-US" sz="1125" dirty="0"/>
          </a:p>
        </p:txBody>
      </p:sp>
      <p:sp>
        <p:nvSpPr>
          <p:cNvPr id="28" name="Shape 26"/>
          <p:cNvSpPr/>
          <p:nvPr/>
        </p:nvSpPr>
        <p:spPr>
          <a:xfrm>
            <a:off x="10600765" y="3541234"/>
            <a:ext cx="4742539" cy="681107"/>
          </a:xfrm>
          <a:prstGeom prst="roundRect">
            <a:avLst>
              <a:gd name="adj" fmla="val 13985"/>
            </a:avLst>
          </a:prstGeom>
          <a:solidFill>
            <a:srgbClr val="FFFFFF"/>
          </a:solidFill>
          <a:ln w="16809">
            <a:solidFill>
              <a:srgbClr val="ECCFA3"/>
            </a:solidFill>
            <a:prstDash val="solid"/>
          </a:ln>
        </p:spPr>
      </p:sp>
      <p:sp>
        <p:nvSpPr>
          <p:cNvPr id="29" name="Shape 27"/>
          <p:cNvSpPr/>
          <p:nvPr/>
        </p:nvSpPr>
        <p:spPr>
          <a:xfrm>
            <a:off x="10769903" y="3710372"/>
            <a:ext cx="342830" cy="342830"/>
          </a:xfrm>
          <a:prstGeom prst="roundRect">
            <a:avLst>
              <a:gd name="adj" fmla="val 22227"/>
            </a:avLst>
          </a:prstGeom>
          <a:solidFill>
            <a:srgbClr val="B4690E"/>
          </a:solidFill>
          <a:ln/>
        </p:spPr>
      </p:sp>
      <p:sp>
        <p:nvSpPr>
          <p:cNvPr id="30" name="Text 28"/>
          <p:cNvSpPr/>
          <p:nvPr/>
        </p:nvSpPr>
        <p:spPr>
          <a:xfrm>
            <a:off x="10731803" y="3710372"/>
            <a:ext cx="419030" cy="380930"/>
          </a:xfrm>
          <a:prstGeom prst="rect">
            <a:avLst/>
          </a:prstGeom>
          <a:noFill/>
          <a:ln/>
        </p:spPr>
        <p:txBody>
          <a:bodyPr wrap="square" lIns="25400" tIns="25400" rIns="25400" bIns="25400" rtlCol="0" anchor="ctr">
            <a:normAutofit/>
          </a:bodyPr>
          <a:lstStyle/>
          <a:p>
            <a:pPr algn="ctr" indent="0" marL="0">
              <a:buNone/>
            </a:pPr>
            <a:r>
              <a:rPr lang="en-US" sz="975" b="1" dirty="0">
                <a:solidFill>
                  <a:srgbClr val="FFFFFF"/>
                </a:solidFill>
                <a:latin typeface="IBM Plex Mono" pitchFamily="34" charset="0"/>
                <a:ea typeface="IBM Plex Mono" pitchFamily="34" charset="-122"/>
                <a:cs typeface="IBM Plex Mono" pitchFamily="34" charset="-120"/>
              </a:rPr>
              <a:t>AI</a:t>
            </a:r>
            <a:endParaRPr lang="en-US" sz="975" dirty="0"/>
          </a:p>
        </p:txBody>
      </p:sp>
      <p:sp>
        <p:nvSpPr>
          <p:cNvPr id="31" name="Text 29"/>
          <p:cNvSpPr/>
          <p:nvPr/>
        </p:nvSpPr>
        <p:spPr>
          <a:xfrm>
            <a:off x="11226893" y="3691287"/>
            <a:ext cx="2476465" cy="251012"/>
          </a:xfrm>
          <a:prstGeom prst="rect">
            <a:avLst/>
          </a:prstGeom>
          <a:noFill/>
          <a:ln/>
        </p:spPr>
        <p:txBody>
          <a:bodyPr wrap="square" lIns="25400" tIns="25400" rIns="25400" bIns="25400" rtlCol="0" anchor="t">
            <a:normAutofit/>
          </a:bodyPr>
          <a:lstStyle/>
          <a:p>
            <a:pPr algn="l" indent="0" marL="0">
              <a:buNone/>
            </a:pPr>
            <a:r>
              <a:rPr lang="en-US" sz="1425" b="1" dirty="0">
                <a:solidFill>
                  <a:srgbClr val="0D2E22"/>
                </a:solidFill>
                <a:latin typeface="Public Sans" pitchFamily="34" charset="0"/>
                <a:ea typeface="Public Sans" pitchFamily="34" charset="-122"/>
                <a:cs typeface="Public Sans" pitchFamily="34" charset="-120"/>
              </a:rPr>
              <a:t>Azure OpenAI</a:t>
            </a:r>
            <a:endParaRPr lang="en-US" sz="1425" dirty="0"/>
          </a:p>
        </p:txBody>
      </p:sp>
      <p:sp>
        <p:nvSpPr>
          <p:cNvPr id="32" name="Text 30"/>
          <p:cNvSpPr/>
          <p:nvPr/>
        </p:nvSpPr>
        <p:spPr>
          <a:xfrm>
            <a:off x="11226893" y="3904199"/>
            <a:ext cx="2476465" cy="206188"/>
          </a:xfrm>
          <a:prstGeom prst="rect">
            <a:avLst/>
          </a:prstGeom>
          <a:noFill/>
          <a:ln/>
        </p:spPr>
        <p:txBody>
          <a:bodyPr wrap="square" lIns="25400" tIns="25400" rIns="25400" bIns="25400" rtlCol="0" anchor="t">
            <a:normAutofit/>
          </a:bodyPr>
          <a:lstStyle/>
          <a:p>
            <a:pPr algn="l" indent="0" marL="0">
              <a:buNone/>
            </a:pPr>
            <a:r>
              <a:rPr lang="en-US" sz="1125" dirty="0">
                <a:solidFill>
                  <a:srgbClr val="5B6675"/>
                </a:solidFill>
                <a:latin typeface="Public Sans" pitchFamily="34" charset="0"/>
                <a:ea typeface="Public Sans" pitchFamily="34" charset="-122"/>
                <a:cs typeface="Public Sans" pitchFamily="34" charset="-120"/>
              </a:rPr>
              <a:t>Recommend &amp; draft — assist only</a:t>
            </a:r>
            <a:endParaRPr lang="en-US" sz="1125" dirty="0"/>
          </a:p>
        </p:txBody>
      </p:sp>
      <p:sp>
        <p:nvSpPr>
          <p:cNvPr id="33" name="Shape 31"/>
          <p:cNvSpPr/>
          <p:nvPr/>
        </p:nvSpPr>
        <p:spPr>
          <a:xfrm>
            <a:off x="685660" y="4519122"/>
            <a:ext cx="14859349" cy="1725005"/>
          </a:xfrm>
          <a:prstGeom prst="roundRect">
            <a:avLst>
              <a:gd name="adj" fmla="val 6626"/>
            </a:avLst>
          </a:prstGeom>
          <a:solidFill>
            <a:srgbClr val="F4F7FA"/>
          </a:solidFill>
          <a:ln w="11206">
            <a:solidFill>
              <a:srgbClr val="E0E6ED"/>
            </a:solidFill>
            <a:prstDash val="solid"/>
          </a:ln>
        </p:spPr>
      </p:sp>
      <p:sp>
        <p:nvSpPr>
          <p:cNvPr id="34" name="Text 32"/>
          <p:cNvSpPr/>
          <p:nvPr/>
        </p:nvSpPr>
        <p:spPr>
          <a:xfrm>
            <a:off x="887366" y="4682658"/>
            <a:ext cx="15901531" cy="228600"/>
          </a:xfrm>
          <a:prstGeom prst="rect">
            <a:avLst/>
          </a:prstGeom>
          <a:noFill/>
          <a:ln/>
        </p:spPr>
        <p:txBody>
          <a:bodyPr wrap="square" lIns="25400" tIns="25400" rIns="25400" bIns="25400" rtlCol="0" anchor="t">
            <a:normAutofit/>
          </a:bodyPr>
          <a:lstStyle/>
          <a:p>
            <a:pPr algn="l" indent="0" marL="0">
              <a:buNone/>
            </a:pPr>
            <a:r>
              <a:rPr lang="en-US" sz="1125" b="1" spc="56" kern="0" dirty="0">
                <a:solidFill>
                  <a:srgbClr val="8996A6"/>
                </a:solidFill>
                <a:latin typeface="IBM Plex Mono" pitchFamily="34" charset="0"/>
                <a:ea typeface="IBM Plex Mono" pitchFamily="34" charset="-122"/>
                <a:cs typeface="IBM Plex Mono" pitchFamily="34" charset="-120"/>
              </a:rPr>
              <a:t>SYSTEMS OF RECORD &amp; CHANNELS</a:t>
            </a:r>
            <a:endParaRPr lang="en-US" sz="1125" dirty="0"/>
          </a:p>
        </p:txBody>
      </p:sp>
      <p:sp>
        <p:nvSpPr>
          <p:cNvPr id="35" name="Shape 33"/>
          <p:cNvSpPr/>
          <p:nvPr/>
        </p:nvSpPr>
        <p:spPr>
          <a:xfrm>
            <a:off x="887366" y="4987318"/>
            <a:ext cx="3528277" cy="1093274"/>
          </a:xfrm>
          <a:prstGeom prst="roundRect">
            <a:avLst>
              <a:gd name="adj" fmla="val 8712"/>
            </a:avLst>
          </a:prstGeom>
          <a:solidFill>
            <a:srgbClr val="FFFFFF"/>
          </a:solidFill>
          <a:ln w="11206">
            <a:solidFill>
              <a:srgbClr val="DBE2EA"/>
            </a:solidFill>
            <a:prstDash val="solid"/>
          </a:ln>
        </p:spPr>
      </p:sp>
      <p:sp>
        <p:nvSpPr>
          <p:cNvPr id="36" name="Shape 34"/>
          <p:cNvSpPr/>
          <p:nvPr/>
        </p:nvSpPr>
        <p:spPr>
          <a:xfrm>
            <a:off x="1031817" y="5131769"/>
            <a:ext cx="304660" cy="304660"/>
          </a:xfrm>
          <a:prstGeom prst="roundRect">
            <a:avLst>
              <a:gd name="adj" fmla="val 25011"/>
            </a:avLst>
          </a:prstGeom>
          <a:solidFill>
            <a:srgbClr val="0078D4"/>
          </a:solidFill>
          <a:ln/>
        </p:spPr>
      </p:sp>
      <p:sp>
        <p:nvSpPr>
          <p:cNvPr id="37" name="Text 35"/>
          <p:cNvSpPr/>
          <p:nvPr/>
        </p:nvSpPr>
        <p:spPr>
          <a:xfrm>
            <a:off x="993717" y="5131769"/>
            <a:ext cx="380860" cy="342760"/>
          </a:xfrm>
          <a:prstGeom prst="rect">
            <a:avLst/>
          </a:prstGeom>
          <a:noFill/>
          <a:ln/>
        </p:spPr>
        <p:txBody>
          <a:bodyPr wrap="square" lIns="25400" tIns="25400" rIns="25400" bIns="25400" rtlCol="0" anchor="ctr">
            <a:normAutofit/>
          </a:bodyPr>
          <a:lstStyle/>
          <a:p>
            <a:pPr algn="ctr" indent="0" marL="0">
              <a:buNone/>
            </a:pPr>
            <a:r>
              <a:rPr lang="en-US" sz="975" b="1" dirty="0">
                <a:solidFill>
                  <a:srgbClr val="FFFFFF"/>
                </a:solidFill>
                <a:latin typeface="IBM Plex Mono" pitchFamily="34" charset="0"/>
                <a:ea typeface="IBM Plex Mono" pitchFamily="34" charset="-122"/>
                <a:cs typeface="IBM Plex Mono" pitchFamily="34" charset="-120"/>
              </a:rPr>
              <a:t>Ol</a:t>
            </a:r>
            <a:endParaRPr lang="en-US" sz="975" dirty="0"/>
          </a:p>
        </p:txBody>
      </p:sp>
      <p:sp>
        <p:nvSpPr>
          <p:cNvPr id="38" name="Text 36"/>
          <p:cNvSpPr/>
          <p:nvPr/>
        </p:nvSpPr>
        <p:spPr>
          <a:xfrm>
            <a:off x="1031817" y="5512593"/>
            <a:ext cx="3563313" cy="228600"/>
          </a:xfrm>
          <a:prstGeom prst="rect">
            <a:avLst/>
          </a:prstGeom>
          <a:noFill/>
          <a:ln/>
        </p:spPr>
        <p:txBody>
          <a:bodyPr wrap="square" lIns="25400" tIns="25400" rIns="25400" bIns="25400" rtlCol="0" anchor="t">
            <a:normAutofit/>
          </a:bodyPr>
          <a:lstStyle/>
          <a:p>
            <a:pPr algn="l" indent="0" marL="0">
              <a:buNone/>
            </a:pPr>
            <a:r>
              <a:rPr lang="en-US" sz="1275" b="1" dirty="0">
                <a:solidFill>
                  <a:srgbClr val="0D2E22"/>
                </a:solidFill>
                <a:latin typeface="Public Sans" pitchFamily="34" charset="0"/>
                <a:ea typeface="Public Sans" pitchFamily="34" charset="-122"/>
                <a:cs typeface="Public Sans" pitchFamily="34" charset="-120"/>
              </a:rPr>
              <a:t>Exchange Online</a:t>
            </a:r>
            <a:endParaRPr lang="en-US" sz="1275" dirty="0"/>
          </a:p>
        </p:txBody>
      </p:sp>
      <p:sp>
        <p:nvSpPr>
          <p:cNvPr id="39" name="Text 37"/>
          <p:cNvSpPr/>
          <p:nvPr/>
        </p:nvSpPr>
        <p:spPr>
          <a:xfrm>
            <a:off x="1031817" y="5779258"/>
            <a:ext cx="3563313" cy="194982"/>
          </a:xfrm>
          <a:prstGeom prst="rect">
            <a:avLst/>
          </a:prstGeom>
          <a:noFill/>
          <a:ln/>
        </p:spPr>
        <p:txBody>
          <a:bodyPr wrap="square" lIns="25400" tIns="25400" rIns="25400" bIns="25400" rtlCol="0" anchor="t">
            <a:normAutofit/>
          </a:bodyPr>
          <a:lstStyle/>
          <a:p>
            <a:pPr algn="l" indent="0" marL="0">
              <a:buNone/>
            </a:pPr>
            <a:r>
              <a:rPr lang="en-US" sz="1050" dirty="0">
                <a:solidFill>
                  <a:srgbClr val="5B6675"/>
                </a:solidFill>
                <a:latin typeface="Public Sans" pitchFamily="34" charset="0"/>
                <a:ea typeface="Public Sans" pitchFamily="34" charset="-122"/>
                <a:cs typeface="Public Sans" pitchFamily="34" charset="-120"/>
              </a:rPr>
              <a:t>Outlook — source of truth</a:t>
            </a:r>
            <a:endParaRPr lang="en-US" sz="1050" dirty="0"/>
          </a:p>
        </p:txBody>
      </p:sp>
      <p:sp>
        <p:nvSpPr>
          <p:cNvPr id="40" name="Shape 38"/>
          <p:cNvSpPr/>
          <p:nvPr/>
        </p:nvSpPr>
        <p:spPr>
          <a:xfrm>
            <a:off x="4529803" y="4987318"/>
            <a:ext cx="3528452" cy="1093274"/>
          </a:xfrm>
          <a:prstGeom prst="roundRect">
            <a:avLst>
              <a:gd name="adj" fmla="val 8712"/>
            </a:avLst>
          </a:prstGeom>
          <a:solidFill>
            <a:srgbClr val="FFFFFF"/>
          </a:solidFill>
          <a:ln w="11206">
            <a:solidFill>
              <a:srgbClr val="DBE2EA"/>
            </a:solidFill>
            <a:prstDash val="solid"/>
          </a:ln>
        </p:spPr>
      </p:sp>
      <p:sp>
        <p:nvSpPr>
          <p:cNvPr id="41" name="Shape 39"/>
          <p:cNvSpPr/>
          <p:nvPr/>
        </p:nvSpPr>
        <p:spPr>
          <a:xfrm>
            <a:off x="4674253" y="5131769"/>
            <a:ext cx="304660" cy="304660"/>
          </a:xfrm>
          <a:prstGeom prst="roundRect">
            <a:avLst>
              <a:gd name="adj" fmla="val 25011"/>
            </a:avLst>
          </a:prstGeom>
          <a:solidFill>
            <a:srgbClr val="0078D4"/>
          </a:solidFill>
          <a:ln/>
        </p:spPr>
      </p:sp>
      <p:sp>
        <p:nvSpPr>
          <p:cNvPr id="42" name="Text 40"/>
          <p:cNvSpPr/>
          <p:nvPr/>
        </p:nvSpPr>
        <p:spPr>
          <a:xfrm>
            <a:off x="4636153" y="5131769"/>
            <a:ext cx="380860" cy="342760"/>
          </a:xfrm>
          <a:prstGeom prst="rect">
            <a:avLst/>
          </a:prstGeom>
          <a:noFill/>
          <a:ln/>
        </p:spPr>
        <p:txBody>
          <a:bodyPr wrap="square" lIns="25400" tIns="25400" rIns="25400" bIns="25400" rtlCol="0" anchor="ctr">
            <a:normAutofit/>
          </a:bodyPr>
          <a:lstStyle/>
          <a:p>
            <a:pPr algn="ctr" indent="0" marL="0">
              <a:buNone/>
            </a:pPr>
            <a:r>
              <a:rPr lang="en-US" sz="975" b="1" dirty="0">
                <a:solidFill>
                  <a:srgbClr val="FFFFFF"/>
                </a:solidFill>
                <a:latin typeface="IBM Plex Mono" pitchFamily="34" charset="0"/>
                <a:ea typeface="IBM Plex Mono" pitchFamily="34" charset="-122"/>
                <a:cs typeface="IBM Plex Mono" pitchFamily="34" charset="-120"/>
              </a:rPr>
              <a:t>Rm</a:t>
            </a:r>
            <a:endParaRPr lang="en-US" sz="975" dirty="0"/>
          </a:p>
        </p:txBody>
      </p:sp>
      <p:sp>
        <p:nvSpPr>
          <p:cNvPr id="43" name="Text 41"/>
          <p:cNvSpPr/>
          <p:nvPr/>
        </p:nvSpPr>
        <p:spPr>
          <a:xfrm>
            <a:off x="4674253" y="5512593"/>
            <a:ext cx="3563505" cy="228600"/>
          </a:xfrm>
          <a:prstGeom prst="rect">
            <a:avLst/>
          </a:prstGeom>
          <a:noFill/>
          <a:ln/>
        </p:spPr>
        <p:txBody>
          <a:bodyPr wrap="square" lIns="25400" tIns="25400" rIns="25400" bIns="25400" rtlCol="0" anchor="t">
            <a:normAutofit/>
          </a:bodyPr>
          <a:lstStyle/>
          <a:p>
            <a:pPr algn="l" indent="0" marL="0">
              <a:buNone/>
            </a:pPr>
            <a:r>
              <a:rPr lang="en-US" sz="1275" b="1" dirty="0">
                <a:solidFill>
                  <a:srgbClr val="0D2E22"/>
                </a:solidFill>
                <a:latin typeface="Public Sans" pitchFamily="34" charset="0"/>
                <a:ea typeface="Public Sans" pitchFamily="34" charset="-122"/>
                <a:cs typeface="Public Sans" pitchFamily="34" charset="-120"/>
              </a:rPr>
              <a:t>Room mailboxes</a:t>
            </a:r>
            <a:endParaRPr lang="en-US" sz="1275" dirty="0"/>
          </a:p>
        </p:txBody>
      </p:sp>
      <p:sp>
        <p:nvSpPr>
          <p:cNvPr id="44" name="Text 42"/>
          <p:cNvSpPr/>
          <p:nvPr/>
        </p:nvSpPr>
        <p:spPr>
          <a:xfrm>
            <a:off x="4674253" y="5779258"/>
            <a:ext cx="3563505" cy="194982"/>
          </a:xfrm>
          <a:prstGeom prst="rect">
            <a:avLst/>
          </a:prstGeom>
          <a:noFill/>
          <a:ln/>
        </p:spPr>
        <p:txBody>
          <a:bodyPr wrap="square" lIns="25400" tIns="25400" rIns="25400" bIns="25400" rtlCol="0" anchor="t">
            <a:normAutofit/>
          </a:bodyPr>
          <a:lstStyle/>
          <a:p>
            <a:pPr algn="l" indent="0" marL="0">
              <a:buNone/>
            </a:pPr>
            <a:r>
              <a:rPr lang="en-US" sz="1050" dirty="0">
                <a:solidFill>
                  <a:srgbClr val="5B6675"/>
                </a:solidFill>
                <a:latin typeface="Public Sans" pitchFamily="34" charset="0"/>
                <a:ea typeface="Public Sans" pitchFamily="34" charset="-122"/>
                <a:cs typeface="Public Sans" pitchFamily="34" charset="-120"/>
              </a:rPr>
              <a:t>Places service</a:t>
            </a:r>
            <a:endParaRPr lang="en-US" sz="1050" dirty="0"/>
          </a:p>
        </p:txBody>
      </p:sp>
      <p:sp>
        <p:nvSpPr>
          <p:cNvPr id="45" name="Shape 43"/>
          <p:cNvSpPr/>
          <p:nvPr/>
        </p:nvSpPr>
        <p:spPr>
          <a:xfrm>
            <a:off x="8172415" y="4987318"/>
            <a:ext cx="3528277" cy="1093274"/>
          </a:xfrm>
          <a:prstGeom prst="roundRect">
            <a:avLst>
              <a:gd name="adj" fmla="val 8712"/>
            </a:avLst>
          </a:prstGeom>
          <a:solidFill>
            <a:srgbClr val="FFFFFF"/>
          </a:solidFill>
          <a:ln w="11206">
            <a:solidFill>
              <a:srgbClr val="DBE2EA"/>
            </a:solidFill>
            <a:prstDash val="solid"/>
          </a:ln>
        </p:spPr>
      </p:sp>
      <p:sp>
        <p:nvSpPr>
          <p:cNvPr id="46" name="Shape 44"/>
          <p:cNvSpPr/>
          <p:nvPr/>
        </p:nvSpPr>
        <p:spPr>
          <a:xfrm>
            <a:off x="8316866" y="5131769"/>
            <a:ext cx="304660" cy="304660"/>
          </a:xfrm>
          <a:prstGeom prst="roundRect">
            <a:avLst>
              <a:gd name="adj" fmla="val 25011"/>
            </a:avLst>
          </a:prstGeom>
          <a:solidFill>
            <a:srgbClr val="0B7A75"/>
          </a:solidFill>
          <a:ln/>
        </p:spPr>
      </p:sp>
      <p:sp>
        <p:nvSpPr>
          <p:cNvPr id="47" name="Text 45"/>
          <p:cNvSpPr/>
          <p:nvPr/>
        </p:nvSpPr>
        <p:spPr>
          <a:xfrm>
            <a:off x="8278766" y="5131769"/>
            <a:ext cx="380860" cy="342760"/>
          </a:xfrm>
          <a:prstGeom prst="rect">
            <a:avLst/>
          </a:prstGeom>
          <a:noFill/>
          <a:ln/>
        </p:spPr>
        <p:txBody>
          <a:bodyPr wrap="square" lIns="25400" tIns="25400" rIns="25400" bIns="25400" rtlCol="0" anchor="ctr">
            <a:normAutofit/>
          </a:bodyPr>
          <a:lstStyle/>
          <a:p>
            <a:pPr algn="ctr" indent="0" marL="0">
              <a:buNone/>
            </a:pPr>
            <a:r>
              <a:rPr lang="en-US" sz="900" b="1" dirty="0">
                <a:solidFill>
                  <a:srgbClr val="FFFFFF"/>
                </a:solidFill>
                <a:latin typeface="IBM Plex Mono" pitchFamily="34" charset="0"/>
                <a:ea typeface="IBM Plex Mono" pitchFamily="34" charset="-122"/>
                <a:cs typeface="IBM Plex Mono" pitchFamily="34" charset="-120"/>
              </a:rPr>
              <a:t>D3</a:t>
            </a:r>
            <a:endParaRPr lang="en-US" sz="900" dirty="0"/>
          </a:p>
        </p:txBody>
      </p:sp>
      <p:sp>
        <p:nvSpPr>
          <p:cNvPr id="48" name="Text 46"/>
          <p:cNvSpPr/>
          <p:nvPr/>
        </p:nvSpPr>
        <p:spPr>
          <a:xfrm>
            <a:off x="8316866" y="5512593"/>
            <a:ext cx="3563313" cy="228600"/>
          </a:xfrm>
          <a:prstGeom prst="rect">
            <a:avLst/>
          </a:prstGeom>
          <a:noFill/>
          <a:ln/>
        </p:spPr>
        <p:txBody>
          <a:bodyPr wrap="square" lIns="25400" tIns="25400" rIns="25400" bIns="25400" rtlCol="0" anchor="t">
            <a:normAutofit/>
          </a:bodyPr>
          <a:lstStyle/>
          <a:p>
            <a:pPr algn="l" indent="0" marL="0">
              <a:buNone/>
            </a:pPr>
            <a:r>
              <a:rPr lang="en-US" sz="1275" b="1" dirty="0">
                <a:solidFill>
                  <a:srgbClr val="0D2E22"/>
                </a:solidFill>
                <a:latin typeface="Public Sans" pitchFamily="34" charset="0"/>
                <a:ea typeface="Public Sans" pitchFamily="34" charset="-122"/>
                <a:cs typeface="Public Sans" pitchFamily="34" charset="-120"/>
              </a:rPr>
              <a:t>Dynamics 365</a:t>
            </a:r>
            <a:endParaRPr lang="en-US" sz="1275" dirty="0"/>
          </a:p>
        </p:txBody>
      </p:sp>
      <p:sp>
        <p:nvSpPr>
          <p:cNvPr id="49" name="Text 47"/>
          <p:cNvSpPr/>
          <p:nvPr/>
        </p:nvSpPr>
        <p:spPr>
          <a:xfrm>
            <a:off x="8316866" y="5779258"/>
            <a:ext cx="3563313" cy="194982"/>
          </a:xfrm>
          <a:prstGeom prst="rect">
            <a:avLst/>
          </a:prstGeom>
          <a:noFill/>
          <a:ln/>
        </p:spPr>
        <p:txBody>
          <a:bodyPr wrap="square" lIns="25400" tIns="25400" rIns="25400" bIns="25400" rtlCol="0" anchor="t">
            <a:normAutofit/>
          </a:bodyPr>
          <a:lstStyle/>
          <a:p>
            <a:pPr algn="l" indent="0" marL="0">
              <a:buNone/>
            </a:pPr>
            <a:r>
              <a:rPr lang="en-US" sz="1050" dirty="0">
                <a:solidFill>
                  <a:srgbClr val="5B6675"/>
                </a:solidFill>
                <a:latin typeface="Public Sans" pitchFamily="34" charset="0"/>
                <a:ea typeface="Public Sans" pitchFamily="34" charset="-122"/>
                <a:cs typeface="Public Sans" pitchFamily="34" charset="-120"/>
              </a:rPr>
              <a:t>Customer · partner flag · booking table</a:t>
            </a:r>
            <a:endParaRPr lang="en-US" sz="1050" dirty="0"/>
          </a:p>
        </p:txBody>
      </p:sp>
      <p:sp>
        <p:nvSpPr>
          <p:cNvPr id="50" name="Shape 48"/>
          <p:cNvSpPr/>
          <p:nvPr/>
        </p:nvSpPr>
        <p:spPr>
          <a:xfrm>
            <a:off x="11814851" y="4987318"/>
            <a:ext cx="3528452" cy="1093274"/>
          </a:xfrm>
          <a:prstGeom prst="roundRect">
            <a:avLst>
              <a:gd name="adj" fmla="val 8712"/>
            </a:avLst>
          </a:prstGeom>
          <a:solidFill>
            <a:srgbClr val="FFFFFF"/>
          </a:solidFill>
          <a:ln w="11206">
            <a:solidFill>
              <a:srgbClr val="DBE2EA"/>
            </a:solidFill>
            <a:prstDash val="solid"/>
          </a:ln>
        </p:spPr>
      </p:sp>
      <p:sp>
        <p:nvSpPr>
          <p:cNvPr id="51" name="Shape 49"/>
          <p:cNvSpPr/>
          <p:nvPr/>
        </p:nvSpPr>
        <p:spPr>
          <a:xfrm>
            <a:off x="11959303" y="5131769"/>
            <a:ext cx="304660" cy="304660"/>
          </a:xfrm>
          <a:prstGeom prst="roundRect">
            <a:avLst>
              <a:gd name="adj" fmla="val 25011"/>
            </a:avLst>
          </a:prstGeom>
          <a:solidFill>
            <a:srgbClr val="5059C9"/>
          </a:solidFill>
          <a:ln/>
        </p:spPr>
      </p:sp>
      <p:sp>
        <p:nvSpPr>
          <p:cNvPr id="52" name="Text 50"/>
          <p:cNvSpPr/>
          <p:nvPr/>
        </p:nvSpPr>
        <p:spPr>
          <a:xfrm>
            <a:off x="11921203" y="5131769"/>
            <a:ext cx="380860" cy="342760"/>
          </a:xfrm>
          <a:prstGeom prst="rect">
            <a:avLst/>
          </a:prstGeom>
          <a:noFill/>
          <a:ln/>
        </p:spPr>
        <p:txBody>
          <a:bodyPr wrap="square" lIns="25400" tIns="25400" rIns="25400" bIns="25400" rtlCol="0" anchor="ctr">
            <a:normAutofit/>
          </a:bodyPr>
          <a:lstStyle/>
          <a:p>
            <a:pPr algn="ctr" indent="0" marL="0">
              <a:buNone/>
            </a:pPr>
            <a:r>
              <a:rPr lang="en-US" sz="975" b="1" dirty="0">
                <a:solidFill>
                  <a:srgbClr val="FFFFFF"/>
                </a:solidFill>
                <a:latin typeface="IBM Plex Mono" pitchFamily="34" charset="0"/>
                <a:ea typeface="IBM Plex Mono" pitchFamily="34" charset="-122"/>
                <a:cs typeface="IBM Plex Mono" pitchFamily="34" charset="-120"/>
              </a:rPr>
              <a:t>Tm</a:t>
            </a:r>
            <a:endParaRPr lang="en-US" sz="975" dirty="0"/>
          </a:p>
        </p:txBody>
      </p:sp>
      <p:sp>
        <p:nvSpPr>
          <p:cNvPr id="53" name="Text 51"/>
          <p:cNvSpPr/>
          <p:nvPr/>
        </p:nvSpPr>
        <p:spPr>
          <a:xfrm>
            <a:off x="11959303" y="5512593"/>
            <a:ext cx="3563505" cy="228600"/>
          </a:xfrm>
          <a:prstGeom prst="rect">
            <a:avLst/>
          </a:prstGeom>
          <a:noFill/>
          <a:ln/>
        </p:spPr>
        <p:txBody>
          <a:bodyPr wrap="square" lIns="25400" tIns="25400" rIns="25400" bIns="25400" rtlCol="0" anchor="t">
            <a:normAutofit/>
          </a:bodyPr>
          <a:lstStyle/>
          <a:p>
            <a:pPr algn="l" indent="0" marL="0">
              <a:buNone/>
            </a:pPr>
            <a:r>
              <a:rPr lang="en-US" sz="1275" b="1" dirty="0">
                <a:solidFill>
                  <a:srgbClr val="0D2E22"/>
                </a:solidFill>
                <a:latin typeface="Public Sans" pitchFamily="34" charset="0"/>
                <a:ea typeface="Public Sans" pitchFamily="34" charset="-122"/>
                <a:cs typeface="Public Sans" pitchFamily="34" charset="-120"/>
              </a:rPr>
              <a:t>Teams &amp; email</a:t>
            </a:r>
            <a:endParaRPr lang="en-US" sz="1275" dirty="0"/>
          </a:p>
        </p:txBody>
      </p:sp>
      <p:sp>
        <p:nvSpPr>
          <p:cNvPr id="54" name="Text 52"/>
          <p:cNvSpPr/>
          <p:nvPr/>
        </p:nvSpPr>
        <p:spPr>
          <a:xfrm>
            <a:off x="11959303" y="5779258"/>
            <a:ext cx="3563505" cy="194982"/>
          </a:xfrm>
          <a:prstGeom prst="rect">
            <a:avLst/>
          </a:prstGeom>
          <a:noFill/>
          <a:ln/>
        </p:spPr>
        <p:txBody>
          <a:bodyPr wrap="square" lIns="25400" tIns="25400" rIns="25400" bIns="25400" rtlCol="0" anchor="t">
            <a:normAutofit/>
          </a:bodyPr>
          <a:lstStyle/>
          <a:p>
            <a:pPr algn="l" indent="0" marL="0">
              <a:buNone/>
            </a:pPr>
            <a:r>
              <a:rPr lang="en-US" sz="1050" dirty="0">
                <a:solidFill>
                  <a:srgbClr val="5B6675"/>
                </a:solidFill>
                <a:latin typeface="Public Sans" pitchFamily="34" charset="0"/>
                <a:ea typeface="Public Sans" pitchFamily="34" charset="-122"/>
                <a:cs typeface="Public Sans" pitchFamily="34" charset="-120"/>
              </a:rPr>
              <a:t>Ops notifications</a:t>
            </a:r>
            <a:endParaRPr lang="en-US" sz="1050" dirty="0"/>
          </a:p>
        </p:txBody>
      </p:sp>
      <p:sp>
        <p:nvSpPr>
          <p:cNvPr id="55" name="Shape 53"/>
          <p:cNvSpPr/>
          <p:nvPr/>
        </p:nvSpPr>
        <p:spPr>
          <a:xfrm>
            <a:off x="15697340" y="1638160"/>
            <a:ext cx="1905000" cy="4018009"/>
          </a:xfrm>
          <a:prstGeom prst="roundRect">
            <a:avLst>
              <a:gd name="adj" fmla="val 6000"/>
            </a:avLst>
          </a:prstGeom>
          <a:solidFill>
            <a:srgbClr val="0D2E22"/>
          </a:solidFill>
          <a:ln/>
        </p:spPr>
      </p:sp>
      <p:sp>
        <p:nvSpPr>
          <p:cNvPr id="56" name="Shape 54"/>
          <p:cNvSpPr/>
          <p:nvPr/>
        </p:nvSpPr>
        <p:spPr>
          <a:xfrm>
            <a:off x="15868755" y="3012281"/>
            <a:ext cx="361915" cy="361915"/>
          </a:xfrm>
          <a:prstGeom prst="roundRect">
            <a:avLst>
              <a:gd name="adj" fmla="val 21055"/>
            </a:avLst>
          </a:prstGeom>
          <a:solidFill>
            <a:srgbClr val="1C5C43"/>
          </a:solidFill>
          <a:ln/>
        </p:spPr>
      </p:sp>
      <p:sp>
        <p:nvSpPr>
          <p:cNvPr id="57" name="Text 55"/>
          <p:cNvSpPr/>
          <p:nvPr/>
        </p:nvSpPr>
        <p:spPr>
          <a:xfrm>
            <a:off x="15830655" y="3012281"/>
            <a:ext cx="438115" cy="400015"/>
          </a:xfrm>
          <a:prstGeom prst="rect">
            <a:avLst/>
          </a:prstGeom>
          <a:noFill/>
          <a:ln/>
        </p:spPr>
        <p:txBody>
          <a:bodyPr wrap="square" lIns="25400" tIns="25400" rIns="25400" bIns="25400" rtlCol="0" anchor="ctr">
            <a:normAutofit/>
          </a:bodyPr>
          <a:lstStyle/>
          <a:p>
            <a:pPr algn="ctr" indent="0" marL="0">
              <a:buNone/>
            </a:pPr>
            <a:r>
              <a:rPr lang="en-US" sz="1050" b="1" dirty="0">
                <a:solidFill>
                  <a:srgbClr val="FFFFFF"/>
                </a:solidFill>
                <a:latin typeface="IBM Plex Mono" pitchFamily="34" charset="0"/>
                <a:ea typeface="IBM Plex Mono" pitchFamily="34" charset="-122"/>
                <a:cs typeface="IBM Plex Mono" pitchFamily="34" charset="-120"/>
              </a:rPr>
              <a:t>Id</a:t>
            </a:r>
            <a:endParaRPr lang="en-US" sz="1050" dirty="0"/>
          </a:p>
        </p:txBody>
      </p:sp>
      <p:sp>
        <p:nvSpPr>
          <p:cNvPr id="58" name="Text 56"/>
          <p:cNvSpPr/>
          <p:nvPr/>
        </p:nvSpPr>
        <p:spPr>
          <a:xfrm>
            <a:off x="15868755" y="3469446"/>
            <a:ext cx="1718387" cy="251012"/>
          </a:xfrm>
          <a:prstGeom prst="rect">
            <a:avLst/>
          </a:prstGeom>
          <a:noFill/>
          <a:ln/>
        </p:spPr>
        <p:txBody>
          <a:bodyPr wrap="square" lIns="25400" tIns="25400" rIns="25400" bIns="25400" rtlCol="0" anchor="t">
            <a:normAutofit/>
          </a:bodyPr>
          <a:lstStyle/>
          <a:p>
            <a:pPr algn="l" indent="0" marL="0">
              <a:buNone/>
            </a:pPr>
            <a:r>
              <a:rPr lang="en-US" sz="1425" b="1" dirty="0">
                <a:solidFill>
                  <a:srgbClr val="EFF2E4"/>
                </a:solidFill>
                <a:latin typeface="Public Sans" pitchFamily="34" charset="0"/>
                <a:ea typeface="Public Sans" pitchFamily="34" charset="-122"/>
                <a:cs typeface="Public Sans" pitchFamily="34" charset="-120"/>
              </a:rPr>
              <a:t>Entra ID</a:t>
            </a:r>
            <a:endParaRPr lang="en-US" sz="1425" dirty="0"/>
          </a:p>
        </p:txBody>
      </p:sp>
      <p:sp>
        <p:nvSpPr>
          <p:cNvPr id="59" name="Text 57"/>
          <p:cNvSpPr/>
          <p:nvPr/>
        </p:nvSpPr>
        <p:spPr>
          <a:xfrm>
            <a:off x="15868755" y="3777608"/>
            <a:ext cx="1638370" cy="542365"/>
          </a:xfrm>
          <a:prstGeom prst="rect">
            <a:avLst/>
          </a:prstGeom>
          <a:noFill/>
          <a:ln/>
        </p:spPr>
        <p:txBody>
          <a:bodyPr wrap="square" lIns="25400" tIns="25400" rIns="25400" bIns="25400" rtlCol="0" anchor="t">
            <a:normAutofit/>
          </a:bodyPr>
          <a:lstStyle/>
          <a:p>
            <a:pPr algn="l" indent="0" marL="0">
              <a:buNone/>
            </a:pPr>
            <a:r>
              <a:rPr lang="en-US" sz="1125" dirty="0">
                <a:solidFill>
                  <a:srgbClr val="C3CFAE"/>
                </a:solidFill>
                <a:latin typeface="Public Sans" pitchFamily="34" charset="0"/>
                <a:ea typeface="Public Sans" pitchFamily="34" charset="-122"/>
                <a:cs typeface="Public Sans" pitchFamily="34" charset="-120"/>
              </a:rPr>
              <a:t>SSO · RBAC · Conditional Access spanning all layers</a:t>
            </a:r>
            <a:endParaRPr lang="en-US" sz="1125" dirty="0"/>
          </a:p>
        </p:txBody>
      </p:sp>
      <p:sp>
        <p:nvSpPr>
          <p:cNvPr id="60" name="Shape 58"/>
          <p:cNvSpPr/>
          <p:nvPr/>
        </p:nvSpPr>
        <p:spPr>
          <a:xfrm>
            <a:off x="15697340" y="5789413"/>
            <a:ext cx="1905000" cy="4040421"/>
          </a:xfrm>
          <a:prstGeom prst="roundRect">
            <a:avLst>
              <a:gd name="adj" fmla="val 6000"/>
            </a:avLst>
          </a:prstGeom>
          <a:solidFill>
            <a:srgbClr val="F4F7FA"/>
          </a:solidFill>
          <a:ln w="11206">
            <a:solidFill>
              <a:srgbClr val="E0E6ED"/>
            </a:solidFill>
            <a:prstDash val="solid"/>
          </a:ln>
        </p:spPr>
      </p:sp>
      <p:sp>
        <p:nvSpPr>
          <p:cNvPr id="61" name="Shape 59"/>
          <p:cNvSpPr/>
          <p:nvPr/>
        </p:nvSpPr>
        <p:spPr>
          <a:xfrm>
            <a:off x="15879960" y="7258785"/>
            <a:ext cx="361915" cy="361915"/>
          </a:xfrm>
          <a:prstGeom prst="roundRect">
            <a:avLst>
              <a:gd name="adj" fmla="val 21055"/>
            </a:avLst>
          </a:prstGeom>
          <a:solidFill>
            <a:srgbClr val="107C41"/>
          </a:solidFill>
          <a:ln/>
        </p:spPr>
      </p:sp>
      <p:sp>
        <p:nvSpPr>
          <p:cNvPr id="62" name="Text 60"/>
          <p:cNvSpPr/>
          <p:nvPr/>
        </p:nvSpPr>
        <p:spPr>
          <a:xfrm>
            <a:off x="15841860" y="7258785"/>
            <a:ext cx="438115" cy="400015"/>
          </a:xfrm>
          <a:prstGeom prst="rect">
            <a:avLst/>
          </a:prstGeom>
          <a:noFill/>
          <a:ln/>
        </p:spPr>
        <p:txBody>
          <a:bodyPr wrap="square" lIns="25400" tIns="25400" rIns="25400" bIns="25400" rtlCol="0" anchor="ctr">
            <a:normAutofit/>
          </a:bodyPr>
          <a:lstStyle/>
          <a:p>
            <a:pPr algn="ctr" indent="0" marL="0">
              <a:buNone/>
            </a:pPr>
            <a:r>
              <a:rPr lang="en-US" sz="1050" b="1" dirty="0">
                <a:solidFill>
                  <a:srgbClr val="FFFFFF"/>
                </a:solidFill>
                <a:latin typeface="IBM Plex Mono" pitchFamily="34" charset="0"/>
                <a:ea typeface="IBM Plex Mono" pitchFamily="34" charset="-122"/>
                <a:cs typeface="IBM Plex Mono" pitchFamily="34" charset="-120"/>
              </a:rPr>
              <a:t>Mo</a:t>
            </a:r>
            <a:endParaRPr lang="en-US" sz="1050" dirty="0"/>
          </a:p>
        </p:txBody>
      </p:sp>
      <p:sp>
        <p:nvSpPr>
          <p:cNvPr id="63" name="Text 61"/>
          <p:cNvSpPr/>
          <p:nvPr/>
        </p:nvSpPr>
        <p:spPr>
          <a:xfrm>
            <a:off x="15879960" y="7715950"/>
            <a:ext cx="1693734" cy="251012"/>
          </a:xfrm>
          <a:prstGeom prst="rect">
            <a:avLst/>
          </a:prstGeom>
          <a:noFill/>
          <a:ln/>
        </p:spPr>
        <p:txBody>
          <a:bodyPr wrap="square" lIns="25400" tIns="25400" rIns="25400" bIns="25400" rtlCol="0" anchor="t">
            <a:normAutofit/>
          </a:bodyPr>
          <a:lstStyle/>
          <a:p>
            <a:pPr algn="l" indent="0" marL="0">
              <a:buNone/>
            </a:pPr>
            <a:r>
              <a:rPr lang="en-US" sz="1425" b="1" dirty="0">
                <a:solidFill>
                  <a:srgbClr val="0D2E22"/>
                </a:solidFill>
                <a:latin typeface="Public Sans" pitchFamily="34" charset="0"/>
                <a:ea typeface="Public Sans" pitchFamily="34" charset="-122"/>
                <a:cs typeface="Public Sans" pitchFamily="34" charset="-120"/>
              </a:rPr>
              <a:t>Azure Monitor</a:t>
            </a:r>
            <a:endParaRPr lang="en-US" sz="1425" dirty="0"/>
          </a:p>
        </p:txBody>
      </p:sp>
      <p:sp>
        <p:nvSpPr>
          <p:cNvPr id="64" name="Text 62"/>
          <p:cNvSpPr/>
          <p:nvPr/>
        </p:nvSpPr>
        <p:spPr>
          <a:xfrm>
            <a:off x="15879960" y="8024111"/>
            <a:ext cx="1615958" cy="374276"/>
          </a:xfrm>
          <a:prstGeom prst="rect">
            <a:avLst/>
          </a:prstGeom>
          <a:noFill/>
          <a:ln/>
        </p:spPr>
        <p:txBody>
          <a:bodyPr wrap="square" lIns="25400" tIns="25400" rIns="25400" bIns="25400" rtlCol="0" anchor="t">
            <a:normAutofit/>
          </a:bodyPr>
          <a:lstStyle/>
          <a:p>
            <a:pPr algn="l" indent="0" marL="0">
              <a:buNone/>
            </a:pPr>
            <a:r>
              <a:rPr lang="en-US" sz="1125" dirty="0">
                <a:solidFill>
                  <a:srgbClr val="5B6675"/>
                </a:solidFill>
                <a:latin typeface="Public Sans" pitchFamily="34" charset="0"/>
                <a:ea typeface="Public Sans" pitchFamily="34" charset="-122"/>
                <a:cs typeface="Public Sans" pitchFamily="34" charset="-120"/>
              </a:rPr>
              <a:t>App Insights · logs · alerts</a:t>
            </a:r>
            <a:endParaRPr lang="en-US" sz="112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685660" y="533330"/>
            <a:ext cx="18608347" cy="307041"/>
          </a:xfrm>
          <a:prstGeom prst="rect">
            <a:avLst/>
          </a:prstGeom>
          <a:noFill/>
          <a:ln/>
        </p:spPr>
        <p:txBody>
          <a:bodyPr wrap="square" lIns="25400" tIns="25400" rIns="25400" bIns="25400" rtlCol="0" anchor="t">
            <a:normAutofit/>
          </a:bodyPr>
          <a:lstStyle/>
          <a:p>
            <a:pPr algn="l" indent="0" marL="0">
              <a:buNone/>
            </a:pPr>
            <a:r>
              <a:rPr lang="en-US" sz="1650" b="1" spc="198" kern="0" dirty="0">
                <a:solidFill>
                  <a:srgbClr val="1C5C43"/>
                </a:solidFill>
                <a:latin typeface="IBM Plex Mono" pitchFamily="34" charset="0"/>
                <a:ea typeface="IBM Plex Mono" pitchFamily="34" charset="-122"/>
                <a:cs typeface="IBM Plex Mono" pitchFamily="34" charset="-120"/>
              </a:rPr>
              <a:t>05 · INTEGRATION ARCHITECTURE</a:t>
            </a:r>
            <a:endParaRPr lang="en-US" sz="1650" dirty="0"/>
          </a:p>
        </p:txBody>
      </p:sp>
      <p:sp>
        <p:nvSpPr>
          <p:cNvPr id="3" name="Text 1"/>
          <p:cNvSpPr/>
          <p:nvPr/>
        </p:nvSpPr>
        <p:spPr>
          <a:xfrm>
            <a:off x="685660" y="897521"/>
            <a:ext cx="18608347" cy="531159"/>
          </a:xfrm>
          <a:prstGeom prst="rect">
            <a:avLst/>
          </a:prstGeom>
          <a:noFill/>
          <a:ln/>
        </p:spPr>
        <p:txBody>
          <a:bodyPr wrap="square" lIns="25400" tIns="25400" rIns="25400" bIns="25400" rtlCol="0" anchor="t">
            <a:normAutofit/>
          </a:bodyPr>
          <a:lstStyle/>
          <a:p>
            <a:pPr algn="l" indent="0" marL="0">
              <a:buNone/>
            </a:pPr>
            <a:r>
              <a:rPr lang="en-US" sz="3300" b="1" spc="-33" kern="0" dirty="0">
                <a:solidFill>
                  <a:srgbClr val="0D2E22"/>
                </a:solidFill>
                <a:latin typeface="Public Sans" pitchFamily="34" charset="0"/>
                <a:ea typeface="Public Sans" pitchFamily="34" charset="-122"/>
                <a:cs typeface="Public Sans" pitchFamily="34" charset="-120"/>
              </a:rPr>
              <a:t>End-to-end data flow</a:t>
            </a:r>
            <a:endParaRPr lang="en-US" sz="3300" dirty="0"/>
          </a:p>
        </p:txBody>
      </p:sp>
      <p:sp>
        <p:nvSpPr>
          <p:cNvPr id="4" name="Shape 2"/>
          <p:cNvSpPr/>
          <p:nvPr/>
        </p:nvSpPr>
        <p:spPr>
          <a:xfrm>
            <a:off x="685660" y="2765402"/>
            <a:ext cx="2416618" cy="1485830"/>
          </a:xfrm>
          <a:prstGeom prst="roundRect">
            <a:avLst>
              <a:gd name="adj" fmla="val 7693"/>
            </a:avLst>
          </a:prstGeom>
          <a:solidFill>
            <a:srgbClr val="FFFFFF"/>
          </a:solidFill>
          <a:ln w="11206">
            <a:solidFill>
              <a:srgbClr val="DBE2EA"/>
            </a:solidFill>
            <a:prstDash val="solid"/>
          </a:ln>
        </p:spPr>
      </p:sp>
      <p:sp>
        <p:nvSpPr>
          <p:cNvPr id="5" name="Shape 3"/>
          <p:cNvSpPr/>
          <p:nvPr/>
        </p:nvSpPr>
        <p:spPr>
          <a:xfrm>
            <a:off x="1703469" y="2967107"/>
            <a:ext cx="381000" cy="381000"/>
          </a:xfrm>
          <a:prstGeom prst="roundRect">
            <a:avLst>
              <a:gd name="adj" fmla="val 22500"/>
            </a:avLst>
          </a:prstGeom>
          <a:solidFill>
            <a:srgbClr val="742774"/>
          </a:solidFill>
          <a:ln/>
        </p:spPr>
      </p:sp>
      <p:sp>
        <p:nvSpPr>
          <p:cNvPr id="6" name="Text 4"/>
          <p:cNvSpPr/>
          <p:nvPr/>
        </p:nvSpPr>
        <p:spPr>
          <a:xfrm>
            <a:off x="1665369" y="2967107"/>
            <a:ext cx="457200" cy="419100"/>
          </a:xfrm>
          <a:prstGeom prst="rect">
            <a:avLst/>
          </a:prstGeom>
          <a:noFill/>
          <a:ln/>
        </p:spPr>
        <p:txBody>
          <a:bodyPr wrap="square" lIns="25400" tIns="25400" rIns="25400" bIns="25400" rtlCol="0" anchor="ctr">
            <a:normAutofit/>
          </a:bodyPr>
          <a:lstStyle/>
          <a:p>
            <a:pPr algn="ctr" indent="0" marL="0">
              <a:buNone/>
            </a:pPr>
            <a:r>
              <a:rPr lang="en-US" sz="1125" b="1" dirty="0">
                <a:solidFill>
                  <a:srgbClr val="FFFFFF"/>
                </a:solidFill>
                <a:latin typeface="IBM Plex Mono" pitchFamily="34" charset="0"/>
                <a:ea typeface="IBM Plex Mono" pitchFamily="34" charset="-122"/>
                <a:cs typeface="IBM Plex Mono" pitchFamily="34" charset="-120"/>
              </a:rPr>
              <a:t>Ap</a:t>
            </a:r>
            <a:endParaRPr lang="en-US" sz="1125" dirty="0"/>
          </a:p>
        </p:txBody>
      </p:sp>
      <p:sp>
        <p:nvSpPr>
          <p:cNvPr id="7" name="Text 5"/>
          <p:cNvSpPr/>
          <p:nvPr/>
        </p:nvSpPr>
        <p:spPr>
          <a:xfrm>
            <a:off x="786705" y="3424272"/>
            <a:ext cx="2214527" cy="251012"/>
          </a:xfrm>
          <a:prstGeom prst="rect">
            <a:avLst/>
          </a:prstGeom>
          <a:noFill/>
          <a:ln/>
        </p:spPr>
        <p:txBody>
          <a:bodyPr wrap="square" lIns="25400" tIns="25400" rIns="25400" bIns="25400" rtlCol="0" anchor="t">
            <a:normAutofit/>
          </a:bodyPr>
          <a:lstStyle/>
          <a:p>
            <a:pPr algn="ctr" indent="0" marL="0">
              <a:buNone/>
            </a:pPr>
            <a:r>
              <a:rPr lang="en-US" sz="1425" b="1" dirty="0">
                <a:solidFill>
                  <a:srgbClr val="0D2E22"/>
                </a:solidFill>
                <a:latin typeface="Public Sans" pitchFamily="34" charset="0"/>
                <a:ea typeface="Public Sans" pitchFamily="34" charset="-122"/>
                <a:cs typeface="Public Sans" pitchFamily="34" charset="-120"/>
              </a:rPr>
              <a:t>CodeApp</a:t>
            </a:r>
            <a:endParaRPr lang="en-US" sz="1425" dirty="0"/>
          </a:p>
        </p:txBody>
      </p:sp>
      <p:sp>
        <p:nvSpPr>
          <p:cNvPr id="8" name="Text 6"/>
          <p:cNvSpPr/>
          <p:nvPr/>
        </p:nvSpPr>
        <p:spPr>
          <a:xfrm>
            <a:off x="786705" y="3713349"/>
            <a:ext cx="2214527" cy="206188"/>
          </a:xfrm>
          <a:prstGeom prst="rect">
            <a:avLst/>
          </a:prstGeom>
          <a:noFill/>
          <a:ln/>
        </p:spPr>
        <p:txBody>
          <a:bodyPr wrap="square" lIns="25400" tIns="25400" rIns="25400" bIns="25400" rtlCol="0" anchor="t">
            <a:normAutofit/>
          </a:bodyPr>
          <a:lstStyle/>
          <a:p>
            <a:pPr algn="ctr" indent="0" marL="0">
              <a:buNone/>
            </a:pPr>
            <a:r>
              <a:rPr lang="en-US" sz="1050" dirty="0">
                <a:solidFill>
                  <a:srgbClr val="5B6675"/>
                </a:solidFill>
                <a:latin typeface="Public Sans" pitchFamily="34" charset="0"/>
                <a:ea typeface="Public Sans" pitchFamily="34" charset="-122"/>
                <a:cs typeface="Public Sans" pitchFamily="34" charset="-120"/>
              </a:rPr>
              <a:t>① Create meeting request</a:t>
            </a:r>
            <a:endParaRPr lang="en-US" sz="1050" dirty="0"/>
          </a:p>
        </p:txBody>
      </p:sp>
      <p:sp>
        <p:nvSpPr>
          <p:cNvPr id="9" name="Text 7"/>
          <p:cNvSpPr/>
          <p:nvPr/>
        </p:nvSpPr>
        <p:spPr>
          <a:xfrm>
            <a:off x="3064178" y="2765402"/>
            <a:ext cx="2492818" cy="1523930"/>
          </a:xfrm>
          <a:prstGeom prst="rect">
            <a:avLst/>
          </a:prstGeom>
          <a:noFill/>
          <a:ln/>
        </p:spPr>
        <p:txBody>
          <a:bodyPr wrap="square" lIns="25400" tIns="25400" rIns="25400" bIns="25400" rtlCol="0" anchor="ctr">
            <a:normAutofit/>
          </a:bodyPr>
          <a:lstStyle/>
          <a:p>
            <a:pPr algn="ctr" indent="0" marL="0">
              <a:buNone/>
            </a:pPr>
            <a:r>
              <a:rPr lang="en-US" sz="2250" dirty="0">
                <a:solidFill>
                  <a:srgbClr val="1C5C43"/>
                </a:solidFill>
                <a:latin typeface="Public Sans" pitchFamily="34" charset="0"/>
                <a:ea typeface="Public Sans" pitchFamily="34" charset="-122"/>
                <a:cs typeface="Public Sans" pitchFamily="34" charset="-120"/>
              </a:rPr>
              <a:t>→</a:t>
            </a:r>
            <a:endParaRPr lang="en-US" sz="2250" dirty="0"/>
          </a:p>
        </p:txBody>
      </p:sp>
      <p:sp>
        <p:nvSpPr>
          <p:cNvPr id="10" name="Shape 8"/>
          <p:cNvSpPr/>
          <p:nvPr/>
        </p:nvSpPr>
        <p:spPr>
          <a:xfrm>
            <a:off x="5518897" y="2765402"/>
            <a:ext cx="2416618" cy="1485830"/>
          </a:xfrm>
          <a:prstGeom prst="roundRect">
            <a:avLst>
              <a:gd name="adj" fmla="val 7693"/>
            </a:avLst>
          </a:prstGeom>
          <a:solidFill>
            <a:srgbClr val="FFFFFF"/>
          </a:solidFill>
          <a:ln w="11206">
            <a:solidFill>
              <a:srgbClr val="DBE2EA"/>
            </a:solidFill>
            <a:prstDash val="solid"/>
          </a:ln>
        </p:spPr>
      </p:sp>
      <p:sp>
        <p:nvSpPr>
          <p:cNvPr id="11" name="Shape 9"/>
          <p:cNvSpPr/>
          <p:nvPr/>
        </p:nvSpPr>
        <p:spPr>
          <a:xfrm>
            <a:off x="6536706" y="2967107"/>
            <a:ext cx="381000" cy="381000"/>
          </a:xfrm>
          <a:prstGeom prst="roundRect">
            <a:avLst>
              <a:gd name="adj" fmla="val 22500"/>
            </a:avLst>
          </a:prstGeom>
          <a:solidFill>
            <a:srgbClr val="1C5C43"/>
          </a:solidFill>
          <a:ln/>
        </p:spPr>
      </p:sp>
      <p:sp>
        <p:nvSpPr>
          <p:cNvPr id="12" name="Text 10"/>
          <p:cNvSpPr/>
          <p:nvPr/>
        </p:nvSpPr>
        <p:spPr>
          <a:xfrm>
            <a:off x="6498606" y="2967107"/>
            <a:ext cx="457200" cy="419100"/>
          </a:xfrm>
          <a:prstGeom prst="rect">
            <a:avLst/>
          </a:prstGeom>
          <a:noFill/>
          <a:ln/>
        </p:spPr>
        <p:txBody>
          <a:bodyPr wrap="square" lIns="25400" tIns="25400" rIns="25400" bIns="25400" rtlCol="0" anchor="ctr">
            <a:normAutofit/>
          </a:bodyPr>
          <a:lstStyle/>
          <a:p>
            <a:pPr algn="ctr" indent="0" marL="0">
              <a:buNone/>
            </a:pPr>
            <a:r>
              <a:rPr lang="en-US" sz="1125" b="1" dirty="0">
                <a:solidFill>
                  <a:srgbClr val="FFFFFF"/>
                </a:solidFill>
                <a:latin typeface="IBM Plex Mono" pitchFamily="34" charset="0"/>
                <a:ea typeface="IBM Plex Mono" pitchFamily="34" charset="-122"/>
                <a:cs typeface="IBM Plex Mono" pitchFamily="34" charset="-120"/>
              </a:rPr>
              <a:t>Gr</a:t>
            </a:r>
            <a:endParaRPr lang="en-US" sz="1125" dirty="0"/>
          </a:p>
        </p:txBody>
      </p:sp>
      <p:sp>
        <p:nvSpPr>
          <p:cNvPr id="13" name="Text 11"/>
          <p:cNvSpPr/>
          <p:nvPr/>
        </p:nvSpPr>
        <p:spPr>
          <a:xfrm>
            <a:off x="5619942" y="3424272"/>
            <a:ext cx="2214527" cy="251012"/>
          </a:xfrm>
          <a:prstGeom prst="rect">
            <a:avLst/>
          </a:prstGeom>
          <a:noFill/>
          <a:ln/>
        </p:spPr>
        <p:txBody>
          <a:bodyPr wrap="square" lIns="25400" tIns="25400" rIns="25400" bIns="25400" rtlCol="0" anchor="t">
            <a:normAutofit/>
          </a:bodyPr>
          <a:lstStyle/>
          <a:p>
            <a:pPr algn="ctr" indent="0" marL="0">
              <a:buNone/>
            </a:pPr>
            <a:r>
              <a:rPr lang="en-US" sz="1425" b="1" dirty="0">
                <a:solidFill>
                  <a:srgbClr val="0D2E22"/>
                </a:solidFill>
                <a:latin typeface="Public Sans" pitchFamily="34" charset="0"/>
                <a:ea typeface="Public Sans" pitchFamily="34" charset="-122"/>
                <a:cs typeface="Public Sans" pitchFamily="34" charset="-120"/>
              </a:rPr>
              <a:t>Graph</a:t>
            </a:r>
            <a:endParaRPr lang="en-US" sz="1425" dirty="0"/>
          </a:p>
        </p:txBody>
      </p:sp>
      <p:sp>
        <p:nvSpPr>
          <p:cNvPr id="14" name="Text 12"/>
          <p:cNvSpPr/>
          <p:nvPr/>
        </p:nvSpPr>
        <p:spPr>
          <a:xfrm>
            <a:off x="5682503" y="3713349"/>
            <a:ext cx="2089407" cy="363071"/>
          </a:xfrm>
          <a:prstGeom prst="rect">
            <a:avLst/>
          </a:prstGeom>
          <a:noFill/>
          <a:ln/>
        </p:spPr>
        <p:txBody>
          <a:bodyPr wrap="square" lIns="25400" tIns="25400" rIns="25400" bIns="25400" rtlCol="0" anchor="t">
            <a:normAutofit/>
          </a:bodyPr>
          <a:lstStyle/>
          <a:p>
            <a:pPr algn="ctr" indent="0" marL="0">
              <a:buNone/>
            </a:pPr>
            <a:r>
              <a:rPr lang="en-US" sz="1050" dirty="0">
                <a:solidFill>
                  <a:srgbClr val="5B6675"/>
                </a:solidFill>
                <a:latin typeface="Public Sans" pitchFamily="34" charset="0"/>
                <a:ea typeface="Public Sans" pitchFamily="34" charset="-122"/>
                <a:cs typeface="Public Sans" pitchFamily="34" charset="-120"/>
              </a:rPr>
              <a:t>② getSchedule · findMeetingTimes · rooms</a:t>
            </a:r>
            <a:endParaRPr lang="en-US" sz="1050" dirty="0"/>
          </a:p>
        </p:txBody>
      </p:sp>
      <p:sp>
        <p:nvSpPr>
          <p:cNvPr id="15" name="Text 13"/>
          <p:cNvSpPr/>
          <p:nvPr/>
        </p:nvSpPr>
        <p:spPr>
          <a:xfrm>
            <a:off x="7897415" y="2765402"/>
            <a:ext cx="2492993" cy="1523930"/>
          </a:xfrm>
          <a:prstGeom prst="rect">
            <a:avLst/>
          </a:prstGeom>
          <a:noFill/>
          <a:ln/>
        </p:spPr>
        <p:txBody>
          <a:bodyPr wrap="square" lIns="25400" tIns="25400" rIns="25400" bIns="25400" rtlCol="0" anchor="ctr">
            <a:normAutofit/>
          </a:bodyPr>
          <a:lstStyle/>
          <a:p>
            <a:pPr algn="ctr" indent="0" marL="0">
              <a:buNone/>
            </a:pPr>
            <a:r>
              <a:rPr lang="en-US" sz="2250" dirty="0">
                <a:solidFill>
                  <a:srgbClr val="1C5C43"/>
                </a:solidFill>
                <a:latin typeface="Public Sans" pitchFamily="34" charset="0"/>
                <a:ea typeface="Public Sans" pitchFamily="34" charset="-122"/>
                <a:cs typeface="Public Sans" pitchFamily="34" charset="-120"/>
              </a:rPr>
              <a:t>→</a:t>
            </a:r>
            <a:endParaRPr lang="en-US" sz="2250" dirty="0"/>
          </a:p>
        </p:txBody>
      </p:sp>
      <p:sp>
        <p:nvSpPr>
          <p:cNvPr id="16" name="Shape 14"/>
          <p:cNvSpPr/>
          <p:nvPr/>
        </p:nvSpPr>
        <p:spPr>
          <a:xfrm>
            <a:off x="10352309" y="2765402"/>
            <a:ext cx="2416618" cy="1485830"/>
          </a:xfrm>
          <a:prstGeom prst="roundRect">
            <a:avLst>
              <a:gd name="adj" fmla="val 7693"/>
            </a:avLst>
          </a:prstGeom>
          <a:solidFill>
            <a:srgbClr val="FFFFFF"/>
          </a:solidFill>
          <a:ln w="11206">
            <a:solidFill>
              <a:srgbClr val="DBE2EA"/>
            </a:solidFill>
            <a:prstDash val="solid"/>
          </a:ln>
        </p:spPr>
      </p:sp>
      <p:sp>
        <p:nvSpPr>
          <p:cNvPr id="17" name="Shape 15"/>
          <p:cNvSpPr/>
          <p:nvPr/>
        </p:nvSpPr>
        <p:spPr>
          <a:xfrm>
            <a:off x="11370118" y="2967107"/>
            <a:ext cx="381000" cy="381000"/>
          </a:xfrm>
          <a:prstGeom prst="roundRect">
            <a:avLst>
              <a:gd name="adj" fmla="val 22500"/>
            </a:avLst>
          </a:prstGeom>
          <a:solidFill>
            <a:srgbClr val="0078D4"/>
          </a:solidFill>
          <a:ln/>
        </p:spPr>
      </p:sp>
      <p:sp>
        <p:nvSpPr>
          <p:cNvPr id="18" name="Text 16"/>
          <p:cNvSpPr/>
          <p:nvPr/>
        </p:nvSpPr>
        <p:spPr>
          <a:xfrm>
            <a:off x="11332018" y="2967107"/>
            <a:ext cx="457200" cy="419100"/>
          </a:xfrm>
          <a:prstGeom prst="rect">
            <a:avLst/>
          </a:prstGeom>
          <a:noFill/>
          <a:ln/>
        </p:spPr>
        <p:txBody>
          <a:bodyPr wrap="square" lIns="25400" tIns="25400" rIns="25400" bIns="25400" rtlCol="0" anchor="ctr">
            <a:normAutofit/>
          </a:bodyPr>
          <a:lstStyle/>
          <a:p>
            <a:pPr algn="ctr" indent="0" marL="0">
              <a:buNone/>
            </a:pPr>
            <a:r>
              <a:rPr lang="en-US" sz="1125" b="1" dirty="0">
                <a:solidFill>
                  <a:srgbClr val="FFFFFF"/>
                </a:solidFill>
                <a:latin typeface="IBM Plex Mono" pitchFamily="34" charset="0"/>
                <a:ea typeface="IBM Plex Mono" pitchFamily="34" charset="-122"/>
                <a:cs typeface="IBM Plex Mono" pitchFamily="34" charset="-120"/>
              </a:rPr>
              <a:t>Ol</a:t>
            </a:r>
            <a:endParaRPr lang="en-US" sz="1125" dirty="0"/>
          </a:p>
        </p:txBody>
      </p:sp>
      <p:sp>
        <p:nvSpPr>
          <p:cNvPr id="19" name="Text 17"/>
          <p:cNvSpPr/>
          <p:nvPr/>
        </p:nvSpPr>
        <p:spPr>
          <a:xfrm>
            <a:off x="10453355" y="3424272"/>
            <a:ext cx="2214527" cy="251012"/>
          </a:xfrm>
          <a:prstGeom prst="rect">
            <a:avLst/>
          </a:prstGeom>
          <a:noFill/>
          <a:ln/>
        </p:spPr>
        <p:txBody>
          <a:bodyPr wrap="square" lIns="25400" tIns="25400" rIns="25400" bIns="25400" rtlCol="0" anchor="t">
            <a:normAutofit/>
          </a:bodyPr>
          <a:lstStyle/>
          <a:p>
            <a:pPr algn="ctr" indent="0" marL="0">
              <a:buNone/>
            </a:pPr>
            <a:r>
              <a:rPr lang="en-US" sz="1425" b="1" dirty="0">
                <a:solidFill>
                  <a:srgbClr val="0D2E22"/>
                </a:solidFill>
                <a:latin typeface="Public Sans" pitchFamily="34" charset="0"/>
                <a:ea typeface="Public Sans" pitchFamily="34" charset="-122"/>
                <a:cs typeface="Public Sans" pitchFamily="34" charset="-120"/>
              </a:rPr>
              <a:t>Outlook</a:t>
            </a:r>
            <a:endParaRPr lang="en-US" sz="1425" dirty="0"/>
          </a:p>
        </p:txBody>
      </p:sp>
      <p:sp>
        <p:nvSpPr>
          <p:cNvPr id="20" name="Text 18"/>
          <p:cNvSpPr/>
          <p:nvPr/>
        </p:nvSpPr>
        <p:spPr>
          <a:xfrm>
            <a:off x="10453355" y="3713349"/>
            <a:ext cx="2214527" cy="206188"/>
          </a:xfrm>
          <a:prstGeom prst="rect">
            <a:avLst/>
          </a:prstGeom>
          <a:noFill/>
          <a:ln/>
        </p:spPr>
        <p:txBody>
          <a:bodyPr wrap="square" lIns="25400" tIns="25400" rIns="25400" bIns="25400" rtlCol="0" anchor="t">
            <a:normAutofit/>
          </a:bodyPr>
          <a:lstStyle/>
          <a:p>
            <a:pPr algn="ctr" indent="0" marL="0">
              <a:buNone/>
            </a:pPr>
            <a:r>
              <a:rPr lang="en-US" sz="1050" dirty="0">
                <a:solidFill>
                  <a:srgbClr val="5B6675"/>
                </a:solidFill>
                <a:latin typeface="Public Sans" pitchFamily="34" charset="0"/>
                <a:ea typeface="Public Sans" pitchFamily="34" charset="-122"/>
                <a:cs typeface="Public Sans" pitchFamily="34" charset="-120"/>
              </a:rPr>
              <a:t>③ Reads live calendars</a:t>
            </a:r>
            <a:endParaRPr lang="en-US" sz="1050" dirty="0"/>
          </a:p>
        </p:txBody>
      </p:sp>
      <p:sp>
        <p:nvSpPr>
          <p:cNvPr id="21" name="Text 19"/>
          <p:cNvSpPr/>
          <p:nvPr/>
        </p:nvSpPr>
        <p:spPr>
          <a:xfrm>
            <a:off x="12730828" y="2765402"/>
            <a:ext cx="2492818" cy="1523930"/>
          </a:xfrm>
          <a:prstGeom prst="rect">
            <a:avLst/>
          </a:prstGeom>
          <a:noFill/>
          <a:ln/>
        </p:spPr>
        <p:txBody>
          <a:bodyPr wrap="square" lIns="25400" tIns="25400" rIns="25400" bIns="25400" rtlCol="0" anchor="ctr">
            <a:normAutofit/>
          </a:bodyPr>
          <a:lstStyle/>
          <a:p>
            <a:pPr algn="ctr" indent="0" marL="0">
              <a:buNone/>
            </a:pPr>
            <a:r>
              <a:rPr lang="en-US" sz="2250" dirty="0">
                <a:solidFill>
                  <a:srgbClr val="B4690E"/>
                </a:solidFill>
                <a:latin typeface="Public Sans" pitchFamily="34" charset="0"/>
                <a:ea typeface="Public Sans" pitchFamily="34" charset="-122"/>
                <a:cs typeface="Public Sans" pitchFamily="34" charset="-120"/>
              </a:rPr>
              <a:t>→</a:t>
            </a:r>
            <a:endParaRPr lang="en-US" sz="2250" dirty="0"/>
          </a:p>
        </p:txBody>
      </p:sp>
      <p:sp>
        <p:nvSpPr>
          <p:cNvPr id="22" name="Shape 20"/>
          <p:cNvSpPr/>
          <p:nvPr/>
        </p:nvSpPr>
        <p:spPr>
          <a:xfrm>
            <a:off x="15185545" y="2765402"/>
            <a:ext cx="2416618" cy="1485830"/>
          </a:xfrm>
          <a:prstGeom prst="roundRect">
            <a:avLst>
              <a:gd name="adj" fmla="val 7693"/>
            </a:avLst>
          </a:prstGeom>
          <a:solidFill>
            <a:srgbClr val="FFFFFF"/>
          </a:solidFill>
          <a:ln w="16809">
            <a:solidFill>
              <a:srgbClr val="ECCFA3"/>
            </a:solidFill>
            <a:prstDash val="solid"/>
          </a:ln>
        </p:spPr>
      </p:sp>
      <p:sp>
        <p:nvSpPr>
          <p:cNvPr id="23" name="Shape 21"/>
          <p:cNvSpPr/>
          <p:nvPr/>
        </p:nvSpPr>
        <p:spPr>
          <a:xfrm>
            <a:off x="16203355" y="2972710"/>
            <a:ext cx="381000" cy="381000"/>
          </a:xfrm>
          <a:prstGeom prst="roundRect">
            <a:avLst>
              <a:gd name="adj" fmla="val 22500"/>
            </a:avLst>
          </a:prstGeom>
          <a:solidFill>
            <a:srgbClr val="B4690E"/>
          </a:solidFill>
          <a:ln/>
        </p:spPr>
      </p:sp>
      <p:sp>
        <p:nvSpPr>
          <p:cNvPr id="24" name="Text 22"/>
          <p:cNvSpPr/>
          <p:nvPr/>
        </p:nvSpPr>
        <p:spPr>
          <a:xfrm>
            <a:off x="16165255" y="2972710"/>
            <a:ext cx="457200" cy="419100"/>
          </a:xfrm>
          <a:prstGeom prst="rect">
            <a:avLst/>
          </a:prstGeom>
          <a:noFill/>
          <a:ln/>
        </p:spPr>
        <p:txBody>
          <a:bodyPr wrap="square" lIns="25400" tIns="25400" rIns="25400" bIns="25400" rtlCol="0" anchor="ctr">
            <a:normAutofit/>
          </a:bodyPr>
          <a:lstStyle/>
          <a:p>
            <a:pPr algn="ctr" indent="0" marL="0">
              <a:buNone/>
            </a:pPr>
            <a:r>
              <a:rPr lang="en-US" sz="1125" b="1" dirty="0">
                <a:solidFill>
                  <a:srgbClr val="FFFFFF"/>
                </a:solidFill>
                <a:latin typeface="IBM Plex Mono" pitchFamily="34" charset="0"/>
                <a:ea typeface="IBM Plex Mono" pitchFamily="34" charset="-122"/>
                <a:cs typeface="IBM Plex Mono" pitchFamily="34" charset="-120"/>
              </a:rPr>
              <a:t>AI</a:t>
            </a:r>
            <a:endParaRPr lang="en-US" sz="1125" dirty="0"/>
          </a:p>
        </p:txBody>
      </p:sp>
      <p:sp>
        <p:nvSpPr>
          <p:cNvPr id="25" name="Text 23"/>
          <p:cNvSpPr/>
          <p:nvPr/>
        </p:nvSpPr>
        <p:spPr>
          <a:xfrm>
            <a:off x="15292755" y="3429875"/>
            <a:ext cx="2202201" cy="251012"/>
          </a:xfrm>
          <a:prstGeom prst="rect">
            <a:avLst/>
          </a:prstGeom>
          <a:noFill/>
          <a:ln/>
        </p:spPr>
        <p:txBody>
          <a:bodyPr wrap="square" lIns="25400" tIns="25400" rIns="25400" bIns="25400" rtlCol="0" anchor="t">
            <a:normAutofit/>
          </a:bodyPr>
          <a:lstStyle/>
          <a:p>
            <a:pPr algn="ctr" indent="0" marL="0">
              <a:buNone/>
            </a:pPr>
            <a:r>
              <a:rPr lang="en-US" sz="1425" b="1" dirty="0">
                <a:solidFill>
                  <a:srgbClr val="0D2E22"/>
                </a:solidFill>
                <a:latin typeface="Public Sans" pitchFamily="34" charset="0"/>
                <a:ea typeface="Public Sans" pitchFamily="34" charset="-122"/>
                <a:cs typeface="Public Sans" pitchFamily="34" charset="-120"/>
              </a:rPr>
              <a:t>Azure OpenAI</a:t>
            </a:r>
            <a:endParaRPr lang="en-US" sz="1425" dirty="0"/>
          </a:p>
        </p:txBody>
      </p:sp>
      <p:sp>
        <p:nvSpPr>
          <p:cNvPr id="26" name="Text 24"/>
          <p:cNvSpPr/>
          <p:nvPr/>
        </p:nvSpPr>
        <p:spPr>
          <a:xfrm>
            <a:off x="15354755" y="3718952"/>
            <a:ext cx="2078201" cy="363071"/>
          </a:xfrm>
          <a:prstGeom prst="rect">
            <a:avLst/>
          </a:prstGeom>
          <a:noFill/>
          <a:ln/>
        </p:spPr>
        <p:txBody>
          <a:bodyPr wrap="square" lIns="25400" tIns="25400" rIns="25400" bIns="25400" rtlCol="0" anchor="t">
            <a:normAutofit/>
          </a:bodyPr>
          <a:lstStyle/>
          <a:p>
            <a:pPr algn="ctr" indent="0" marL="0">
              <a:buNone/>
            </a:pPr>
            <a:r>
              <a:rPr lang="en-US" sz="1050" dirty="0">
                <a:solidFill>
                  <a:srgbClr val="5B6675"/>
                </a:solidFill>
                <a:latin typeface="Public Sans" pitchFamily="34" charset="0"/>
                <a:ea typeface="Public Sans" pitchFamily="34" charset="-122"/>
                <a:cs typeface="Public Sans" pitchFamily="34" charset="-120"/>
              </a:rPr>
              <a:t>④ Ranks slots · drafts invite — RM reviews</a:t>
            </a:r>
            <a:endParaRPr lang="en-US" sz="1050" dirty="0"/>
          </a:p>
        </p:txBody>
      </p:sp>
      <p:sp>
        <p:nvSpPr>
          <p:cNvPr id="27" name="Shape 25"/>
          <p:cNvSpPr/>
          <p:nvPr/>
        </p:nvSpPr>
        <p:spPr>
          <a:xfrm>
            <a:off x="685660" y="6679231"/>
            <a:ext cx="3383301" cy="1328948"/>
          </a:xfrm>
          <a:prstGeom prst="roundRect">
            <a:avLst>
              <a:gd name="adj" fmla="val 8601"/>
            </a:avLst>
          </a:prstGeom>
          <a:solidFill>
            <a:srgbClr val="FFFFFF"/>
          </a:solidFill>
          <a:ln w="11206">
            <a:solidFill>
              <a:srgbClr val="DBE2EA"/>
            </a:solidFill>
            <a:prstDash val="solid"/>
          </a:ln>
        </p:spPr>
      </p:sp>
      <p:sp>
        <p:nvSpPr>
          <p:cNvPr id="28" name="Shape 26"/>
          <p:cNvSpPr/>
          <p:nvPr/>
        </p:nvSpPr>
        <p:spPr>
          <a:xfrm>
            <a:off x="2186723" y="6880936"/>
            <a:ext cx="381000" cy="381000"/>
          </a:xfrm>
          <a:prstGeom prst="roundRect">
            <a:avLst>
              <a:gd name="adj" fmla="val 22500"/>
            </a:avLst>
          </a:prstGeom>
          <a:solidFill>
            <a:srgbClr val="742774"/>
          </a:solidFill>
          <a:ln/>
        </p:spPr>
      </p:sp>
      <p:sp>
        <p:nvSpPr>
          <p:cNvPr id="29" name="Text 27"/>
          <p:cNvSpPr/>
          <p:nvPr/>
        </p:nvSpPr>
        <p:spPr>
          <a:xfrm>
            <a:off x="2148623" y="6880936"/>
            <a:ext cx="457200" cy="419100"/>
          </a:xfrm>
          <a:prstGeom prst="rect">
            <a:avLst/>
          </a:prstGeom>
          <a:noFill/>
          <a:ln/>
        </p:spPr>
        <p:txBody>
          <a:bodyPr wrap="square" lIns="25400" tIns="25400" rIns="25400" bIns="25400" rtlCol="0" anchor="ctr">
            <a:normAutofit/>
          </a:bodyPr>
          <a:lstStyle/>
          <a:p>
            <a:pPr algn="ctr" indent="0" marL="0">
              <a:buNone/>
            </a:pPr>
            <a:r>
              <a:rPr lang="en-US" sz="975" b="1" dirty="0">
                <a:solidFill>
                  <a:srgbClr val="FFFFFF"/>
                </a:solidFill>
                <a:latin typeface="IBM Plex Mono" pitchFamily="34" charset="0"/>
                <a:ea typeface="IBM Plex Mono" pitchFamily="34" charset="-122"/>
                <a:cs typeface="IBM Plex Mono" pitchFamily="34" charset="-120"/>
              </a:rPr>
              <a:t>Web</a:t>
            </a:r>
            <a:endParaRPr lang="en-US" sz="975" dirty="0"/>
          </a:p>
        </p:txBody>
      </p:sp>
      <p:sp>
        <p:nvSpPr>
          <p:cNvPr id="30" name="Text 28"/>
          <p:cNvSpPr/>
          <p:nvPr/>
        </p:nvSpPr>
        <p:spPr>
          <a:xfrm>
            <a:off x="738371" y="7338102"/>
            <a:ext cx="3277878" cy="251012"/>
          </a:xfrm>
          <a:prstGeom prst="rect">
            <a:avLst/>
          </a:prstGeom>
          <a:noFill/>
          <a:ln/>
        </p:spPr>
        <p:txBody>
          <a:bodyPr wrap="square" lIns="25400" tIns="25400" rIns="25400" bIns="25400" rtlCol="0" anchor="t">
            <a:normAutofit/>
          </a:bodyPr>
          <a:lstStyle/>
          <a:p>
            <a:pPr algn="ctr" indent="0" marL="0">
              <a:buNone/>
            </a:pPr>
            <a:r>
              <a:rPr lang="en-US" sz="1425" b="1" dirty="0">
                <a:solidFill>
                  <a:srgbClr val="0D2E22"/>
                </a:solidFill>
                <a:latin typeface="Public Sans" pitchFamily="34" charset="0"/>
                <a:ea typeface="Public Sans" pitchFamily="34" charset="-122"/>
                <a:cs typeface="Public Sans" pitchFamily="34" charset="-120"/>
              </a:rPr>
              <a:t>Booking page</a:t>
            </a:r>
            <a:endParaRPr lang="en-US" sz="1425" dirty="0"/>
          </a:p>
        </p:txBody>
      </p:sp>
      <p:sp>
        <p:nvSpPr>
          <p:cNvPr id="31" name="Text 29"/>
          <p:cNvSpPr/>
          <p:nvPr/>
        </p:nvSpPr>
        <p:spPr>
          <a:xfrm>
            <a:off x="738371" y="7627178"/>
            <a:ext cx="3277878" cy="206188"/>
          </a:xfrm>
          <a:prstGeom prst="rect">
            <a:avLst/>
          </a:prstGeom>
          <a:noFill/>
          <a:ln/>
        </p:spPr>
        <p:txBody>
          <a:bodyPr wrap="square" lIns="25400" tIns="25400" rIns="25400" bIns="25400" rtlCol="0" anchor="t">
            <a:normAutofit/>
          </a:bodyPr>
          <a:lstStyle/>
          <a:p>
            <a:pPr algn="ctr" indent="0" marL="0">
              <a:buNone/>
            </a:pPr>
            <a:r>
              <a:rPr lang="en-US" sz="1050" dirty="0">
                <a:solidFill>
                  <a:srgbClr val="5B6675"/>
                </a:solidFill>
                <a:latin typeface="Public Sans" pitchFamily="34" charset="0"/>
                <a:ea typeface="Public Sans" pitchFamily="34" charset="-122"/>
                <a:cs typeface="Public Sans" pitchFamily="34" charset="-120"/>
              </a:rPr>
              <a:t>⑤ Selects slot — Static Web App</a:t>
            </a:r>
            <a:endParaRPr lang="en-US" sz="1050" dirty="0"/>
          </a:p>
        </p:txBody>
      </p:sp>
      <p:sp>
        <p:nvSpPr>
          <p:cNvPr id="32" name="Text 30"/>
          <p:cNvSpPr/>
          <p:nvPr/>
        </p:nvSpPr>
        <p:spPr>
          <a:xfrm>
            <a:off x="4018211" y="6679231"/>
            <a:ext cx="3484800" cy="1367048"/>
          </a:xfrm>
          <a:prstGeom prst="rect">
            <a:avLst/>
          </a:prstGeom>
          <a:noFill/>
          <a:ln/>
        </p:spPr>
        <p:txBody>
          <a:bodyPr wrap="square" lIns="25400" tIns="25400" rIns="25400" bIns="25400" rtlCol="0" anchor="ctr">
            <a:normAutofit/>
          </a:bodyPr>
          <a:lstStyle/>
          <a:p>
            <a:pPr algn="ctr" indent="0" marL="0">
              <a:buNone/>
            </a:pPr>
            <a:r>
              <a:rPr lang="en-US" sz="2250" dirty="0">
                <a:solidFill>
                  <a:srgbClr val="14513A"/>
                </a:solidFill>
                <a:latin typeface="Public Sans" pitchFamily="34" charset="0"/>
                <a:ea typeface="Public Sans" pitchFamily="34" charset="-122"/>
                <a:cs typeface="Public Sans" pitchFamily="34" charset="-120"/>
              </a:rPr>
              <a:t>→</a:t>
            </a:r>
            <a:endParaRPr lang="en-US" sz="2250" dirty="0"/>
          </a:p>
        </p:txBody>
      </p:sp>
      <p:sp>
        <p:nvSpPr>
          <p:cNvPr id="33" name="Shape 31"/>
          <p:cNvSpPr/>
          <p:nvPr/>
        </p:nvSpPr>
        <p:spPr>
          <a:xfrm>
            <a:off x="7452261" y="6679231"/>
            <a:ext cx="3383301" cy="1328948"/>
          </a:xfrm>
          <a:prstGeom prst="roundRect">
            <a:avLst>
              <a:gd name="adj" fmla="val 8601"/>
            </a:avLst>
          </a:prstGeom>
          <a:solidFill>
            <a:srgbClr val="FFFFFF"/>
          </a:solidFill>
          <a:ln w="16809">
            <a:solidFill>
              <a:srgbClr val="14513A"/>
            </a:solidFill>
            <a:prstDash val="solid"/>
          </a:ln>
        </p:spPr>
      </p:sp>
      <p:sp>
        <p:nvSpPr>
          <p:cNvPr id="34" name="Shape 32"/>
          <p:cNvSpPr/>
          <p:nvPr/>
        </p:nvSpPr>
        <p:spPr>
          <a:xfrm>
            <a:off x="8953324" y="6886540"/>
            <a:ext cx="381000" cy="381000"/>
          </a:xfrm>
          <a:prstGeom prst="roundRect">
            <a:avLst>
              <a:gd name="adj" fmla="val 22500"/>
            </a:avLst>
          </a:prstGeom>
          <a:solidFill>
            <a:srgbClr val="14513A"/>
          </a:solidFill>
          <a:ln/>
        </p:spPr>
      </p:sp>
      <p:sp>
        <p:nvSpPr>
          <p:cNvPr id="35" name="Text 33"/>
          <p:cNvSpPr/>
          <p:nvPr/>
        </p:nvSpPr>
        <p:spPr>
          <a:xfrm>
            <a:off x="8915224" y="6886540"/>
            <a:ext cx="457200" cy="419100"/>
          </a:xfrm>
          <a:prstGeom prst="rect">
            <a:avLst/>
          </a:prstGeom>
          <a:noFill/>
          <a:ln/>
        </p:spPr>
        <p:txBody>
          <a:bodyPr wrap="square" lIns="25400" tIns="25400" rIns="25400" bIns="25400" rtlCol="0" anchor="ctr">
            <a:normAutofit/>
          </a:bodyPr>
          <a:lstStyle/>
          <a:p>
            <a:pPr algn="ctr" indent="0" marL="0">
              <a:buNone/>
            </a:pPr>
            <a:r>
              <a:rPr lang="en-US" sz="1125" b="1" dirty="0">
                <a:solidFill>
                  <a:srgbClr val="FFFFFF"/>
                </a:solidFill>
                <a:latin typeface="IBM Plex Mono" pitchFamily="34" charset="0"/>
                <a:ea typeface="IBM Plex Mono" pitchFamily="34" charset="-122"/>
                <a:cs typeface="IBM Plex Mono" pitchFamily="34" charset="-120"/>
              </a:rPr>
              <a:t>Fl</a:t>
            </a:r>
            <a:endParaRPr lang="en-US" sz="1125" dirty="0"/>
          </a:p>
        </p:txBody>
      </p:sp>
      <p:sp>
        <p:nvSpPr>
          <p:cNvPr id="36" name="Text 34"/>
          <p:cNvSpPr/>
          <p:nvPr/>
        </p:nvSpPr>
        <p:spPr>
          <a:xfrm>
            <a:off x="7511136" y="7343705"/>
            <a:ext cx="3265552" cy="251012"/>
          </a:xfrm>
          <a:prstGeom prst="rect">
            <a:avLst/>
          </a:prstGeom>
          <a:noFill/>
          <a:ln/>
        </p:spPr>
        <p:txBody>
          <a:bodyPr wrap="square" lIns="25400" tIns="25400" rIns="25400" bIns="25400" rtlCol="0" anchor="t">
            <a:normAutofit/>
          </a:bodyPr>
          <a:lstStyle/>
          <a:p>
            <a:pPr algn="ctr" indent="0" marL="0">
              <a:buNone/>
            </a:pPr>
            <a:r>
              <a:rPr lang="en-US" sz="1425" b="1" dirty="0">
                <a:solidFill>
                  <a:srgbClr val="0D2E22"/>
                </a:solidFill>
                <a:latin typeface="Public Sans" pitchFamily="34" charset="0"/>
                <a:ea typeface="Public Sans" pitchFamily="34" charset="-122"/>
                <a:cs typeface="Public Sans" pitchFamily="34" charset="-120"/>
              </a:rPr>
              <a:t>Power Automate</a:t>
            </a:r>
            <a:endParaRPr lang="en-US" sz="1425" dirty="0"/>
          </a:p>
        </p:txBody>
      </p:sp>
      <p:sp>
        <p:nvSpPr>
          <p:cNvPr id="37" name="Text 35"/>
          <p:cNvSpPr/>
          <p:nvPr/>
        </p:nvSpPr>
        <p:spPr>
          <a:xfrm>
            <a:off x="7511136" y="7632781"/>
            <a:ext cx="3265552" cy="206188"/>
          </a:xfrm>
          <a:prstGeom prst="rect">
            <a:avLst/>
          </a:prstGeom>
          <a:noFill/>
          <a:ln/>
        </p:spPr>
        <p:txBody>
          <a:bodyPr wrap="square" lIns="25400" tIns="25400" rIns="25400" bIns="25400" rtlCol="0" anchor="t">
            <a:normAutofit/>
          </a:bodyPr>
          <a:lstStyle/>
          <a:p>
            <a:pPr algn="ctr" indent="0" marL="0">
              <a:buNone/>
            </a:pPr>
            <a:r>
              <a:rPr lang="en-US" sz="1050" dirty="0">
                <a:solidFill>
                  <a:srgbClr val="5B6675"/>
                </a:solidFill>
                <a:latin typeface="Public Sans" pitchFamily="34" charset="0"/>
                <a:ea typeface="Public Sans" pitchFamily="34" charset="-122"/>
                <a:cs typeface="Public Sans" pitchFamily="34" charset="-120"/>
              </a:rPr>
              <a:t>⑥ Orchestrates all actions</a:t>
            </a:r>
            <a:endParaRPr lang="en-US" sz="1050" dirty="0"/>
          </a:p>
        </p:txBody>
      </p:sp>
      <p:sp>
        <p:nvSpPr>
          <p:cNvPr id="38" name="Text 36"/>
          <p:cNvSpPr/>
          <p:nvPr/>
        </p:nvSpPr>
        <p:spPr>
          <a:xfrm>
            <a:off x="10784812" y="6679231"/>
            <a:ext cx="3484800" cy="1367048"/>
          </a:xfrm>
          <a:prstGeom prst="rect">
            <a:avLst/>
          </a:prstGeom>
          <a:noFill/>
          <a:ln/>
        </p:spPr>
        <p:txBody>
          <a:bodyPr wrap="square" lIns="25400" tIns="25400" rIns="25400" bIns="25400" rtlCol="0" anchor="ctr">
            <a:normAutofit/>
          </a:bodyPr>
          <a:lstStyle/>
          <a:p>
            <a:pPr algn="ctr" indent="0" marL="0">
              <a:buNone/>
            </a:pPr>
            <a:r>
              <a:rPr lang="en-US" sz="2250" dirty="0">
                <a:solidFill>
                  <a:srgbClr val="14513A"/>
                </a:solidFill>
                <a:latin typeface="Public Sans" pitchFamily="34" charset="0"/>
                <a:ea typeface="Public Sans" pitchFamily="34" charset="-122"/>
                <a:cs typeface="Public Sans" pitchFamily="34" charset="-120"/>
              </a:rPr>
              <a:t>⇉</a:t>
            </a:r>
            <a:endParaRPr lang="en-US" sz="2250" dirty="0"/>
          </a:p>
        </p:txBody>
      </p:sp>
      <p:sp>
        <p:nvSpPr>
          <p:cNvPr id="39" name="Shape 37"/>
          <p:cNvSpPr/>
          <p:nvPr/>
        </p:nvSpPr>
        <p:spPr>
          <a:xfrm>
            <a:off x="14218863" y="6679231"/>
            <a:ext cx="3383476" cy="626304"/>
          </a:xfrm>
          <a:prstGeom prst="roundRect">
            <a:avLst>
              <a:gd name="adj" fmla="val 15208"/>
            </a:avLst>
          </a:prstGeom>
          <a:solidFill>
            <a:srgbClr val="FFFFFF"/>
          </a:solidFill>
          <a:ln w="11206">
            <a:solidFill>
              <a:srgbClr val="DBE2EA"/>
            </a:solidFill>
            <a:prstDash val="solid"/>
          </a:ln>
        </p:spPr>
      </p:sp>
      <p:sp>
        <p:nvSpPr>
          <p:cNvPr id="40" name="Shape 38"/>
          <p:cNvSpPr/>
          <p:nvPr/>
        </p:nvSpPr>
        <p:spPr>
          <a:xfrm>
            <a:off x="14344229" y="6868505"/>
            <a:ext cx="247580" cy="247580"/>
          </a:xfrm>
          <a:prstGeom prst="roundRect">
            <a:avLst>
              <a:gd name="adj" fmla="val 23083"/>
            </a:avLst>
          </a:prstGeom>
          <a:solidFill>
            <a:srgbClr val="0078D4"/>
          </a:solidFill>
          <a:ln/>
        </p:spPr>
      </p:sp>
      <p:sp>
        <p:nvSpPr>
          <p:cNvPr id="41" name="Text 39"/>
          <p:cNvSpPr/>
          <p:nvPr/>
        </p:nvSpPr>
        <p:spPr>
          <a:xfrm>
            <a:off x="14306129" y="6868505"/>
            <a:ext cx="323780" cy="285680"/>
          </a:xfrm>
          <a:prstGeom prst="rect">
            <a:avLst/>
          </a:prstGeom>
          <a:noFill/>
          <a:ln/>
        </p:spPr>
        <p:txBody>
          <a:bodyPr wrap="square" lIns="25400" tIns="25400" rIns="25400" bIns="25400" rtlCol="0" anchor="ctr">
            <a:normAutofit/>
          </a:bodyPr>
          <a:lstStyle/>
          <a:p>
            <a:pPr algn="ctr" indent="0" marL="0">
              <a:buNone/>
            </a:pPr>
            <a:r>
              <a:rPr lang="en-US" sz="825" b="1" dirty="0">
                <a:solidFill>
                  <a:srgbClr val="FFFFFF"/>
                </a:solidFill>
                <a:latin typeface="IBM Plex Mono" pitchFamily="34" charset="0"/>
                <a:ea typeface="IBM Plex Mono" pitchFamily="34" charset="-122"/>
                <a:cs typeface="IBM Plex Mono" pitchFamily="34" charset="-120"/>
              </a:rPr>
              <a:t>Ol</a:t>
            </a:r>
            <a:endParaRPr lang="en-US" sz="825" dirty="0"/>
          </a:p>
        </p:txBody>
      </p:sp>
      <p:sp>
        <p:nvSpPr>
          <p:cNvPr id="42" name="Text 40"/>
          <p:cNvSpPr/>
          <p:nvPr/>
        </p:nvSpPr>
        <p:spPr>
          <a:xfrm>
            <a:off x="14687059" y="6908251"/>
            <a:ext cx="1861297" cy="206188"/>
          </a:xfrm>
          <a:prstGeom prst="rect">
            <a:avLst/>
          </a:prstGeom>
          <a:noFill/>
          <a:ln/>
        </p:spPr>
        <p:txBody>
          <a:bodyPr wrap="square" lIns="25400" tIns="25400" rIns="25400" bIns="25400" rtlCol="0" anchor="t">
            <a:normAutofit/>
          </a:bodyPr>
          <a:lstStyle/>
          <a:p>
            <a:pPr algn="l" indent="0" marL="0">
              <a:buNone/>
            </a:pPr>
            <a:r>
              <a:rPr lang="en-US" sz="1125" b="1" dirty="0">
                <a:solidFill>
                  <a:srgbClr val="0D2E22"/>
                </a:solidFill>
                <a:latin typeface="Public Sans" pitchFamily="34" charset="0"/>
                <a:ea typeface="Public Sans" pitchFamily="34" charset="-122"/>
                <a:cs typeface="Public Sans" pitchFamily="34" charset="-120"/>
              </a:rPr>
              <a:t>⑦ Event + room (one call)</a:t>
            </a:r>
            <a:endParaRPr lang="en-US" sz="1125" dirty="0"/>
          </a:p>
        </p:txBody>
      </p:sp>
      <p:sp>
        <p:nvSpPr>
          <p:cNvPr id="43" name="Shape 41"/>
          <p:cNvSpPr/>
          <p:nvPr/>
        </p:nvSpPr>
        <p:spPr>
          <a:xfrm>
            <a:off x="14218863" y="7381699"/>
            <a:ext cx="3383476" cy="626479"/>
          </a:xfrm>
          <a:prstGeom prst="roundRect">
            <a:avLst>
              <a:gd name="adj" fmla="val 15204"/>
            </a:avLst>
          </a:prstGeom>
          <a:solidFill>
            <a:srgbClr val="FFFFFF"/>
          </a:solidFill>
          <a:ln w="11206">
            <a:solidFill>
              <a:srgbClr val="DBE2EA"/>
            </a:solidFill>
            <a:prstDash val="solid"/>
          </a:ln>
        </p:spPr>
      </p:sp>
      <p:sp>
        <p:nvSpPr>
          <p:cNvPr id="44" name="Shape 42"/>
          <p:cNvSpPr/>
          <p:nvPr/>
        </p:nvSpPr>
        <p:spPr>
          <a:xfrm>
            <a:off x="14344229" y="7571149"/>
            <a:ext cx="247580" cy="247580"/>
          </a:xfrm>
          <a:prstGeom prst="roundRect">
            <a:avLst>
              <a:gd name="adj" fmla="val 23083"/>
            </a:avLst>
          </a:prstGeom>
          <a:solidFill>
            <a:srgbClr val="0B7A75"/>
          </a:solidFill>
          <a:ln/>
        </p:spPr>
      </p:sp>
      <p:sp>
        <p:nvSpPr>
          <p:cNvPr id="45" name="Text 43"/>
          <p:cNvSpPr/>
          <p:nvPr/>
        </p:nvSpPr>
        <p:spPr>
          <a:xfrm>
            <a:off x="14306129" y="7571149"/>
            <a:ext cx="323780" cy="285680"/>
          </a:xfrm>
          <a:prstGeom prst="rect">
            <a:avLst/>
          </a:prstGeom>
          <a:noFill/>
          <a:ln/>
        </p:spPr>
        <p:txBody>
          <a:bodyPr wrap="square" lIns="25400" tIns="25400" rIns="25400" bIns="25400" rtlCol="0" anchor="ctr">
            <a:normAutofit/>
          </a:bodyPr>
          <a:lstStyle/>
          <a:p>
            <a:pPr algn="ctr" indent="0" marL="0">
              <a:buNone/>
            </a:pPr>
            <a:r>
              <a:rPr lang="en-US" sz="794" b="1" dirty="0">
                <a:solidFill>
                  <a:srgbClr val="FFFFFF"/>
                </a:solidFill>
                <a:latin typeface="IBM Plex Mono" pitchFamily="34" charset="0"/>
                <a:ea typeface="IBM Plex Mono" pitchFamily="34" charset="-122"/>
                <a:cs typeface="IBM Plex Mono" pitchFamily="34" charset="-120"/>
              </a:rPr>
              <a:t>D3</a:t>
            </a:r>
            <a:endParaRPr lang="en-US" sz="794" dirty="0"/>
          </a:p>
        </p:txBody>
      </p:sp>
      <p:sp>
        <p:nvSpPr>
          <p:cNvPr id="46" name="Text 44"/>
          <p:cNvSpPr/>
          <p:nvPr/>
        </p:nvSpPr>
        <p:spPr>
          <a:xfrm>
            <a:off x="14687059" y="7610895"/>
            <a:ext cx="2128242" cy="206188"/>
          </a:xfrm>
          <a:prstGeom prst="rect">
            <a:avLst/>
          </a:prstGeom>
          <a:noFill/>
          <a:ln/>
        </p:spPr>
        <p:txBody>
          <a:bodyPr wrap="square" lIns="25400" tIns="25400" rIns="25400" bIns="25400" rtlCol="0" anchor="t">
            <a:normAutofit/>
          </a:bodyPr>
          <a:lstStyle/>
          <a:p>
            <a:pPr algn="l" indent="0" marL="0">
              <a:buNone/>
            </a:pPr>
            <a:r>
              <a:rPr lang="en-US" sz="1125" b="1" dirty="0">
                <a:solidFill>
                  <a:srgbClr val="0D2E22"/>
                </a:solidFill>
                <a:latin typeface="Public Sans" pitchFamily="34" charset="0"/>
                <a:ea typeface="Public Sans" pitchFamily="34" charset="-122"/>
                <a:cs typeface="Public Sans" pitchFamily="34" charset="-120"/>
              </a:rPr>
              <a:t>⑧ Dataverse audit + ⑨ notify</a:t>
            </a:r>
            <a:endParaRPr lang="en-US" sz="1125" dirty="0"/>
          </a:p>
        </p:txBody>
      </p:sp>
      <p:sp>
        <p:nvSpPr>
          <p:cNvPr id="47" name="Shape 45"/>
          <p:cNvSpPr/>
          <p:nvPr/>
        </p:nvSpPr>
        <p:spPr>
          <a:xfrm>
            <a:off x="685660" y="9423271"/>
            <a:ext cx="5695740" cy="406563"/>
          </a:xfrm>
          <a:prstGeom prst="roundRect">
            <a:avLst>
              <a:gd name="adj" fmla="val 18742"/>
            </a:avLst>
          </a:prstGeom>
          <a:solidFill>
            <a:srgbClr val="EDF1E0"/>
          </a:solidFill>
          <a:ln/>
        </p:spPr>
      </p:sp>
      <p:sp>
        <p:nvSpPr>
          <p:cNvPr id="48" name="Text 46"/>
          <p:cNvSpPr/>
          <p:nvPr/>
        </p:nvSpPr>
        <p:spPr>
          <a:xfrm>
            <a:off x="819010" y="9508996"/>
            <a:ext cx="5599912" cy="273213"/>
          </a:xfrm>
          <a:prstGeom prst="rect">
            <a:avLst/>
          </a:prstGeom>
          <a:noFill/>
          <a:ln/>
        </p:spPr>
        <p:txBody>
          <a:bodyPr wrap="square" lIns="25400" tIns="25400" rIns="25400" bIns="25400" rtlCol="0" anchor="t">
            <a:normAutofit/>
          </a:bodyPr>
          <a:lstStyle/>
          <a:p>
            <a:pPr algn="l" indent="0" marL="0">
              <a:buNone/>
            </a:pPr>
            <a:r>
              <a:rPr lang="en-US" sz="1425" dirty="0">
                <a:solidFill>
                  <a:srgbClr val="1C5C43"/>
                </a:solidFill>
                <a:latin typeface="IBM Plex Mono" pitchFamily="34" charset="0"/>
                <a:ea typeface="IBM Plex Mono" pitchFamily="34" charset="-122"/>
                <a:cs typeface="IBM Plex Mono" pitchFamily="34" charset="-120"/>
              </a:rPr>
              <a:t>Outlook is authoritative — no calendar duplication</a:t>
            </a:r>
            <a:endParaRPr lang="en-US" sz="1425" dirty="0"/>
          </a:p>
        </p:txBody>
      </p:sp>
      <p:sp>
        <p:nvSpPr>
          <p:cNvPr id="49" name="Shape 47"/>
          <p:cNvSpPr/>
          <p:nvPr/>
        </p:nvSpPr>
        <p:spPr>
          <a:xfrm>
            <a:off x="6514644" y="9423271"/>
            <a:ext cx="4609995" cy="406563"/>
          </a:xfrm>
          <a:prstGeom prst="roundRect">
            <a:avLst>
              <a:gd name="adj" fmla="val 18742"/>
            </a:avLst>
          </a:prstGeom>
          <a:solidFill>
            <a:srgbClr val="EDF1E0"/>
          </a:solidFill>
          <a:ln/>
        </p:spPr>
      </p:sp>
      <p:sp>
        <p:nvSpPr>
          <p:cNvPr id="50" name="Text 48"/>
          <p:cNvSpPr/>
          <p:nvPr/>
        </p:nvSpPr>
        <p:spPr>
          <a:xfrm>
            <a:off x="6647994" y="9508996"/>
            <a:ext cx="4481595" cy="273213"/>
          </a:xfrm>
          <a:prstGeom prst="rect">
            <a:avLst/>
          </a:prstGeom>
          <a:noFill/>
          <a:ln/>
        </p:spPr>
        <p:txBody>
          <a:bodyPr wrap="square" lIns="25400" tIns="25400" rIns="25400" bIns="25400" rtlCol="0" anchor="t">
            <a:normAutofit/>
          </a:bodyPr>
          <a:lstStyle/>
          <a:p>
            <a:pPr algn="l" indent="0" marL="0">
              <a:buNone/>
            </a:pPr>
            <a:r>
              <a:rPr lang="en-US" sz="1425" dirty="0">
                <a:solidFill>
                  <a:srgbClr val="1C5C43"/>
                </a:solidFill>
                <a:latin typeface="IBM Plex Mono" pitchFamily="34" charset="0"/>
                <a:ea typeface="IBM Plex Mono" pitchFamily="34" charset="-122"/>
                <a:cs typeface="IBM Plex Mono" pitchFamily="34" charset="-120"/>
              </a:rPr>
              <a:t>Graph is the single integration boundary</a:t>
            </a:r>
            <a:endParaRPr lang="en-US" sz="1425" dirty="0"/>
          </a:p>
        </p:txBody>
      </p:sp>
      <p:sp>
        <p:nvSpPr>
          <p:cNvPr id="51" name="Shape 49"/>
          <p:cNvSpPr/>
          <p:nvPr/>
        </p:nvSpPr>
        <p:spPr>
          <a:xfrm>
            <a:off x="11257884" y="9423271"/>
            <a:ext cx="4067035" cy="406563"/>
          </a:xfrm>
          <a:prstGeom prst="roundRect">
            <a:avLst>
              <a:gd name="adj" fmla="val 18742"/>
            </a:avLst>
          </a:prstGeom>
          <a:solidFill>
            <a:srgbClr val="EDF1E0"/>
          </a:solidFill>
          <a:ln/>
        </p:spPr>
      </p:sp>
      <p:sp>
        <p:nvSpPr>
          <p:cNvPr id="52" name="Text 50"/>
          <p:cNvSpPr/>
          <p:nvPr/>
        </p:nvSpPr>
        <p:spPr>
          <a:xfrm>
            <a:off x="11391234" y="9508996"/>
            <a:ext cx="3922346" cy="273213"/>
          </a:xfrm>
          <a:prstGeom prst="rect">
            <a:avLst/>
          </a:prstGeom>
          <a:noFill/>
          <a:ln/>
        </p:spPr>
        <p:txBody>
          <a:bodyPr wrap="square" lIns="25400" tIns="25400" rIns="25400" bIns="25400" rtlCol="0" anchor="t">
            <a:normAutofit/>
          </a:bodyPr>
          <a:lstStyle/>
          <a:p>
            <a:pPr algn="l" indent="0" marL="0">
              <a:buNone/>
            </a:pPr>
            <a:r>
              <a:rPr lang="en-US" sz="1425" dirty="0">
                <a:solidFill>
                  <a:srgbClr val="1C5C43"/>
                </a:solidFill>
                <a:latin typeface="IBM Plex Mono" pitchFamily="34" charset="0"/>
                <a:ea typeface="IBM Plex Mono" pitchFamily="34" charset="-122"/>
                <a:cs typeface="IBM Plex Mono" pitchFamily="34" charset="-120"/>
              </a:rPr>
              <a:t>One Dataverse write — state &amp; audit</a:t>
            </a:r>
            <a:endParaRPr lang="en-US" sz="142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23830" y="495160"/>
            <a:ext cx="9616958" cy="307041"/>
          </a:xfrm>
          <a:prstGeom prst="rect">
            <a:avLst/>
          </a:prstGeom>
          <a:noFill/>
          <a:ln/>
        </p:spPr>
        <p:txBody>
          <a:bodyPr wrap="square" lIns="25400" tIns="25400" rIns="25400" bIns="25400" rtlCol="0" anchor="t">
            <a:normAutofit/>
          </a:bodyPr>
          <a:lstStyle/>
          <a:p>
            <a:pPr algn="l" indent="0" marL="0">
              <a:buNone/>
            </a:pPr>
            <a:r>
              <a:rPr lang="en-US" sz="1650" b="1" spc="198" kern="0" dirty="0">
                <a:solidFill>
                  <a:srgbClr val="1C5C43"/>
                </a:solidFill>
                <a:latin typeface="IBM Plex Mono" pitchFamily="34" charset="0"/>
                <a:ea typeface="IBM Plex Mono" pitchFamily="34" charset="-122"/>
                <a:cs typeface="IBM Plex Mono" pitchFamily="34" charset="-120"/>
              </a:rPr>
              <a:t>06 · SEQUENCE FLOW</a:t>
            </a:r>
            <a:endParaRPr lang="en-US" sz="1650" dirty="0"/>
          </a:p>
        </p:txBody>
      </p:sp>
      <p:sp>
        <p:nvSpPr>
          <p:cNvPr id="3" name="Text 1"/>
          <p:cNvSpPr/>
          <p:nvPr/>
        </p:nvSpPr>
        <p:spPr>
          <a:xfrm>
            <a:off x="723830" y="859351"/>
            <a:ext cx="9616958" cy="519953"/>
          </a:xfrm>
          <a:prstGeom prst="rect">
            <a:avLst/>
          </a:prstGeom>
          <a:noFill/>
          <a:ln/>
        </p:spPr>
        <p:txBody>
          <a:bodyPr wrap="square" lIns="25400" tIns="25400" rIns="25400" bIns="25400" rtlCol="0" anchor="t">
            <a:normAutofit/>
          </a:bodyPr>
          <a:lstStyle/>
          <a:p>
            <a:pPr algn="l" indent="0" marL="0">
              <a:buNone/>
            </a:pPr>
            <a:r>
              <a:rPr lang="en-US" sz="3150" b="1" spc="-31" kern="0" dirty="0">
                <a:solidFill>
                  <a:srgbClr val="0D2E22"/>
                </a:solidFill>
                <a:latin typeface="Public Sans" pitchFamily="34" charset="0"/>
                <a:ea typeface="Public Sans" pitchFamily="34" charset="-122"/>
                <a:cs typeface="Public Sans" pitchFamily="34" charset="-120"/>
              </a:rPr>
              <a:t>Creation → AI assist → booking → confirmation</a:t>
            </a:r>
            <a:endParaRPr lang="en-US" sz="3150" dirty="0"/>
          </a:p>
        </p:txBody>
      </p:sp>
      <p:sp>
        <p:nvSpPr>
          <p:cNvPr id="4" name="Text 2"/>
          <p:cNvSpPr/>
          <p:nvPr/>
        </p:nvSpPr>
        <p:spPr>
          <a:xfrm>
            <a:off x="14455062" y="1139498"/>
            <a:ext cx="3420018" cy="239806"/>
          </a:xfrm>
          <a:prstGeom prst="rect">
            <a:avLst/>
          </a:prstGeom>
          <a:noFill/>
          <a:ln/>
        </p:spPr>
        <p:txBody>
          <a:bodyPr wrap="square" lIns="25400" tIns="25400" rIns="25400" bIns="25400" rtlCol="0" anchor="t">
            <a:normAutofit/>
          </a:bodyPr>
          <a:lstStyle/>
          <a:p>
            <a:pPr algn="l" indent="0" marL="0">
              <a:buNone/>
            </a:pPr>
            <a:r>
              <a:rPr lang="en-US" sz="1200" dirty="0">
                <a:solidFill>
                  <a:srgbClr val="8996A6"/>
                </a:solidFill>
                <a:latin typeface="IBM Plex Mono" pitchFamily="34" charset="0"/>
                <a:ea typeface="IBM Plex Mono" pitchFamily="34" charset="-122"/>
                <a:cs typeface="IBM Plex Mono" pitchFamily="34" charset="-120"/>
              </a:rPr>
              <a:t>solid — call · dashed — response</a:t>
            </a:r>
            <a:endParaRPr lang="en-US" sz="1200" dirty="0"/>
          </a:p>
        </p:txBody>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8287999" cy="10286999"/>
          </a:xfrm>
          <a:prstGeom prst="rect">
            <a:avLst/>
          </a:prstGeom>
        </p:spPr>
      </p:pic>
      <p:sp>
        <p:nvSpPr>
          <p:cNvPr id="6" name="Shape 3"/>
          <p:cNvSpPr/>
          <p:nvPr/>
        </p:nvSpPr>
        <p:spPr>
          <a:xfrm>
            <a:off x="904875" y="1714500"/>
            <a:ext cx="2000250" cy="407614"/>
          </a:xfrm>
          <a:prstGeom prst="roundRect">
            <a:avLst>
              <a:gd name="adj" fmla="val 18694"/>
            </a:avLst>
          </a:prstGeom>
          <a:solidFill>
            <a:srgbClr val="742774"/>
          </a:solidFill>
          <a:ln/>
        </p:spPr>
      </p:sp>
      <p:sp>
        <p:nvSpPr>
          <p:cNvPr id="7" name="Text 4"/>
          <p:cNvSpPr/>
          <p:nvPr/>
        </p:nvSpPr>
        <p:spPr>
          <a:xfrm>
            <a:off x="923925" y="1828800"/>
            <a:ext cx="1962150" cy="217114"/>
          </a:xfrm>
          <a:prstGeom prst="rect">
            <a:avLst/>
          </a:prstGeom>
          <a:noFill/>
          <a:ln/>
        </p:spPr>
        <p:txBody>
          <a:bodyPr wrap="square" lIns="25400" tIns="25400" rIns="25400" bIns="25400" rtlCol="0" anchor="t">
            <a:normAutofit/>
          </a:bodyPr>
          <a:lstStyle/>
          <a:p>
            <a:pPr algn="ctr" indent="0" marL="0">
              <a:buNone/>
            </a:pPr>
            <a:r>
              <a:rPr lang="en-US" sz="1200" b="1" dirty="0">
                <a:solidFill>
                  <a:srgbClr val="FFFFFF"/>
                </a:solidFill>
                <a:latin typeface="Public Sans" pitchFamily="34" charset="0"/>
                <a:ea typeface="Public Sans" pitchFamily="34" charset="-122"/>
                <a:cs typeface="Public Sans" pitchFamily="34" charset="-120"/>
              </a:rPr>
              <a:t>RM · Code App</a:t>
            </a:r>
            <a:endParaRPr lang="en-US" sz="1200" dirty="0"/>
          </a:p>
        </p:txBody>
      </p:sp>
      <p:sp>
        <p:nvSpPr>
          <p:cNvPr id="8" name="Shape 5"/>
          <p:cNvSpPr/>
          <p:nvPr/>
        </p:nvSpPr>
        <p:spPr>
          <a:xfrm>
            <a:off x="3314665" y="1714500"/>
            <a:ext cx="2000250" cy="407614"/>
          </a:xfrm>
          <a:prstGeom prst="roundRect">
            <a:avLst>
              <a:gd name="adj" fmla="val 18694"/>
            </a:avLst>
          </a:prstGeom>
          <a:solidFill>
            <a:srgbClr val="1C5C43"/>
          </a:solidFill>
          <a:ln/>
        </p:spPr>
      </p:sp>
      <p:sp>
        <p:nvSpPr>
          <p:cNvPr id="9" name="Text 6"/>
          <p:cNvSpPr/>
          <p:nvPr/>
        </p:nvSpPr>
        <p:spPr>
          <a:xfrm>
            <a:off x="3333715" y="1828800"/>
            <a:ext cx="1962150" cy="217114"/>
          </a:xfrm>
          <a:prstGeom prst="rect">
            <a:avLst/>
          </a:prstGeom>
          <a:noFill/>
          <a:ln/>
        </p:spPr>
        <p:txBody>
          <a:bodyPr wrap="square" lIns="25400" tIns="25400" rIns="25400" bIns="25400" rtlCol="0" anchor="t">
            <a:normAutofit/>
          </a:bodyPr>
          <a:lstStyle/>
          <a:p>
            <a:pPr algn="ctr" indent="0" marL="0">
              <a:buNone/>
            </a:pPr>
            <a:r>
              <a:rPr lang="en-US" sz="1200" b="1" dirty="0">
                <a:solidFill>
                  <a:srgbClr val="FFFFFF"/>
                </a:solidFill>
                <a:latin typeface="Public Sans" pitchFamily="34" charset="0"/>
                <a:ea typeface="Public Sans" pitchFamily="34" charset="-122"/>
                <a:cs typeface="Public Sans" pitchFamily="34" charset="-120"/>
              </a:rPr>
              <a:t>Microsoft Graph</a:t>
            </a:r>
            <a:endParaRPr lang="en-US" sz="1200" dirty="0"/>
          </a:p>
        </p:txBody>
      </p:sp>
      <p:sp>
        <p:nvSpPr>
          <p:cNvPr id="10" name="Shape 7"/>
          <p:cNvSpPr/>
          <p:nvPr/>
        </p:nvSpPr>
        <p:spPr>
          <a:xfrm>
            <a:off x="5724455" y="1714500"/>
            <a:ext cx="2000250" cy="407614"/>
          </a:xfrm>
          <a:prstGeom prst="roundRect">
            <a:avLst>
              <a:gd name="adj" fmla="val 18694"/>
            </a:avLst>
          </a:prstGeom>
          <a:solidFill>
            <a:srgbClr val="B4690E"/>
          </a:solidFill>
          <a:ln/>
        </p:spPr>
      </p:sp>
      <p:sp>
        <p:nvSpPr>
          <p:cNvPr id="11" name="Text 8"/>
          <p:cNvSpPr/>
          <p:nvPr/>
        </p:nvSpPr>
        <p:spPr>
          <a:xfrm>
            <a:off x="5743505" y="1828800"/>
            <a:ext cx="1962150" cy="217114"/>
          </a:xfrm>
          <a:prstGeom prst="rect">
            <a:avLst/>
          </a:prstGeom>
          <a:noFill/>
          <a:ln/>
        </p:spPr>
        <p:txBody>
          <a:bodyPr wrap="square" lIns="25400" tIns="25400" rIns="25400" bIns="25400" rtlCol="0" anchor="t">
            <a:normAutofit/>
          </a:bodyPr>
          <a:lstStyle/>
          <a:p>
            <a:pPr algn="ctr" indent="0" marL="0">
              <a:buNone/>
            </a:pPr>
            <a:r>
              <a:rPr lang="en-US" sz="1200" b="1" dirty="0">
                <a:solidFill>
                  <a:srgbClr val="FFFFFF"/>
                </a:solidFill>
                <a:latin typeface="Public Sans" pitchFamily="34" charset="0"/>
                <a:ea typeface="Public Sans" pitchFamily="34" charset="-122"/>
                <a:cs typeface="Public Sans" pitchFamily="34" charset="-120"/>
              </a:rPr>
              <a:t>Azure OpenAI</a:t>
            </a:r>
            <a:endParaRPr lang="en-US" sz="1200" dirty="0"/>
          </a:p>
        </p:txBody>
      </p:sp>
      <p:sp>
        <p:nvSpPr>
          <p:cNvPr id="12" name="Shape 9"/>
          <p:cNvSpPr/>
          <p:nvPr/>
        </p:nvSpPr>
        <p:spPr>
          <a:xfrm>
            <a:off x="8134244" y="1714500"/>
            <a:ext cx="2000250" cy="407614"/>
          </a:xfrm>
          <a:prstGeom prst="roundRect">
            <a:avLst>
              <a:gd name="adj" fmla="val 18694"/>
            </a:avLst>
          </a:prstGeom>
          <a:solidFill>
            <a:srgbClr val="0078D4"/>
          </a:solidFill>
          <a:ln/>
        </p:spPr>
      </p:sp>
      <p:sp>
        <p:nvSpPr>
          <p:cNvPr id="13" name="Text 10"/>
          <p:cNvSpPr/>
          <p:nvPr/>
        </p:nvSpPr>
        <p:spPr>
          <a:xfrm>
            <a:off x="8153294" y="1828800"/>
            <a:ext cx="1962150" cy="217114"/>
          </a:xfrm>
          <a:prstGeom prst="rect">
            <a:avLst/>
          </a:prstGeom>
          <a:noFill/>
          <a:ln/>
        </p:spPr>
        <p:txBody>
          <a:bodyPr wrap="square" lIns="25400" tIns="25400" rIns="25400" bIns="25400" rtlCol="0" anchor="t">
            <a:normAutofit/>
          </a:bodyPr>
          <a:lstStyle/>
          <a:p>
            <a:pPr algn="ctr" indent="0" marL="0">
              <a:buNone/>
            </a:pPr>
            <a:r>
              <a:rPr lang="en-US" sz="1200" b="1" dirty="0">
                <a:solidFill>
                  <a:srgbClr val="FFFFFF"/>
                </a:solidFill>
                <a:latin typeface="Public Sans" pitchFamily="34" charset="0"/>
                <a:ea typeface="Public Sans" pitchFamily="34" charset="-122"/>
                <a:cs typeface="Public Sans" pitchFamily="34" charset="-120"/>
              </a:rPr>
              <a:t>Exchange Online</a:t>
            </a:r>
            <a:endParaRPr lang="en-US" sz="1200" dirty="0"/>
          </a:p>
        </p:txBody>
      </p:sp>
      <p:sp>
        <p:nvSpPr>
          <p:cNvPr id="14" name="Shape 11"/>
          <p:cNvSpPr/>
          <p:nvPr/>
        </p:nvSpPr>
        <p:spPr>
          <a:xfrm>
            <a:off x="10544034" y="1714500"/>
            <a:ext cx="2000250" cy="407614"/>
          </a:xfrm>
          <a:prstGeom prst="roundRect">
            <a:avLst>
              <a:gd name="adj" fmla="val 18694"/>
            </a:avLst>
          </a:prstGeom>
          <a:solidFill>
            <a:srgbClr val="0B7A75"/>
          </a:solidFill>
          <a:ln/>
        </p:spPr>
      </p:sp>
      <p:sp>
        <p:nvSpPr>
          <p:cNvPr id="15" name="Text 12"/>
          <p:cNvSpPr/>
          <p:nvPr/>
        </p:nvSpPr>
        <p:spPr>
          <a:xfrm>
            <a:off x="10563084" y="1828800"/>
            <a:ext cx="1962150" cy="217114"/>
          </a:xfrm>
          <a:prstGeom prst="rect">
            <a:avLst/>
          </a:prstGeom>
          <a:noFill/>
          <a:ln/>
        </p:spPr>
        <p:txBody>
          <a:bodyPr wrap="square" lIns="25400" tIns="25400" rIns="25400" bIns="25400" rtlCol="0" anchor="t">
            <a:normAutofit/>
          </a:bodyPr>
          <a:lstStyle/>
          <a:p>
            <a:pPr algn="ctr" indent="0" marL="0">
              <a:buNone/>
            </a:pPr>
            <a:r>
              <a:rPr lang="en-US" sz="1200" b="1" dirty="0">
                <a:solidFill>
                  <a:srgbClr val="FFFFFF"/>
                </a:solidFill>
                <a:latin typeface="Public Sans" pitchFamily="34" charset="0"/>
                <a:ea typeface="Public Sans" pitchFamily="34" charset="-122"/>
                <a:cs typeface="Public Sans" pitchFamily="34" charset="-120"/>
              </a:rPr>
              <a:t>Customer</a:t>
            </a:r>
            <a:endParaRPr lang="en-US" sz="1200" dirty="0"/>
          </a:p>
        </p:txBody>
      </p:sp>
      <p:sp>
        <p:nvSpPr>
          <p:cNvPr id="16" name="Shape 13"/>
          <p:cNvSpPr/>
          <p:nvPr/>
        </p:nvSpPr>
        <p:spPr>
          <a:xfrm>
            <a:off x="12953999" y="1714500"/>
            <a:ext cx="2000250" cy="407614"/>
          </a:xfrm>
          <a:prstGeom prst="roundRect">
            <a:avLst>
              <a:gd name="adj" fmla="val 18694"/>
            </a:avLst>
          </a:prstGeom>
          <a:solidFill>
            <a:srgbClr val="14513A"/>
          </a:solidFill>
          <a:ln/>
        </p:spPr>
      </p:sp>
      <p:sp>
        <p:nvSpPr>
          <p:cNvPr id="17" name="Text 14"/>
          <p:cNvSpPr/>
          <p:nvPr/>
        </p:nvSpPr>
        <p:spPr>
          <a:xfrm>
            <a:off x="12973049" y="1828800"/>
            <a:ext cx="1962150" cy="217114"/>
          </a:xfrm>
          <a:prstGeom prst="rect">
            <a:avLst/>
          </a:prstGeom>
          <a:noFill/>
          <a:ln/>
        </p:spPr>
        <p:txBody>
          <a:bodyPr wrap="square" lIns="25400" tIns="25400" rIns="25400" bIns="25400" rtlCol="0" anchor="t">
            <a:normAutofit/>
          </a:bodyPr>
          <a:lstStyle/>
          <a:p>
            <a:pPr algn="ctr" indent="0" marL="0">
              <a:buNone/>
            </a:pPr>
            <a:r>
              <a:rPr lang="en-US" sz="1200" b="1" dirty="0">
                <a:solidFill>
                  <a:srgbClr val="FFFFFF"/>
                </a:solidFill>
                <a:latin typeface="Public Sans" pitchFamily="34" charset="0"/>
                <a:ea typeface="Public Sans" pitchFamily="34" charset="-122"/>
                <a:cs typeface="Public Sans" pitchFamily="34" charset="-120"/>
              </a:rPr>
              <a:t>Power Automate</a:t>
            </a:r>
            <a:endParaRPr lang="en-US" sz="1200" dirty="0"/>
          </a:p>
        </p:txBody>
      </p:sp>
      <p:sp>
        <p:nvSpPr>
          <p:cNvPr id="18" name="Shape 15"/>
          <p:cNvSpPr/>
          <p:nvPr/>
        </p:nvSpPr>
        <p:spPr>
          <a:xfrm>
            <a:off x="15363789" y="1714500"/>
            <a:ext cx="2000250" cy="407614"/>
          </a:xfrm>
          <a:prstGeom prst="roundRect">
            <a:avLst>
              <a:gd name="adj" fmla="val 18694"/>
            </a:avLst>
          </a:prstGeom>
          <a:solidFill>
            <a:srgbClr val="5059C9"/>
          </a:solidFill>
          <a:ln/>
        </p:spPr>
      </p:sp>
      <p:sp>
        <p:nvSpPr>
          <p:cNvPr id="19" name="Text 16"/>
          <p:cNvSpPr/>
          <p:nvPr/>
        </p:nvSpPr>
        <p:spPr>
          <a:xfrm>
            <a:off x="15382839" y="1828800"/>
            <a:ext cx="1962150" cy="217114"/>
          </a:xfrm>
          <a:prstGeom prst="rect">
            <a:avLst/>
          </a:prstGeom>
          <a:noFill/>
          <a:ln/>
        </p:spPr>
        <p:txBody>
          <a:bodyPr wrap="square" lIns="25400" tIns="25400" rIns="25400" bIns="25400" rtlCol="0" anchor="t">
            <a:normAutofit/>
          </a:bodyPr>
          <a:lstStyle/>
          <a:p>
            <a:pPr algn="ctr" indent="0" marL="0">
              <a:buNone/>
            </a:pPr>
            <a:r>
              <a:rPr lang="en-US" sz="1200" b="1" dirty="0">
                <a:solidFill>
                  <a:srgbClr val="FFFFFF"/>
                </a:solidFill>
                <a:latin typeface="Public Sans" pitchFamily="34" charset="0"/>
                <a:ea typeface="Public Sans" pitchFamily="34" charset="-122"/>
                <a:cs typeface="Public Sans" pitchFamily="34" charset="-120"/>
              </a:rPr>
              <a:t>Ops · Dataverse</a:t>
            </a:r>
            <a:endParaRPr lang="en-US" sz="1200" dirty="0"/>
          </a:p>
        </p:txBody>
      </p:sp>
      <p:sp>
        <p:nvSpPr>
          <p:cNvPr id="20" name="Text 17"/>
          <p:cNvSpPr/>
          <p:nvPr/>
        </p:nvSpPr>
        <p:spPr>
          <a:xfrm>
            <a:off x="2057330" y="2743165"/>
            <a:ext cx="3814272" cy="217394"/>
          </a:xfrm>
          <a:prstGeom prst="rect">
            <a:avLst/>
          </a:prstGeom>
          <a:noFill/>
          <a:ln/>
        </p:spPr>
        <p:txBody>
          <a:bodyPr wrap="square" lIns="25400" tIns="25400" rIns="25400" bIns="25400" rtlCol="0" anchor="t">
            <a:normAutofit/>
          </a:bodyPr>
          <a:lstStyle/>
          <a:p>
            <a:pPr algn="l" indent="0" marL="0">
              <a:buNone/>
            </a:pPr>
            <a:r>
              <a:rPr lang="en-US" sz="1200" b="1" dirty="0">
                <a:solidFill>
                  <a:srgbClr val="33404F"/>
                </a:solidFill>
                <a:latin typeface="Public Sans" pitchFamily="34" charset="0"/>
                <a:ea typeface="Public Sans" pitchFamily="34" charset="-122"/>
                <a:cs typeface="Public Sans" pitchFamily="34" charset="-120"/>
              </a:rPr>
              <a:t>1 · findMeetingTimes · getSchedule — delegated</a:t>
            </a:r>
            <a:endParaRPr lang="en-US" sz="1200" dirty="0"/>
          </a:p>
        </p:txBody>
      </p:sp>
      <p:sp>
        <p:nvSpPr>
          <p:cNvPr id="21" name="Text 18"/>
          <p:cNvSpPr/>
          <p:nvPr/>
        </p:nvSpPr>
        <p:spPr>
          <a:xfrm>
            <a:off x="4467120" y="3257410"/>
            <a:ext cx="2280590" cy="217394"/>
          </a:xfrm>
          <a:prstGeom prst="rect">
            <a:avLst/>
          </a:prstGeom>
          <a:noFill/>
          <a:ln/>
        </p:spPr>
        <p:txBody>
          <a:bodyPr wrap="square" lIns="25400" tIns="25400" rIns="25400" bIns="25400" rtlCol="0" anchor="t">
            <a:normAutofit/>
          </a:bodyPr>
          <a:lstStyle/>
          <a:p>
            <a:pPr algn="l" indent="0" marL="0">
              <a:buNone/>
            </a:pPr>
            <a:r>
              <a:rPr lang="en-US" sz="1200" b="1" dirty="0">
                <a:solidFill>
                  <a:srgbClr val="33404F"/>
                </a:solidFill>
                <a:latin typeface="Public Sans" pitchFamily="34" charset="0"/>
                <a:ea typeface="Public Sans" pitchFamily="34" charset="-122"/>
                <a:cs typeface="Public Sans" pitchFamily="34" charset="-120"/>
              </a:rPr>
              <a:t>2 · read free/busy · room lists</a:t>
            </a:r>
            <a:endParaRPr lang="en-US" sz="1200" dirty="0"/>
          </a:p>
        </p:txBody>
      </p:sp>
      <p:sp>
        <p:nvSpPr>
          <p:cNvPr id="22" name="Text 19"/>
          <p:cNvSpPr/>
          <p:nvPr/>
        </p:nvSpPr>
        <p:spPr>
          <a:xfrm>
            <a:off x="4467120" y="3752745"/>
            <a:ext cx="1064244" cy="217394"/>
          </a:xfrm>
          <a:prstGeom prst="rect">
            <a:avLst/>
          </a:prstGeom>
          <a:noFill/>
          <a:ln/>
        </p:spPr>
        <p:txBody>
          <a:bodyPr wrap="square" lIns="25400" tIns="25400" rIns="25400" bIns="25400" rtlCol="0" anchor="t">
            <a:normAutofit/>
          </a:bodyPr>
          <a:lstStyle/>
          <a:p>
            <a:pPr algn="l" indent="0" marL="0">
              <a:buNone/>
            </a:pPr>
            <a:r>
              <a:rPr lang="en-US" sz="1200" b="1" dirty="0">
                <a:solidFill>
                  <a:srgbClr val="5B6675"/>
                </a:solidFill>
                <a:latin typeface="Public Sans" pitchFamily="34" charset="0"/>
                <a:ea typeface="Public Sans" pitchFamily="34" charset="-122"/>
                <a:cs typeface="Public Sans" pitchFamily="34" charset="-120"/>
              </a:rPr>
              <a:t>3 · availability</a:t>
            </a:r>
            <a:endParaRPr lang="en-US" sz="1200" dirty="0"/>
          </a:p>
        </p:txBody>
      </p:sp>
      <p:sp>
        <p:nvSpPr>
          <p:cNvPr id="23" name="Text 20"/>
          <p:cNvSpPr/>
          <p:nvPr/>
        </p:nvSpPr>
        <p:spPr>
          <a:xfrm>
            <a:off x="2057330" y="4248080"/>
            <a:ext cx="1858408" cy="217394"/>
          </a:xfrm>
          <a:prstGeom prst="rect">
            <a:avLst/>
          </a:prstGeom>
          <a:noFill/>
          <a:ln/>
        </p:spPr>
        <p:txBody>
          <a:bodyPr wrap="square" lIns="25400" tIns="25400" rIns="25400" bIns="25400" rtlCol="0" anchor="t">
            <a:normAutofit/>
          </a:bodyPr>
          <a:lstStyle/>
          <a:p>
            <a:pPr algn="l" indent="0" marL="0">
              <a:buNone/>
            </a:pPr>
            <a:r>
              <a:rPr lang="en-US" sz="1200" b="1" dirty="0">
                <a:solidFill>
                  <a:srgbClr val="5B6675"/>
                </a:solidFill>
                <a:latin typeface="Public Sans" pitchFamily="34" charset="0"/>
                <a:ea typeface="Public Sans" pitchFamily="34" charset="-122"/>
                <a:cs typeface="Public Sans" pitchFamily="34" charset="-120"/>
              </a:rPr>
              <a:t>4 · ranked slots + rooms</a:t>
            </a:r>
            <a:endParaRPr lang="en-US" sz="1200" dirty="0"/>
          </a:p>
        </p:txBody>
      </p:sp>
      <p:sp>
        <p:nvSpPr>
          <p:cNvPr id="24" name="Text 21"/>
          <p:cNvSpPr/>
          <p:nvPr/>
        </p:nvSpPr>
        <p:spPr>
          <a:xfrm>
            <a:off x="2057330" y="4743415"/>
            <a:ext cx="2869756" cy="217394"/>
          </a:xfrm>
          <a:prstGeom prst="rect">
            <a:avLst/>
          </a:prstGeom>
          <a:noFill/>
          <a:ln/>
        </p:spPr>
        <p:txBody>
          <a:bodyPr wrap="square" lIns="25400" tIns="25400" rIns="25400" bIns="25400" rtlCol="0" anchor="t">
            <a:normAutofit/>
          </a:bodyPr>
          <a:lstStyle/>
          <a:p>
            <a:pPr algn="l" indent="0" marL="0">
              <a:buNone/>
            </a:pPr>
            <a:r>
              <a:rPr lang="en-US" sz="1200" b="1" dirty="0">
                <a:solidFill>
                  <a:srgbClr val="33404F"/>
                </a:solidFill>
                <a:latin typeface="Public Sans" pitchFamily="34" charset="0"/>
                <a:ea typeface="Public Sans" pitchFamily="34" charset="-122"/>
                <a:cs typeface="Public Sans" pitchFamily="34" charset="-120"/>
              </a:rPr>
              <a:t>5 · recommend best slot · draft invite</a:t>
            </a:r>
            <a:endParaRPr lang="en-US" sz="1200" dirty="0"/>
          </a:p>
        </p:txBody>
      </p:sp>
      <p:sp>
        <p:nvSpPr>
          <p:cNvPr id="25" name="Text 22"/>
          <p:cNvSpPr/>
          <p:nvPr/>
        </p:nvSpPr>
        <p:spPr>
          <a:xfrm>
            <a:off x="2057330" y="5238749"/>
            <a:ext cx="2126123" cy="217394"/>
          </a:xfrm>
          <a:prstGeom prst="rect">
            <a:avLst/>
          </a:prstGeom>
          <a:noFill/>
          <a:ln/>
        </p:spPr>
        <p:txBody>
          <a:bodyPr wrap="square" lIns="25400" tIns="25400" rIns="25400" bIns="25400" rtlCol="0" anchor="t">
            <a:normAutofit/>
          </a:bodyPr>
          <a:lstStyle/>
          <a:p>
            <a:pPr algn="l" indent="0" marL="0">
              <a:buNone/>
            </a:pPr>
            <a:r>
              <a:rPr lang="en-US" sz="1200" b="1" dirty="0">
                <a:solidFill>
                  <a:srgbClr val="5B6675"/>
                </a:solidFill>
                <a:latin typeface="Public Sans" pitchFamily="34" charset="0"/>
                <a:ea typeface="Public Sans" pitchFamily="34" charset="-122"/>
                <a:cs typeface="Public Sans" pitchFamily="34" charset="-120"/>
              </a:rPr>
              <a:t>6 · recommendation + draft</a:t>
            </a:r>
            <a:endParaRPr lang="en-US" sz="1200" dirty="0"/>
          </a:p>
        </p:txBody>
      </p:sp>
      <p:sp>
        <p:nvSpPr>
          <p:cNvPr id="26" name="Text 23"/>
          <p:cNvSpPr/>
          <p:nvPr/>
        </p:nvSpPr>
        <p:spPr>
          <a:xfrm>
            <a:off x="2057330" y="5733909"/>
            <a:ext cx="2854926" cy="217394"/>
          </a:xfrm>
          <a:prstGeom prst="rect">
            <a:avLst/>
          </a:prstGeom>
          <a:noFill/>
          <a:ln/>
        </p:spPr>
        <p:txBody>
          <a:bodyPr wrap="square" lIns="25400" tIns="25400" rIns="25400" bIns="25400" rtlCol="0" anchor="t">
            <a:normAutofit/>
          </a:bodyPr>
          <a:lstStyle/>
          <a:p>
            <a:pPr algn="l" indent="0" marL="0">
              <a:buNone/>
            </a:pPr>
            <a:r>
              <a:rPr lang="en-US" sz="1200" b="1" dirty="0">
                <a:solidFill>
                  <a:srgbClr val="33404F"/>
                </a:solidFill>
                <a:latin typeface="Public Sans" pitchFamily="34" charset="0"/>
                <a:ea typeface="Public Sans" pitchFamily="34" charset="-122"/>
                <a:cs typeface="Public Sans" pitchFamily="34" charset="-120"/>
              </a:rPr>
              <a:t>7 · RM reviews · sends tokenised link</a:t>
            </a:r>
            <a:endParaRPr lang="en-US" sz="1200" dirty="0"/>
          </a:p>
        </p:txBody>
      </p:sp>
      <p:sp>
        <p:nvSpPr>
          <p:cNvPr id="27" name="Text 24"/>
          <p:cNvSpPr/>
          <p:nvPr/>
        </p:nvSpPr>
        <p:spPr>
          <a:xfrm>
            <a:off x="11696664" y="6572249"/>
            <a:ext cx="3197949" cy="217394"/>
          </a:xfrm>
          <a:prstGeom prst="rect">
            <a:avLst/>
          </a:prstGeom>
          <a:noFill/>
          <a:ln/>
        </p:spPr>
        <p:txBody>
          <a:bodyPr wrap="square" lIns="25400" tIns="25400" rIns="25400" bIns="25400" rtlCol="0" anchor="t">
            <a:normAutofit/>
          </a:bodyPr>
          <a:lstStyle/>
          <a:p>
            <a:pPr algn="l" indent="0" marL="0">
              <a:buNone/>
            </a:pPr>
            <a:r>
              <a:rPr lang="en-US" sz="1200" b="1" dirty="0">
                <a:solidFill>
                  <a:srgbClr val="33404F"/>
                </a:solidFill>
                <a:latin typeface="Public Sans" pitchFamily="34" charset="0"/>
                <a:ea typeface="Public Sans" pitchFamily="34" charset="-122"/>
                <a:cs typeface="Public Sans" pitchFamily="34" charset="-120"/>
              </a:rPr>
              <a:t>8 · selects slot — validated HTTP trigger</a:t>
            </a:r>
            <a:endParaRPr lang="en-US" sz="1200" dirty="0"/>
          </a:p>
        </p:txBody>
      </p:sp>
      <p:sp>
        <p:nvSpPr>
          <p:cNvPr id="28" name="Text 25"/>
          <p:cNvSpPr/>
          <p:nvPr/>
        </p:nvSpPr>
        <p:spPr>
          <a:xfrm>
            <a:off x="4467120" y="7067409"/>
            <a:ext cx="3575639" cy="217394"/>
          </a:xfrm>
          <a:prstGeom prst="rect">
            <a:avLst/>
          </a:prstGeom>
          <a:noFill/>
          <a:ln/>
        </p:spPr>
        <p:txBody>
          <a:bodyPr wrap="square" lIns="25400" tIns="25400" rIns="25400" bIns="25400" rtlCol="0" anchor="t">
            <a:normAutofit/>
          </a:bodyPr>
          <a:lstStyle/>
          <a:p>
            <a:pPr algn="l" indent="0" marL="0">
              <a:buNone/>
            </a:pPr>
            <a:r>
              <a:rPr lang="en-US" sz="1200" b="1" dirty="0">
                <a:solidFill>
                  <a:srgbClr val="33404F"/>
                </a:solidFill>
                <a:latin typeface="Public Sans" pitchFamily="34" charset="0"/>
                <a:ea typeface="Public Sans" pitchFamily="34" charset="-122"/>
                <a:cs typeface="Public Sans" pitchFamily="34" charset="-120"/>
              </a:rPr>
              <a:t>9 · create event — room as resource attendee</a:t>
            </a:r>
            <a:endParaRPr lang="en-US" sz="1200" dirty="0"/>
          </a:p>
        </p:txBody>
      </p:sp>
      <p:sp>
        <p:nvSpPr>
          <p:cNvPr id="29" name="Text 26"/>
          <p:cNvSpPr/>
          <p:nvPr/>
        </p:nvSpPr>
        <p:spPr>
          <a:xfrm>
            <a:off x="4467120" y="7562745"/>
            <a:ext cx="2623227" cy="217394"/>
          </a:xfrm>
          <a:prstGeom prst="rect">
            <a:avLst/>
          </a:prstGeom>
          <a:noFill/>
          <a:ln/>
        </p:spPr>
        <p:txBody>
          <a:bodyPr wrap="square" lIns="25400" tIns="25400" rIns="25400" bIns="25400" rtlCol="0" anchor="t">
            <a:normAutofit/>
          </a:bodyPr>
          <a:lstStyle/>
          <a:p>
            <a:pPr algn="l" indent="0" marL="0">
              <a:buNone/>
            </a:pPr>
            <a:r>
              <a:rPr lang="en-US" sz="1200" b="1" dirty="0">
                <a:solidFill>
                  <a:srgbClr val="33404F"/>
                </a:solidFill>
                <a:latin typeface="Public Sans" pitchFamily="34" charset="0"/>
                <a:ea typeface="Public Sans" pitchFamily="34" charset="-122"/>
                <a:cs typeface="Public Sans" pitchFamily="34" charset="-120"/>
              </a:rPr>
              <a:t>10 · event · invites · room reserved</a:t>
            </a:r>
            <a:endParaRPr lang="en-US" sz="1200" dirty="0"/>
          </a:p>
        </p:txBody>
      </p:sp>
      <p:sp>
        <p:nvSpPr>
          <p:cNvPr id="30" name="Text 27"/>
          <p:cNvSpPr/>
          <p:nvPr/>
        </p:nvSpPr>
        <p:spPr>
          <a:xfrm>
            <a:off x="14106454" y="8058080"/>
            <a:ext cx="3122449" cy="217394"/>
          </a:xfrm>
          <a:prstGeom prst="rect">
            <a:avLst/>
          </a:prstGeom>
          <a:noFill/>
          <a:ln/>
        </p:spPr>
        <p:txBody>
          <a:bodyPr wrap="square" lIns="25400" tIns="25400" rIns="25400" bIns="25400" rtlCol="0" anchor="t">
            <a:normAutofit/>
          </a:bodyPr>
          <a:lstStyle/>
          <a:p>
            <a:pPr algn="l" indent="0" marL="0">
              <a:buNone/>
            </a:pPr>
            <a:r>
              <a:rPr lang="en-US" sz="1200" b="1" dirty="0">
                <a:solidFill>
                  <a:srgbClr val="33404F"/>
                </a:solidFill>
                <a:latin typeface="Public Sans" pitchFamily="34" charset="0"/>
                <a:ea typeface="Public Sans" pitchFamily="34" charset="-122"/>
                <a:cs typeface="Public Sans" pitchFamily="34" charset="-120"/>
              </a:rPr>
              <a:t>11 · notify ops (Teams · mail) · write audit</a:t>
            </a:r>
            <a:endParaRPr lang="en-US" sz="1200" dirty="0"/>
          </a:p>
        </p:txBody>
      </p:sp>
      <p:sp>
        <p:nvSpPr>
          <p:cNvPr id="31" name="Text 28"/>
          <p:cNvSpPr/>
          <p:nvPr/>
        </p:nvSpPr>
        <p:spPr>
          <a:xfrm>
            <a:off x="2057330" y="8553415"/>
            <a:ext cx="3495517" cy="217394"/>
          </a:xfrm>
          <a:prstGeom prst="rect">
            <a:avLst/>
          </a:prstGeom>
          <a:noFill/>
          <a:ln/>
        </p:spPr>
        <p:txBody>
          <a:bodyPr wrap="square" lIns="25400" tIns="25400" rIns="25400" bIns="25400" rtlCol="0" anchor="t">
            <a:normAutofit/>
          </a:bodyPr>
          <a:lstStyle/>
          <a:p>
            <a:pPr algn="l" indent="0" marL="0">
              <a:buNone/>
            </a:pPr>
            <a:r>
              <a:rPr lang="en-US" sz="1200" b="1" dirty="0">
                <a:solidFill>
                  <a:srgbClr val="5B6675"/>
                </a:solidFill>
                <a:latin typeface="Public Sans" pitchFamily="34" charset="0"/>
                <a:ea typeface="Public Sans" pitchFamily="34" charset="-122"/>
                <a:cs typeface="Public Sans" pitchFamily="34" charset="-120"/>
              </a:rPr>
              <a:t>12 · confirmation surfaced to RM &amp; customer</a:t>
            </a:r>
            <a:endParaRPr lang="en-US" sz="1200" dirty="0"/>
          </a:p>
        </p:txBody>
      </p:sp>
      <p:sp>
        <p:nvSpPr>
          <p:cNvPr id="32" name="Text 29"/>
          <p:cNvSpPr/>
          <p:nvPr/>
        </p:nvSpPr>
        <p:spPr>
          <a:xfrm>
            <a:off x="706755" y="6248330"/>
            <a:ext cx="16874489" cy="457095"/>
          </a:xfrm>
          <a:prstGeom prst="rect">
            <a:avLst/>
          </a:prstGeom>
          <a:noFill/>
          <a:ln/>
        </p:spPr>
        <p:txBody>
          <a:bodyPr wrap="square" lIns="25400" tIns="25400" rIns="25400" bIns="25400" rtlCol="0" anchor="ctr">
            <a:normAutofit/>
          </a:bodyPr>
          <a:lstStyle/>
          <a:p>
            <a:pPr algn="ctr" indent="0" marL="0">
              <a:buNone/>
            </a:pPr>
            <a:r>
              <a:rPr lang="en-US" sz="1200" dirty="0">
                <a:solidFill>
                  <a:srgbClr val="8A6D2E"/>
                </a:solidFill>
                <a:latin typeface="IBM Plex Mono" pitchFamily="34" charset="0"/>
                <a:ea typeface="IBM Plex Mono" pitchFamily="34" charset="-122"/>
                <a:cs typeface="IBM Plex Mono" pitchFamily="34" charset="-120"/>
              </a:rPr>
              <a:t>async — awaiting customer selection · booking state held in one Dataverse table</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2E22"/>
        </a:solidFill>
      </p:bgPr>
    </p:bg>
    <p:spTree>
      <p:nvGrpSpPr>
        <p:cNvPr id="1" name=""/>
        <p:cNvGrpSpPr/>
        <p:nvPr/>
      </p:nvGrpSpPr>
      <p:grpSpPr>
        <a:xfrm>
          <a:off x="0" y="0"/>
          <a:ext cx="0" cy="0"/>
          <a:chOff x="0" y="0"/>
          <a:chExt cx="0" cy="0"/>
        </a:xfrm>
      </p:grpSpPr>
      <p:sp>
        <p:nvSpPr>
          <p:cNvPr id="2" name="Text 0"/>
          <p:cNvSpPr/>
          <p:nvPr/>
        </p:nvSpPr>
        <p:spPr>
          <a:xfrm>
            <a:off x="685660" y="495160"/>
            <a:ext cx="18608347" cy="307041"/>
          </a:xfrm>
          <a:prstGeom prst="rect">
            <a:avLst/>
          </a:prstGeom>
          <a:noFill/>
          <a:ln/>
        </p:spPr>
        <p:txBody>
          <a:bodyPr wrap="square" lIns="25400" tIns="25400" rIns="25400" bIns="25400" rtlCol="0" anchor="t">
            <a:normAutofit/>
          </a:bodyPr>
          <a:lstStyle/>
          <a:p>
            <a:pPr algn="l" indent="0" marL="0">
              <a:buNone/>
            </a:pPr>
            <a:r>
              <a:rPr lang="en-US" sz="1650" b="1" spc="198" kern="0" dirty="0">
                <a:solidFill>
                  <a:srgbClr val="C8A45C"/>
                </a:solidFill>
                <a:latin typeface="IBM Plex Mono" pitchFamily="34" charset="0"/>
                <a:ea typeface="IBM Plex Mono" pitchFamily="34" charset="-122"/>
                <a:cs typeface="IBM Plex Mono" pitchFamily="34" charset="-120"/>
              </a:rPr>
              <a:t>06 · POWER AUTOMATE ORCHESTRATION</a:t>
            </a:r>
            <a:endParaRPr lang="en-US" sz="1650" dirty="0"/>
          </a:p>
        </p:txBody>
      </p:sp>
      <p:sp>
        <p:nvSpPr>
          <p:cNvPr id="3" name="Text 1"/>
          <p:cNvSpPr/>
          <p:nvPr/>
        </p:nvSpPr>
        <p:spPr>
          <a:xfrm>
            <a:off x="685660" y="859351"/>
            <a:ext cx="18608347" cy="508747"/>
          </a:xfrm>
          <a:prstGeom prst="rect">
            <a:avLst/>
          </a:prstGeom>
          <a:noFill/>
          <a:ln/>
        </p:spPr>
        <p:txBody>
          <a:bodyPr wrap="square" lIns="25400" tIns="25400" rIns="25400" bIns="25400" rtlCol="0" anchor="t">
            <a:normAutofit/>
          </a:bodyPr>
          <a:lstStyle/>
          <a:p>
            <a:pPr algn="l" indent="0" marL="0">
              <a:buNone/>
            </a:pPr>
            <a:r>
              <a:rPr lang="en-US" sz="3150" b="1" spc="-31" kern="0" dirty="0">
                <a:solidFill>
                  <a:srgbClr val="EFF2E4"/>
                </a:solidFill>
                <a:latin typeface="Public Sans" pitchFamily="34" charset="0"/>
                <a:ea typeface="Public Sans" pitchFamily="34" charset="-122"/>
                <a:cs typeface="Public Sans" pitchFamily="34" charset="-120"/>
              </a:rPr>
              <a:t>Deterministic, resilient orchestration flow</a:t>
            </a:r>
            <a:endParaRPr lang="en-US" sz="3150" dirty="0"/>
          </a:p>
        </p:txBody>
      </p:sp>
      <p:sp>
        <p:nvSpPr>
          <p:cNvPr id="4" name="Shape 2"/>
          <p:cNvSpPr/>
          <p:nvPr/>
        </p:nvSpPr>
        <p:spPr>
          <a:xfrm>
            <a:off x="685660" y="1577578"/>
            <a:ext cx="2667000" cy="826784"/>
          </a:xfrm>
          <a:prstGeom prst="roundRect">
            <a:avLst>
              <a:gd name="adj" fmla="val 11521"/>
            </a:avLst>
          </a:prstGeom>
          <a:solidFill>
            <a:srgbClr val="14513A"/>
          </a:solidFill>
          <a:ln/>
        </p:spPr>
      </p:sp>
      <p:sp>
        <p:nvSpPr>
          <p:cNvPr id="5" name="Text 3"/>
          <p:cNvSpPr/>
          <p:nvPr/>
        </p:nvSpPr>
        <p:spPr>
          <a:xfrm>
            <a:off x="837990" y="1710823"/>
            <a:ext cx="2598574" cy="194982"/>
          </a:xfrm>
          <a:prstGeom prst="rect">
            <a:avLst/>
          </a:prstGeom>
          <a:noFill/>
          <a:ln/>
        </p:spPr>
        <p:txBody>
          <a:bodyPr wrap="square" lIns="25400" tIns="25400" rIns="25400" bIns="25400" rtlCol="0" anchor="t">
            <a:normAutofit/>
          </a:bodyPr>
          <a:lstStyle/>
          <a:p>
            <a:pPr algn="l" indent="0" marL="0">
              <a:buNone/>
            </a:pPr>
            <a:r>
              <a:rPr lang="en-US" sz="975" b="1" dirty="0">
                <a:solidFill>
                  <a:srgbClr val="DFE7CF"/>
                </a:solidFill>
                <a:latin typeface="IBM Plex Mono" pitchFamily="34" charset="0"/>
                <a:ea typeface="IBM Plex Mono" pitchFamily="34" charset="-122"/>
                <a:cs typeface="IBM Plex Mono" pitchFamily="34" charset="-120"/>
              </a:rPr>
              <a:t>TRIGGER</a:t>
            </a:r>
            <a:endParaRPr lang="en-US" sz="975" dirty="0"/>
          </a:p>
        </p:txBody>
      </p:sp>
      <p:sp>
        <p:nvSpPr>
          <p:cNvPr id="6" name="Text 4"/>
          <p:cNvSpPr/>
          <p:nvPr/>
        </p:nvSpPr>
        <p:spPr>
          <a:xfrm>
            <a:off x="837990" y="1867705"/>
            <a:ext cx="2438540" cy="441512"/>
          </a:xfrm>
          <a:prstGeom prst="rect">
            <a:avLst/>
          </a:prstGeom>
          <a:noFill/>
          <a:ln/>
        </p:spPr>
        <p:txBody>
          <a:bodyPr wrap="square" lIns="25400" tIns="25400" rIns="25400" bIns="25400" rtlCol="0" anchor="t">
            <a:normAutofit/>
          </a:bodyPr>
          <a:lstStyle/>
          <a:p>
            <a:pPr algn="l" indent="0" marL="0">
              <a:buNone/>
            </a:pPr>
            <a:r>
              <a:rPr lang="en-US" sz="1350" b="1" dirty="0">
                <a:solidFill>
                  <a:srgbClr val="EFF2E4"/>
                </a:solidFill>
                <a:latin typeface="Public Sans" pitchFamily="34" charset="0"/>
                <a:ea typeface="Public Sans" pitchFamily="34" charset="-122"/>
                <a:cs typeface="Public Sans" pitchFamily="34" charset="-120"/>
              </a:rPr>
              <a:t>Customer selects slot — validated HTTP trigger</a:t>
            </a:r>
            <a:endParaRPr lang="en-US" sz="1350" dirty="0"/>
          </a:p>
        </p:txBody>
      </p:sp>
      <p:sp>
        <p:nvSpPr>
          <p:cNvPr id="7" name="Text 5"/>
          <p:cNvSpPr/>
          <p:nvPr/>
        </p:nvSpPr>
        <p:spPr>
          <a:xfrm>
            <a:off x="552310" y="2499612"/>
            <a:ext cx="2933700" cy="217394"/>
          </a:xfrm>
          <a:prstGeom prst="rect">
            <a:avLst/>
          </a:prstGeom>
          <a:noFill/>
          <a:ln/>
        </p:spPr>
        <p:txBody>
          <a:bodyPr wrap="square" lIns="25400" tIns="25400" rIns="25400" bIns="25400" rtlCol="0" anchor="t">
            <a:normAutofit/>
          </a:bodyPr>
          <a:lstStyle/>
          <a:p>
            <a:pPr algn="ctr" indent="0" marL="0">
              <a:buNone/>
            </a:pPr>
            <a:r>
              <a:rPr lang="en-US" sz="1200" dirty="0">
                <a:solidFill>
                  <a:srgbClr val="5E7D6A"/>
                </a:solidFill>
                <a:latin typeface="Public Sans" pitchFamily="34" charset="0"/>
                <a:ea typeface="Public Sans" pitchFamily="34" charset="-122"/>
                <a:cs typeface="Public Sans" pitchFamily="34" charset="-120"/>
              </a:rPr>
              <a:t>↓</a:t>
            </a:r>
            <a:endParaRPr lang="en-US" sz="1200" dirty="0"/>
          </a:p>
        </p:txBody>
      </p:sp>
      <p:sp>
        <p:nvSpPr>
          <p:cNvPr id="8" name="Shape 6"/>
          <p:cNvSpPr/>
          <p:nvPr/>
        </p:nvSpPr>
        <p:spPr>
          <a:xfrm>
            <a:off x="685660" y="2774156"/>
            <a:ext cx="2667000" cy="631732"/>
          </a:xfrm>
          <a:prstGeom prst="roundRect">
            <a:avLst>
              <a:gd name="adj" fmla="val 15078"/>
            </a:avLst>
          </a:prstGeom>
          <a:solidFill>
            <a:srgbClr val="123A2D"/>
          </a:solidFill>
          <a:ln w="11206">
            <a:solidFill>
              <a:srgbClr val="1E4D3A"/>
            </a:solidFill>
            <a:prstDash val="solid"/>
          </a:ln>
        </p:spPr>
      </p:sp>
      <p:sp>
        <p:nvSpPr>
          <p:cNvPr id="9" name="Text 7"/>
          <p:cNvSpPr/>
          <p:nvPr/>
        </p:nvSpPr>
        <p:spPr>
          <a:xfrm>
            <a:off x="849266" y="2899662"/>
            <a:ext cx="2419798" cy="418820"/>
          </a:xfrm>
          <a:prstGeom prst="rect">
            <a:avLst/>
          </a:prstGeom>
          <a:noFill/>
          <a:ln/>
        </p:spPr>
        <p:txBody>
          <a:bodyPr wrap="square" lIns="25400" tIns="25400" rIns="25400" bIns="25400" rtlCol="0" anchor="t">
            <a:normAutofit/>
          </a:bodyPr>
          <a:lstStyle/>
          <a:p>
            <a:pPr algn="l" indent="0" marL="0">
              <a:buNone/>
            </a:pPr>
            <a:r>
              <a:rPr lang="en-US" sz="1275" b="1" dirty="0">
                <a:solidFill>
                  <a:srgbClr val="EFF2E4"/>
                </a:solidFill>
                <a:latin typeface="Public Sans" pitchFamily="34" charset="0"/>
                <a:ea typeface="Public Sans" pitchFamily="34" charset="-122"/>
                <a:cs typeface="Public Sans" pitchFamily="34" charset="-120"/>
              </a:rPr>
              <a:t>Create event — room as resource attendee</a:t>
            </a:r>
            <a:endParaRPr lang="en-US" sz="1275" dirty="0"/>
          </a:p>
        </p:txBody>
      </p:sp>
      <p:sp>
        <p:nvSpPr>
          <p:cNvPr id="10" name="Shape 8"/>
          <p:cNvSpPr/>
          <p:nvPr/>
        </p:nvSpPr>
        <p:spPr>
          <a:xfrm>
            <a:off x="685660" y="3501138"/>
            <a:ext cx="2667000" cy="631732"/>
          </a:xfrm>
          <a:prstGeom prst="roundRect">
            <a:avLst>
              <a:gd name="adj" fmla="val 15078"/>
            </a:avLst>
          </a:prstGeom>
          <a:solidFill>
            <a:srgbClr val="123A2D"/>
          </a:solidFill>
          <a:ln w="11206">
            <a:solidFill>
              <a:srgbClr val="1E4D3A"/>
            </a:solidFill>
            <a:prstDash val="solid"/>
          </a:ln>
        </p:spPr>
      </p:sp>
      <p:sp>
        <p:nvSpPr>
          <p:cNvPr id="11" name="Text 9"/>
          <p:cNvSpPr/>
          <p:nvPr/>
        </p:nvSpPr>
        <p:spPr>
          <a:xfrm>
            <a:off x="849266" y="3626644"/>
            <a:ext cx="2419798" cy="418820"/>
          </a:xfrm>
          <a:prstGeom prst="rect">
            <a:avLst/>
          </a:prstGeom>
          <a:noFill/>
          <a:ln/>
        </p:spPr>
        <p:txBody>
          <a:bodyPr wrap="square" lIns="25400" tIns="25400" rIns="25400" bIns="25400" rtlCol="0" anchor="t">
            <a:normAutofit/>
          </a:bodyPr>
          <a:lstStyle/>
          <a:p>
            <a:pPr algn="l" indent="0" marL="0">
              <a:buNone/>
            </a:pPr>
            <a:r>
              <a:rPr lang="en-US" sz="1275" b="1" dirty="0">
                <a:solidFill>
                  <a:srgbClr val="EFF2E4"/>
                </a:solidFill>
                <a:latin typeface="Public Sans" pitchFamily="34" charset="0"/>
                <a:ea typeface="Public Sans" pitchFamily="34" charset="-122"/>
                <a:cs typeface="Public Sans" pitchFamily="34" charset="-120"/>
              </a:rPr>
              <a:t>Update Dataverse booking record</a:t>
            </a:r>
            <a:endParaRPr lang="en-US" sz="1275" dirty="0"/>
          </a:p>
        </p:txBody>
      </p:sp>
      <p:sp>
        <p:nvSpPr>
          <p:cNvPr id="12" name="Shape 10"/>
          <p:cNvSpPr/>
          <p:nvPr/>
        </p:nvSpPr>
        <p:spPr>
          <a:xfrm>
            <a:off x="685660" y="4228119"/>
            <a:ext cx="2667000" cy="766202"/>
          </a:xfrm>
          <a:prstGeom prst="roundRect">
            <a:avLst>
              <a:gd name="adj" fmla="val 12431"/>
            </a:avLst>
          </a:prstGeom>
          <a:solidFill>
            <a:srgbClr val="1C5C43"/>
          </a:solidFill>
          <a:ln w="11206">
            <a:solidFill>
              <a:srgbClr val="2C5F49"/>
            </a:solidFill>
            <a:prstDash val="solid"/>
          </a:ln>
        </p:spPr>
      </p:sp>
      <p:sp>
        <p:nvSpPr>
          <p:cNvPr id="13" name="Text 11"/>
          <p:cNvSpPr/>
          <p:nvPr/>
        </p:nvSpPr>
        <p:spPr>
          <a:xfrm>
            <a:off x="849196" y="4353485"/>
            <a:ext cx="2573921" cy="194982"/>
          </a:xfrm>
          <a:prstGeom prst="rect">
            <a:avLst/>
          </a:prstGeom>
          <a:noFill/>
          <a:ln/>
        </p:spPr>
        <p:txBody>
          <a:bodyPr wrap="square" lIns="25400" tIns="25400" rIns="25400" bIns="25400" rtlCol="0" anchor="t">
            <a:normAutofit/>
          </a:bodyPr>
          <a:lstStyle/>
          <a:p>
            <a:pPr algn="l" indent="0" marL="0">
              <a:buNone/>
            </a:pPr>
            <a:r>
              <a:rPr lang="en-US" sz="975" b="1" dirty="0">
                <a:solidFill>
                  <a:srgbClr val="C8A45C"/>
                </a:solidFill>
                <a:latin typeface="IBM Plex Mono" pitchFamily="34" charset="0"/>
                <a:ea typeface="IBM Plex Mono" pitchFamily="34" charset="-122"/>
                <a:cs typeface="IBM Plex Mono" pitchFamily="34" charset="-120"/>
              </a:rPr>
              <a:t>CONDITION</a:t>
            </a:r>
            <a:endParaRPr lang="en-US" sz="975" dirty="0"/>
          </a:p>
        </p:txBody>
      </p:sp>
      <p:sp>
        <p:nvSpPr>
          <p:cNvPr id="14" name="Text 12"/>
          <p:cNvSpPr/>
          <p:nvPr/>
        </p:nvSpPr>
        <p:spPr>
          <a:xfrm>
            <a:off x="849196" y="4510367"/>
            <a:ext cx="2416128" cy="396688"/>
          </a:xfrm>
          <a:prstGeom prst="rect">
            <a:avLst/>
          </a:prstGeom>
          <a:noFill/>
          <a:ln/>
        </p:spPr>
        <p:txBody>
          <a:bodyPr wrap="square" lIns="25400" tIns="25400" rIns="25400" bIns="25400" rtlCol="0" anchor="t">
            <a:normAutofit/>
          </a:bodyPr>
          <a:lstStyle/>
          <a:p>
            <a:pPr algn="l" indent="0" marL="0">
              <a:buNone/>
            </a:pPr>
            <a:r>
              <a:rPr lang="en-US" sz="1200" b="1" dirty="0">
                <a:solidFill>
                  <a:srgbClr val="EFF2E4"/>
                </a:solidFill>
                <a:latin typeface="Public Sans" pitchFamily="34" charset="0"/>
                <a:ea typeface="Public Sans" pitchFamily="34" charset="-122"/>
                <a:cs typeface="Public Sans" pitchFamily="34" charset="-120"/>
              </a:rPr>
              <a:t>Partner required? → EA checks, RM adds partner</a:t>
            </a:r>
            <a:endParaRPr lang="en-US" sz="1200" dirty="0"/>
          </a:p>
        </p:txBody>
      </p:sp>
      <p:sp>
        <p:nvSpPr>
          <p:cNvPr id="15" name="Text 13"/>
          <p:cNvSpPr/>
          <p:nvPr/>
        </p:nvSpPr>
        <p:spPr>
          <a:xfrm>
            <a:off x="552310" y="5089571"/>
            <a:ext cx="2933700" cy="217394"/>
          </a:xfrm>
          <a:prstGeom prst="rect">
            <a:avLst/>
          </a:prstGeom>
          <a:noFill/>
          <a:ln/>
        </p:spPr>
        <p:txBody>
          <a:bodyPr wrap="square" lIns="25400" tIns="25400" rIns="25400" bIns="25400" rtlCol="0" anchor="t">
            <a:normAutofit/>
          </a:bodyPr>
          <a:lstStyle/>
          <a:p>
            <a:pPr algn="ctr" indent="0" marL="0">
              <a:buNone/>
            </a:pPr>
            <a:r>
              <a:rPr lang="en-US" sz="1200" dirty="0">
                <a:solidFill>
                  <a:srgbClr val="5E7D6A"/>
                </a:solidFill>
                <a:latin typeface="Public Sans" pitchFamily="34" charset="0"/>
                <a:ea typeface="Public Sans" pitchFamily="34" charset="-122"/>
                <a:cs typeface="Public Sans" pitchFamily="34" charset="-120"/>
              </a:rPr>
              <a:t>↓ parallel</a:t>
            </a:r>
            <a:endParaRPr lang="en-US" sz="1200" dirty="0"/>
          </a:p>
        </p:txBody>
      </p:sp>
      <p:sp>
        <p:nvSpPr>
          <p:cNvPr id="16" name="Shape 14"/>
          <p:cNvSpPr/>
          <p:nvPr/>
        </p:nvSpPr>
        <p:spPr>
          <a:xfrm>
            <a:off x="685660" y="5364116"/>
            <a:ext cx="2667000" cy="441232"/>
          </a:xfrm>
          <a:prstGeom prst="roundRect">
            <a:avLst>
              <a:gd name="adj" fmla="val 21587"/>
            </a:avLst>
          </a:prstGeom>
          <a:solidFill>
            <a:srgbClr val="123A2D"/>
          </a:solidFill>
          <a:ln w="11206">
            <a:solidFill>
              <a:srgbClr val="1E4D3A"/>
            </a:solidFill>
            <a:prstDash val="solid"/>
          </a:ln>
        </p:spPr>
      </p:sp>
      <p:sp>
        <p:nvSpPr>
          <p:cNvPr id="17" name="Text 15"/>
          <p:cNvSpPr/>
          <p:nvPr/>
        </p:nvSpPr>
        <p:spPr>
          <a:xfrm>
            <a:off x="849266" y="5489621"/>
            <a:ext cx="2419798" cy="228320"/>
          </a:xfrm>
          <a:prstGeom prst="rect">
            <a:avLst/>
          </a:prstGeom>
          <a:noFill/>
          <a:ln/>
        </p:spPr>
        <p:txBody>
          <a:bodyPr wrap="square" lIns="25400" tIns="25400" rIns="25400" bIns="25400" rtlCol="0" anchor="t">
            <a:normAutofit/>
          </a:bodyPr>
          <a:lstStyle/>
          <a:p>
            <a:pPr algn="l" indent="0" marL="0">
              <a:buNone/>
            </a:pPr>
            <a:r>
              <a:rPr lang="en-US" sz="1275" b="1" dirty="0">
                <a:solidFill>
                  <a:srgbClr val="EFF2E4"/>
                </a:solidFill>
                <a:latin typeface="Public Sans" pitchFamily="34" charset="0"/>
                <a:ea typeface="Public Sans" pitchFamily="34" charset="-122"/>
                <a:cs typeface="Public Sans" pitchFamily="34" charset="-120"/>
              </a:rPr>
              <a:t>Write Dynamics audit record</a:t>
            </a:r>
            <a:endParaRPr lang="en-US" sz="1275" dirty="0"/>
          </a:p>
        </p:txBody>
      </p:sp>
      <p:sp>
        <p:nvSpPr>
          <p:cNvPr id="18" name="Shape 16"/>
          <p:cNvSpPr/>
          <p:nvPr/>
        </p:nvSpPr>
        <p:spPr>
          <a:xfrm>
            <a:off x="3600240" y="1577578"/>
            <a:ext cx="6934340" cy="2892343"/>
          </a:xfrm>
          <a:prstGeom prst="roundRect">
            <a:avLst>
              <a:gd name="adj" fmla="val 3952"/>
            </a:avLst>
          </a:prstGeom>
          <a:solidFill>
            <a:srgbClr val="123A2D"/>
          </a:solidFill>
          <a:ln w="11206">
            <a:solidFill>
              <a:srgbClr val="1E4D3A"/>
            </a:solidFill>
            <a:prstDash val="solid"/>
          </a:ln>
        </p:spPr>
      </p:sp>
      <p:sp>
        <p:nvSpPr>
          <p:cNvPr id="19" name="Text 17"/>
          <p:cNvSpPr/>
          <p:nvPr/>
        </p:nvSpPr>
        <p:spPr>
          <a:xfrm>
            <a:off x="3801946" y="1779284"/>
            <a:ext cx="7184021" cy="206188"/>
          </a:xfrm>
          <a:prstGeom prst="rect">
            <a:avLst/>
          </a:prstGeom>
          <a:noFill/>
          <a:ln/>
        </p:spPr>
        <p:txBody>
          <a:bodyPr wrap="square" lIns="25400" tIns="25400" rIns="25400" bIns="25400" rtlCol="0" anchor="t">
            <a:normAutofit/>
          </a:bodyPr>
          <a:lstStyle/>
          <a:p>
            <a:pPr algn="l" indent="0" marL="0">
              <a:buNone/>
            </a:pPr>
            <a:r>
              <a:rPr lang="en-US" sz="1050" b="1" dirty="0">
                <a:solidFill>
                  <a:srgbClr val="C8A45C"/>
                </a:solidFill>
                <a:latin typeface="IBM Plex Mono" pitchFamily="34" charset="0"/>
                <a:ea typeface="IBM Plex Mono" pitchFamily="34" charset="-122"/>
                <a:cs typeface="IBM Plex Mono" pitchFamily="34" charset="-120"/>
              </a:rPr>
              <a:t>PARALLEL NOTIFICATIONS</a:t>
            </a:r>
            <a:endParaRPr lang="en-US" sz="1050" dirty="0"/>
          </a:p>
        </p:txBody>
      </p:sp>
      <p:sp>
        <p:nvSpPr>
          <p:cNvPr id="20" name="Text 18"/>
          <p:cNvSpPr/>
          <p:nvPr/>
        </p:nvSpPr>
        <p:spPr>
          <a:xfrm>
            <a:off x="3801946" y="2042622"/>
            <a:ext cx="6726856" cy="553571"/>
          </a:xfrm>
          <a:prstGeom prst="rect">
            <a:avLst/>
          </a:prstGeom>
          <a:noFill/>
          <a:ln/>
        </p:spPr>
        <p:txBody>
          <a:bodyPr wrap="square" lIns="25400" tIns="25400" rIns="25400" bIns="25400" rtlCol="0" anchor="t">
            <a:normAutofit/>
          </a:bodyPr>
          <a:lstStyle/>
          <a:p>
            <a:pPr algn="l" indent="0" marL="0">
              <a:lnSpc>
                <a:spcPct val="136000"/>
              </a:lnSpc>
              <a:buNone/>
            </a:pPr>
            <a:r>
              <a:rPr lang="en-US" sz="1275" dirty="0">
                <a:solidFill>
                  <a:srgbClr val="D9E2CC"/>
                </a:solidFill>
                <a:latin typeface="Public Sans" pitchFamily="34" charset="0"/>
                <a:ea typeface="Public Sans" pitchFamily="34" charset="-122"/>
                <a:cs typeface="Public Sans" pitchFamily="34" charset="-120"/>
              </a:rPr>
              <a:t>Teams message to RM · email to Catering, Reception, Housekeeping — all in one parallel branch, no sequential waits.</a:t>
            </a:r>
            <a:endParaRPr lang="en-US" sz="1275" dirty="0"/>
          </a:p>
        </p:txBody>
      </p:sp>
      <p:sp>
        <p:nvSpPr>
          <p:cNvPr id="21" name="Shape 19"/>
          <p:cNvSpPr/>
          <p:nvPr/>
        </p:nvSpPr>
        <p:spPr>
          <a:xfrm>
            <a:off x="10667824" y="1577578"/>
            <a:ext cx="6934515" cy="2892343"/>
          </a:xfrm>
          <a:prstGeom prst="roundRect">
            <a:avLst>
              <a:gd name="adj" fmla="val 3952"/>
            </a:avLst>
          </a:prstGeom>
          <a:solidFill>
            <a:srgbClr val="123A2D"/>
          </a:solidFill>
          <a:ln w="11206">
            <a:solidFill>
              <a:srgbClr val="1E4D3A"/>
            </a:solidFill>
            <a:prstDash val="solid"/>
          </a:ln>
        </p:spPr>
      </p:sp>
      <p:sp>
        <p:nvSpPr>
          <p:cNvPr id="22" name="Text 20"/>
          <p:cNvSpPr/>
          <p:nvPr/>
        </p:nvSpPr>
        <p:spPr>
          <a:xfrm>
            <a:off x="10869531" y="1779284"/>
            <a:ext cx="7184213" cy="206188"/>
          </a:xfrm>
          <a:prstGeom prst="rect">
            <a:avLst/>
          </a:prstGeom>
          <a:noFill/>
          <a:ln/>
        </p:spPr>
        <p:txBody>
          <a:bodyPr wrap="square" lIns="25400" tIns="25400" rIns="25400" bIns="25400" rtlCol="0" anchor="t">
            <a:normAutofit/>
          </a:bodyPr>
          <a:lstStyle/>
          <a:p>
            <a:pPr algn="l" indent="0" marL="0">
              <a:buNone/>
            </a:pPr>
            <a:r>
              <a:rPr lang="en-US" sz="1050" b="1" dirty="0">
                <a:solidFill>
                  <a:srgbClr val="C8A45C"/>
                </a:solidFill>
                <a:latin typeface="IBM Plex Mono" pitchFamily="34" charset="0"/>
                <a:ea typeface="IBM Plex Mono" pitchFamily="34" charset="-122"/>
                <a:cs typeface="IBM Plex Mono" pitchFamily="34" charset="-120"/>
              </a:rPr>
              <a:t>EXCEPTION HANDLING</a:t>
            </a:r>
            <a:endParaRPr lang="en-US" sz="1050" dirty="0"/>
          </a:p>
        </p:txBody>
      </p:sp>
      <p:sp>
        <p:nvSpPr>
          <p:cNvPr id="23" name="Text 21"/>
          <p:cNvSpPr/>
          <p:nvPr/>
        </p:nvSpPr>
        <p:spPr>
          <a:xfrm>
            <a:off x="10869531" y="2042622"/>
            <a:ext cx="6727036" cy="553571"/>
          </a:xfrm>
          <a:prstGeom prst="rect">
            <a:avLst/>
          </a:prstGeom>
          <a:noFill/>
          <a:ln/>
        </p:spPr>
        <p:txBody>
          <a:bodyPr wrap="square" lIns="25400" tIns="25400" rIns="25400" bIns="25400" rtlCol="0" anchor="t">
            <a:normAutofit/>
          </a:bodyPr>
          <a:lstStyle/>
          <a:p>
            <a:pPr algn="l" indent="0" marL="0">
              <a:lnSpc>
                <a:spcPct val="136000"/>
              </a:lnSpc>
              <a:buNone/>
            </a:pPr>
            <a:r>
              <a:rPr lang="en-US" sz="1275" dirty="0">
                <a:solidFill>
                  <a:srgbClr val="D9E2CC"/>
                </a:solidFill>
                <a:latin typeface="Public Sans" pitchFamily="34" charset="0"/>
                <a:ea typeface="Public Sans" pitchFamily="34" charset="-122"/>
                <a:cs typeface="Public Sans" pitchFamily="34" charset="-120"/>
              </a:rPr>
              <a:t>Try / catch scope with </a:t>
            </a:r>
            <a:pPr algn="l" indent="0" marL="0">
              <a:lnSpc>
                <a:spcPct val="136000"/>
              </a:lnSpc>
              <a:buNone/>
            </a:pPr>
            <a:r>
              <a:rPr lang="en-US" sz="1275" b="1" dirty="0">
                <a:solidFill>
                  <a:srgbClr val="D9E2CC"/>
                </a:solidFill>
                <a:latin typeface="Public Sans" pitchFamily="34" charset="0"/>
                <a:ea typeface="Public Sans" pitchFamily="34" charset="-122"/>
                <a:cs typeface="Public Sans" pitchFamily="34" charset="-120"/>
              </a:rPr>
              <a:t>run-after </a:t>
            </a:r>
            <a:pPr algn="l" indent="0" marL="0">
              <a:lnSpc>
                <a:spcPct val="136000"/>
              </a:lnSpc>
              <a:buNone/>
            </a:pPr>
            <a:r>
              <a:rPr lang="en-US" sz="1275" dirty="0">
                <a:solidFill>
                  <a:srgbClr val="D9E2CC"/>
                </a:solidFill>
                <a:latin typeface="Public Sans" pitchFamily="34" charset="0"/>
                <a:ea typeface="Public Sans" pitchFamily="34" charset="-122"/>
                <a:cs typeface="Public Sans" pitchFamily="34" charset="-120"/>
              </a:rPr>
              <a:t>failure paths. Any failed action raises an alert and a compensating action.</a:t>
            </a:r>
            <a:endParaRPr lang="en-US" sz="1275" dirty="0"/>
          </a:p>
        </p:txBody>
      </p:sp>
      <p:sp>
        <p:nvSpPr>
          <p:cNvPr id="24" name="Shape 22"/>
          <p:cNvSpPr/>
          <p:nvPr/>
        </p:nvSpPr>
        <p:spPr>
          <a:xfrm>
            <a:off x="3600240" y="4603166"/>
            <a:ext cx="6934340" cy="2892343"/>
          </a:xfrm>
          <a:prstGeom prst="roundRect">
            <a:avLst>
              <a:gd name="adj" fmla="val 3952"/>
            </a:avLst>
          </a:prstGeom>
          <a:solidFill>
            <a:srgbClr val="123A2D"/>
          </a:solidFill>
          <a:ln w="11206">
            <a:solidFill>
              <a:srgbClr val="1E4D3A"/>
            </a:solidFill>
            <a:prstDash val="solid"/>
          </a:ln>
        </p:spPr>
      </p:sp>
      <p:sp>
        <p:nvSpPr>
          <p:cNvPr id="25" name="Text 23"/>
          <p:cNvSpPr/>
          <p:nvPr/>
        </p:nvSpPr>
        <p:spPr>
          <a:xfrm>
            <a:off x="3801946" y="4804872"/>
            <a:ext cx="7184021" cy="206188"/>
          </a:xfrm>
          <a:prstGeom prst="rect">
            <a:avLst/>
          </a:prstGeom>
          <a:noFill/>
          <a:ln/>
        </p:spPr>
        <p:txBody>
          <a:bodyPr wrap="square" lIns="25400" tIns="25400" rIns="25400" bIns="25400" rtlCol="0" anchor="t">
            <a:normAutofit/>
          </a:bodyPr>
          <a:lstStyle/>
          <a:p>
            <a:pPr algn="l" indent="0" marL="0">
              <a:buNone/>
            </a:pPr>
            <a:r>
              <a:rPr lang="en-US" sz="1050" b="1" dirty="0">
                <a:solidFill>
                  <a:srgbClr val="C8A45C"/>
                </a:solidFill>
                <a:latin typeface="IBM Plex Mono" pitchFamily="34" charset="0"/>
                <a:ea typeface="IBM Plex Mono" pitchFamily="34" charset="-122"/>
                <a:cs typeface="IBM Plex Mono" pitchFamily="34" charset="-120"/>
              </a:rPr>
              <a:t>RETRIES</a:t>
            </a:r>
            <a:endParaRPr lang="en-US" sz="1050" dirty="0"/>
          </a:p>
        </p:txBody>
      </p:sp>
      <p:sp>
        <p:nvSpPr>
          <p:cNvPr id="26" name="Text 24"/>
          <p:cNvSpPr/>
          <p:nvPr/>
        </p:nvSpPr>
        <p:spPr>
          <a:xfrm>
            <a:off x="3801946" y="5068210"/>
            <a:ext cx="6726856" cy="553571"/>
          </a:xfrm>
          <a:prstGeom prst="rect">
            <a:avLst/>
          </a:prstGeom>
          <a:noFill/>
          <a:ln/>
        </p:spPr>
        <p:txBody>
          <a:bodyPr wrap="square" lIns="25400" tIns="25400" rIns="25400" bIns="25400" rtlCol="0" anchor="t">
            <a:normAutofit/>
          </a:bodyPr>
          <a:lstStyle/>
          <a:p>
            <a:pPr algn="l" indent="0" marL="0">
              <a:lnSpc>
                <a:spcPct val="136000"/>
              </a:lnSpc>
              <a:buNone/>
            </a:pPr>
            <a:r>
              <a:rPr lang="en-US" sz="1275" dirty="0">
                <a:solidFill>
                  <a:srgbClr val="D9E2CC"/>
                </a:solidFill>
                <a:latin typeface="Public Sans" pitchFamily="34" charset="0"/>
                <a:ea typeface="Public Sans" pitchFamily="34" charset="-122"/>
                <a:cs typeface="Public Sans" pitchFamily="34" charset="-120"/>
              </a:rPr>
              <a:t>Exponential-backoff retry policy on all connector calls; idempotency keys prevent duplicate events.</a:t>
            </a:r>
            <a:endParaRPr lang="en-US" sz="1275" dirty="0"/>
          </a:p>
        </p:txBody>
      </p:sp>
      <p:sp>
        <p:nvSpPr>
          <p:cNvPr id="27" name="Shape 25"/>
          <p:cNvSpPr/>
          <p:nvPr/>
        </p:nvSpPr>
        <p:spPr>
          <a:xfrm>
            <a:off x="10667824" y="4603166"/>
            <a:ext cx="6934515" cy="2892343"/>
          </a:xfrm>
          <a:prstGeom prst="roundRect">
            <a:avLst>
              <a:gd name="adj" fmla="val 3952"/>
            </a:avLst>
          </a:prstGeom>
          <a:solidFill>
            <a:srgbClr val="123A2D"/>
          </a:solidFill>
          <a:ln w="11206">
            <a:solidFill>
              <a:srgbClr val="1E4D3A"/>
            </a:solidFill>
            <a:prstDash val="solid"/>
          </a:ln>
        </p:spPr>
      </p:sp>
      <p:sp>
        <p:nvSpPr>
          <p:cNvPr id="28" name="Text 26"/>
          <p:cNvSpPr/>
          <p:nvPr/>
        </p:nvSpPr>
        <p:spPr>
          <a:xfrm>
            <a:off x="10869531" y="4804872"/>
            <a:ext cx="7184213" cy="206188"/>
          </a:xfrm>
          <a:prstGeom prst="rect">
            <a:avLst/>
          </a:prstGeom>
          <a:noFill/>
          <a:ln/>
        </p:spPr>
        <p:txBody>
          <a:bodyPr wrap="square" lIns="25400" tIns="25400" rIns="25400" bIns="25400" rtlCol="0" anchor="t">
            <a:normAutofit/>
          </a:bodyPr>
          <a:lstStyle/>
          <a:p>
            <a:pPr algn="l" indent="0" marL="0">
              <a:buNone/>
            </a:pPr>
            <a:r>
              <a:rPr lang="en-US" sz="1050" b="1" dirty="0">
                <a:solidFill>
                  <a:srgbClr val="C8A45C"/>
                </a:solidFill>
                <a:latin typeface="IBM Plex Mono" pitchFamily="34" charset="0"/>
                <a:ea typeface="IBM Plex Mono" pitchFamily="34" charset="-122"/>
                <a:cs typeface="IBM Plex Mono" pitchFamily="34" charset="-120"/>
              </a:rPr>
              <a:t>APPROVALS (OPTIONAL)</a:t>
            </a:r>
            <a:endParaRPr lang="en-US" sz="1050" dirty="0"/>
          </a:p>
        </p:txBody>
      </p:sp>
      <p:sp>
        <p:nvSpPr>
          <p:cNvPr id="29" name="Text 27"/>
          <p:cNvSpPr/>
          <p:nvPr/>
        </p:nvSpPr>
        <p:spPr>
          <a:xfrm>
            <a:off x="10869531" y="5068210"/>
            <a:ext cx="6727036" cy="553571"/>
          </a:xfrm>
          <a:prstGeom prst="rect">
            <a:avLst/>
          </a:prstGeom>
          <a:noFill/>
          <a:ln/>
        </p:spPr>
        <p:txBody>
          <a:bodyPr wrap="square" lIns="25400" tIns="25400" rIns="25400" bIns="25400" rtlCol="0" anchor="t">
            <a:normAutofit/>
          </a:bodyPr>
          <a:lstStyle/>
          <a:p>
            <a:pPr algn="l" indent="0" marL="0">
              <a:lnSpc>
                <a:spcPct val="136000"/>
              </a:lnSpc>
              <a:buNone/>
            </a:pPr>
            <a:r>
              <a:rPr lang="en-US" sz="1275" dirty="0">
                <a:solidFill>
                  <a:srgbClr val="D9E2CC"/>
                </a:solidFill>
                <a:latin typeface="Public Sans" pitchFamily="34" charset="0"/>
                <a:ea typeface="Public Sans" pitchFamily="34" charset="-122"/>
                <a:cs typeface="Public Sans" pitchFamily="34" charset="-120"/>
              </a:rPr>
              <a:t>EA approval only where a Partner is required — a single, targeted human step, not a chain of emails.</a:t>
            </a:r>
            <a:endParaRPr lang="en-US" sz="1275" dirty="0"/>
          </a:p>
        </p:txBody>
      </p:sp>
      <p:sp>
        <p:nvSpPr>
          <p:cNvPr id="30" name="Shape 28"/>
          <p:cNvSpPr/>
          <p:nvPr/>
        </p:nvSpPr>
        <p:spPr>
          <a:xfrm>
            <a:off x="3600240" y="7628754"/>
            <a:ext cx="14002099" cy="2238900"/>
          </a:xfrm>
          <a:prstGeom prst="roundRect">
            <a:avLst>
              <a:gd name="adj" fmla="val 5105"/>
            </a:avLst>
          </a:prstGeom>
          <a:solidFill>
            <a:srgbClr val="123A2A"/>
          </a:solidFill>
          <a:ln w="11206">
            <a:solidFill>
              <a:srgbClr val="2C6B45"/>
            </a:solidFill>
            <a:prstDash val="solid"/>
          </a:ln>
        </p:spPr>
      </p:sp>
      <p:sp>
        <p:nvSpPr>
          <p:cNvPr id="31" name="Text 29"/>
          <p:cNvSpPr/>
          <p:nvPr/>
        </p:nvSpPr>
        <p:spPr>
          <a:xfrm>
            <a:off x="3801946" y="8664072"/>
            <a:ext cx="796353" cy="206188"/>
          </a:xfrm>
          <a:prstGeom prst="rect">
            <a:avLst/>
          </a:prstGeom>
          <a:noFill/>
          <a:ln/>
        </p:spPr>
        <p:txBody>
          <a:bodyPr wrap="square" lIns="25400" tIns="25400" rIns="25400" bIns="25400" rtlCol="0" anchor="t">
            <a:normAutofit/>
          </a:bodyPr>
          <a:lstStyle/>
          <a:p>
            <a:pPr algn="l" indent="0" marL="0">
              <a:buNone/>
            </a:pPr>
            <a:r>
              <a:rPr lang="en-US" sz="1050" b="1" dirty="0">
                <a:solidFill>
                  <a:srgbClr val="7FE6A8"/>
                </a:solidFill>
                <a:latin typeface="IBM Plex Mono" pitchFamily="34" charset="0"/>
                <a:ea typeface="IBM Plex Mono" pitchFamily="34" charset="-122"/>
                <a:cs typeface="IBM Plex Mono" pitchFamily="34" charset="-120"/>
              </a:rPr>
              <a:t>PRINCIPLE</a:t>
            </a:r>
            <a:endParaRPr lang="en-US" sz="1050" dirty="0"/>
          </a:p>
        </p:txBody>
      </p:sp>
      <p:sp>
        <p:nvSpPr>
          <p:cNvPr id="32" name="Text 30"/>
          <p:cNvSpPr/>
          <p:nvPr/>
        </p:nvSpPr>
        <p:spPr>
          <a:xfrm>
            <a:off x="4655343" y="8647263"/>
            <a:ext cx="8033584" cy="239806"/>
          </a:xfrm>
          <a:prstGeom prst="rect">
            <a:avLst/>
          </a:prstGeom>
          <a:noFill/>
          <a:ln/>
        </p:spPr>
        <p:txBody>
          <a:bodyPr wrap="square" lIns="25400" tIns="25400" rIns="25400" bIns="25400" rtlCol="0" anchor="t">
            <a:normAutofit/>
          </a:bodyPr>
          <a:lstStyle/>
          <a:p>
            <a:pPr algn="l" indent="0" marL="0">
              <a:buNone/>
            </a:pPr>
            <a:r>
              <a:rPr lang="en-US" sz="1350" dirty="0">
                <a:solidFill>
                  <a:srgbClr val="D8ECDF"/>
                </a:solidFill>
                <a:latin typeface="Public Sans" pitchFamily="34" charset="0"/>
                <a:ea typeface="Public Sans" pitchFamily="34" charset="-122"/>
                <a:cs typeface="Public Sans" pitchFamily="34" charset="-120"/>
              </a:rPr>
              <a:t>AI assists the RM before send; the transactional path stays fully deterministic and auditable.</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660" y="533330"/>
            <a:ext cx="18608347" cy="307041"/>
          </a:xfrm>
          <a:prstGeom prst="rect">
            <a:avLst/>
          </a:prstGeom>
          <a:noFill/>
          <a:ln/>
        </p:spPr>
        <p:txBody>
          <a:bodyPr wrap="square" lIns="25400" tIns="25400" rIns="25400" bIns="25400" rtlCol="0" anchor="t">
            <a:normAutofit/>
          </a:bodyPr>
          <a:lstStyle/>
          <a:p>
            <a:pPr algn="l" indent="0" marL="0">
              <a:buNone/>
            </a:pPr>
            <a:r>
              <a:rPr lang="en-US" sz="1650" b="1" spc="198" kern="0" dirty="0">
                <a:solidFill>
                  <a:srgbClr val="1C5C43"/>
                </a:solidFill>
                <a:latin typeface="IBM Plex Mono" pitchFamily="34" charset="0"/>
                <a:ea typeface="IBM Plex Mono" pitchFamily="34" charset="-122"/>
                <a:cs typeface="IBM Plex Mono" pitchFamily="34" charset="-120"/>
              </a:rPr>
              <a:t>07 · GRAPH &amp; DYNAMICS 365</a:t>
            </a:r>
            <a:endParaRPr lang="en-US" sz="1650" dirty="0"/>
          </a:p>
        </p:txBody>
      </p:sp>
      <p:sp>
        <p:nvSpPr>
          <p:cNvPr id="3" name="Text 1"/>
          <p:cNvSpPr/>
          <p:nvPr/>
        </p:nvSpPr>
        <p:spPr>
          <a:xfrm>
            <a:off x="685660" y="897521"/>
            <a:ext cx="18608347" cy="531159"/>
          </a:xfrm>
          <a:prstGeom prst="rect">
            <a:avLst/>
          </a:prstGeom>
          <a:noFill/>
          <a:ln/>
        </p:spPr>
        <p:txBody>
          <a:bodyPr wrap="square" lIns="25400" tIns="25400" rIns="25400" bIns="25400" rtlCol="0" anchor="t">
            <a:normAutofit/>
          </a:bodyPr>
          <a:lstStyle/>
          <a:p>
            <a:pPr algn="l" indent="0" marL="0">
              <a:buNone/>
            </a:pPr>
            <a:r>
              <a:rPr lang="en-US" sz="3300" b="1" spc="-33" kern="0" dirty="0">
                <a:solidFill>
                  <a:srgbClr val="0D2E22"/>
                </a:solidFill>
                <a:latin typeface="Public Sans" pitchFamily="34" charset="0"/>
                <a:ea typeface="Public Sans" pitchFamily="34" charset="-122"/>
                <a:cs typeface="Public Sans" pitchFamily="34" charset="-120"/>
              </a:rPr>
              <a:t>Standard Graph, deliberately thin Dynamics</a:t>
            </a:r>
            <a:endParaRPr lang="en-US" sz="3300" dirty="0"/>
          </a:p>
        </p:txBody>
      </p:sp>
      <p:sp>
        <p:nvSpPr>
          <p:cNvPr id="4" name="Shape 2"/>
          <p:cNvSpPr/>
          <p:nvPr/>
        </p:nvSpPr>
        <p:spPr>
          <a:xfrm>
            <a:off x="685660" y="1657245"/>
            <a:ext cx="8344005" cy="8172590"/>
          </a:xfrm>
          <a:prstGeom prst="roundRect">
            <a:avLst>
              <a:gd name="adj" fmla="val 1632"/>
            </a:avLst>
          </a:prstGeom>
          <a:solidFill>
            <a:srgbClr val="F4F7FA"/>
          </a:solidFill>
          <a:ln w="11206">
            <a:solidFill>
              <a:srgbClr val="E0E6ED"/>
            </a:solidFill>
            <a:prstDash val="solid"/>
          </a:ln>
        </p:spPr>
      </p:sp>
      <p:sp>
        <p:nvSpPr>
          <p:cNvPr id="5" name="Shape 3"/>
          <p:cNvSpPr/>
          <p:nvPr/>
        </p:nvSpPr>
        <p:spPr>
          <a:xfrm>
            <a:off x="982616" y="1935116"/>
            <a:ext cx="381000" cy="381000"/>
          </a:xfrm>
          <a:prstGeom prst="roundRect">
            <a:avLst>
              <a:gd name="adj" fmla="val 22500"/>
            </a:avLst>
          </a:prstGeom>
          <a:solidFill>
            <a:srgbClr val="1C5C43"/>
          </a:solidFill>
          <a:ln/>
        </p:spPr>
      </p:sp>
      <p:sp>
        <p:nvSpPr>
          <p:cNvPr id="6" name="Text 4"/>
          <p:cNvSpPr/>
          <p:nvPr/>
        </p:nvSpPr>
        <p:spPr>
          <a:xfrm>
            <a:off x="944516" y="1935116"/>
            <a:ext cx="457200" cy="419100"/>
          </a:xfrm>
          <a:prstGeom prst="rect">
            <a:avLst/>
          </a:prstGeom>
          <a:noFill/>
          <a:ln/>
        </p:spPr>
        <p:txBody>
          <a:bodyPr wrap="square" lIns="25400" tIns="25400" rIns="25400" bIns="25400" rtlCol="0" anchor="ctr">
            <a:normAutofit/>
          </a:bodyPr>
          <a:lstStyle/>
          <a:p>
            <a:pPr algn="ctr" indent="0" marL="0">
              <a:buNone/>
            </a:pPr>
            <a:r>
              <a:rPr lang="en-US" sz="1125" b="1" dirty="0">
                <a:solidFill>
                  <a:srgbClr val="FFFFFF"/>
                </a:solidFill>
                <a:latin typeface="IBM Plex Mono" pitchFamily="34" charset="0"/>
                <a:ea typeface="IBM Plex Mono" pitchFamily="34" charset="-122"/>
                <a:cs typeface="IBM Plex Mono" pitchFamily="34" charset="-120"/>
              </a:rPr>
              <a:t>Gr</a:t>
            </a:r>
            <a:endParaRPr lang="en-US" sz="1125" dirty="0"/>
          </a:p>
        </p:txBody>
      </p:sp>
      <p:sp>
        <p:nvSpPr>
          <p:cNvPr id="7" name="Text 5"/>
          <p:cNvSpPr/>
          <p:nvPr/>
        </p:nvSpPr>
        <p:spPr>
          <a:xfrm>
            <a:off x="1477776" y="1991145"/>
            <a:ext cx="2731469" cy="307041"/>
          </a:xfrm>
          <a:prstGeom prst="rect">
            <a:avLst/>
          </a:prstGeom>
          <a:noFill/>
          <a:ln/>
        </p:spPr>
        <p:txBody>
          <a:bodyPr wrap="square" lIns="25400" tIns="25400" rIns="25400" bIns="25400" rtlCol="0" anchor="t">
            <a:normAutofit/>
          </a:bodyPr>
          <a:lstStyle/>
          <a:p>
            <a:pPr algn="l" indent="0" marL="0">
              <a:buNone/>
            </a:pPr>
            <a:r>
              <a:rPr lang="en-US" sz="1800" b="1" dirty="0">
                <a:solidFill>
                  <a:srgbClr val="0D2E22"/>
                </a:solidFill>
                <a:latin typeface="Public Sans" pitchFamily="34" charset="0"/>
                <a:ea typeface="Public Sans" pitchFamily="34" charset="-122"/>
                <a:cs typeface="Public Sans" pitchFamily="34" charset="-120"/>
              </a:rPr>
              <a:t>Microsoft Graph usage</a:t>
            </a:r>
            <a:endParaRPr lang="en-US" sz="1800" dirty="0"/>
          </a:p>
        </p:txBody>
      </p:sp>
      <p:sp>
        <p:nvSpPr>
          <p:cNvPr id="8" name="Shape 6"/>
          <p:cNvSpPr/>
          <p:nvPr/>
        </p:nvSpPr>
        <p:spPr>
          <a:xfrm>
            <a:off x="982616" y="2487531"/>
            <a:ext cx="7750093" cy="698442"/>
          </a:xfrm>
          <a:prstGeom prst="roundRect">
            <a:avLst>
              <a:gd name="adj" fmla="val 13637"/>
            </a:avLst>
          </a:prstGeom>
          <a:solidFill>
            <a:srgbClr val="FFFFFF"/>
          </a:solidFill>
          <a:ln w="11206">
            <a:solidFill>
              <a:srgbClr val="DBE2EA"/>
            </a:solidFill>
            <a:prstDash val="solid"/>
          </a:ln>
        </p:spPr>
      </p:sp>
      <p:sp>
        <p:nvSpPr>
          <p:cNvPr id="9" name="Text 7"/>
          <p:cNvSpPr/>
          <p:nvPr/>
        </p:nvSpPr>
        <p:spPr>
          <a:xfrm>
            <a:off x="1146152" y="2631981"/>
            <a:ext cx="8165323" cy="228600"/>
          </a:xfrm>
          <a:prstGeom prst="rect">
            <a:avLst/>
          </a:prstGeom>
          <a:noFill/>
          <a:ln/>
        </p:spPr>
        <p:txBody>
          <a:bodyPr wrap="square" lIns="25400" tIns="25400" rIns="25400" bIns="25400" rtlCol="0" anchor="t">
            <a:normAutofit/>
          </a:bodyPr>
          <a:lstStyle/>
          <a:p>
            <a:pPr algn="l" indent="0" marL="0">
              <a:buNone/>
            </a:pPr>
            <a:r>
              <a:rPr lang="en-US" sz="1125" b="1" dirty="0">
                <a:solidFill>
                  <a:srgbClr val="1C5C43"/>
                </a:solidFill>
                <a:latin typeface="IBM Plex Mono" pitchFamily="34" charset="0"/>
                <a:ea typeface="IBM Plex Mono" pitchFamily="34" charset="-122"/>
                <a:cs typeface="IBM Plex Mono" pitchFamily="34" charset="-120"/>
              </a:rPr>
              <a:t>/calendar/getSchedule</a:t>
            </a:r>
            <a:endParaRPr lang="en-US" sz="1125" dirty="0"/>
          </a:p>
        </p:txBody>
      </p:sp>
      <p:sp>
        <p:nvSpPr>
          <p:cNvPr id="10" name="Text 8"/>
          <p:cNvSpPr/>
          <p:nvPr/>
        </p:nvSpPr>
        <p:spPr>
          <a:xfrm>
            <a:off x="1146152" y="2851021"/>
            <a:ext cx="8165323" cy="228600"/>
          </a:xfrm>
          <a:prstGeom prst="rect">
            <a:avLst/>
          </a:prstGeom>
          <a:noFill/>
          <a:ln/>
        </p:spPr>
        <p:txBody>
          <a:bodyPr wrap="square" lIns="25400" tIns="25400" rIns="25400" bIns="25400" rtlCol="0" anchor="t">
            <a:normAutofit/>
          </a:bodyPr>
          <a:lstStyle/>
          <a:p>
            <a:pPr algn="l" indent="0" marL="0">
              <a:buNone/>
            </a:pPr>
            <a:r>
              <a:rPr lang="en-US" sz="1275" dirty="0">
                <a:solidFill>
                  <a:srgbClr val="33404F"/>
                </a:solidFill>
                <a:latin typeface="Public Sans" pitchFamily="34" charset="0"/>
                <a:ea typeface="Public Sans" pitchFamily="34" charset="-122"/>
                <a:cs typeface="Public Sans" pitchFamily="34" charset="-120"/>
              </a:rPr>
              <a:t>Free/busy across all attendees</a:t>
            </a:r>
            <a:endParaRPr lang="en-US" sz="1275" dirty="0"/>
          </a:p>
        </p:txBody>
      </p:sp>
      <p:sp>
        <p:nvSpPr>
          <p:cNvPr id="11" name="Shape 9"/>
          <p:cNvSpPr/>
          <p:nvPr/>
        </p:nvSpPr>
        <p:spPr>
          <a:xfrm>
            <a:off x="982616" y="3300132"/>
            <a:ext cx="7750093" cy="698442"/>
          </a:xfrm>
          <a:prstGeom prst="roundRect">
            <a:avLst>
              <a:gd name="adj" fmla="val 13637"/>
            </a:avLst>
          </a:prstGeom>
          <a:solidFill>
            <a:srgbClr val="FFFFFF"/>
          </a:solidFill>
          <a:ln w="11206">
            <a:solidFill>
              <a:srgbClr val="DBE2EA"/>
            </a:solidFill>
            <a:prstDash val="solid"/>
          </a:ln>
        </p:spPr>
      </p:sp>
      <p:sp>
        <p:nvSpPr>
          <p:cNvPr id="12" name="Text 10"/>
          <p:cNvSpPr/>
          <p:nvPr/>
        </p:nvSpPr>
        <p:spPr>
          <a:xfrm>
            <a:off x="1146152" y="3444583"/>
            <a:ext cx="8165323" cy="228600"/>
          </a:xfrm>
          <a:prstGeom prst="rect">
            <a:avLst/>
          </a:prstGeom>
          <a:noFill/>
          <a:ln/>
        </p:spPr>
        <p:txBody>
          <a:bodyPr wrap="square" lIns="25400" tIns="25400" rIns="25400" bIns="25400" rtlCol="0" anchor="t">
            <a:normAutofit/>
          </a:bodyPr>
          <a:lstStyle/>
          <a:p>
            <a:pPr algn="l" indent="0" marL="0">
              <a:buNone/>
            </a:pPr>
            <a:r>
              <a:rPr lang="en-US" sz="1125" b="1" dirty="0">
                <a:solidFill>
                  <a:srgbClr val="1C5C43"/>
                </a:solidFill>
                <a:latin typeface="IBM Plex Mono" pitchFamily="34" charset="0"/>
                <a:ea typeface="IBM Plex Mono" pitchFamily="34" charset="-122"/>
                <a:cs typeface="IBM Plex Mono" pitchFamily="34" charset="-120"/>
              </a:rPr>
              <a:t>/me/findMeetingTimes</a:t>
            </a:r>
            <a:endParaRPr lang="en-US" sz="1125" dirty="0"/>
          </a:p>
        </p:txBody>
      </p:sp>
      <p:sp>
        <p:nvSpPr>
          <p:cNvPr id="13" name="Text 11"/>
          <p:cNvSpPr/>
          <p:nvPr/>
        </p:nvSpPr>
        <p:spPr>
          <a:xfrm>
            <a:off x="1146152" y="3663623"/>
            <a:ext cx="8165323" cy="228600"/>
          </a:xfrm>
          <a:prstGeom prst="rect">
            <a:avLst/>
          </a:prstGeom>
          <a:noFill/>
          <a:ln/>
        </p:spPr>
        <p:txBody>
          <a:bodyPr wrap="square" lIns="25400" tIns="25400" rIns="25400" bIns="25400" rtlCol="0" anchor="t">
            <a:normAutofit/>
          </a:bodyPr>
          <a:lstStyle/>
          <a:p>
            <a:pPr algn="l" indent="0" marL="0">
              <a:buNone/>
            </a:pPr>
            <a:r>
              <a:rPr lang="en-US" sz="1275" dirty="0">
                <a:solidFill>
                  <a:srgbClr val="33404F"/>
                </a:solidFill>
                <a:latin typeface="Public Sans" pitchFamily="34" charset="0"/>
                <a:ea typeface="Public Sans" pitchFamily="34" charset="-122"/>
                <a:cs typeface="Public Sans" pitchFamily="34" charset="-120"/>
              </a:rPr>
              <a:t>Ranked slots — delegated, called from the RM's session</a:t>
            </a:r>
            <a:endParaRPr lang="en-US" sz="1275" dirty="0"/>
          </a:p>
        </p:txBody>
      </p:sp>
      <p:sp>
        <p:nvSpPr>
          <p:cNvPr id="14" name="Shape 12"/>
          <p:cNvSpPr/>
          <p:nvPr/>
        </p:nvSpPr>
        <p:spPr>
          <a:xfrm>
            <a:off x="982616" y="4112734"/>
            <a:ext cx="7750093" cy="698442"/>
          </a:xfrm>
          <a:prstGeom prst="roundRect">
            <a:avLst>
              <a:gd name="adj" fmla="val 13637"/>
            </a:avLst>
          </a:prstGeom>
          <a:solidFill>
            <a:srgbClr val="FFFFFF"/>
          </a:solidFill>
          <a:ln w="11206">
            <a:solidFill>
              <a:srgbClr val="DBE2EA"/>
            </a:solidFill>
            <a:prstDash val="solid"/>
          </a:ln>
        </p:spPr>
      </p:sp>
      <p:sp>
        <p:nvSpPr>
          <p:cNvPr id="15" name="Text 13"/>
          <p:cNvSpPr/>
          <p:nvPr/>
        </p:nvSpPr>
        <p:spPr>
          <a:xfrm>
            <a:off x="1146152" y="4257185"/>
            <a:ext cx="8165323" cy="228600"/>
          </a:xfrm>
          <a:prstGeom prst="rect">
            <a:avLst/>
          </a:prstGeom>
          <a:noFill/>
          <a:ln/>
        </p:spPr>
        <p:txBody>
          <a:bodyPr wrap="square" lIns="25400" tIns="25400" rIns="25400" bIns="25400" rtlCol="0" anchor="t">
            <a:normAutofit/>
          </a:bodyPr>
          <a:lstStyle/>
          <a:p>
            <a:pPr algn="l" indent="0" marL="0">
              <a:buNone/>
            </a:pPr>
            <a:r>
              <a:rPr lang="en-US" sz="1125" b="1" dirty="0">
                <a:solidFill>
                  <a:srgbClr val="1C5C43"/>
                </a:solidFill>
                <a:latin typeface="IBM Plex Mono" pitchFamily="34" charset="0"/>
                <a:ea typeface="IBM Plex Mono" pitchFamily="34" charset="-122"/>
                <a:cs typeface="IBM Plex Mono" pitchFamily="34" charset="-120"/>
              </a:rPr>
              <a:t>/places · room lists</a:t>
            </a:r>
            <a:endParaRPr lang="en-US" sz="1125" dirty="0"/>
          </a:p>
        </p:txBody>
      </p:sp>
      <p:sp>
        <p:nvSpPr>
          <p:cNvPr id="16" name="Text 14"/>
          <p:cNvSpPr/>
          <p:nvPr/>
        </p:nvSpPr>
        <p:spPr>
          <a:xfrm>
            <a:off x="1146152" y="4476224"/>
            <a:ext cx="8165323" cy="228600"/>
          </a:xfrm>
          <a:prstGeom prst="rect">
            <a:avLst/>
          </a:prstGeom>
          <a:noFill/>
          <a:ln/>
        </p:spPr>
        <p:txBody>
          <a:bodyPr wrap="square" lIns="25400" tIns="25400" rIns="25400" bIns="25400" rtlCol="0" anchor="t">
            <a:normAutofit/>
          </a:bodyPr>
          <a:lstStyle/>
          <a:p>
            <a:pPr algn="l" indent="0" marL="0">
              <a:buNone/>
            </a:pPr>
            <a:r>
              <a:rPr lang="en-US" sz="1275" dirty="0">
                <a:solidFill>
                  <a:srgbClr val="33404F"/>
                </a:solidFill>
                <a:latin typeface="Public Sans" pitchFamily="34" charset="0"/>
                <a:ea typeface="Public Sans" pitchFamily="34" charset="-122"/>
                <a:cs typeface="Public Sans" pitchFamily="34" charset="-120"/>
              </a:rPr>
              <a:t>Available rooms by location &amp; type</a:t>
            </a:r>
            <a:endParaRPr lang="en-US" sz="1275" dirty="0"/>
          </a:p>
        </p:txBody>
      </p:sp>
      <p:sp>
        <p:nvSpPr>
          <p:cNvPr id="17" name="Shape 15"/>
          <p:cNvSpPr/>
          <p:nvPr/>
        </p:nvSpPr>
        <p:spPr>
          <a:xfrm>
            <a:off x="982616" y="4925335"/>
            <a:ext cx="7750093" cy="698442"/>
          </a:xfrm>
          <a:prstGeom prst="roundRect">
            <a:avLst>
              <a:gd name="adj" fmla="val 13637"/>
            </a:avLst>
          </a:prstGeom>
          <a:solidFill>
            <a:srgbClr val="FFFFFF"/>
          </a:solidFill>
          <a:ln w="11206">
            <a:solidFill>
              <a:srgbClr val="DBE2EA"/>
            </a:solidFill>
            <a:prstDash val="solid"/>
          </a:ln>
        </p:spPr>
      </p:sp>
      <p:sp>
        <p:nvSpPr>
          <p:cNvPr id="18" name="Text 16"/>
          <p:cNvSpPr/>
          <p:nvPr/>
        </p:nvSpPr>
        <p:spPr>
          <a:xfrm>
            <a:off x="1146152" y="5069786"/>
            <a:ext cx="8165323" cy="228600"/>
          </a:xfrm>
          <a:prstGeom prst="rect">
            <a:avLst/>
          </a:prstGeom>
          <a:noFill/>
          <a:ln/>
        </p:spPr>
        <p:txBody>
          <a:bodyPr wrap="square" lIns="25400" tIns="25400" rIns="25400" bIns="25400" rtlCol="0" anchor="t">
            <a:normAutofit/>
          </a:bodyPr>
          <a:lstStyle/>
          <a:p>
            <a:pPr algn="l" indent="0" marL="0">
              <a:buNone/>
            </a:pPr>
            <a:r>
              <a:rPr lang="en-US" sz="1125" b="1" dirty="0">
                <a:solidFill>
                  <a:srgbClr val="1C5C43"/>
                </a:solidFill>
                <a:latin typeface="IBM Plex Mono" pitchFamily="34" charset="0"/>
                <a:ea typeface="IBM Plex Mono" pitchFamily="34" charset="-122"/>
                <a:cs typeface="IBM Plex Mono" pitchFamily="34" charset="-120"/>
              </a:rPr>
              <a:t>/events · attendees</a:t>
            </a:r>
            <a:endParaRPr lang="en-US" sz="1125" dirty="0"/>
          </a:p>
        </p:txBody>
      </p:sp>
      <p:sp>
        <p:nvSpPr>
          <p:cNvPr id="19" name="Text 17"/>
          <p:cNvSpPr/>
          <p:nvPr/>
        </p:nvSpPr>
        <p:spPr>
          <a:xfrm>
            <a:off x="1146152" y="5288826"/>
            <a:ext cx="8165323" cy="228600"/>
          </a:xfrm>
          <a:prstGeom prst="rect">
            <a:avLst/>
          </a:prstGeom>
          <a:noFill/>
          <a:ln/>
        </p:spPr>
        <p:txBody>
          <a:bodyPr wrap="square" lIns="25400" tIns="25400" rIns="25400" bIns="25400" rtlCol="0" anchor="t">
            <a:normAutofit/>
          </a:bodyPr>
          <a:lstStyle/>
          <a:p>
            <a:pPr algn="l" indent="0" marL="0">
              <a:buNone/>
            </a:pPr>
            <a:r>
              <a:rPr lang="en-US" sz="1275" dirty="0">
                <a:solidFill>
                  <a:srgbClr val="33404F"/>
                </a:solidFill>
                <a:latin typeface="Public Sans" pitchFamily="34" charset="0"/>
                <a:ea typeface="Public Sans" pitchFamily="34" charset="-122"/>
                <a:cs typeface="Public Sans" pitchFamily="34" charset="-120"/>
              </a:rPr>
              <a:t>Create invite &amp; manage attendees</a:t>
            </a:r>
            <a:endParaRPr lang="en-US" sz="1275" dirty="0"/>
          </a:p>
        </p:txBody>
      </p:sp>
      <p:sp>
        <p:nvSpPr>
          <p:cNvPr id="20" name="Shape 18"/>
          <p:cNvSpPr/>
          <p:nvPr/>
        </p:nvSpPr>
        <p:spPr>
          <a:xfrm>
            <a:off x="9258159" y="1657245"/>
            <a:ext cx="8344180" cy="8172590"/>
          </a:xfrm>
          <a:prstGeom prst="roundRect">
            <a:avLst>
              <a:gd name="adj" fmla="val 1632"/>
            </a:avLst>
          </a:prstGeom>
          <a:solidFill>
            <a:srgbClr val="F0F6F5"/>
          </a:solidFill>
          <a:ln w="11206">
            <a:solidFill>
              <a:srgbClr val="C9E0DC"/>
            </a:solidFill>
            <a:prstDash val="solid"/>
          </a:ln>
        </p:spPr>
      </p:sp>
      <p:sp>
        <p:nvSpPr>
          <p:cNvPr id="21" name="Shape 19"/>
          <p:cNvSpPr/>
          <p:nvPr/>
        </p:nvSpPr>
        <p:spPr>
          <a:xfrm>
            <a:off x="9555115" y="1935116"/>
            <a:ext cx="381000" cy="381000"/>
          </a:xfrm>
          <a:prstGeom prst="roundRect">
            <a:avLst>
              <a:gd name="adj" fmla="val 22500"/>
            </a:avLst>
          </a:prstGeom>
          <a:solidFill>
            <a:srgbClr val="0B7A75"/>
          </a:solidFill>
          <a:ln/>
        </p:spPr>
      </p:sp>
      <p:sp>
        <p:nvSpPr>
          <p:cNvPr id="22" name="Text 20"/>
          <p:cNvSpPr/>
          <p:nvPr/>
        </p:nvSpPr>
        <p:spPr>
          <a:xfrm>
            <a:off x="9517015" y="1935116"/>
            <a:ext cx="457200" cy="419100"/>
          </a:xfrm>
          <a:prstGeom prst="rect">
            <a:avLst/>
          </a:prstGeom>
          <a:noFill/>
          <a:ln/>
        </p:spPr>
        <p:txBody>
          <a:bodyPr wrap="square" lIns="25400" tIns="25400" rIns="25400" bIns="25400" rtlCol="0" anchor="ctr">
            <a:normAutofit/>
          </a:bodyPr>
          <a:lstStyle/>
          <a:p>
            <a:pPr algn="ctr" indent="0" marL="0">
              <a:buNone/>
            </a:pPr>
            <a:r>
              <a:rPr lang="en-US" sz="975" b="1" dirty="0">
                <a:solidFill>
                  <a:srgbClr val="FFFFFF"/>
                </a:solidFill>
                <a:latin typeface="IBM Plex Mono" pitchFamily="34" charset="0"/>
                <a:ea typeface="IBM Plex Mono" pitchFamily="34" charset="-122"/>
                <a:cs typeface="IBM Plex Mono" pitchFamily="34" charset="-120"/>
              </a:rPr>
              <a:t>D3</a:t>
            </a:r>
            <a:endParaRPr lang="en-US" sz="975" dirty="0"/>
          </a:p>
        </p:txBody>
      </p:sp>
      <p:sp>
        <p:nvSpPr>
          <p:cNvPr id="23" name="Text 21"/>
          <p:cNvSpPr/>
          <p:nvPr/>
        </p:nvSpPr>
        <p:spPr>
          <a:xfrm>
            <a:off x="10050275" y="1991145"/>
            <a:ext cx="4708712" cy="307041"/>
          </a:xfrm>
          <a:prstGeom prst="rect">
            <a:avLst/>
          </a:prstGeom>
          <a:noFill/>
          <a:ln/>
        </p:spPr>
        <p:txBody>
          <a:bodyPr wrap="square" lIns="25400" tIns="25400" rIns="25400" bIns="25400" rtlCol="0" anchor="t">
            <a:normAutofit/>
          </a:bodyPr>
          <a:lstStyle/>
          <a:p>
            <a:pPr algn="l" indent="0" marL="0">
              <a:buNone/>
            </a:pPr>
            <a:r>
              <a:rPr lang="en-US" sz="1800" b="1" dirty="0">
                <a:solidFill>
                  <a:srgbClr val="0D2E22"/>
                </a:solidFill>
                <a:latin typeface="Public Sans" pitchFamily="34" charset="0"/>
                <a:ea typeface="Public Sans" pitchFamily="34" charset="-122"/>
                <a:cs typeface="Public Sans" pitchFamily="34" charset="-120"/>
              </a:rPr>
              <a:t>Dynamics 365 — lightweight by design</a:t>
            </a:r>
            <a:endParaRPr lang="en-US" sz="1800" dirty="0"/>
          </a:p>
        </p:txBody>
      </p:sp>
      <p:sp>
        <p:nvSpPr>
          <p:cNvPr id="24" name="Text 22"/>
          <p:cNvSpPr/>
          <p:nvPr/>
        </p:nvSpPr>
        <p:spPr>
          <a:xfrm>
            <a:off x="9555115" y="2487531"/>
            <a:ext cx="8525294" cy="239806"/>
          </a:xfrm>
          <a:prstGeom prst="rect">
            <a:avLst/>
          </a:prstGeom>
          <a:noFill/>
          <a:ln/>
        </p:spPr>
        <p:txBody>
          <a:bodyPr wrap="square" lIns="25400" tIns="25400" rIns="25400" bIns="25400" rtlCol="0" anchor="t">
            <a:normAutofit/>
          </a:bodyPr>
          <a:lstStyle/>
          <a:p>
            <a:pPr algn="l" indent="0" marL="0">
              <a:buNone/>
            </a:pPr>
            <a:r>
              <a:rPr lang="en-US" sz="1350" dirty="0">
                <a:solidFill>
                  <a:srgbClr val="33404F"/>
                </a:solidFill>
                <a:latin typeface="Public Sans" pitchFamily="34" charset="0"/>
                <a:ea typeface="Public Sans" pitchFamily="34" charset="-122"/>
                <a:cs typeface="Public Sans" pitchFamily="34" charset="-120"/>
              </a:rPr>
              <a:t>Per the Head of Technology's directive, Dynamics is not a workflow engine. It holds only:</a:t>
            </a:r>
            <a:endParaRPr lang="en-US" sz="1350" dirty="0"/>
          </a:p>
        </p:txBody>
      </p:sp>
      <p:sp>
        <p:nvSpPr>
          <p:cNvPr id="25" name="Shape 23"/>
          <p:cNvSpPr/>
          <p:nvPr/>
        </p:nvSpPr>
        <p:spPr>
          <a:xfrm>
            <a:off x="9555115" y="2841566"/>
            <a:ext cx="7750268" cy="490608"/>
          </a:xfrm>
          <a:prstGeom prst="roundRect">
            <a:avLst>
              <a:gd name="adj" fmla="val 19415"/>
            </a:avLst>
          </a:prstGeom>
          <a:solidFill>
            <a:srgbClr val="FFFFFF"/>
          </a:solidFill>
          <a:ln w="11206">
            <a:solidFill>
              <a:srgbClr val="C9E0DC"/>
            </a:solidFill>
            <a:prstDash val="solid"/>
          </a:ln>
        </p:spPr>
      </p:sp>
      <p:sp>
        <p:nvSpPr>
          <p:cNvPr id="26" name="Text 24"/>
          <p:cNvSpPr/>
          <p:nvPr/>
        </p:nvSpPr>
        <p:spPr>
          <a:xfrm>
            <a:off x="9718721" y="2986122"/>
            <a:ext cx="7655564" cy="239596"/>
          </a:xfrm>
          <a:prstGeom prst="rect">
            <a:avLst/>
          </a:prstGeom>
          <a:noFill/>
          <a:ln/>
        </p:spPr>
        <p:txBody>
          <a:bodyPr wrap="square" lIns="25400" tIns="25400" rIns="25400" bIns="25400" rtlCol="0" anchor="t">
            <a:normAutofit/>
          </a:bodyPr>
          <a:lstStyle/>
          <a:p>
            <a:pPr algn="l" indent="0" marL="0">
              <a:buNone/>
            </a:pPr>
            <a:r>
              <a:rPr lang="en-US" sz="1350" b="1" dirty="0">
                <a:solidFill>
                  <a:srgbClr val="0D2E22"/>
                </a:solidFill>
                <a:latin typeface="Public Sans" pitchFamily="34" charset="0"/>
                <a:ea typeface="Public Sans" pitchFamily="34" charset="-122"/>
                <a:cs typeface="Public Sans" pitchFamily="34" charset="-120"/>
              </a:rPr>
              <a:t>① Customer lookup</a:t>
            </a:r>
            <a:endParaRPr lang="en-US" sz="1350" dirty="0"/>
          </a:p>
        </p:txBody>
      </p:sp>
      <p:sp>
        <p:nvSpPr>
          <p:cNvPr id="27" name="Shape 25"/>
          <p:cNvSpPr/>
          <p:nvPr/>
        </p:nvSpPr>
        <p:spPr>
          <a:xfrm>
            <a:off x="9555115" y="3446334"/>
            <a:ext cx="7750268" cy="490608"/>
          </a:xfrm>
          <a:prstGeom prst="roundRect">
            <a:avLst>
              <a:gd name="adj" fmla="val 19415"/>
            </a:avLst>
          </a:prstGeom>
          <a:solidFill>
            <a:srgbClr val="FFFFFF"/>
          </a:solidFill>
          <a:ln w="11206">
            <a:solidFill>
              <a:srgbClr val="C9E0DC"/>
            </a:solidFill>
            <a:prstDash val="solid"/>
          </a:ln>
        </p:spPr>
      </p:sp>
      <p:sp>
        <p:nvSpPr>
          <p:cNvPr id="28" name="Text 26"/>
          <p:cNvSpPr/>
          <p:nvPr/>
        </p:nvSpPr>
        <p:spPr>
          <a:xfrm>
            <a:off x="9718721" y="3590890"/>
            <a:ext cx="7655564" cy="239596"/>
          </a:xfrm>
          <a:prstGeom prst="rect">
            <a:avLst/>
          </a:prstGeom>
          <a:noFill/>
          <a:ln/>
        </p:spPr>
        <p:txBody>
          <a:bodyPr wrap="square" lIns="25400" tIns="25400" rIns="25400" bIns="25400" rtlCol="0" anchor="t">
            <a:normAutofit/>
          </a:bodyPr>
          <a:lstStyle/>
          <a:p>
            <a:pPr algn="l" indent="0" marL="0">
              <a:buNone/>
            </a:pPr>
            <a:r>
              <a:rPr lang="en-US" sz="1350" b="1" dirty="0">
                <a:solidFill>
                  <a:srgbClr val="0D2E22"/>
                </a:solidFill>
                <a:latin typeface="Public Sans" pitchFamily="34" charset="0"/>
                <a:ea typeface="Public Sans" pitchFamily="34" charset="-122"/>
                <a:cs typeface="Public Sans" pitchFamily="34" charset="-120"/>
              </a:rPr>
              <a:t>② Partner flag</a:t>
            </a:r>
            <a:endParaRPr lang="en-US" sz="1350" dirty="0"/>
          </a:p>
        </p:txBody>
      </p:sp>
      <p:sp>
        <p:nvSpPr>
          <p:cNvPr id="29" name="Shape 27"/>
          <p:cNvSpPr/>
          <p:nvPr/>
        </p:nvSpPr>
        <p:spPr>
          <a:xfrm>
            <a:off x="9555115" y="4051101"/>
            <a:ext cx="7750268" cy="490608"/>
          </a:xfrm>
          <a:prstGeom prst="roundRect">
            <a:avLst>
              <a:gd name="adj" fmla="val 19415"/>
            </a:avLst>
          </a:prstGeom>
          <a:solidFill>
            <a:srgbClr val="FFFFFF"/>
          </a:solidFill>
          <a:ln w="11206">
            <a:solidFill>
              <a:srgbClr val="C9E0DC"/>
            </a:solidFill>
            <a:prstDash val="solid"/>
          </a:ln>
        </p:spPr>
      </p:sp>
      <p:sp>
        <p:nvSpPr>
          <p:cNvPr id="30" name="Text 28"/>
          <p:cNvSpPr/>
          <p:nvPr/>
        </p:nvSpPr>
        <p:spPr>
          <a:xfrm>
            <a:off x="9718721" y="4195657"/>
            <a:ext cx="7655564" cy="239596"/>
          </a:xfrm>
          <a:prstGeom prst="rect">
            <a:avLst/>
          </a:prstGeom>
          <a:noFill/>
          <a:ln/>
        </p:spPr>
        <p:txBody>
          <a:bodyPr wrap="square" lIns="25400" tIns="25400" rIns="25400" bIns="25400" rtlCol="0" anchor="t">
            <a:normAutofit/>
          </a:bodyPr>
          <a:lstStyle/>
          <a:p>
            <a:pPr algn="l" indent="0" marL="0">
              <a:buNone/>
            </a:pPr>
            <a:r>
              <a:rPr lang="en-US" sz="1350" b="1" dirty="0">
                <a:solidFill>
                  <a:srgbClr val="0D2E22"/>
                </a:solidFill>
                <a:latin typeface="Public Sans" pitchFamily="34" charset="0"/>
                <a:ea typeface="Public Sans" pitchFamily="34" charset="-122"/>
                <a:cs typeface="Public Sans" pitchFamily="34" charset="-120"/>
              </a:rPr>
              <a:t>③ One booking table — state &amp; audit (Dataverse)</a:t>
            </a:r>
            <a:endParaRPr lang="en-US" sz="1350" dirty="0"/>
          </a:p>
        </p:txBody>
      </p:sp>
      <p:sp>
        <p:nvSpPr>
          <p:cNvPr id="31" name="Shape 29"/>
          <p:cNvSpPr/>
          <p:nvPr/>
        </p:nvSpPr>
        <p:spPr>
          <a:xfrm>
            <a:off x="9555115" y="9114934"/>
            <a:ext cx="4236524" cy="437029"/>
          </a:xfrm>
          <a:prstGeom prst="roundRect">
            <a:avLst>
              <a:gd name="adj" fmla="val 17436"/>
            </a:avLst>
          </a:prstGeom>
          <a:solidFill>
            <a:srgbClr val="FBE9E7"/>
          </a:solidFill>
          <a:ln w="11206">
            <a:solidFill>
              <a:srgbClr val="F0C4BF"/>
            </a:solidFill>
            <a:prstDash val="solid"/>
          </a:ln>
        </p:spPr>
      </p:sp>
      <p:sp>
        <p:nvSpPr>
          <p:cNvPr id="32" name="Text 30"/>
          <p:cNvSpPr/>
          <p:nvPr/>
        </p:nvSpPr>
        <p:spPr>
          <a:xfrm>
            <a:off x="9718721" y="9221390"/>
            <a:ext cx="4036408" cy="262218"/>
          </a:xfrm>
          <a:prstGeom prst="rect">
            <a:avLst/>
          </a:prstGeom>
          <a:noFill/>
          <a:ln/>
        </p:spPr>
        <p:txBody>
          <a:bodyPr wrap="square" lIns="25400" tIns="25400" rIns="25400" bIns="25400" rtlCol="0" anchor="t">
            <a:normAutofit/>
          </a:bodyPr>
          <a:lstStyle/>
          <a:p>
            <a:pPr algn="l" indent="0" marL="0">
              <a:buNone/>
            </a:pPr>
            <a:r>
              <a:rPr lang="en-US" sz="1350" b="1" dirty="0">
                <a:solidFill>
                  <a:srgbClr val="B42318"/>
                </a:solidFill>
                <a:latin typeface="IBM Plex Mono" pitchFamily="34" charset="0"/>
                <a:ea typeface="IBM Plex Mono" pitchFamily="34" charset="-122"/>
                <a:cs typeface="IBM Plex Mono" pitchFamily="34" charset="-120"/>
              </a:rPr>
              <a:t>✕ No workflow logic · No calendar copy</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2E22"/>
        </a:solidFill>
      </p:bgPr>
    </p:bg>
    <p:spTree>
      <p:nvGrpSpPr>
        <p:cNvPr id="1" name=""/>
        <p:cNvGrpSpPr/>
        <p:nvPr/>
      </p:nvGrpSpPr>
      <p:grpSpPr>
        <a:xfrm>
          <a:off x="0" y="0"/>
          <a:ext cx="0" cy="0"/>
          <a:chOff x="0" y="0"/>
          <a:chExt cx="0" cy="0"/>
        </a:xfrm>
      </p:grpSpPr>
      <p:sp>
        <p:nvSpPr>
          <p:cNvPr id="2" name="Text 0"/>
          <p:cNvSpPr/>
          <p:nvPr/>
        </p:nvSpPr>
        <p:spPr>
          <a:xfrm>
            <a:off x="685660" y="533330"/>
            <a:ext cx="18608347" cy="307041"/>
          </a:xfrm>
          <a:prstGeom prst="rect">
            <a:avLst/>
          </a:prstGeom>
          <a:noFill/>
          <a:ln/>
        </p:spPr>
        <p:txBody>
          <a:bodyPr wrap="square" lIns="25400" tIns="25400" rIns="25400" bIns="25400" rtlCol="0" anchor="t">
            <a:normAutofit/>
          </a:bodyPr>
          <a:lstStyle/>
          <a:p>
            <a:pPr algn="l" indent="0" marL="0">
              <a:buNone/>
            </a:pPr>
            <a:r>
              <a:rPr lang="en-US" sz="1650" b="1" spc="198" kern="0" dirty="0">
                <a:solidFill>
                  <a:srgbClr val="C8A45C"/>
                </a:solidFill>
                <a:latin typeface="IBM Plex Mono" pitchFamily="34" charset="0"/>
                <a:ea typeface="IBM Plex Mono" pitchFamily="34" charset="-122"/>
                <a:cs typeface="IBM Plex Mono" pitchFamily="34" charset="-120"/>
              </a:rPr>
              <a:t>07 · DATA LAYER — DATAVERSE</a:t>
            </a:r>
            <a:endParaRPr lang="en-US" sz="1650" dirty="0"/>
          </a:p>
        </p:txBody>
      </p:sp>
      <p:sp>
        <p:nvSpPr>
          <p:cNvPr id="3" name="Text 1"/>
          <p:cNvSpPr/>
          <p:nvPr/>
        </p:nvSpPr>
        <p:spPr>
          <a:xfrm>
            <a:off x="685660" y="897521"/>
            <a:ext cx="18608347" cy="531159"/>
          </a:xfrm>
          <a:prstGeom prst="rect">
            <a:avLst/>
          </a:prstGeom>
          <a:noFill/>
          <a:ln/>
        </p:spPr>
        <p:txBody>
          <a:bodyPr wrap="square" lIns="25400" tIns="25400" rIns="25400" bIns="25400" rtlCol="0" anchor="t">
            <a:normAutofit/>
          </a:bodyPr>
          <a:lstStyle/>
          <a:p>
            <a:pPr algn="l" indent="0" marL="0">
              <a:buNone/>
            </a:pPr>
            <a:r>
              <a:rPr lang="en-US" sz="3300" b="1" spc="-33" kern="0" dirty="0">
                <a:solidFill>
                  <a:srgbClr val="FFFFFF"/>
                </a:solidFill>
                <a:latin typeface="Public Sans" pitchFamily="34" charset="0"/>
                <a:ea typeface="Public Sans" pitchFamily="34" charset="-122"/>
                <a:cs typeface="Public Sans" pitchFamily="34" charset="-120"/>
              </a:rPr>
              <a:t>A deliberately thin data model</a:t>
            </a:r>
            <a:endParaRPr lang="en-US" sz="3300" dirty="0"/>
          </a:p>
        </p:txBody>
      </p:sp>
      <p:sp>
        <p:nvSpPr>
          <p:cNvPr id="4" name="Text 2"/>
          <p:cNvSpPr/>
          <p:nvPr/>
        </p:nvSpPr>
        <p:spPr>
          <a:xfrm>
            <a:off x="685660" y="1447660"/>
            <a:ext cx="18608347" cy="273424"/>
          </a:xfrm>
          <a:prstGeom prst="rect">
            <a:avLst/>
          </a:prstGeom>
          <a:noFill/>
          <a:ln/>
        </p:spPr>
        <p:txBody>
          <a:bodyPr wrap="square" lIns="25400" tIns="25400" rIns="25400" bIns="25400" rtlCol="0" anchor="t">
            <a:normAutofit/>
          </a:bodyPr>
          <a:lstStyle/>
          <a:p>
            <a:pPr algn="l" indent="0" marL="0">
              <a:buNone/>
            </a:pPr>
            <a:r>
              <a:rPr lang="en-US" sz="1425" dirty="0">
                <a:solidFill>
                  <a:srgbClr val="B9C4A8"/>
                </a:solidFill>
                <a:latin typeface="Public Sans" pitchFamily="34" charset="0"/>
                <a:ea typeface="Public Sans" pitchFamily="34" charset="-122"/>
                <a:cs typeface="Public Sans" pitchFamily="34" charset="-120"/>
              </a:rPr>
              <a:t>Five </a:t>
            </a:r>
            <a:pPr algn="l" indent="0" marL="0">
              <a:buNone/>
            </a:pPr>
            <a:r>
              <a:rPr lang="en-US" sz="1425" dirty="0">
                <a:solidFill>
                  <a:srgbClr val="C8A45C"/>
                </a:solidFill>
                <a:latin typeface="IBM Plex Mono" pitchFamily="34" charset="0"/>
                <a:ea typeface="IBM Plex Mono" pitchFamily="34" charset="-122"/>
                <a:cs typeface="IBM Plex Mono" pitchFamily="34" charset="-120"/>
              </a:rPr>
              <a:t>msol_ </a:t>
            </a:r>
            <a:pPr algn="l" indent="0" marL="0">
              <a:buNone/>
            </a:pPr>
            <a:r>
              <a:rPr lang="en-US" sz="1425" dirty="0">
                <a:solidFill>
                  <a:srgbClr val="B9C4A8"/>
                </a:solidFill>
                <a:latin typeface="Public Sans" pitchFamily="34" charset="0"/>
                <a:ea typeface="Public Sans" pitchFamily="34" charset="-122"/>
                <a:cs typeface="Public Sans" pitchFamily="34" charset="-120"/>
              </a:rPr>
              <a:t>tables — orchestration state &amp; audit only. Outlook owns the calendar; Dynamics owns the customer.</a:t>
            </a:r>
            <a:endParaRPr lang="en-US" sz="1425" dirty="0"/>
          </a:p>
        </p:txBody>
      </p:sp>
      <p:sp>
        <p:nvSpPr>
          <p:cNvPr id="5" name="Shape 3"/>
          <p:cNvSpPr/>
          <p:nvPr/>
        </p:nvSpPr>
        <p:spPr>
          <a:xfrm>
            <a:off x="685660" y="1930563"/>
            <a:ext cx="5679456" cy="3547187"/>
          </a:xfrm>
          <a:prstGeom prst="roundRect">
            <a:avLst>
              <a:gd name="adj" fmla="val 3759"/>
            </a:avLst>
          </a:prstGeom>
          <a:solidFill>
            <a:srgbClr val="164231"/>
          </a:solidFill>
          <a:ln w="16809">
            <a:solidFill>
              <a:srgbClr val="1C5C43"/>
            </a:solidFill>
            <a:prstDash val="solid"/>
          </a:ln>
        </p:spPr>
      </p:sp>
      <p:sp>
        <p:nvSpPr>
          <p:cNvPr id="6" name="Shape 4"/>
          <p:cNvSpPr/>
          <p:nvPr/>
        </p:nvSpPr>
        <p:spPr>
          <a:xfrm>
            <a:off x="702469" y="1947372"/>
            <a:ext cx="5645839" cy="730483"/>
          </a:xfrm>
          <a:prstGeom prst="rect">
            <a:avLst/>
          </a:prstGeom>
          <a:solidFill>
            <a:srgbClr val="1C5C43"/>
          </a:solidFill>
          <a:ln/>
        </p:spPr>
      </p:sp>
      <p:sp>
        <p:nvSpPr>
          <p:cNvPr id="7" name="Text 5"/>
          <p:cNvSpPr/>
          <p:nvPr/>
        </p:nvSpPr>
        <p:spPr>
          <a:xfrm>
            <a:off x="892969" y="2099702"/>
            <a:ext cx="5791322" cy="295835"/>
          </a:xfrm>
          <a:prstGeom prst="rect">
            <a:avLst/>
          </a:prstGeom>
          <a:noFill/>
          <a:ln/>
        </p:spPr>
        <p:txBody>
          <a:bodyPr wrap="square" lIns="25400" tIns="25400" rIns="25400" bIns="25400" rtlCol="0" anchor="t">
            <a:normAutofit/>
          </a:bodyPr>
          <a:lstStyle/>
          <a:p>
            <a:pPr algn="l" indent="0" marL="0">
              <a:buNone/>
            </a:pPr>
            <a:r>
              <a:rPr lang="en-US" sz="1725" b="1" dirty="0">
                <a:solidFill>
                  <a:srgbClr val="FFFFFF"/>
                </a:solidFill>
                <a:latin typeface="Public Sans" pitchFamily="34" charset="0"/>
                <a:ea typeface="Public Sans" pitchFamily="34" charset="-122"/>
                <a:cs typeface="Public Sans" pitchFamily="34" charset="-120"/>
              </a:rPr>
              <a:t>Meeting</a:t>
            </a:r>
            <a:endParaRPr lang="en-US" sz="1725" dirty="0"/>
          </a:p>
        </p:txBody>
      </p:sp>
      <p:sp>
        <p:nvSpPr>
          <p:cNvPr id="8" name="Text 6"/>
          <p:cNvSpPr/>
          <p:nvPr/>
        </p:nvSpPr>
        <p:spPr>
          <a:xfrm>
            <a:off x="892969" y="2357437"/>
            <a:ext cx="5791322" cy="206188"/>
          </a:xfrm>
          <a:prstGeom prst="rect">
            <a:avLst/>
          </a:prstGeom>
          <a:noFill/>
          <a:ln/>
        </p:spPr>
        <p:txBody>
          <a:bodyPr wrap="square" lIns="25400" tIns="25400" rIns="25400" bIns="25400" rtlCol="0" anchor="t">
            <a:normAutofit/>
          </a:bodyPr>
          <a:lstStyle/>
          <a:p>
            <a:pPr algn="l" indent="0" marL="0">
              <a:buNone/>
            </a:pPr>
            <a:r>
              <a:rPr lang="en-US" sz="1050" dirty="0">
                <a:solidFill>
                  <a:srgbClr val="C8E6D5"/>
                </a:solidFill>
                <a:latin typeface="IBM Plex Mono" pitchFamily="34" charset="0"/>
                <a:ea typeface="IBM Plex Mono" pitchFamily="34" charset="-122"/>
                <a:cs typeface="IBM Plex Mono" pitchFamily="34" charset="-120"/>
              </a:rPr>
              <a:t>msol_meeting · aggregate root</a:t>
            </a:r>
            <a:endParaRPr lang="en-US" sz="1050" dirty="0"/>
          </a:p>
        </p:txBody>
      </p:sp>
      <p:sp>
        <p:nvSpPr>
          <p:cNvPr id="9" name="Text 7"/>
          <p:cNvSpPr/>
          <p:nvPr/>
        </p:nvSpPr>
        <p:spPr>
          <a:xfrm>
            <a:off x="892969" y="2811101"/>
            <a:ext cx="623712" cy="217394"/>
          </a:xfrm>
          <a:prstGeom prst="rect">
            <a:avLst/>
          </a:prstGeom>
          <a:noFill/>
          <a:ln/>
        </p:spPr>
        <p:txBody>
          <a:bodyPr wrap="square" lIns="25400" tIns="25400" rIns="25400" bIns="25400" rtlCol="0" anchor="t">
            <a:normAutofit/>
          </a:bodyPr>
          <a:lstStyle/>
          <a:p>
            <a:pPr algn="l" indent="0" marL="0">
              <a:buNone/>
            </a:pPr>
            <a:r>
              <a:rPr lang="en-US" sz="1200" dirty="0">
                <a:solidFill>
                  <a:srgbClr val="EFF2E4"/>
                </a:solidFill>
                <a:latin typeface="Public Sans" pitchFamily="34" charset="0"/>
                <a:ea typeface="Public Sans" pitchFamily="34" charset="-122"/>
                <a:cs typeface="Public Sans" pitchFamily="34" charset="-120"/>
              </a:rPr>
              <a:t>Subject</a:t>
            </a:r>
            <a:endParaRPr lang="en-US" sz="1200" dirty="0"/>
          </a:p>
        </p:txBody>
      </p:sp>
      <p:sp>
        <p:nvSpPr>
          <p:cNvPr id="10" name="Text 8"/>
          <p:cNvSpPr/>
          <p:nvPr/>
        </p:nvSpPr>
        <p:spPr>
          <a:xfrm>
            <a:off x="5860501" y="2811101"/>
            <a:ext cx="373506" cy="217394"/>
          </a:xfrm>
          <a:prstGeom prst="rect">
            <a:avLst/>
          </a:prstGeom>
          <a:noFill/>
          <a:ln/>
        </p:spPr>
        <p:txBody>
          <a:bodyPr wrap="square" lIns="25400" tIns="25400" rIns="25400" bIns="25400" rtlCol="0" anchor="t">
            <a:normAutofit/>
          </a:bodyPr>
          <a:lstStyle/>
          <a:p>
            <a:pPr algn="l" indent="0" marL="0">
              <a:buNone/>
            </a:pPr>
            <a:r>
              <a:rPr lang="en-US" sz="975" dirty="0">
                <a:solidFill>
                  <a:srgbClr val="8FB3A0"/>
                </a:solidFill>
                <a:latin typeface="IBM Plex Mono" pitchFamily="34" charset="0"/>
                <a:ea typeface="IBM Plex Mono" pitchFamily="34" charset="-122"/>
                <a:cs typeface="IBM Plex Mono" pitchFamily="34" charset="-120"/>
              </a:rPr>
              <a:t>text</a:t>
            </a:r>
            <a:endParaRPr lang="en-US" sz="975" dirty="0"/>
          </a:p>
        </p:txBody>
      </p:sp>
      <p:sp>
        <p:nvSpPr>
          <p:cNvPr id="11" name="Text 9"/>
          <p:cNvSpPr/>
          <p:nvPr/>
        </p:nvSpPr>
        <p:spPr>
          <a:xfrm>
            <a:off x="892969" y="3066560"/>
            <a:ext cx="766237" cy="217394"/>
          </a:xfrm>
          <a:prstGeom prst="rect">
            <a:avLst/>
          </a:prstGeom>
          <a:noFill/>
          <a:ln/>
        </p:spPr>
        <p:txBody>
          <a:bodyPr wrap="square" lIns="25400" tIns="25400" rIns="25400" bIns="25400" rtlCol="0" anchor="t">
            <a:normAutofit/>
          </a:bodyPr>
          <a:lstStyle/>
          <a:p>
            <a:pPr algn="l" indent="0" marL="0">
              <a:buNone/>
            </a:pPr>
            <a:r>
              <a:rPr lang="en-US" sz="1200" dirty="0">
                <a:solidFill>
                  <a:srgbClr val="EFF2E4"/>
                </a:solidFill>
                <a:latin typeface="Public Sans" pitchFamily="34" charset="0"/>
                <a:ea typeface="Public Sans" pitchFamily="34" charset="-122"/>
                <a:cs typeface="Public Sans" pitchFamily="34" charset="-120"/>
              </a:rPr>
              <a:t>Customer</a:t>
            </a:r>
            <a:endParaRPr lang="en-US" sz="1200" dirty="0"/>
          </a:p>
        </p:txBody>
      </p:sp>
      <p:sp>
        <p:nvSpPr>
          <p:cNvPr id="12" name="Text 10"/>
          <p:cNvSpPr/>
          <p:nvPr/>
        </p:nvSpPr>
        <p:spPr>
          <a:xfrm>
            <a:off x="5488781" y="3066560"/>
            <a:ext cx="745226" cy="217394"/>
          </a:xfrm>
          <a:prstGeom prst="rect">
            <a:avLst/>
          </a:prstGeom>
          <a:noFill/>
          <a:ln/>
        </p:spPr>
        <p:txBody>
          <a:bodyPr wrap="square" lIns="25400" tIns="25400" rIns="25400" bIns="25400" rtlCol="0" anchor="t">
            <a:normAutofit/>
          </a:bodyPr>
          <a:lstStyle/>
          <a:p>
            <a:pPr algn="l" indent="0" marL="0">
              <a:buNone/>
            </a:pPr>
            <a:r>
              <a:rPr lang="en-US" sz="975" dirty="0">
                <a:solidFill>
                  <a:srgbClr val="E7C9E7"/>
                </a:solidFill>
                <a:latin typeface="IBM Plex Mono" pitchFamily="34" charset="0"/>
                <a:ea typeface="IBM Plex Mono" pitchFamily="34" charset="-122"/>
                <a:cs typeface="IBM Plex Mono" pitchFamily="34" charset="-120"/>
              </a:rPr>
              <a:t>→ Contact</a:t>
            </a:r>
            <a:endParaRPr lang="en-US" sz="975" dirty="0"/>
          </a:p>
        </p:txBody>
      </p:sp>
      <p:sp>
        <p:nvSpPr>
          <p:cNvPr id="13" name="Text 11"/>
          <p:cNvSpPr/>
          <p:nvPr/>
        </p:nvSpPr>
        <p:spPr>
          <a:xfrm>
            <a:off x="892969" y="3322019"/>
            <a:ext cx="1015043" cy="217394"/>
          </a:xfrm>
          <a:prstGeom prst="rect">
            <a:avLst/>
          </a:prstGeom>
          <a:noFill/>
          <a:ln/>
        </p:spPr>
        <p:txBody>
          <a:bodyPr wrap="square" lIns="25400" tIns="25400" rIns="25400" bIns="25400" rtlCol="0" anchor="t">
            <a:normAutofit/>
          </a:bodyPr>
          <a:lstStyle/>
          <a:p>
            <a:pPr algn="l" indent="0" marL="0">
              <a:buNone/>
            </a:pPr>
            <a:r>
              <a:rPr lang="en-US" sz="1200" dirty="0">
                <a:solidFill>
                  <a:srgbClr val="EFF2E4"/>
                </a:solidFill>
                <a:latin typeface="Public Sans" pitchFamily="34" charset="0"/>
                <a:ea typeface="Public Sans" pitchFamily="34" charset="-122"/>
                <a:cs typeface="Public Sans" pitchFamily="34" charset="-120"/>
              </a:rPr>
              <a:t>Meeting type</a:t>
            </a:r>
            <a:endParaRPr lang="en-US" sz="1200" dirty="0"/>
          </a:p>
        </p:txBody>
      </p:sp>
      <p:sp>
        <p:nvSpPr>
          <p:cNvPr id="14" name="Text 12"/>
          <p:cNvSpPr/>
          <p:nvPr/>
        </p:nvSpPr>
        <p:spPr>
          <a:xfrm>
            <a:off x="5563020" y="3322019"/>
            <a:ext cx="670987" cy="217394"/>
          </a:xfrm>
          <a:prstGeom prst="rect">
            <a:avLst/>
          </a:prstGeom>
          <a:noFill/>
          <a:ln/>
        </p:spPr>
        <p:txBody>
          <a:bodyPr wrap="square" lIns="25400" tIns="25400" rIns="25400" bIns="25400" rtlCol="0" anchor="t">
            <a:normAutofit/>
          </a:bodyPr>
          <a:lstStyle/>
          <a:p>
            <a:pPr algn="l" indent="0" marL="0">
              <a:buNone/>
            </a:pPr>
            <a:r>
              <a:rPr lang="en-US" sz="975" dirty="0">
                <a:solidFill>
                  <a:srgbClr val="E0C07F"/>
                </a:solidFill>
                <a:latin typeface="IBM Plex Mono" pitchFamily="34" charset="0"/>
                <a:ea typeface="IBM Plex Mono" pitchFamily="34" charset="-122"/>
                <a:cs typeface="IBM Plex Mono" pitchFamily="34" charset="-120"/>
              </a:rPr>
              <a:t>◆ choice</a:t>
            </a:r>
            <a:endParaRPr lang="en-US" sz="975" dirty="0"/>
          </a:p>
        </p:txBody>
      </p:sp>
      <p:sp>
        <p:nvSpPr>
          <p:cNvPr id="15" name="Text 13"/>
          <p:cNvSpPr/>
          <p:nvPr/>
        </p:nvSpPr>
        <p:spPr>
          <a:xfrm>
            <a:off x="892969" y="3577478"/>
            <a:ext cx="680267" cy="217394"/>
          </a:xfrm>
          <a:prstGeom prst="rect">
            <a:avLst/>
          </a:prstGeom>
          <a:noFill/>
          <a:ln/>
        </p:spPr>
        <p:txBody>
          <a:bodyPr wrap="square" lIns="25400" tIns="25400" rIns="25400" bIns="25400" rtlCol="0" anchor="t">
            <a:normAutofit/>
          </a:bodyPr>
          <a:lstStyle/>
          <a:p>
            <a:pPr algn="l" indent="0" marL="0">
              <a:buNone/>
            </a:pPr>
            <a:r>
              <a:rPr lang="en-US" sz="1200" dirty="0">
                <a:solidFill>
                  <a:srgbClr val="EFF2E4"/>
                </a:solidFill>
                <a:latin typeface="Public Sans" pitchFamily="34" charset="0"/>
                <a:ea typeface="Public Sans" pitchFamily="34" charset="-122"/>
                <a:cs typeface="Public Sans" pitchFamily="34" charset="-120"/>
              </a:rPr>
              <a:t>Duration</a:t>
            </a:r>
            <a:endParaRPr lang="en-US" sz="1200" dirty="0"/>
          </a:p>
        </p:txBody>
      </p:sp>
      <p:sp>
        <p:nvSpPr>
          <p:cNvPr id="16" name="Text 14"/>
          <p:cNvSpPr/>
          <p:nvPr/>
        </p:nvSpPr>
        <p:spPr>
          <a:xfrm>
            <a:off x="5934915" y="3577478"/>
            <a:ext cx="299092" cy="217394"/>
          </a:xfrm>
          <a:prstGeom prst="rect">
            <a:avLst/>
          </a:prstGeom>
          <a:noFill/>
          <a:ln/>
        </p:spPr>
        <p:txBody>
          <a:bodyPr wrap="square" lIns="25400" tIns="25400" rIns="25400" bIns="25400" rtlCol="0" anchor="t">
            <a:normAutofit/>
          </a:bodyPr>
          <a:lstStyle/>
          <a:p>
            <a:pPr algn="l" indent="0" marL="0">
              <a:buNone/>
            </a:pPr>
            <a:r>
              <a:rPr lang="en-US" sz="975" dirty="0">
                <a:solidFill>
                  <a:srgbClr val="8FB3A0"/>
                </a:solidFill>
                <a:latin typeface="IBM Plex Mono" pitchFamily="34" charset="0"/>
                <a:ea typeface="IBM Plex Mono" pitchFamily="34" charset="-122"/>
                <a:cs typeface="IBM Plex Mono" pitchFamily="34" charset="-120"/>
              </a:rPr>
              <a:t>int</a:t>
            </a:r>
            <a:endParaRPr lang="en-US" sz="975" dirty="0"/>
          </a:p>
        </p:txBody>
      </p:sp>
      <p:sp>
        <p:nvSpPr>
          <p:cNvPr id="17" name="Text 15"/>
          <p:cNvSpPr/>
          <p:nvPr/>
        </p:nvSpPr>
        <p:spPr>
          <a:xfrm>
            <a:off x="892969" y="3832937"/>
            <a:ext cx="539318" cy="217394"/>
          </a:xfrm>
          <a:prstGeom prst="rect">
            <a:avLst/>
          </a:prstGeom>
          <a:noFill/>
          <a:ln/>
        </p:spPr>
        <p:txBody>
          <a:bodyPr wrap="square" lIns="25400" tIns="25400" rIns="25400" bIns="25400" rtlCol="0" anchor="t">
            <a:normAutofit/>
          </a:bodyPr>
          <a:lstStyle/>
          <a:p>
            <a:pPr algn="l" indent="0" marL="0">
              <a:buNone/>
            </a:pPr>
            <a:r>
              <a:rPr lang="en-US" sz="1200" dirty="0">
                <a:solidFill>
                  <a:srgbClr val="EFF2E4"/>
                </a:solidFill>
                <a:latin typeface="Public Sans" pitchFamily="34" charset="0"/>
                <a:ea typeface="Public Sans" pitchFamily="34" charset="-122"/>
                <a:cs typeface="Public Sans" pitchFamily="34" charset="-120"/>
              </a:rPr>
              <a:t>Status</a:t>
            </a:r>
            <a:endParaRPr lang="en-US" sz="1200" dirty="0"/>
          </a:p>
        </p:txBody>
      </p:sp>
      <p:sp>
        <p:nvSpPr>
          <p:cNvPr id="18" name="Text 16"/>
          <p:cNvSpPr/>
          <p:nvPr/>
        </p:nvSpPr>
        <p:spPr>
          <a:xfrm>
            <a:off x="5563020" y="3832937"/>
            <a:ext cx="670987" cy="217394"/>
          </a:xfrm>
          <a:prstGeom prst="rect">
            <a:avLst/>
          </a:prstGeom>
          <a:noFill/>
          <a:ln/>
        </p:spPr>
        <p:txBody>
          <a:bodyPr wrap="square" lIns="25400" tIns="25400" rIns="25400" bIns="25400" rtlCol="0" anchor="t">
            <a:normAutofit/>
          </a:bodyPr>
          <a:lstStyle/>
          <a:p>
            <a:pPr algn="l" indent="0" marL="0">
              <a:buNone/>
            </a:pPr>
            <a:r>
              <a:rPr lang="en-US" sz="975" dirty="0">
                <a:solidFill>
                  <a:srgbClr val="E0C07F"/>
                </a:solidFill>
                <a:latin typeface="IBM Plex Mono" pitchFamily="34" charset="0"/>
                <a:ea typeface="IBM Plex Mono" pitchFamily="34" charset="-122"/>
                <a:cs typeface="IBM Plex Mono" pitchFamily="34" charset="-120"/>
              </a:rPr>
              <a:t>◆ choice</a:t>
            </a:r>
            <a:endParaRPr lang="en-US" sz="975" dirty="0"/>
          </a:p>
        </p:txBody>
      </p:sp>
      <p:sp>
        <p:nvSpPr>
          <p:cNvPr id="19" name="Text 17"/>
          <p:cNvSpPr/>
          <p:nvPr/>
        </p:nvSpPr>
        <p:spPr>
          <a:xfrm>
            <a:off x="892969" y="4088396"/>
            <a:ext cx="1242837" cy="217394"/>
          </a:xfrm>
          <a:prstGeom prst="rect">
            <a:avLst/>
          </a:prstGeom>
          <a:noFill/>
          <a:ln/>
        </p:spPr>
        <p:txBody>
          <a:bodyPr wrap="square" lIns="25400" tIns="25400" rIns="25400" bIns="25400" rtlCol="0" anchor="t">
            <a:normAutofit/>
          </a:bodyPr>
          <a:lstStyle/>
          <a:p>
            <a:pPr algn="l" indent="0" marL="0">
              <a:buNone/>
            </a:pPr>
            <a:r>
              <a:rPr lang="en-US" sz="1200" dirty="0">
                <a:solidFill>
                  <a:srgbClr val="EFF2E4"/>
                </a:solidFill>
                <a:latin typeface="Public Sans" pitchFamily="34" charset="0"/>
                <a:ea typeface="Public Sans" pitchFamily="34" charset="-122"/>
                <a:cs typeface="Public Sans" pitchFamily="34" charset="-120"/>
              </a:rPr>
              <a:t>Partner required</a:t>
            </a:r>
            <a:endParaRPr lang="en-US" sz="1200" dirty="0"/>
          </a:p>
        </p:txBody>
      </p:sp>
      <p:sp>
        <p:nvSpPr>
          <p:cNvPr id="20" name="Text 18"/>
          <p:cNvSpPr/>
          <p:nvPr/>
        </p:nvSpPr>
        <p:spPr>
          <a:xfrm>
            <a:off x="5860501" y="4088396"/>
            <a:ext cx="373506" cy="217394"/>
          </a:xfrm>
          <a:prstGeom prst="rect">
            <a:avLst/>
          </a:prstGeom>
          <a:noFill/>
          <a:ln/>
        </p:spPr>
        <p:txBody>
          <a:bodyPr wrap="square" lIns="25400" tIns="25400" rIns="25400" bIns="25400" rtlCol="0" anchor="t">
            <a:normAutofit/>
          </a:bodyPr>
          <a:lstStyle/>
          <a:p>
            <a:pPr algn="l" indent="0" marL="0">
              <a:buNone/>
            </a:pPr>
            <a:r>
              <a:rPr lang="en-US" sz="975" dirty="0">
                <a:solidFill>
                  <a:srgbClr val="8FB3A0"/>
                </a:solidFill>
                <a:latin typeface="IBM Plex Mono" pitchFamily="34" charset="0"/>
                <a:ea typeface="IBM Plex Mono" pitchFamily="34" charset="-122"/>
                <a:cs typeface="IBM Plex Mono" pitchFamily="34" charset="-120"/>
              </a:rPr>
              <a:t>bool</a:t>
            </a:r>
            <a:endParaRPr lang="en-US" sz="975" dirty="0"/>
          </a:p>
        </p:txBody>
      </p:sp>
      <p:sp>
        <p:nvSpPr>
          <p:cNvPr id="21" name="Text 19"/>
          <p:cNvSpPr/>
          <p:nvPr/>
        </p:nvSpPr>
        <p:spPr>
          <a:xfrm>
            <a:off x="892969" y="4343855"/>
            <a:ext cx="1117822" cy="217394"/>
          </a:xfrm>
          <a:prstGeom prst="rect">
            <a:avLst/>
          </a:prstGeom>
          <a:noFill/>
          <a:ln/>
        </p:spPr>
        <p:txBody>
          <a:bodyPr wrap="square" lIns="25400" tIns="25400" rIns="25400" bIns="25400" rtlCol="0" anchor="t">
            <a:normAutofit/>
          </a:bodyPr>
          <a:lstStyle/>
          <a:p>
            <a:pPr algn="l" indent="0" marL="0">
              <a:buNone/>
            </a:pPr>
            <a:r>
              <a:rPr lang="en-US" sz="1200" dirty="0">
                <a:solidFill>
                  <a:srgbClr val="EFF2E4"/>
                </a:solidFill>
                <a:latin typeface="Public Sans" pitchFamily="34" charset="0"/>
                <a:ea typeface="Public Sans" pitchFamily="34" charset="-122"/>
                <a:cs typeface="Public Sans" pitchFamily="34" charset="-120"/>
              </a:rPr>
              <a:t>Confirmed slot</a:t>
            </a:r>
            <a:endParaRPr lang="en-US" sz="1200" dirty="0"/>
          </a:p>
        </p:txBody>
      </p:sp>
      <p:sp>
        <p:nvSpPr>
          <p:cNvPr id="22" name="Text 20"/>
          <p:cNvSpPr/>
          <p:nvPr/>
        </p:nvSpPr>
        <p:spPr>
          <a:xfrm>
            <a:off x="5711673" y="4343855"/>
            <a:ext cx="522334" cy="217394"/>
          </a:xfrm>
          <a:prstGeom prst="rect">
            <a:avLst/>
          </a:prstGeom>
          <a:noFill/>
          <a:ln/>
        </p:spPr>
        <p:txBody>
          <a:bodyPr wrap="square" lIns="25400" tIns="25400" rIns="25400" bIns="25400" rtlCol="0" anchor="t">
            <a:normAutofit/>
          </a:bodyPr>
          <a:lstStyle/>
          <a:p>
            <a:pPr algn="l" indent="0" marL="0">
              <a:buNone/>
            </a:pPr>
            <a:r>
              <a:rPr lang="en-US" sz="975" dirty="0">
                <a:solidFill>
                  <a:srgbClr val="E7C9E7"/>
                </a:solidFill>
                <a:latin typeface="IBM Plex Mono" pitchFamily="34" charset="0"/>
                <a:ea typeface="IBM Plex Mono" pitchFamily="34" charset="-122"/>
                <a:cs typeface="IBM Plex Mono" pitchFamily="34" charset="-120"/>
              </a:rPr>
              <a:t>→ Slot</a:t>
            </a:r>
            <a:endParaRPr lang="en-US" sz="975" dirty="0"/>
          </a:p>
        </p:txBody>
      </p:sp>
      <p:sp>
        <p:nvSpPr>
          <p:cNvPr id="23" name="Text 21"/>
          <p:cNvSpPr/>
          <p:nvPr/>
        </p:nvSpPr>
        <p:spPr>
          <a:xfrm>
            <a:off x="892969" y="4599314"/>
            <a:ext cx="891428" cy="217394"/>
          </a:xfrm>
          <a:prstGeom prst="rect">
            <a:avLst/>
          </a:prstGeom>
          <a:noFill/>
          <a:ln/>
        </p:spPr>
        <p:txBody>
          <a:bodyPr wrap="square" lIns="25400" tIns="25400" rIns="25400" bIns="25400" rtlCol="0" anchor="t">
            <a:normAutofit/>
          </a:bodyPr>
          <a:lstStyle/>
          <a:p>
            <a:pPr algn="l" indent="0" marL="0">
              <a:buNone/>
            </a:pPr>
            <a:r>
              <a:rPr lang="en-US" sz="1200" dirty="0">
                <a:solidFill>
                  <a:srgbClr val="EFF2E4"/>
                </a:solidFill>
                <a:latin typeface="Public Sans" pitchFamily="34" charset="0"/>
                <a:ea typeface="Public Sans" pitchFamily="34" charset="-122"/>
                <a:cs typeface="Public Sans" pitchFamily="34" charset="-120"/>
              </a:rPr>
              <a:t>Owning RM</a:t>
            </a:r>
            <a:endParaRPr lang="en-US" sz="1200" dirty="0"/>
          </a:p>
        </p:txBody>
      </p:sp>
      <p:sp>
        <p:nvSpPr>
          <p:cNvPr id="24" name="Text 22"/>
          <p:cNvSpPr/>
          <p:nvPr/>
        </p:nvSpPr>
        <p:spPr>
          <a:xfrm>
            <a:off x="5711673" y="4599314"/>
            <a:ext cx="522334" cy="217394"/>
          </a:xfrm>
          <a:prstGeom prst="rect">
            <a:avLst/>
          </a:prstGeom>
          <a:noFill/>
          <a:ln/>
        </p:spPr>
        <p:txBody>
          <a:bodyPr wrap="square" lIns="25400" tIns="25400" rIns="25400" bIns="25400" rtlCol="0" anchor="t">
            <a:normAutofit/>
          </a:bodyPr>
          <a:lstStyle/>
          <a:p>
            <a:pPr algn="l" indent="0" marL="0">
              <a:buNone/>
            </a:pPr>
            <a:r>
              <a:rPr lang="en-US" sz="975" dirty="0">
                <a:solidFill>
                  <a:srgbClr val="E7C9E7"/>
                </a:solidFill>
                <a:latin typeface="IBM Plex Mono" pitchFamily="34" charset="0"/>
                <a:ea typeface="IBM Plex Mono" pitchFamily="34" charset="-122"/>
                <a:cs typeface="IBM Plex Mono" pitchFamily="34" charset="-120"/>
              </a:rPr>
              <a:t>→ User</a:t>
            </a:r>
            <a:endParaRPr lang="en-US" sz="975" dirty="0"/>
          </a:p>
        </p:txBody>
      </p:sp>
      <p:sp>
        <p:nvSpPr>
          <p:cNvPr id="25" name="Text 23"/>
          <p:cNvSpPr/>
          <p:nvPr/>
        </p:nvSpPr>
        <p:spPr>
          <a:xfrm>
            <a:off x="892969" y="4854773"/>
            <a:ext cx="1229180" cy="217394"/>
          </a:xfrm>
          <a:prstGeom prst="rect">
            <a:avLst/>
          </a:prstGeom>
          <a:noFill/>
          <a:ln/>
        </p:spPr>
        <p:txBody>
          <a:bodyPr wrap="square" lIns="25400" tIns="25400" rIns="25400" bIns="25400" rtlCol="0" anchor="t">
            <a:normAutofit/>
          </a:bodyPr>
          <a:lstStyle/>
          <a:p>
            <a:pPr algn="l" indent="0" marL="0">
              <a:buNone/>
            </a:pPr>
            <a:r>
              <a:rPr lang="en-US" sz="1200" dirty="0">
                <a:solidFill>
                  <a:srgbClr val="EFF2E4"/>
                </a:solidFill>
                <a:latin typeface="Public Sans" pitchFamily="34" charset="0"/>
                <a:ea typeface="Public Sans" pitchFamily="34" charset="-122"/>
                <a:cs typeface="Public Sans" pitchFamily="34" charset="-120"/>
              </a:rPr>
              <a:t>Outlook event id</a:t>
            </a:r>
            <a:endParaRPr lang="en-US" sz="1200" dirty="0"/>
          </a:p>
        </p:txBody>
      </p:sp>
      <p:sp>
        <p:nvSpPr>
          <p:cNvPr id="26" name="Text 24"/>
          <p:cNvSpPr/>
          <p:nvPr/>
        </p:nvSpPr>
        <p:spPr>
          <a:xfrm>
            <a:off x="5860501" y="4854773"/>
            <a:ext cx="373506" cy="217394"/>
          </a:xfrm>
          <a:prstGeom prst="rect">
            <a:avLst/>
          </a:prstGeom>
          <a:noFill/>
          <a:ln/>
        </p:spPr>
        <p:txBody>
          <a:bodyPr wrap="square" lIns="25400" tIns="25400" rIns="25400" bIns="25400" rtlCol="0" anchor="t">
            <a:normAutofit/>
          </a:bodyPr>
          <a:lstStyle/>
          <a:p>
            <a:pPr algn="l" indent="0" marL="0">
              <a:buNone/>
            </a:pPr>
            <a:r>
              <a:rPr lang="en-US" sz="975" dirty="0">
                <a:solidFill>
                  <a:srgbClr val="8FB3A0"/>
                </a:solidFill>
                <a:latin typeface="IBM Plex Mono" pitchFamily="34" charset="0"/>
                <a:ea typeface="IBM Plex Mono" pitchFamily="34" charset="-122"/>
                <a:cs typeface="IBM Plex Mono" pitchFamily="34" charset="-120"/>
              </a:rPr>
              <a:t>text</a:t>
            </a:r>
            <a:endParaRPr lang="en-US" sz="975" dirty="0"/>
          </a:p>
        </p:txBody>
      </p:sp>
      <p:sp>
        <p:nvSpPr>
          <p:cNvPr id="27" name="Text 25"/>
          <p:cNvSpPr/>
          <p:nvPr/>
        </p:nvSpPr>
        <p:spPr>
          <a:xfrm>
            <a:off x="892969" y="5110232"/>
            <a:ext cx="1095060" cy="217394"/>
          </a:xfrm>
          <a:prstGeom prst="rect">
            <a:avLst/>
          </a:prstGeom>
          <a:noFill/>
          <a:ln/>
        </p:spPr>
        <p:txBody>
          <a:bodyPr wrap="square" lIns="25400" tIns="25400" rIns="25400" bIns="25400" rtlCol="0" anchor="t">
            <a:normAutofit/>
          </a:bodyPr>
          <a:lstStyle/>
          <a:p>
            <a:pPr algn="l" indent="0" marL="0">
              <a:buNone/>
            </a:pPr>
            <a:r>
              <a:rPr lang="en-US" sz="1200" dirty="0">
                <a:solidFill>
                  <a:srgbClr val="EFF2E4"/>
                </a:solidFill>
                <a:latin typeface="Public Sans" pitchFamily="34" charset="0"/>
                <a:ea typeface="Public Sans" pitchFamily="34" charset="-122"/>
                <a:cs typeface="Public Sans" pitchFamily="34" charset="-120"/>
              </a:rPr>
              <a:t>Booking token</a:t>
            </a:r>
            <a:endParaRPr lang="en-US" sz="1200" dirty="0"/>
          </a:p>
        </p:txBody>
      </p:sp>
      <p:sp>
        <p:nvSpPr>
          <p:cNvPr id="28" name="Text 26"/>
          <p:cNvSpPr/>
          <p:nvPr/>
        </p:nvSpPr>
        <p:spPr>
          <a:xfrm>
            <a:off x="5712023" y="5110232"/>
            <a:ext cx="521984" cy="217394"/>
          </a:xfrm>
          <a:prstGeom prst="rect">
            <a:avLst/>
          </a:prstGeom>
          <a:noFill/>
          <a:ln/>
        </p:spPr>
        <p:txBody>
          <a:bodyPr wrap="square" lIns="25400" tIns="25400" rIns="25400" bIns="25400" rtlCol="0" anchor="t">
            <a:normAutofit/>
          </a:bodyPr>
          <a:lstStyle/>
          <a:p>
            <a:pPr algn="l" indent="0" marL="0">
              <a:buNone/>
            </a:pPr>
            <a:r>
              <a:rPr lang="en-US" sz="975" dirty="0">
                <a:solidFill>
                  <a:srgbClr val="8FB3A0"/>
                </a:solidFill>
                <a:latin typeface="IBM Plex Mono" pitchFamily="34" charset="0"/>
                <a:ea typeface="IBM Plex Mono" pitchFamily="34" charset="-122"/>
                <a:cs typeface="IBM Plex Mono" pitchFamily="34" charset="-120"/>
              </a:rPr>
              <a:t>secret</a:t>
            </a:r>
            <a:endParaRPr lang="en-US" sz="975" dirty="0"/>
          </a:p>
        </p:txBody>
      </p:sp>
      <p:sp>
        <p:nvSpPr>
          <p:cNvPr id="29" name="Shape 27"/>
          <p:cNvSpPr/>
          <p:nvPr/>
        </p:nvSpPr>
        <p:spPr>
          <a:xfrm>
            <a:off x="6574526" y="1930563"/>
            <a:ext cx="5409114" cy="2054178"/>
          </a:xfrm>
          <a:prstGeom prst="roundRect">
            <a:avLst>
              <a:gd name="adj" fmla="val 6492"/>
            </a:avLst>
          </a:prstGeom>
          <a:solidFill>
            <a:srgbClr val="14382A"/>
          </a:solidFill>
          <a:ln w="11206">
            <a:solidFill>
              <a:srgbClr val="2F6B50"/>
            </a:solidFill>
            <a:prstDash val="solid"/>
          </a:ln>
        </p:spPr>
      </p:sp>
      <p:sp>
        <p:nvSpPr>
          <p:cNvPr id="30" name="Shape 28"/>
          <p:cNvSpPr/>
          <p:nvPr/>
        </p:nvSpPr>
        <p:spPr>
          <a:xfrm>
            <a:off x="6585732" y="2589259"/>
            <a:ext cx="5386703" cy="11206"/>
          </a:xfrm>
          <a:prstGeom prst="rect">
            <a:avLst/>
          </a:prstGeom>
          <a:solidFill>
            <a:srgbClr val="2F6B50"/>
          </a:solidFill>
          <a:ln/>
        </p:spPr>
      </p:sp>
      <p:sp>
        <p:nvSpPr>
          <p:cNvPr id="31" name="Text 29"/>
          <p:cNvSpPr/>
          <p:nvPr/>
        </p:nvSpPr>
        <p:spPr>
          <a:xfrm>
            <a:off x="6757147" y="2075014"/>
            <a:ext cx="5548260" cy="262218"/>
          </a:xfrm>
          <a:prstGeom prst="rect">
            <a:avLst/>
          </a:prstGeom>
          <a:noFill/>
          <a:ln/>
        </p:spPr>
        <p:txBody>
          <a:bodyPr wrap="square" lIns="25400" tIns="25400" rIns="25400" bIns="25400" rtlCol="0" anchor="t">
            <a:normAutofit/>
          </a:bodyPr>
          <a:lstStyle/>
          <a:p>
            <a:pPr algn="l" indent="0" marL="0">
              <a:buNone/>
            </a:pPr>
            <a:r>
              <a:rPr lang="en-US" sz="1500" b="1" dirty="0">
                <a:solidFill>
                  <a:srgbClr val="FFFFFF"/>
                </a:solidFill>
                <a:latin typeface="Public Sans" pitchFamily="34" charset="0"/>
                <a:ea typeface="Public Sans" pitchFamily="34" charset="-122"/>
                <a:cs typeface="Public Sans" pitchFamily="34" charset="-120"/>
              </a:rPr>
              <a:t>Proposed slot</a:t>
            </a:r>
            <a:endParaRPr lang="en-US" sz="1500" dirty="0"/>
          </a:p>
        </p:txBody>
      </p:sp>
      <p:sp>
        <p:nvSpPr>
          <p:cNvPr id="32" name="Text 30"/>
          <p:cNvSpPr/>
          <p:nvPr/>
        </p:nvSpPr>
        <p:spPr>
          <a:xfrm>
            <a:off x="6757147" y="2299132"/>
            <a:ext cx="5548260" cy="194982"/>
          </a:xfrm>
          <a:prstGeom prst="rect">
            <a:avLst/>
          </a:prstGeom>
          <a:noFill/>
          <a:ln/>
        </p:spPr>
        <p:txBody>
          <a:bodyPr wrap="square" lIns="25400" tIns="25400" rIns="25400" bIns="25400" rtlCol="0" anchor="t">
            <a:normAutofit/>
          </a:bodyPr>
          <a:lstStyle/>
          <a:p>
            <a:pPr algn="l" indent="0" marL="0">
              <a:buNone/>
            </a:pPr>
            <a:r>
              <a:rPr lang="en-US" sz="975" dirty="0">
                <a:solidFill>
                  <a:srgbClr val="8FB3A0"/>
                </a:solidFill>
                <a:latin typeface="IBM Plex Mono" pitchFamily="34" charset="0"/>
                <a:ea typeface="IBM Plex Mono" pitchFamily="34" charset="-122"/>
                <a:cs typeface="IBM Plex Mono" pitchFamily="34" charset="-120"/>
              </a:rPr>
              <a:t>msol_proposedslot · N:1 → Meeting</a:t>
            </a:r>
            <a:endParaRPr lang="en-US" sz="975" dirty="0"/>
          </a:p>
        </p:txBody>
      </p:sp>
      <p:sp>
        <p:nvSpPr>
          <p:cNvPr id="33" name="Text 31"/>
          <p:cNvSpPr/>
          <p:nvPr/>
        </p:nvSpPr>
        <p:spPr>
          <a:xfrm>
            <a:off x="6757147" y="2714625"/>
            <a:ext cx="786548" cy="206188"/>
          </a:xfrm>
          <a:prstGeom prst="rect">
            <a:avLst/>
          </a:prstGeom>
          <a:noFill/>
          <a:ln/>
        </p:spPr>
        <p:txBody>
          <a:bodyPr wrap="square" lIns="25400" tIns="25400" rIns="25400" bIns="25400" rtlCol="0" anchor="t">
            <a:normAutofit/>
          </a:bodyPr>
          <a:lstStyle/>
          <a:p>
            <a:pPr algn="l" indent="0" marL="0">
              <a:buNone/>
            </a:pPr>
            <a:r>
              <a:rPr lang="en-US" sz="1125" dirty="0">
                <a:solidFill>
                  <a:srgbClr val="EFF2E4"/>
                </a:solidFill>
                <a:latin typeface="Public Sans" pitchFamily="34" charset="0"/>
                <a:ea typeface="Public Sans" pitchFamily="34" charset="-122"/>
                <a:cs typeface="Public Sans" pitchFamily="34" charset="-120"/>
              </a:rPr>
              <a:t>Start / End</a:t>
            </a:r>
            <a:endParaRPr lang="en-US" sz="1125" dirty="0"/>
          </a:p>
        </p:txBody>
      </p:sp>
      <p:sp>
        <p:nvSpPr>
          <p:cNvPr id="34" name="Text 32"/>
          <p:cNvSpPr/>
          <p:nvPr/>
        </p:nvSpPr>
        <p:spPr>
          <a:xfrm>
            <a:off x="11206582" y="2714625"/>
            <a:ext cx="670637" cy="206188"/>
          </a:xfrm>
          <a:prstGeom prst="rect">
            <a:avLst/>
          </a:prstGeom>
          <a:noFill/>
          <a:ln/>
        </p:spPr>
        <p:txBody>
          <a:bodyPr wrap="square" lIns="25400" tIns="25400" rIns="25400" bIns="25400" rtlCol="0" anchor="t">
            <a:normAutofit/>
          </a:bodyPr>
          <a:lstStyle/>
          <a:p>
            <a:pPr algn="l" indent="0" marL="0">
              <a:buNone/>
            </a:pPr>
            <a:r>
              <a:rPr lang="en-US" sz="975" dirty="0">
                <a:solidFill>
                  <a:srgbClr val="8FB3A0"/>
                </a:solidFill>
                <a:latin typeface="IBM Plex Mono" pitchFamily="34" charset="0"/>
                <a:ea typeface="IBM Plex Mono" pitchFamily="34" charset="-122"/>
                <a:cs typeface="IBM Plex Mono" pitchFamily="34" charset="-120"/>
              </a:rPr>
              <a:t>datetime</a:t>
            </a:r>
            <a:endParaRPr lang="en-US" sz="975" dirty="0"/>
          </a:p>
        </p:txBody>
      </p:sp>
      <p:sp>
        <p:nvSpPr>
          <p:cNvPr id="35" name="Text 33"/>
          <p:cNvSpPr/>
          <p:nvPr/>
        </p:nvSpPr>
        <p:spPr>
          <a:xfrm>
            <a:off x="6757147" y="2949248"/>
            <a:ext cx="413252" cy="206188"/>
          </a:xfrm>
          <a:prstGeom prst="rect">
            <a:avLst/>
          </a:prstGeom>
          <a:noFill/>
          <a:ln/>
        </p:spPr>
        <p:txBody>
          <a:bodyPr wrap="square" lIns="25400" tIns="25400" rIns="25400" bIns="25400" rtlCol="0" anchor="t">
            <a:normAutofit/>
          </a:bodyPr>
          <a:lstStyle/>
          <a:p>
            <a:pPr algn="l" indent="0" marL="0">
              <a:buNone/>
            </a:pPr>
            <a:r>
              <a:rPr lang="en-US" sz="1125" dirty="0">
                <a:solidFill>
                  <a:srgbClr val="EFF2E4"/>
                </a:solidFill>
                <a:latin typeface="Public Sans" pitchFamily="34" charset="0"/>
                <a:ea typeface="Public Sans" pitchFamily="34" charset="-122"/>
                <a:cs typeface="Public Sans" pitchFamily="34" charset="-120"/>
              </a:rPr>
              <a:t>Rank</a:t>
            </a:r>
            <a:endParaRPr lang="en-US" sz="1125" dirty="0"/>
          </a:p>
        </p:txBody>
      </p:sp>
      <p:sp>
        <p:nvSpPr>
          <p:cNvPr id="36" name="Text 34"/>
          <p:cNvSpPr/>
          <p:nvPr/>
        </p:nvSpPr>
        <p:spPr>
          <a:xfrm>
            <a:off x="11578127" y="2949248"/>
            <a:ext cx="299092" cy="206188"/>
          </a:xfrm>
          <a:prstGeom prst="rect">
            <a:avLst/>
          </a:prstGeom>
          <a:noFill/>
          <a:ln/>
        </p:spPr>
        <p:txBody>
          <a:bodyPr wrap="square" lIns="25400" tIns="25400" rIns="25400" bIns="25400" rtlCol="0" anchor="t">
            <a:normAutofit/>
          </a:bodyPr>
          <a:lstStyle/>
          <a:p>
            <a:pPr algn="l" indent="0" marL="0">
              <a:buNone/>
            </a:pPr>
            <a:r>
              <a:rPr lang="en-US" sz="975" dirty="0">
                <a:solidFill>
                  <a:srgbClr val="8FB3A0"/>
                </a:solidFill>
                <a:latin typeface="IBM Plex Mono" pitchFamily="34" charset="0"/>
                <a:ea typeface="IBM Plex Mono" pitchFamily="34" charset="-122"/>
                <a:cs typeface="IBM Plex Mono" pitchFamily="34" charset="-120"/>
              </a:rPr>
              <a:t>int</a:t>
            </a:r>
            <a:endParaRPr lang="en-US" sz="975" dirty="0"/>
          </a:p>
        </p:txBody>
      </p:sp>
      <p:sp>
        <p:nvSpPr>
          <p:cNvPr id="37" name="Text 35"/>
          <p:cNvSpPr/>
          <p:nvPr/>
        </p:nvSpPr>
        <p:spPr>
          <a:xfrm>
            <a:off x="6757147" y="3183871"/>
            <a:ext cx="455624" cy="206188"/>
          </a:xfrm>
          <a:prstGeom prst="rect">
            <a:avLst/>
          </a:prstGeom>
          <a:noFill/>
          <a:ln/>
        </p:spPr>
        <p:txBody>
          <a:bodyPr wrap="square" lIns="25400" tIns="25400" rIns="25400" bIns="25400" rtlCol="0" anchor="t">
            <a:normAutofit/>
          </a:bodyPr>
          <a:lstStyle/>
          <a:p>
            <a:pPr algn="l" indent="0" marL="0">
              <a:buNone/>
            </a:pPr>
            <a:r>
              <a:rPr lang="en-US" sz="1125" dirty="0">
                <a:solidFill>
                  <a:srgbClr val="EFF2E4"/>
                </a:solidFill>
                <a:latin typeface="Public Sans" pitchFamily="34" charset="0"/>
                <a:ea typeface="Public Sans" pitchFamily="34" charset="-122"/>
                <a:cs typeface="Public Sans" pitchFamily="34" charset="-120"/>
              </a:rPr>
              <a:t>Room</a:t>
            </a:r>
            <a:endParaRPr lang="en-US" sz="1125" dirty="0"/>
          </a:p>
        </p:txBody>
      </p:sp>
      <p:sp>
        <p:nvSpPr>
          <p:cNvPr id="38" name="Text 36"/>
          <p:cNvSpPr/>
          <p:nvPr/>
        </p:nvSpPr>
        <p:spPr>
          <a:xfrm>
            <a:off x="11354885" y="3183871"/>
            <a:ext cx="522334" cy="206188"/>
          </a:xfrm>
          <a:prstGeom prst="rect">
            <a:avLst/>
          </a:prstGeom>
          <a:noFill/>
          <a:ln/>
        </p:spPr>
        <p:txBody>
          <a:bodyPr wrap="square" lIns="25400" tIns="25400" rIns="25400" bIns="25400" rtlCol="0" anchor="t">
            <a:normAutofit/>
          </a:bodyPr>
          <a:lstStyle/>
          <a:p>
            <a:pPr algn="l" indent="0" marL="0">
              <a:buNone/>
            </a:pPr>
            <a:r>
              <a:rPr lang="en-US" sz="975" dirty="0">
                <a:solidFill>
                  <a:srgbClr val="E7C9E7"/>
                </a:solidFill>
                <a:latin typeface="IBM Plex Mono" pitchFamily="34" charset="0"/>
                <a:ea typeface="IBM Plex Mono" pitchFamily="34" charset="-122"/>
                <a:cs typeface="IBM Plex Mono" pitchFamily="34" charset="-120"/>
              </a:rPr>
              <a:t>→ Room</a:t>
            </a:r>
            <a:endParaRPr lang="en-US" sz="975" dirty="0"/>
          </a:p>
        </p:txBody>
      </p:sp>
      <p:sp>
        <p:nvSpPr>
          <p:cNvPr id="39" name="Text 37"/>
          <p:cNvSpPr/>
          <p:nvPr/>
        </p:nvSpPr>
        <p:spPr>
          <a:xfrm>
            <a:off x="6757147" y="3418494"/>
            <a:ext cx="807734" cy="206188"/>
          </a:xfrm>
          <a:prstGeom prst="rect">
            <a:avLst/>
          </a:prstGeom>
          <a:noFill/>
          <a:ln/>
        </p:spPr>
        <p:txBody>
          <a:bodyPr wrap="square" lIns="25400" tIns="25400" rIns="25400" bIns="25400" rtlCol="0" anchor="t">
            <a:normAutofit/>
          </a:bodyPr>
          <a:lstStyle/>
          <a:p>
            <a:pPr algn="l" indent="0" marL="0">
              <a:buNone/>
            </a:pPr>
            <a:r>
              <a:rPr lang="en-US" sz="1125" dirty="0">
                <a:solidFill>
                  <a:srgbClr val="EFF2E4"/>
                </a:solidFill>
                <a:latin typeface="Public Sans" pitchFamily="34" charset="0"/>
                <a:ea typeface="Public Sans" pitchFamily="34" charset="-122"/>
                <a:cs typeface="Public Sans" pitchFamily="34" charset="-120"/>
              </a:rPr>
              <a:t>Availability</a:t>
            </a:r>
            <a:endParaRPr lang="en-US" sz="1125" dirty="0"/>
          </a:p>
        </p:txBody>
      </p:sp>
      <p:sp>
        <p:nvSpPr>
          <p:cNvPr id="40" name="Text 38"/>
          <p:cNvSpPr/>
          <p:nvPr/>
        </p:nvSpPr>
        <p:spPr>
          <a:xfrm>
            <a:off x="11206232" y="3418494"/>
            <a:ext cx="670987" cy="206188"/>
          </a:xfrm>
          <a:prstGeom prst="rect">
            <a:avLst/>
          </a:prstGeom>
          <a:noFill/>
          <a:ln/>
        </p:spPr>
        <p:txBody>
          <a:bodyPr wrap="square" lIns="25400" tIns="25400" rIns="25400" bIns="25400" rtlCol="0" anchor="t">
            <a:normAutofit/>
          </a:bodyPr>
          <a:lstStyle/>
          <a:p>
            <a:pPr algn="l" indent="0" marL="0">
              <a:buNone/>
            </a:pPr>
            <a:r>
              <a:rPr lang="en-US" sz="975" dirty="0">
                <a:solidFill>
                  <a:srgbClr val="E0C07F"/>
                </a:solidFill>
                <a:latin typeface="IBM Plex Mono" pitchFamily="34" charset="0"/>
                <a:ea typeface="IBM Plex Mono" pitchFamily="34" charset="-122"/>
                <a:cs typeface="IBM Plex Mono" pitchFamily="34" charset="-120"/>
              </a:rPr>
              <a:t>◆ choice</a:t>
            </a:r>
            <a:endParaRPr lang="en-US" sz="975" dirty="0"/>
          </a:p>
        </p:txBody>
      </p:sp>
      <p:sp>
        <p:nvSpPr>
          <p:cNvPr id="41" name="Text 39"/>
          <p:cNvSpPr/>
          <p:nvPr/>
        </p:nvSpPr>
        <p:spPr>
          <a:xfrm>
            <a:off x="6757147" y="3653117"/>
            <a:ext cx="618810" cy="206188"/>
          </a:xfrm>
          <a:prstGeom prst="rect">
            <a:avLst/>
          </a:prstGeom>
          <a:noFill/>
          <a:ln/>
        </p:spPr>
        <p:txBody>
          <a:bodyPr wrap="square" lIns="25400" tIns="25400" rIns="25400" bIns="25400" rtlCol="0" anchor="t">
            <a:normAutofit/>
          </a:bodyPr>
          <a:lstStyle/>
          <a:p>
            <a:pPr algn="l" indent="0" marL="0">
              <a:buNone/>
            </a:pPr>
            <a:r>
              <a:rPr lang="en-US" sz="1125" dirty="0">
                <a:solidFill>
                  <a:srgbClr val="EFF2E4"/>
                </a:solidFill>
                <a:latin typeface="Public Sans" pitchFamily="34" charset="0"/>
                <a:ea typeface="Public Sans" pitchFamily="34" charset="-122"/>
                <a:cs typeface="Public Sans" pitchFamily="34" charset="-120"/>
              </a:rPr>
              <a:t>AI score</a:t>
            </a:r>
            <a:endParaRPr lang="en-US" sz="1125" dirty="0"/>
          </a:p>
        </p:txBody>
      </p:sp>
      <p:sp>
        <p:nvSpPr>
          <p:cNvPr id="42" name="Text 40"/>
          <p:cNvSpPr/>
          <p:nvPr/>
        </p:nvSpPr>
        <p:spPr>
          <a:xfrm>
            <a:off x="11280821" y="3653117"/>
            <a:ext cx="596398" cy="206188"/>
          </a:xfrm>
          <a:prstGeom prst="rect">
            <a:avLst/>
          </a:prstGeom>
          <a:noFill/>
          <a:ln/>
        </p:spPr>
        <p:txBody>
          <a:bodyPr wrap="square" lIns="25400" tIns="25400" rIns="25400" bIns="25400" rtlCol="0" anchor="t">
            <a:normAutofit/>
          </a:bodyPr>
          <a:lstStyle/>
          <a:p>
            <a:pPr algn="l" indent="0" marL="0">
              <a:buNone/>
            </a:pPr>
            <a:r>
              <a:rPr lang="en-US" sz="975" dirty="0">
                <a:solidFill>
                  <a:srgbClr val="8FB3A0"/>
                </a:solidFill>
                <a:latin typeface="IBM Plex Mono" pitchFamily="34" charset="0"/>
                <a:ea typeface="IBM Plex Mono" pitchFamily="34" charset="-122"/>
                <a:cs typeface="IBM Plex Mono" pitchFamily="34" charset="-120"/>
              </a:rPr>
              <a:t>decimal</a:t>
            </a:r>
            <a:endParaRPr lang="en-US" sz="975" dirty="0"/>
          </a:p>
        </p:txBody>
      </p:sp>
      <p:sp>
        <p:nvSpPr>
          <p:cNvPr id="43" name="Shape 41"/>
          <p:cNvSpPr/>
          <p:nvPr/>
        </p:nvSpPr>
        <p:spPr>
          <a:xfrm>
            <a:off x="12193050" y="1930563"/>
            <a:ext cx="5409289" cy="2054178"/>
          </a:xfrm>
          <a:prstGeom prst="roundRect">
            <a:avLst>
              <a:gd name="adj" fmla="val 6492"/>
            </a:avLst>
          </a:prstGeom>
          <a:solidFill>
            <a:srgbClr val="14382A"/>
          </a:solidFill>
          <a:ln w="11206">
            <a:solidFill>
              <a:srgbClr val="2F6B50"/>
            </a:solidFill>
            <a:prstDash val="solid"/>
          </a:ln>
        </p:spPr>
      </p:sp>
      <p:sp>
        <p:nvSpPr>
          <p:cNvPr id="44" name="Shape 42"/>
          <p:cNvSpPr/>
          <p:nvPr/>
        </p:nvSpPr>
        <p:spPr>
          <a:xfrm>
            <a:off x="12204256" y="2589259"/>
            <a:ext cx="5386878" cy="11206"/>
          </a:xfrm>
          <a:prstGeom prst="rect">
            <a:avLst/>
          </a:prstGeom>
          <a:solidFill>
            <a:srgbClr val="2F6B50"/>
          </a:solidFill>
          <a:ln/>
        </p:spPr>
      </p:sp>
      <p:sp>
        <p:nvSpPr>
          <p:cNvPr id="45" name="Text 43"/>
          <p:cNvSpPr/>
          <p:nvPr/>
        </p:nvSpPr>
        <p:spPr>
          <a:xfrm>
            <a:off x="12375670" y="2075014"/>
            <a:ext cx="5548452" cy="262218"/>
          </a:xfrm>
          <a:prstGeom prst="rect">
            <a:avLst/>
          </a:prstGeom>
          <a:noFill/>
          <a:ln/>
        </p:spPr>
        <p:txBody>
          <a:bodyPr wrap="square" lIns="25400" tIns="25400" rIns="25400" bIns="25400" rtlCol="0" anchor="t">
            <a:normAutofit/>
          </a:bodyPr>
          <a:lstStyle/>
          <a:p>
            <a:pPr algn="l" indent="0" marL="0">
              <a:buNone/>
            </a:pPr>
            <a:r>
              <a:rPr lang="en-US" sz="1500" b="1" dirty="0">
                <a:solidFill>
                  <a:srgbClr val="FFFFFF"/>
                </a:solidFill>
                <a:latin typeface="Public Sans" pitchFamily="34" charset="0"/>
                <a:ea typeface="Public Sans" pitchFamily="34" charset="-122"/>
                <a:cs typeface="Public Sans" pitchFamily="34" charset="-120"/>
              </a:rPr>
              <a:t>Room</a:t>
            </a:r>
            <a:endParaRPr lang="en-US" sz="1500" dirty="0"/>
          </a:p>
        </p:txBody>
      </p:sp>
      <p:sp>
        <p:nvSpPr>
          <p:cNvPr id="46" name="Text 44"/>
          <p:cNvSpPr/>
          <p:nvPr/>
        </p:nvSpPr>
        <p:spPr>
          <a:xfrm>
            <a:off x="12375670" y="2299132"/>
            <a:ext cx="5548452" cy="194982"/>
          </a:xfrm>
          <a:prstGeom prst="rect">
            <a:avLst/>
          </a:prstGeom>
          <a:noFill/>
          <a:ln/>
        </p:spPr>
        <p:txBody>
          <a:bodyPr wrap="square" lIns="25400" tIns="25400" rIns="25400" bIns="25400" rtlCol="0" anchor="t">
            <a:normAutofit/>
          </a:bodyPr>
          <a:lstStyle/>
          <a:p>
            <a:pPr algn="l" indent="0" marL="0">
              <a:buNone/>
            </a:pPr>
            <a:r>
              <a:rPr lang="en-US" sz="975" dirty="0">
                <a:solidFill>
                  <a:srgbClr val="8FB3A0"/>
                </a:solidFill>
                <a:latin typeface="IBM Plex Mono" pitchFamily="34" charset="0"/>
                <a:ea typeface="IBM Plex Mono" pitchFamily="34" charset="-122"/>
                <a:cs typeface="IBM Plex Mono" pitchFamily="34" charset="-120"/>
              </a:rPr>
              <a:t>msol_room · reference data</a:t>
            </a:r>
            <a:endParaRPr lang="en-US" sz="975" dirty="0"/>
          </a:p>
        </p:txBody>
      </p:sp>
      <p:sp>
        <p:nvSpPr>
          <p:cNvPr id="47" name="Text 45"/>
          <p:cNvSpPr/>
          <p:nvPr/>
        </p:nvSpPr>
        <p:spPr>
          <a:xfrm>
            <a:off x="12375670" y="2714625"/>
            <a:ext cx="467005" cy="206188"/>
          </a:xfrm>
          <a:prstGeom prst="rect">
            <a:avLst/>
          </a:prstGeom>
          <a:noFill/>
          <a:ln/>
        </p:spPr>
        <p:txBody>
          <a:bodyPr wrap="square" lIns="25400" tIns="25400" rIns="25400" bIns="25400" rtlCol="0" anchor="t">
            <a:normAutofit/>
          </a:bodyPr>
          <a:lstStyle/>
          <a:p>
            <a:pPr algn="l" indent="0" marL="0">
              <a:buNone/>
            </a:pPr>
            <a:r>
              <a:rPr lang="en-US" sz="1125" dirty="0">
                <a:solidFill>
                  <a:srgbClr val="EFF2E4"/>
                </a:solidFill>
                <a:latin typeface="Public Sans" pitchFamily="34" charset="0"/>
                <a:ea typeface="Public Sans" pitchFamily="34" charset="-122"/>
                <a:cs typeface="Public Sans" pitchFamily="34" charset="-120"/>
              </a:rPr>
              <a:t>Name</a:t>
            </a:r>
            <a:endParaRPr lang="en-US" sz="1125" dirty="0"/>
          </a:p>
        </p:txBody>
      </p:sp>
      <p:sp>
        <p:nvSpPr>
          <p:cNvPr id="48" name="Text 46"/>
          <p:cNvSpPr/>
          <p:nvPr/>
        </p:nvSpPr>
        <p:spPr>
          <a:xfrm>
            <a:off x="17122412" y="2714625"/>
            <a:ext cx="373506" cy="206188"/>
          </a:xfrm>
          <a:prstGeom prst="rect">
            <a:avLst/>
          </a:prstGeom>
          <a:noFill/>
          <a:ln/>
        </p:spPr>
        <p:txBody>
          <a:bodyPr wrap="square" lIns="25400" tIns="25400" rIns="25400" bIns="25400" rtlCol="0" anchor="t">
            <a:normAutofit/>
          </a:bodyPr>
          <a:lstStyle/>
          <a:p>
            <a:pPr algn="l" indent="0" marL="0">
              <a:buNone/>
            </a:pPr>
            <a:r>
              <a:rPr lang="en-US" sz="975" dirty="0">
                <a:solidFill>
                  <a:srgbClr val="8FB3A0"/>
                </a:solidFill>
                <a:latin typeface="IBM Plex Mono" pitchFamily="34" charset="0"/>
                <a:ea typeface="IBM Plex Mono" pitchFamily="34" charset="-122"/>
                <a:cs typeface="IBM Plex Mono" pitchFamily="34" charset="-120"/>
              </a:rPr>
              <a:t>text</a:t>
            </a:r>
            <a:endParaRPr lang="en-US" sz="975" dirty="0"/>
          </a:p>
        </p:txBody>
      </p:sp>
      <p:sp>
        <p:nvSpPr>
          <p:cNvPr id="49" name="Text 47"/>
          <p:cNvSpPr/>
          <p:nvPr/>
        </p:nvSpPr>
        <p:spPr>
          <a:xfrm>
            <a:off x="12375670" y="2949248"/>
            <a:ext cx="1257020" cy="206188"/>
          </a:xfrm>
          <a:prstGeom prst="rect">
            <a:avLst/>
          </a:prstGeom>
          <a:noFill/>
          <a:ln/>
        </p:spPr>
        <p:txBody>
          <a:bodyPr wrap="square" lIns="25400" tIns="25400" rIns="25400" bIns="25400" rtlCol="0" anchor="t">
            <a:normAutofit/>
          </a:bodyPr>
          <a:lstStyle/>
          <a:p>
            <a:pPr algn="l" indent="0" marL="0">
              <a:buNone/>
            </a:pPr>
            <a:r>
              <a:rPr lang="en-US" sz="1125" dirty="0">
                <a:solidFill>
                  <a:srgbClr val="EFF2E4"/>
                </a:solidFill>
                <a:latin typeface="Public Sans" pitchFamily="34" charset="0"/>
                <a:ea typeface="Public Sans" pitchFamily="34" charset="-122"/>
                <a:cs typeface="Public Sans" pitchFamily="34" charset="-120"/>
              </a:rPr>
              <a:t>Resource mailbox</a:t>
            </a:r>
            <a:endParaRPr lang="en-US" sz="1125" dirty="0"/>
          </a:p>
        </p:txBody>
      </p:sp>
      <p:sp>
        <p:nvSpPr>
          <p:cNvPr id="50" name="Text 48"/>
          <p:cNvSpPr/>
          <p:nvPr/>
        </p:nvSpPr>
        <p:spPr>
          <a:xfrm>
            <a:off x="17048173" y="2949248"/>
            <a:ext cx="447745" cy="206188"/>
          </a:xfrm>
          <a:prstGeom prst="rect">
            <a:avLst/>
          </a:prstGeom>
          <a:noFill/>
          <a:ln/>
        </p:spPr>
        <p:txBody>
          <a:bodyPr wrap="square" lIns="25400" tIns="25400" rIns="25400" bIns="25400" rtlCol="0" anchor="t">
            <a:normAutofit/>
          </a:bodyPr>
          <a:lstStyle/>
          <a:p>
            <a:pPr algn="l" indent="0" marL="0">
              <a:buNone/>
            </a:pPr>
            <a:r>
              <a:rPr lang="en-US" sz="975" dirty="0">
                <a:solidFill>
                  <a:srgbClr val="8FB3A0"/>
                </a:solidFill>
                <a:latin typeface="IBM Plex Mono" pitchFamily="34" charset="0"/>
                <a:ea typeface="IBM Plex Mono" pitchFamily="34" charset="-122"/>
                <a:cs typeface="IBM Plex Mono" pitchFamily="34" charset="-120"/>
              </a:rPr>
              <a:t>email</a:t>
            </a:r>
            <a:endParaRPr lang="en-US" sz="975" dirty="0"/>
          </a:p>
        </p:txBody>
      </p:sp>
      <p:sp>
        <p:nvSpPr>
          <p:cNvPr id="51" name="Text 49"/>
          <p:cNvSpPr/>
          <p:nvPr/>
        </p:nvSpPr>
        <p:spPr>
          <a:xfrm>
            <a:off x="12375670" y="3183871"/>
            <a:ext cx="643498" cy="206188"/>
          </a:xfrm>
          <a:prstGeom prst="rect">
            <a:avLst/>
          </a:prstGeom>
          <a:noFill/>
          <a:ln/>
        </p:spPr>
        <p:txBody>
          <a:bodyPr wrap="square" lIns="25400" tIns="25400" rIns="25400" bIns="25400" rtlCol="0" anchor="t">
            <a:normAutofit/>
          </a:bodyPr>
          <a:lstStyle/>
          <a:p>
            <a:pPr algn="l" indent="0" marL="0">
              <a:buNone/>
            </a:pPr>
            <a:r>
              <a:rPr lang="en-US" sz="1125" dirty="0">
                <a:solidFill>
                  <a:srgbClr val="EFF2E4"/>
                </a:solidFill>
                <a:latin typeface="Public Sans" pitchFamily="34" charset="0"/>
                <a:ea typeface="Public Sans" pitchFamily="34" charset="-122"/>
                <a:cs typeface="Public Sans" pitchFamily="34" charset="-120"/>
              </a:rPr>
              <a:t>Location</a:t>
            </a:r>
            <a:endParaRPr lang="en-US" sz="1125" dirty="0"/>
          </a:p>
        </p:txBody>
      </p:sp>
      <p:sp>
        <p:nvSpPr>
          <p:cNvPr id="52" name="Text 50"/>
          <p:cNvSpPr/>
          <p:nvPr/>
        </p:nvSpPr>
        <p:spPr>
          <a:xfrm>
            <a:off x="16824931" y="3183871"/>
            <a:ext cx="670987" cy="206188"/>
          </a:xfrm>
          <a:prstGeom prst="rect">
            <a:avLst/>
          </a:prstGeom>
          <a:noFill/>
          <a:ln/>
        </p:spPr>
        <p:txBody>
          <a:bodyPr wrap="square" lIns="25400" tIns="25400" rIns="25400" bIns="25400" rtlCol="0" anchor="t">
            <a:normAutofit/>
          </a:bodyPr>
          <a:lstStyle/>
          <a:p>
            <a:pPr algn="l" indent="0" marL="0">
              <a:buNone/>
            </a:pPr>
            <a:r>
              <a:rPr lang="en-US" sz="975" dirty="0">
                <a:solidFill>
                  <a:srgbClr val="E0C07F"/>
                </a:solidFill>
                <a:latin typeface="IBM Plex Mono" pitchFamily="34" charset="0"/>
                <a:ea typeface="IBM Plex Mono" pitchFamily="34" charset="-122"/>
                <a:cs typeface="IBM Plex Mono" pitchFamily="34" charset="-120"/>
              </a:rPr>
              <a:t>◆ choice</a:t>
            </a:r>
            <a:endParaRPr lang="en-US" sz="975" dirty="0"/>
          </a:p>
        </p:txBody>
      </p:sp>
      <p:sp>
        <p:nvSpPr>
          <p:cNvPr id="53" name="Text 51"/>
          <p:cNvSpPr/>
          <p:nvPr/>
        </p:nvSpPr>
        <p:spPr>
          <a:xfrm>
            <a:off x="12375670" y="3418494"/>
            <a:ext cx="659956" cy="206188"/>
          </a:xfrm>
          <a:prstGeom prst="rect">
            <a:avLst/>
          </a:prstGeom>
          <a:noFill/>
          <a:ln/>
        </p:spPr>
        <p:txBody>
          <a:bodyPr wrap="square" lIns="25400" tIns="25400" rIns="25400" bIns="25400" rtlCol="0" anchor="t">
            <a:normAutofit/>
          </a:bodyPr>
          <a:lstStyle/>
          <a:p>
            <a:pPr algn="l" indent="0" marL="0">
              <a:buNone/>
            </a:pPr>
            <a:r>
              <a:rPr lang="en-US" sz="1125" dirty="0">
                <a:solidFill>
                  <a:srgbClr val="EFF2E4"/>
                </a:solidFill>
                <a:latin typeface="Public Sans" pitchFamily="34" charset="0"/>
                <a:ea typeface="Public Sans" pitchFamily="34" charset="-122"/>
                <a:cs typeface="Public Sans" pitchFamily="34" charset="-120"/>
              </a:rPr>
              <a:t>Capacity</a:t>
            </a:r>
            <a:endParaRPr lang="en-US" sz="1125" dirty="0"/>
          </a:p>
        </p:txBody>
      </p:sp>
      <p:sp>
        <p:nvSpPr>
          <p:cNvPr id="54" name="Text 52"/>
          <p:cNvSpPr/>
          <p:nvPr/>
        </p:nvSpPr>
        <p:spPr>
          <a:xfrm>
            <a:off x="17196826" y="3418494"/>
            <a:ext cx="299092" cy="206188"/>
          </a:xfrm>
          <a:prstGeom prst="rect">
            <a:avLst/>
          </a:prstGeom>
          <a:noFill/>
          <a:ln/>
        </p:spPr>
        <p:txBody>
          <a:bodyPr wrap="square" lIns="25400" tIns="25400" rIns="25400" bIns="25400" rtlCol="0" anchor="t">
            <a:normAutofit/>
          </a:bodyPr>
          <a:lstStyle/>
          <a:p>
            <a:pPr algn="l" indent="0" marL="0">
              <a:buNone/>
            </a:pPr>
            <a:r>
              <a:rPr lang="en-US" sz="975" dirty="0">
                <a:solidFill>
                  <a:srgbClr val="8FB3A0"/>
                </a:solidFill>
                <a:latin typeface="IBM Plex Mono" pitchFamily="34" charset="0"/>
                <a:ea typeface="IBM Plex Mono" pitchFamily="34" charset="-122"/>
                <a:cs typeface="IBM Plex Mono" pitchFamily="34" charset="-120"/>
              </a:rPr>
              <a:t>int</a:t>
            </a:r>
            <a:endParaRPr lang="en-US" sz="975" dirty="0"/>
          </a:p>
        </p:txBody>
      </p:sp>
      <p:sp>
        <p:nvSpPr>
          <p:cNvPr id="55" name="Text 53"/>
          <p:cNvSpPr/>
          <p:nvPr/>
        </p:nvSpPr>
        <p:spPr>
          <a:xfrm>
            <a:off x="12375670" y="3653117"/>
            <a:ext cx="492744" cy="206188"/>
          </a:xfrm>
          <a:prstGeom prst="rect">
            <a:avLst/>
          </a:prstGeom>
          <a:noFill/>
          <a:ln/>
        </p:spPr>
        <p:txBody>
          <a:bodyPr wrap="square" lIns="25400" tIns="25400" rIns="25400" bIns="25400" rtlCol="0" anchor="t">
            <a:normAutofit/>
          </a:bodyPr>
          <a:lstStyle/>
          <a:p>
            <a:pPr algn="l" indent="0" marL="0">
              <a:buNone/>
            </a:pPr>
            <a:r>
              <a:rPr lang="en-US" sz="1125" dirty="0">
                <a:solidFill>
                  <a:srgbClr val="EFF2E4"/>
                </a:solidFill>
                <a:latin typeface="Public Sans" pitchFamily="34" charset="0"/>
                <a:ea typeface="Public Sans" pitchFamily="34" charset="-122"/>
                <a:cs typeface="Public Sans" pitchFamily="34" charset="-120"/>
              </a:rPr>
              <a:t>Active</a:t>
            </a:r>
            <a:endParaRPr lang="en-US" sz="1125" dirty="0"/>
          </a:p>
        </p:txBody>
      </p:sp>
      <p:sp>
        <p:nvSpPr>
          <p:cNvPr id="56" name="Text 54"/>
          <p:cNvSpPr/>
          <p:nvPr/>
        </p:nvSpPr>
        <p:spPr>
          <a:xfrm>
            <a:off x="17122412" y="3653117"/>
            <a:ext cx="373506" cy="206188"/>
          </a:xfrm>
          <a:prstGeom prst="rect">
            <a:avLst/>
          </a:prstGeom>
          <a:noFill/>
          <a:ln/>
        </p:spPr>
        <p:txBody>
          <a:bodyPr wrap="square" lIns="25400" tIns="25400" rIns="25400" bIns="25400" rtlCol="0" anchor="t">
            <a:normAutofit/>
          </a:bodyPr>
          <a:lstStyle/>
          <a:p>
            <a:pPr algn="l" indent="0" marL="0">
              <a:buNone/>
            </a:pPr>
            <a:r>
              <a:rPr lang="en-US" sz="975" dirty="0">
                <a:solidFill>
                  <a:srgbClr val="8FB3A0"/>
                </a:solidFill>
                <a:latin typeface="IBM Plex Mono" pitchFamily="34" charset="0"/>
                <a:ea typeface="IBM Plex Mono" pitchFamily="34" charset="-122"/>
                <a:cs typeface="IBM Plex Mono" pitchFamily="34" charset="-120"/>
              </a:rPr>
              <a:t>bool</a:t>
            </a:r>
            <a:endParaRPr lang="en-US" sz="975" dirty="0"/>
          </a:p>
        </p:txBody>
      </p:sp>
      <p:sp>
        <p:nvSpPr>
          <p:cNvPr id="57" name="Shape 55"/>
          <p:cNvSpPr/>
          <p:nvPr/>
        </p:nvSpPr>
        <p:spPr>
          <a:xfrm>
            <a:off x="6574526" y="5754745"/>
            <a:ext cx="5409114" cy="1819555"/>
          </a:xfrm>
          <a:prstGeom prst="roundRect">
            <a:avLst>
              <a:gd name="adj" fmla="val 7329"/>
            </a:avLst>
          </a:prstGeom>
          <a:solidFill>
            <a:srgbClr val="14382A"/>
          </a:solidFill>
          <a:ln w="11206">
            <a:solidFill>
              <a:srgbClr val="2F6B50"/>
            </a:solidFill>
            <a:prstDash val="solid"/>
          </a:ln>
        </p:spPr>
      </p:sp>
      <p:sp>
        <p:nvSpPr>
          <p:cNvPr id="58" name="Shape 56"/>
          <p:cNvSpPr/>
          <p:nvPr/>
        </p:nvSpPr>
        <p:spPr>
          <a:xfrm>
            <a:off x="6585732" y="6413441"/>
            <a:ext cx="5386703" cy="11206"/>
          </a:xfrm>
          <a:prstGeom prst="rect">
            <a:avLst/>
          </a:prstGeom>
          <a:solidFill>
            <a:srgbClr val="2F6B50"/>
          </a:solidFill>
          <a:ln/>
        </p:spPr>
      </p:sp>
      <p:sp>
        <p:nvSpPr>
          <p:cNvPr id="59" name="Text 57"/>
          <p:cNvSpPr/>
          <p:nvPr/>
        </p:nvSpPr>
        <p:spPr>
          <a:xfrm>
            <a:off x="6757147" y="5899196"/>
            <a:ext cx="5548260" cy="262218"/>
          </a:xfrm>
          <a:prstGeom prst="rect">
            <a:avLst/>
          </a:prstGeom>
          <a:noFill/>
          <a:ln/>
        </p:spPr>
        <p:txBody>
          <a:bodyPr wrap="square" lIns="25400" tIns="25400" rIns="25400" bIns="25400" rtlCol="0" anchor="t">
            <a:normAutofit/>
          </a:bodyPr>
          <a:lstStyle/>
          <a:p>
            <a:pPr algn="l" indent="0" marL="0">
              <a:buNone/>
            </a:pPr>
            <a:r>
              <a:rPr lang="en-US" sz="1500" b="1" dirty="0">
                <a:solidFill>
                  <a:srgbClr val="FFFFFF"/>
                </a:solidFill>
                <a:latin typeface="Public Sans" pitchFamily="34" charset="0"/>
                <a:ea typeface="Public Sans" pitchFamily="34" charset="-122"/>
                <a:cs typeface="Public Sans" pitchFamily="34" charset="-120"/>
              </a:rPr>
              <a:t>Meeting attendee</a:t>
            </a:r>
            <a:endParaRPr lang="en-US" sz="1500" dirty="0"/>
          </a:p>
        </p:txBody>
      </p:sp>
      <p:sp>
        <p:nvSpPr>
          <p:cNvPr id="60" name="Text 58"/>
          <p:cNvSpPr/>
          <p:nvPr/>
        </p:nvSpPr>
        <p:spPr>
          <a:xfrm>
            <a:off x="6757147" y="6123314"/>
            <a:ext cx="5548260" cy="194982"/>
          </a:xfrm>
          <a:prstGeom prst="rect">
            <a:avLst/>
          </a:prstGeom>
          <a:noFill/>
          <a:ln/>
        </p:spPr>
        <p:txBody>
          <a:bodyPr wrap="square" lIns="25400" tIns="25400" rIns="25400" bIns="25400" rtlCol="0" anchor="t">
            <a:normAutofit/>
          </a:bodyPr>
          <a:lstStyle/>
          <a:p>
            <a:pPr algn="l" indent="0" marL="0">
              <a:buNone/>
            </a:pPr>
            <a:r>
              <a:rPr lang="en-US" sz="975" dirty="0">
                <a:solidFill>
                  <a:srgbClr val="8FB3A0"/>
                </a:solidFill>
                <a:latin typeface="IBM Plex Mono" pitchFamily="34" charset="0"/>
                <a:ea typeface="IBM Plex Mono" pitchFamily="34" charset="-122"/>
                <a:cs typeface="IBM Plex Mono" pitchFamily="34" charset="-120"/>
              </a:rPr>
              <a:t>msol_meetingattendee · N:1 → Meeting</a:t>
            </a:r>
            <a:endParaRPr lang="en-US" sz="975" dirty="0"/>
          </a:p>
        </p:txBody>
      </p:sp>
      <p:sp>
        <p:nvSpPr>
          <p:cNvPr id="61" name="Text 59"/>
          <p:cNvSpPr/>
          <p:nvPr/>
        </p:nvSpPr>
        <p:spPr>
          <a:xfrm>
            <a:off x="6757147" y="6538807"/>
            <a:ext cx="954286" cy="206188"/>
          </a:xfrm>
          <a:prstGeom prst="rect">
            <a:avLst/>
          </a:prstGeom>
          <a:noFill/>
          <a:ln/>
        </p:spPr>
        <p:txBody>
          <a:bodyPr wrap="square" lIns="25400" tIns="25400" rIns="25400" bIns="25400" rtlCol="0" anchor="t">
            <a:normAutofit/>
          </a:bodyPr>
          <a:lstStyle/>
          <a:p>
            <a:pPr algn="l" indent="0" marL="0">
              <a:buNone/>
            </a:pPr>
            <a:r>
              <a:rPr lang="en-US" sz="1125" dirty="0">
                <a:solidFill>
                  <a:srgbClr val="EFF2E4"/>
                </a:solidFill>
                <a:latin typeface="Public Sans" pitchFamily="34" charset="0"/>
                <a:ea typeface="Public Sans" pitchFamily="34" charset="-122"/>
                <a:cs typeface="Public Sans" pitchFamily="34" charset="-120"/>
              </a:rPr>
              <a:t>Name / Email</a:t>
            </a:r>
            <a:endParaRPr lang="en-US" sz="1125" dirty="0"/>
          </a:p>
        </p:txBody>
      </p:sp>
      <p:sp>
        <p:nvSpPr>
          <p:cNvPr id="62" name="Text 60"/>
          <p:cNvSpPr/>
          <p:nvPr/>
        </p:nvSpPr>
        <p:spPr>
          <a:xfrm>
            <a:off x="11503713" y="6538807"/>
            <a:ext cx="373506" cy="206188"/>
          </a:xfrm>
          <a:prstGeom prst="rect">
            <a:avLst/>
          </a:prstGeom>
          <a:noFill/>
          <a:ln/>
        </p:spPr>
        <p:txBody>
          <a:bodyPr wrap="square" lIns="25400" tIns="25400" rIns="25400" bIns="25400" rtlCol="0" anchor="t">
            <a:normAutofit/>
          </a:bodyPr>
          <a:lstStyle/>
          <a:p>
            <a:pPr algn="l" indent="0" marL="0">
              <a:buNone/>
            </a:pPr>
            <a:r>
              <a:rPr lang="en-US" sz="975" dirty="0">
                <a:solidFill>
                  <a:srgbClr val="8FB3A0"/>
                </a:solidFill>
                <a:latin typeface="IBM Plex Mono" pitchFamily="34" charset="0"/>
                <a:ea typeface="IBM Plex Mono" pitchFamily="34" charset="-122"/>
                <a:cs typeface="IBM Plex Mono" pitchFamily="34" charset="-120"/>
              </a:rPr>
              <a:t>text</a:t>
            </a:r>
            <a:endParaRPr lang="en-US" sz="975" dirty="0"/>
          </a:p>
        </p:txBody>
      </p:sp>
      <p:sp>
        <p:nvSpPr>
          <p:cNvPr id="63" name="Text 61"/>
          <p:cNvSpPr/>
          <p:nvPr/>
        </p:nvSpPr>
        <p:spPr>
          <a:xfrm>
            <a:off x="6757147" y="6773430"/>
            <a:ext cx="1014518" cy="206188"/>
          </a:xfrm>
          <a:prstGeom prst="rect">
            <a:avLst/>
          </a:prstGeom>
          <a:noFill/>
          <a:ln/>
        </p:spPr>
        <p:txBody>
          <a:bodyPr wrap="square" lIns="25400" tIns="25400" rIns="25400" bIns="25400" rtlCol="0" anchor="t">
            <a:normAutofit/>
          </a:bodyPr>
          <a:lstStyle/>
          <a:p>
            <a:pPr algn="l" indent="0" marL="0">
              <a:buNone/>
            </a:pPr>
            <a:r>
              <a:rPr lang="en-US" sz="1125" dirty="0">
                <a:solidFill>
                  <a:srgbClr val="EFF2E4"/>
                </a:solidFill>
                <a:latin typeface="Public Sans" pitchFamily="34" charset="0"/>
                <a:ea typeface="Public Sans" pitchFamily="34" charset="-122"/>
                <a:cs typeface="Public Sans" pitchFamily="34" charset="-120"/>
              </a:rPr>
              <a:t>Attendee type</a:t>
            </a:r>
            <a:endParaRPr lang="en-US" sz="1125" dirty="0"/>
          </a:p>
        </p:txBody>
      </p:sp>
      <p:sp>
        <p:nvSpPr>
          <p:cNvPr id="64" name="Text 62"/>
          <p:cNvSpPr/>
          <p:nvPr/>
        </p:nvSpPr>
        <p:spPr>
          <a:xfrm>
            <a:off x="11206232" y="6773430"/>
            <a:ext cx="670987" cy="206188"/>
          </a:xfrm>
          <a:prstGeom prst="rect">
            <a:avLst/>
          </a:prstGeom>
          <a:noFill/>
          <a:ln/>
        </p:spPr>
        <p:txBody>
          <a:bodyPr wrap="square" lIns="25400" tIns="25400" rIns="25400" bIns="25400" rtlCol="0" anchor="t">
            <a:normAutofit/>
          </a:bodyPr>
          <a:lstStyle/>
          <a:p>
            <a:pPr algn="l" indent="0" marL="0">
              <a:buNone/>
            </a:pPr>
            <a:r>
              <a:rPr lang="en-US" sz="975" dirty="0">
                <a:solidFill>
                  <a:srgbClr val="E0C07F"/>
                </a:solidFill>
                <a:latin typeface="IBM Plex Mono" pitchFamily="34" charset="0"/>
                <a:ea typeface="IBM Plex Mono" pitchFamily="34" charset="-122"/>
                <a:cs typeface="IBM Plex Mono" pitchFamily="34" charset="-120"/>
              </a:rPr>
              <a:t>◆ choice</a:t>
            </a:r>
            <a:endParaRPr lang="en-US" sz="975" dirty="0"/>
          </a:p>
        </p:txBody>
      </p:sp>
      <p:sp>
        <p:nvSpPr>
          <p:cNvPr id="65" name="Text 63"/>
          <p:cNvSpPr/>
          <p:nvPr/>
        </p:nvSpPr>
        <p:spPr>
          <a:xfrm>
            <a:off x="6757147" y="7008054"/>
            <a:ext cx="677641" cy="206188"/>
          </a:xfrm>
          <a:prstGeom prst="rect">
            <a:avLst/>
          </a:prstGeom>
          <a:noFill/>
          <a:ln/>
        </p:spPr>
        <p:txBody>
          <a:bodyPr wrap="square" lIns="25400" tIns="25400" rIns="25400" bIns="25400" rtlCol="0" anchor="t">
            <a:normAutofit/>
          </a:bodyPr>
          <a:lstStyle/>
          <a:p>
            <a:pPr algn="l" indent="0" marL="0">
              <a:buNone/>
            </a:pPr>
            <a:r>
              <a:rPr lang="en-US" sz="1125" dirty="0">
                <a:solidFill>
                  <a:srgbClr val="EFF2E4"/>
                </a:solidFill>
                <a:latin typeface="Public Sans" pitchFamily="34" charset="0"/>
                <a:ea typeface="Public Sans" pitchFamily="34" charset="-122"/>
                <a:cs typeface="Public Sans" pitchFamily="34" charset="-120"/>
              </a:rPr>
              <a:t>Required</a:t>
            </a:r>
            <a:endParaRPr lang="en-US" sz="1125" dirty="0"/>
          </a:p>
        </p:txBody>
      </p:sp>
      <p:sp>
        <p:nvSpPr>
          <p:cNvPr id="66" name="Text 64"/>
          <p:cNvSpPr/>
          <p:nvPr/>
        </p:nvSpPr>
        <p:spPr>
          <a:xfrm>
            <a:off x="11503713" y="7008054"/>
            <a:ext cx="373506" cy="206188"/>
          </a:xfrm>
          <a:prstGeom prst="rect">
            <a:avLst/>
          </a:prstGeom>
          <a:noFill/>
          <a:ln/>
        </p:spPr>
        <p:txBody>
          <a:bodyPr wrap="square" lIns="25400" tIns="25400" rIns="25400" bIns="25400" rtlCol="0" anchor="t">
            <a:normAutofit/>
          </a:bodyPr>
          <a:lstStyle/>
          <a:p>
            <a:pPr algn="l" indent="0" marL="0">
              <a:buNone/>
            </a:pPr>
            <a:r>
              <a:rPr lang="en-US" sz="975" dirty="0">
                <a:solidFill>
                  <a:srgbClr val="8FB3A0"/>
                </a:solidFill>
                <a:latin typeface="IBM Plex Mono" pitchFamily="34" charset="0"/>
                <a:ea typeface="IBM Plex Mono" pitchFamily="34" charset="-122"/>
                <a:cs typeface="IBM Plex Mono" pitchFamily="34" charset="-120"/>
              </a:rPr>
              <a:t>bool</a:t>
            </a:r>
            <a:endParaRPr lang="en-US" sz="975" dirty="0"/>
          </a:p>
        </p:txBody>
      </p:sp>
      <p:sp>
        <p:nvSpPr>
          <p:cNvPr id="67" name="Text 65"/>
          <p:cNvSpPr/>
          <p:nvPr/>
        </p:nvSpPr>
        <p:spPr>
          <a:xfrm>
            <a:off x="6757147" y="7242677"/>
            <a:ext cx="724215" cy="206188"/>
          </a:xfrm>
          <a:prstGeom prst="rect">
            <a:avLst/>
          </a:prstGeom>
          <a:noFill/>
          <a:ln/>
        </p:spPr>
        <p:txBody>
          <a:bodyPr wrap="square" lIns="25400" tIns="25400" rIns="25400" bIns="25400" rtlCol="0" anchor="t">
            <a:normAutofit/>
          </a:bodyPr>
          <a:lstStyle/>
          <a:p>
            <a:pPr algn="l" indent="0" marL="0">
              <a:buNone/>
            </a:pPr>
            <a:r>
              <a:rPr lang="en-US" sz="1125" dirty="0">
                <a:solidFill>
                  <a:srgbClr val="EFF2E4"/>
                </a:solidFill>
                <a:latin typeface="Public Sans" pitchFamily="34" charset="0"/>
                <a:ea typeface="Public Sans" pitchFamily="34" charset="-122"/>
                <a:cs typeface="Public Sans" pitchFamily="34" charset="-120"/>
              </a:rPr>
              <a:t>Response</a:t>
            </a:r>
            <a:endParaRPr lang="en-US" sz="1125" dirty="0"/>
          </a:p>
        </p:txBody>
      </p:sp>
      <p:sp>
        <p:nvSpPr>
          <p:cNvPr id="68" name="Text 66"/>
          <p:cNvSpPr/>
          <p:nvPr/>
        </p:nvSpPr>
        <p:spPr>
          <a:xfrm>
            <a:off x="11206232" y="7242677"/>
            <a:ext cx="670987" cy="206188"/>
          </a:xfrm>
          <a:prstGeom prst="rect">
            <a:avLst/>
          </a:prstGeom>
          <a:noFill/>
          <a:ln/>
        </p:spPr>
        <p:txBody>
          <a:bodyPr wrap="square" lIns="25400" tIns="25400" rIns="25400" bIns="25400" rtlCol="0" anchor="t">
            <a:normAutofit/>
          </a:bodyPr>
          <a:lstStyle/>
          <a:p>
            <a:pPr algn="l" indent="0" marL="0">
              <a:buNone/>
            </a:pPr>
            <a:r>
              <a:rPr lang="en-US" sz="975" dirty="0">
                <a:solidFill>
                  <a:srgbClr val="E0C07F"/>
                </a:solidFill>
                <a:latin typeface="IBM Plex Mono" pitchFamily="34" charset="0"/>
                <a:ea typeface="IBM Plex Mono" pitchFamily="34" charset="-122"/>
                <a:cs typeface="IBM Plex Mono" pitchFamily="34" charset="-120"/>
              </a:rPr>
              <a:t>◆ choice</a:t>
            </a:r>
            <a:endParaRPr lang="en-US" sz="975" dirty="0"/>
          </a:p>
        </p:txBody>
      </p:sp>
      <p:sp>
        <p:nvSpPr>
          <p:cNvPr id="69" name="Shape 67"/>
          <p:cNvSpPr/>
          <p:nvPr/>
        </p:nvSpPr>
        <p:spPr>
          <a:xfrm>
            <a:off x="12193050" y="5754745"/>
            <a:ext cx="5409289" cy="2114585"/>
          </a:xfrm>
          <a:prstGeom prst="roundRect">
            <a:avLst>
              <a:gd name="adj" fmla="val 6306"/>
            </a:avLst>
          </a:prstGeom>
          <a:solidFill>
            <a:srgbClr val="2A1A2A"/>
          </a:solidFill>
          <a:ln w="11206">
            <a:solidFill>
              <a:srgbClr val="8A4A8A"/>
            </a:solidFill>
            <a:prstDash val="solid"/>
          </a:ln>
        </p:spPr>
      </p:sp>
      <p:sp>
        <p:nvSpPr>
          <p:cNvPr id="70" name="Shape 68"/>
          <p:cNvSpPr/>
          <p:nvPr/>
        </p:nvSpPr>
        <p:spPr>
          <a:xfrm>
            <a:off x="12204256" y="6413441"/>
            <a:ext cx="5386878" cy="11206"/>
          </a:xfrm>
          <a:prstGeom prst="rect">
            <a:avLst/>
          </a:prstGeom>
          <a:solidFill>
            <a:srgbClr val="8A4A8A"/>
          </a:solidFill>
          <a:ln/>
        </p:spPr>
      </p:sp>
      <p:sp>
        <p:nvSpPr>
          <p:cNvPr id="71" name="Text 69"/>
          <p:cNvSpPr/>
          <p:nvPr/>
        </p:nvSpPr>
        <p:spPr>
          <a:xfrm>
            <a:off x="12375670" y="5899196"/>
            <a:ext cx="5548452" cy="262218"/>
          </a:xfrm>
          <a:prstGeom prst="rect">
            <a:avLst/>
          </a:prstGeom>
          <a:noFill/>
          <a:ln/>
        </p:spPr>
        <p:txBody>
          <a:bodyPr wrap="square" lIns="25400" tIns="25400" rIns="25400" bIns="25400" rtlCol="0" anchor="t">
            <a:normAutofit/>
          </a:bodyPr>
          <a:lstStyle/>
          <a:p>
            <a:pPr algn="l" indent="0" marL="0">
              <a:buNone/>
            </a:pPr>
            <a:r>
              <a:rPr lang="en-US" sz="1500" b="1" dirty="0">
                <a:solidFill>
                  <a:srgbClr val="FFFFFF"/>
                </a:solidFill>
                <a:latin typeface="Public Sans" pitchFamily="34" charset="0"/>
                <a:ea typeface="Public Sans" pitchFamily="34" charset="-122"/>
                <a:cs typeface="Public Sans" pitchFamily="34" charset="-120"/>
              </a:rPr>
              <a:t>Orchestration event</a:t>
            </a:r>
            <a:endParaRPr lang="en-US" sz="1500" dirty="0"/>
          </a:p>
        </p:txBody>
      </p:sp>
      <p:sp>
        <p:nvSpPr>
          <p:cNvPr id="72" name="Text 70"/>
          <p:cNvSpPr/>
          <p:nvPr/>
        </p:nvSpPr>
        <p:spPr>
          <a:xfrm>
            <a:off x="12375670" y="6123314"/>
            <a:ext cx="5548452" cy="194982"/>
          </a:xfrm>
          <a:prstGeom prst="rect">
            <a:avLst/>
          </a:prstGeom>
          <a:noFill/>
          <a:ln/>
        </p:spPr>
        <p:txBody>
          <a:bodyPr wrap="square" lIns="25400" tIns="25400" rIns="25400" bIns="25400" rtlCol="0" anchor="t">
            <a:normAutofit/>
          </a:bodyPr>
          <a:lstStyle/>
          <a:p>
            <a:pPr algn="l" indent="0" marL="0">
              <a:buNone/>
            </a:pPr>
            <a:r>
              <a:rPr lang="en-US" sz="975" dirty="0">
                <a:solidFill>
                  <a:srgbClr val="E7C9E7"/>
                </a:solidFill>
                <a:latin typeface="IBM Plex Mono" pitchFamily="34" charset="0"/>
                <a:ea typeface="IBM Plex Mono" pitchFamily="34" charset="-122"/>
                <a:cs typeface="IBM Plex Mono" pitchFamily="34" charset="-120"/>
              </a:rPr>
              <a:t>msol_orchestrationevent · audit trail</a:t>
            </a:r>
            <a:endParaRPr lang="en-US" sz="975" dirty="0"/>
          </a:p>
        </p:txBody>
      </p:sp>
      <p:sp>
        <p:nvSpPr>
          <p:cNvPr id="73" name="Text 71"/>
          <p:cNvSpPr/>
          <p:nvPr/>
        </p:nvSpPr>
        <p:spPr>
          <a:xfrm>
            <a:off x="12375670" y="6538807"/>
            <a:ext cx="782171" cy="206188"/>
          </a:xfrm>
          <a:prstGeom prst="rect">
            <a:avLst/>
          </a:prstGeom>
          <a:noFill/>
          <a:ln/>
        </p:spPr>
        <p:txBody>
          <a:bodyPr wrap="square" lIns="25400" tIns="25400" rIns="25400" bIns="25400" rtlCol="0" anchor="t">
            <a:normAutofit/>
          </a:bodyPr>
          <a:lstStyle/>
          <a:p>
            <a:pPr algn="l" indent="0" marL="0">
              <a:buNone/>
            </a:pPr>
            <a:r>
              <a:rPr lang="en-US" sz="1125" dirty="0">
                <a:solidFill>
                  <a:srgbClr val="EFF2E4"/>
                </a:solidFill>
                <a:latin typeface="Public Sans" pitchFamily="34" charset="0"/>
                <a:ea typeface="Public Sans" pitchFamily="34" charset="-122"/>
                <a:cs typeface="Public Sans" pitchFamily="34" charset="-120"/>
              </a:rPr>
              <a:t>Event type</a:t>
            </a:r>
            <a:endParaRPr lang="en-US" sz="1125" dirty="0"/>
          </a:p>
        </p:txBody>
      </p:sp>
      <p:sp>
        <p:nvSpPr>
          <p:cNvPr id="74" name="Text 72"/>
          <p:cNvSpPr/>
          <p:nvPr/>
        </p:nvSpPr>
        <p:spPr>
          <a:xfrm>
            <a:off x="16824931" y="6538807"/>
            <a:ext cx="670987" cy="206188"/>
          </a:xfrm>
          <a:prstGeom prst="rect">
            <a:avLst/>
          </a:prstGeom>
          <a:noFill/>
          <a:ln/>
        </p:spPr>
        <p:txBody>
          <a:bodyPr wrap="square" lIns="25400" tIns="25400" rIns="25400" bIns="25400" rtlCol="0" anchor="t">
            <a:normAutofit/>
          </a:bodyPr>
          <a:lstStyle/>
          <a:p>
            <a:pPr algn="l" indent="0" marL="0">
              <a:buNone/>
            </a:pPr>
            <a:r>
              <a:rPr lang="en-US" sz="975" dirty="0">
                <a:solidFill>
                  <a:srgbClr val="E0C07F"/>
                </a:solidFill>
                <a:latin typeface="IBM Plex Mono" pitchFamily="34" charset="0"/>
                <a:ea typeface="IBM Plex Mono" pitchFamily="34" charset="-122"/>
                <a:cs typeface="IBM Plex Mono" pitchFamily="34" charset="-120"/>
              </a:rPr>
              <a:t>◆ choice</a:t>
            </a:r>
            <a:endParaRPr lang="en-US" sz="975" dirty="0"/>
          </a:p>
        </p:txBody>
      </p:sp>
      <p:sp>
        <p:nvSpPr>
          <p:cNvPr id="75" name="Text 73"/>
          <p:cNvSpPr/>
          <p:nvPr/>
        </p:nvSpPr>
        <p:spPr>
          <a:xfrm>
            <a:off x="12375670" y="6773430"/>
            <a:ext cx="814738" cy="206188"/>
          </a:xfrm>
          <a:prstGeom prst="rect">
            <a:avLst/>
          </a:prstGeom>
          <a:noFill/>
          <a:ln/>
        </p:spPr>
        <p:txBody>
          <a:bodyPr wrap="square" lIns="25400" tIns="25400" rIns="25400" bIns="25400" rtlCol="0" anchor="t">
            <a:normAutofit/>
          </a:bodyPr>
          <a:lstStyle/>
          <a:p>
            <a:pPr algn="l" indent="0" marL="0">
              <a:buNone/>
            </a:pPr>
            <a:r>
              <a:rPr lang="en-US" sz="1125" dirty="0">
                <a:solidFill>
                  <a:srgbClr val="EFF2E4"/>
                </a:solidFill>
                <a:latin typeface="Public Sans" pitchFamily="34" charset="0"/>
                <a:ea typeface="Public Sans" pitchFamily="34" charset="-122"/>
                <a:cs typeface="Public Sans" pitchFamily="34" charset="-120"/>
              </a:rPr>
              <a:t>Timestamp</a:t>
            </a:r>
            <a:endParaRPr lang="en-US" sz="1125" dirty="0"/>
          </a:p>
        </p:txBody>
      </p:sp>
      <p:sp>
        <p:nvSpPr>
          <p:cNvPr id="76" name="Text 74"/>
          <p:cNvSpPr/>
          <p:nvPr/>
        </p:nvSpPr>
        <p:spPr>
          <a:xfrm>
            <a:off x="16825281" y="6773430"/>
            <a:ext cx="670637" cy="206188"/>
          </a:xfrm>
          <a:prstGeom prst="rect">
            <a:avLst/>
          </a:prstGeom>
          <a:noFill/>
          <a:ln/>
        </p:spPr>
        <p:txBody>
          <a:bodyPr wrap="square" lIns="25400" tIns="25400" rIns="25400" bIns="25400" rtlCol="0" anchor="t">
            <a:normAutofit/>
          </a:bodyPr>
          <a:lstStyle/>
          <a:p>
            <a:pPr algn="l" indent="0" marL="0">
              <a:buNone/>
            </a:pPr>
            <a:r>
              <a:rPr lang="en-US" sz="975" dirty="0">
                <a:solidFill>
                  <a:srgbClr val="C9A6C9"/>
                </a:solidFill>
                <a:latin typeface="IBM Plex Mono" pitchFamily="34" charset="0"/>
                <a:ea typeface="IBM Plex Mono" pitchFamily="34" charset="-122"/>
                <a:cs typeface="IBM Plex Mono" pitchFamily="34" charset="-120"/>
              </a:rPr>
              <a:t>datetime</a:t>
            </a:r>
            <a:endParaRPr lang="en-US" sz="975" dirty="0"/>
          </a:p>
        </p:txBody>
      </p:sp>
      <p:sp>
        <p:nvSpPr>
          <p:cNvPr id="77" name="Text 75"/>
          <p:cNvSpPr/>
          <p:nvPr/>
        </p:nvSpPr>
        <p:spPr>
          <a:xfrm>
            <a:off x="12375670" y="7008054"/>
            <a:ext cx="1314888" cy="206188"/>
          </a:xfrm>
          <a:prstGeom prst="rect">
            <a:avLst/>
          </a:prstGeom>
          <a:noFill/>
          <a:ln/>
        </p:spPr>
        <p:txBody>
          <a:bodyPr wrap="square" lIns="25400" tIns="25400" rIns="25400" bIns="25400" rtlCol="0" anchor="t">
            <a:normAutofit/>
          </a:bodyPr>
          <a:lstStyle/>
          <a:p>
            <a:pPr algn="l" indent="0" marL="0">
              <a:buNone/>
            </a:pPr>
            <a:r>
              <a:rPr lang="en-US" sz="1125" dirty="0">
                <a:solidFill>
                  <a:srgbClr val="EFF2E4"/>
                </a:solidFill>
                <a:latin typeface="Public Sans" pitchFamily="34" charset="0"/>
                <a:ea typeface="Public Sans" pitchFamily="34" charset="-122"/>
                <a:cs typeface="Public Sans" pitchFamily="34" charset="-120"/>
              </a:rPr>
              <a:t>Source / Outcome</a:t>
            </a:r>
            <a:endParaRPr lang="en-US" sz="1125" dirty="0"/>
          </a:p>
        </p:txBody>
      </p:sp>
      <p:sp>
        <p:nvSpPr>
          <p:cNvPr id="78" name="Text 76"/>
          <p:cNvSpPr/>
          <p:nvPr/>
        </p:nvSpPr>
        <p:spPr>
          <a:xfrm>
            <a:off x="16824931" y="7008054"/>
            <a:ext cx="670987" cy="206188"/>
          </a:xfrm>
          <a:prstGeom prst="rect">
            <a:avLst/>
          </a:prstGeom>
          <a:noFill/>
          <a:ln/>
        </p:spPr>
        <p:txBody>
          <a:bodyPr wrap="square" lIns="25400" tIns="25400" rIns="25400" bIns="25400" rtlCol="0" anchor="t">
            <a:normAutofit/>
          </a:bodyPr>
          <a:lstStyle/>
          <a:p>
            <a:pPr algn="l" indent="0" marL="0">
              <a:buNone/>
            </a:pPr>
            <a:r>
              <a:rPr lang="en-US" sz="975" dirty="0">
                <a:solidFill>
                  <a:srgbClr val="E0C07F"/>
                </a:solidFill>
                <a:latin typeface="IBM Plex Mono" pitchFamily="34" charset="0"/>
                <a:ea typeface="IBM Plex Mono" pitchFamily="34" charset="-122"/>
                <a:cs typeface="IBM Plex Mono" pitchFamily="34" charset="-120"/>
              </a:rPr>
              <a:t>◆ choice</a:t>
            </a:r>
            <a:endParaRPr lang="en-US" sz="975" dirty="0"/>
          </a:p>
        </p:txBody>
      </p:sp>
      <p:sp>
        <p:nvSpPr>
          <p:cNvPr id="79" name="Text 77"/>
          <p:cNvSpPr/>
          <p:nvPr/>
        </p:nvSpPr>
        <p:spPr>
          <a:xfrm>
            <a:off x="12375670" y="7242677"/>
            <a:ext cx="466655" cy="206188"/>
          </a:xfrm>
          <a:prstGeom prst="rect">
            <a:avLst/>
          </a:prstGeom>
          <a:noFill/>
          <a:ln/>
        </p:spPr>
        <p:txBody>
          <a:bodyPr wrap="square" lIns="25400" tIns="25400" rIns="25400" bIns="25400" rtlCol="0" anchor="t">
            <a:normAutofit/>
          </a:bodyPr>
          <a:lstStyle/>
          <a:p>
            <a:pPr algn="l" indent="0" marL="0">
              <a:buNone/>
            </a:pPr>
            <a:r>
              <a:rPr lang="en-US" sz="1125" dirty="0">
                <a:solidFill>
                  <a:srgbClr val="EFF2E4"/>
                </a:solidFill>
                <a:latin typeface="Public Sans" pitchFamily="34" charset="0"/>
                <a:ea typeface="Public Sans" pitchFamily="34" charset="-122"/>
                <a:cs typeface="Public Sans" pitchFamily="34" charset="-120"/>
              </a:rPr>
              <a:t>Detail</a:t>
            </a:r>
            <a:endParaRPr lang="en-US" sz="1125" dirty="0"/>
          </a:p>
        </p:txBody>
      </p:sp>
      <p:sp>
        <p:nvSpPr>
          <p:cNvPr id="80" name="Text 78"/>
          <p:cNvSpPr/>
          <p:nvPr/>
        </p:nvSpPr>
        <p:spPr>
          <a:xfrm>
            <a:off x="17122412" y="7242677"/>
            <a:ext cx="373506" cy="206188"/>
          </a:xfrm>
          <a:prstGeom prst="rect">
            <a:avLst/>
          </a:prstGeom>
          <a:noFill/>
          <a:ln/>
        </p:spPr>
        <p:txBody>
          <a:bodyPr wrap="square" lIns="25400" tIns="25400" rIns="25400" bIns="25400" rtlCol="0" anchor="t">
            <a:normAutofit/>
          </a:bodyPr>
          <a:lstStyle/>
          <a:p>
            <a:pPr algn="l" indent="0" marL="0">
              <a:buNone/>
            </a:pPr>
            <a:r>
              <a:rPr lang="en-US" sz="975" dirty="0">
                <a:solidFill>
                  <a:srgbClr val="C9A6C9"/>
                </a:solidFill>
                <a:latin typeface="IBM Plex Mono" pitchFamily="34" charset="0"/>
                <a:ea typeface="IBM Plex Mono" pitchFamily="34" charset="-122"/>
                <a:cs typeface="IBM Plex Mono" pitchFamily="34" charset="-120"/>
              </a:rPr>
              <a:t>memo</a:t>
            </a:r>
            <a:endParaRPr lang="en-US" sz="975" dirty="0"/>
          </a:p>
        </p:txBody>
      </p:sp>
      <p:sp>
        <p:nvSpPr>
          <p:cNvPr id="81" name="Text 79"/>
          <p:cNvSpPr/>
          <p:nvPr/>
        </p:nvSpPr>
        <p:spPr>
          <a:xfrm>
            <a:off x="12375670" y="7515295"/>
            <a:ext cx="5195369" cy="228600"/>
          </a:xfrm>
          <a:prstGeom prst="rect">
            <a:avLst/>
          </a:prstGeom>
          <a:noFill/>
          <a:ln/>
        </p:spPr>
        <p:txBody>
          <a:bodyPr wrap="square" lIns="25400" tIns="25400" rIns="25400" bIns="25400" rtlCol="0" anchor="t">
            <a:normAutofit/>
          </a:bodyPr>
          <a:lstStyle/>
          <a:p>
            <a:pPr algn="l" indent="0" marL="0">
              <a:buNone/>
            </a:pPr>
            <a:r>
              <a:rPr lang="en-US" sz="900" b="1" dirty="0">
                <a:solidFill>
                  <a:srgbClr val="E7C9E7"/>
                </a:solidFill>
                <a:latin typeface="IBM Plex Mono" pitchFamily="34" charset="0"/>
                <a:ea typeface="IBM Plex Mono" pitchFamily="34" charset="-122"/>
                <a:cs typeface="IBM Plex Mono" pitchFamily="34" charset="-120"/>
              </a:rPr>
              <a:t>🔒 immutable · restrict-delete</a:t>
            </a:r>
            <a:endParaRPr lang="en-US" sz="900" dirty="0"/>
          </a:p>
        </p:txBody>
      </p:sp>
      <p:sp>
        <p:nvSpPr>
          <p:cNvPr id="82" name="Text 80"/>
          <p:cNvSpPr/>
          <p:nvPr/>
        </p:nvSpPr>
        <p:spPr>
          <a:xfrm>
            <a:off x="685660" y="9639334"/>
            <a:ext cx="1792153" cy="228600"/>
          </a:xfrm>
          <a:prstGeom prst="rect">
            <a:avLst/>
          </a:prstGeom>
          <a:noFill/>
          <a:ln/>
        </p:spPr>
        <p:txBody>
          <a:bodyPr wrap="square" lIns="25400" tIns="25400" rIns="25400" bIns="25400" rtlCol="0" anchor="t">
            <a:normAutofit/>
          </a:bodyPr>
          <a:lstStyle/>
          <a:p>
            <a:pPr algn="l" indent="0" marL="0">
              <a:buNone/>
            </a:pPr>
            <a:r>
              <a:rPr lang="en-US" sz="1125" dirty="0">
                <a:solidFill>
                  <a:srgbClr val="E0C07F"/>
                </a:solidFill>
                <a:latin typeface="IBM Plex Mono" pitchFamily="34" charset="0"/>
                <a:ea typeface="IBM Plex Mono" pitchFamily="34" charset="-122"/>
                <a:cs typeface="IBM Plex Mono" pitchFamily="34" charset="-120"/>
              </a:rPr>
              <a:t>◆ </a:t>
            </a:r>
            <a:pPr algn="l" indent="0" marL="0">
              <a:buNone/>
            </a:pPr>
            <a:r>
              <a:rPr lang="en-US" sz="1125" dirty="0">
                <a:solidFill>
                  <a:srgbClr val="8FB3A0"/>
                </a:solidFill>
                <a:latin typeface="IBM Plex Mono" pitchFamily="34" charset="0"/>
                <a:ea typeface="IBM Plex Mono" pitchFamily="34" charset="-122"/>
                <a:cs typeface="IBM Plex Mono" pitchFamily="34" charset="-120"/>
              </a:rPr>
              <a:t>global choice set</a:t>
            </a:r>
            <a:endParaRPr lang="en-US" sz="1125" dirty="0"/>
          </a:p>
        </p:txBody>
      </p:sp>
      <p:sp>
        <p:nvSpPr>
          <p:cNvPr id="83" name="Text 81"/>
          <p:cNvSpPr/>
          <p:nvPr/>
        </p:nvSpPr>
        <p:spPr>
          <a:xfrm>
            <a:off x="2429050" y="9639334"/>
            <a:ext cx="1191010" cy="228600"/>
          </a:xfrm>
          <a:prstGeom prst="rect">
            <a:avLst/>
          </a:prstGeom>
          <a:noFill/>
          <a:ln/>
        </p:spPr>
        <p:txBody>
          <a:bodyPr wrap="square" lIns="25400" tIns="25400" rIns="25400" bIns="25400" rtlCol="0" anchor="t">
            <a:normAutofit/>
          </a:bodyPr>
          <a:lstStyle/>
          <a:p>
            <a:pPr algn="l" indent="0" marL="0">
              <a:buNone/>
            </a:pPr>
            <a:r>
              <a:rPr lang="en-US" sz="1125" dirty="0">
                <a:solidFill>
                  <a:srgbClr val="E7C9E7"/>
                </a:solidFill>
                <a:latin typeface="IBM Plex Mono" pitchFamily="34" charset="0"/>
                <a:ea typeface="IBM Plex Mono" pitchFamily="34" charset="-122"/>
                <a:cs typeface="IBM Plex Mono" pitchFamily="34" charset="-120"/>
              </a:rPr>
              <a:t>→ </a:t>
            </a:r>
            <a:pPr algn="l" indent="0" marL="0">
              <a:buNone/>
            </a:pPr>
            <a:r>
              <a:rPr lang="en-US" sz="1125" dirty="0">
                <a:solidFill>
                  <a:srgbClr val="8FB3A0"/>
                </a:solidFill>
                <a:latin typeface="IBM Plex Mono" pitchFamily="34" charset="0"/>
                <a:ea typeface="IBM Plex Mono" pitchFamily="34" charset="-122"/>
                <a:cs typeface="IBM Plex Mono" pitchFamily="34" charset="-120"/>
              </a:rPr>
              <a:t>lookup / FK</a:t>
            </a:r>
            <a:endParaRPr lang="en-US" sz="1125" dirty="0"/>
          </a:p>
        </p:txBody>
      </p:sp>
      <p:sp>
        <p:nvSpPr>
          <p:cNvPr id="84" name="Text 82"/>
          <p:cNvSpPr/>
          <p:nvPr/>
        </p:nvSpPr>
        <p:spPr>
          <a:xfrm>
            <a:off x="12458840" y="9639334"/>
            <a:ext cx="5657849" cy="228600"/>
          </a:xfrm>
          <a:prstGeom prst="rect">
            <a:avLst/>
          </a:prstGeom>
          <a:noFill/>
          <a:ln/>
        </p:spPr>
        <p:txBody>
          <a:bodyPr wrap="square" lIns="25400" tIns="25400" rIns="25400" bIns="25400" rtlCol="0" anchor="t">
            <a:normAutofit/>
          </a:bodyPr>
          <a:lstStyle/>
          <a:p>
            <a:pPr algn="l" indent="0" marL="0">
              <a:buNone/>
            </a:pPr>
            <a:r>
              <a:rPr lang="en-US" sz="1125" dirty="0">
                <a:solidFill>
                  <a:srgbClr val="8FB3A0"/>
                </a:solidFill>
                <a:latin typeface="IBM Plex Mono" pitchFamily="34" charset="0"/>
                <a:ea typeface="IBM Plex Mono" pitchFamily="34" charset="-122"/>
                <a:cs typeface="IBM Plex Mono" pitchFamily="34" charset="-120"/>
              </a:rPr>
              <a:t>Cascade-delete children · Contact &amp; User are platform tables</a:t>
            </a:r>
            <a:endParaRPr lang="en-US" sz="1125"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685660" y="533330"/>
            <a:ext cx="18608347" cy="307041"/>
          </a:xfrm>
          <a:prstGeom prst="rect">
            <a:avLst/>
          </a:prstGeom>
          <a:noFill/>
          <a:ln/>
        </p:spPr>
        <p:txBody>
          <a:bodyPr wrap="square" lIns="25400" tIns="25400" rIns="25400" bIns="25400" rtlCol="0" anchor="t">
            <a:normAutofit/>
          </a:bodyPr>
          <a:lstStyle/>
          <a:p>
            <a:pPr algn="l" indent="0" marL="0">
              <a:buNone/>
            </a:pPr>
            <a:r>
              <a:rPr lang="en-US" sz="1650" b="1" spc="198" kern="0" dirty="0">
                <a:solidFill>
                  <a:srgbClr val="1C5C43"/>
                </a:solidFill>
                <a:latin typeface="IBM Plex Mono" pitchFamily="34" charset="0"/>
                <a:ea typeface="IBM Plex Mono" pitchFamily="34" charset="-122"/>
                <a:cs typeface="IBM Plex Mono" pitchFamily="34" charset="-120"/>
              </a:rPr>
              <a:t>08 · SECURITY &amp; IDENTITY</a:t>
            </a:r>
            <a:endParaRPr lang="en-US" sz="1650" dirty="0"/>
          </a:p>
        </p:txBody>
      </p:sp>
      <p:sp>
        <p:nvSpPr>
          <p:cNvPr id="3" name="Text 1"/>
          <p:cNvSpPr/>
          <p:nvPr/>
        </p:nvSpPr>
        <p:spPr>
          <a:xfrm>
            <a:off x="685660" y="897521"/>
            <a:ext cx="18608347" cy="531159"/>
          </a:xfrm>
          <a:prstGeom prst="rect">
            <a:avLst/>
          </a:prstGeom>
          <a:noFill/>
          <a:ln/>
        </p:spPr>
        <p:txBody>
          <a:bodyPr wrap="square" lIns="25400" tIns="25400" rIns="25400" bIns="25400" rtlCol="0" anchor="t">
            <a:normAutofit/>
          </a:bodyPr>
          <a:lstStyle/>
          <a:p>
            <a:pPr algn="l" indent="0" marL="0">
              <a:buNone/>
            </a:pPr>
            <a:r>
              <a:rPr lang="en-US" sz="3300" b="1" spc="-33" kern="0" dirty="0">
                <a:solidFill>
                  <a:srgbClr val="0D2E22"/>
                </a:solidFill>
                <a:latin typeface="Public Sans" pitchFamily="34" charset="0"/>
                <a:ea typeface="Public Sans" pitchFamily="34" charset="-122"/>
                <a:cs typeface="Public Sans" pitchFamily="34" charset="-120"/>
              </a:rPr>
              <a:t>Security by design, private-banking grade</a:t>
            </a:r>
            <a:endParaRPr lang="en-US" sz="3300" dirty="0"/>
          </a:p>
        </p:txBody>
      </p:sp>
      <p:sp>
        <p:nvSpPr>
          <p:cNvPr id="4" name="Shape 2"/>
          <p:cNvSpPr/>
          <p:nvPr/>
        </p:nvSpPr>
        <p:spPr>
          <a:xfrm>
            <a:off x="685660" y="1657245"/>
            <a:ext cx="5880987" cy="8172590"/>
          </a:xfrm>
          <a:prstGeom prst="roundRect">
            <a:avLst>
              <a:gd name="adj" fmla="val 2267"/>
            </a:avLst>
          </a:prstGeom>
          <a:solidFill>
            <a:srgbClr val="0D2E22"/>
          </a:solidFill>
          <a:ln/>
        </p:spPr>
      </p:sp>
      <p:sp>
        <p:nvSpPr>
          <p:cNvPr id="5" name="Shape 3"/>
          <p:cNvSpPr/>
          <p:nvPr/>
        </p:nvSpPr>
        <p:spPr>
          <a:xfrm>
            <a:off x="952325" y="1904825"/>
            <a:ext cx="418995" cy="418995"/>
          </a:xfrm>
          <a:prstGeom prst="roundRect">
            <a:avLst>
              <a:gd name="adj" fmla="val 22733"/>
            </a:avLst>
          </a:prstGeom>
          <a:solidFill>
            <a:srgbClr val="1C5C43"/>
          </a:solidFill>
          <a:ln/>
        </p:spPr>
      </p:sp>
      <p:sp>
        <p:nvSpPr>
          <p:cNvPr id="6" name="Text 4"/>
          <p:cNvSpPr/>
          <p:nvPr/>
        </p:nvSpPr>
        <p:spPr>
          <a:xfrm>
            <a:off x="914225" y="1904825"/>
            <a:ext cx="495195" cy="457095"/>
          </a:xfrm>
          <a:prstGeom prst="rect">
            <a:avLst/>
          </a:prstGeom>
          <a:noFill/>
          <a:ln/>
        </p:spPr>
        <p:txBody>
          <a:bodyPr wrap="square" lIns="25400" tIns="25400" rIns="25400" bIns="25400" rtlCol="0" anchor="ctr">
            <a:normAutofit/>
          </a:bodyPr>
          <a:lstStyle/>
          <a:p>
            <a:pPr algn="ctr" indent="0" marL="0">
              <a:buNone/>
            </a:pPr>
            <a:r>
              <a:rPr lang="en-US" sz="1125" b="1" dirty="0">
                <a:solidFill>
                  <a:srgbClr val="FFFFFF"/>
                </a:solidFill>
                <a:latin typeface="IBM Plex Mono" pitchFamily="34" charset="0"/>
                <a:ea typeface="IBM Plex Mono" pitchFamily="34" charset="-122"/>
                <a:cs typeface="IBM Plex Mono" pitchFamily="34" charset="-120"/>
              </a:rPr>
              <a:t>Id</a:t>
            </a:r>
            <a:endParaRPr lang="en-US" sz="1125" dirty="0"/>
          </a:p>
        </p:txBody>
      </p:sp>
      <p:sp>
        <p:nvSpPr>
          <p:cNvPr id="7" name="Text 5"/>
          <p:cNvSpPr/>
          <p:nvPr/>
        </p:nvSpPr>
        <p:spPr>
          <a:xfrm>
            <a:off x="952325" y="2457065"/>
            <a:ext cx="5882422" cy="307041"/>
          </a:xfrm>
          <a:prstGeom prst="rect">
            <a:avLst/>
          </a:prstGeom>
          <a:noFill/>
          <a:ln/>
        </p:spPr>
        <p:txBody>
          <a:bodyPr wrap="square" lIns="25400" tIns="25400" rIns="25400" bIns="25400" rtlCol="0" anchor="t">
            <a:normAutofit/>
          </a:bodyPr>
          <a:lstStyle/>
          <a:p>
            <a:pPr algn="l" indent="0" marL="0">
              <a:buNone/>
            </a:pPr>
            <a:r>
              <a:rPr lang="en-US" sz="1800" b="1" dirty="0">
                <a:solidFill>
                  <a:srgbClr val="EFF2E4"/>
                </a:solidFill>
                <a:latin typeface="Public Sans" pitchFamily="34" charset="0"/>
                <a:ea typeface="Public Sans" pitchFamily="34" charset="-122"/>
                <a:cs typeface="Public Sans" pitchFamily="34" charset="-120"/>
              </a:rPr>
              <a:t>Microsoft Entra ID</a:t>
            </a:r>
            <a:endParaRPr lang="en-US" sz="1800" dirty="0"/>
          </a:p>
        </p:txBody>
      </p:sp>
      <p:sp>
        <p:nvSpPr>
          <p:cNvPr id="8" name="Text 6"/>
          <p:cNvSpPr/>
          <p:nvPr/>
        </p:nvSpPr>
        <p:spPr>
          <a:xfrm>
            <a:off x="952325" y="2859251"/>
            <a:ext cx="5508086" cy="811306"/>
          </a:xfrm>
          <a:prstGeom prst="rect">
            <a:avLst/>
          </a:prstGeom>
          <a:noFill/>
          <a:ln/>
        </p:spPr>
        <p:txBody>
          <a:bodyPr wrap="square" lIns="25400" tIns="25400" rIns="25400" bIns="25400" rtlCol="0" anchor="t">
            <a:normAutofit/>
          </a:bodyPr>
          <a:lstStyle/>
          <a:p>
            <a:pPr algn="l" indent="0" marL="0">
              <a:lnSpc>
                <a:spcPct val="136000"/>
              </a:lnSpc>
              <a:buNone/>
            </a:pPr>
            <a:r>
              <a:rPr lang="en-US" sz="1275" dirty="0">
                <a:solidFill>
                  <a:srgbClr val="C3CFAE"/>
                </a:solidFill>
                <a:latin typeface="Public Sans" pitchFamily="34" charset="0"/>
                <a:ea typeface="Public Sans" pitchFamily="34" charset="-122"/>
                <a:cs typeface="Public Sans" pitchFamily="34" charset="-120"/>
              </a:rPr>
              <a:t>Single sign-on for RMs and staff. Conditional Access enforces device compliance and location policy. Customers use single-use, expiring tokenised booking links, validated before any flow runs.</a:t>
            </a:r>
            <a:endParaRPr lang="en-US" sz="1275" dirty="0"/>
          </a:p>
        </p:txBody>
      </p:sp>
      <p:sp>
        <p:nvSpPr>
          <p:cNvPr id="9" name="Shape 7"/>
          <p:cNvSpPr/>
          <p:nvPr/>
        </p:nvSpPr>
        <p:spPr>
          <a:xfrm>
            <a:off x="6738061" y="1657245"/>
            <a:ext cx="5346431" cy="4000675"/>
          </a:xfrm>
          <a:prstGeom prst="roundRect">
            <a:avLst>
              <a:gd name="adj" fmla="val 3333"/>
            </a:avLst>
          </a:prstGeom>
          <a:solidFill>
            <a:srgbClr val="FFFFFF"/>
          </a:solidFill>
          <a:ln w="11206">
            <a:solidFill>
              <a:srgbClr val="E0E6ED"/>
            </a:solidFill>
            <a:prstDash val="solid"/>
          </a:ln>
        </p:spPr>
      </p:sp>
      <p:sp>
        <p:nvSpPr>
          <p:cNvPr id="10" name="Text 8"/>
          <p:cNvSpPr/>
          <p:nvPr/>
        </p:nvSpPr>
        <p:spPr>
          <a:xfrm>
            <a:off x="6977762" y="1877861"/>
            <a:ext cx="5353733" cy="251012"/>
          </a:xfrm>
          <a:prstGeom prst="rect">
            <a:avLst/>
          </a:prstGeom>
          <a:noFill/>
          <a:ln/>
        </p:spPr>
        <p:txBody>
          <a:bodyPr wrap="square" lIns="25400" tIns="25400" rIns="25400" bIns="25400" rtlCol="0" anchor="t">
            <a:normAutofit/>
          </a:bodyPr>
          <a:lstStyle/>
          <a:p>
            <a:pPr algn="l" indent="0" marL="0">
              <a:buNone/>
            </a:pPr>
            <a:r>
              <a:rPr lang="en-US" sz="1425" b="1" dirty="0">
                <a:solidFill>
                  <a:srgbClr val="0D2E22"/>
                </a:solidFill>
                <a:latin typeface="Public Sans" pitchFamily="34" charset="0"/>
                <a:ea typeface="Public Sans" pitchFamily="34" charset="-122"/>
                <a:cs typeface="Public Sans" pitchFamily="34" charset="-120"/>
              </a:rPr>
              <a:t>Role-based access</a:t>
            </a:r>
            <a:endParaRPr lang="en-US" sz="1425" dirty="0"/>
          </a:p>
        </p:txBody>
      </p:sp>
      <p:sp>
        <p:nvSpPr>
          <p:cNvPr id="11" name="Text 9"/>
          <p:cNvSpPr/>
          <p:nvPr/>
        </p:nvSpPr>
        <p:spPr>
          <a:xfrm>
            <a:off x="6977762" y="2166937"/>
            <a:ext cx="5013041" cy="486335"/>
          </a:xfrm>
          <a:prstGeom prst="rect">
            <a:avLst/>
          </a:prstGeom>
          <a:noFill/>
          <a:ln/>
        </p:spPr>
        <p:txBody>
          <a:bodyPr wrap="square" lIns="25400" tIns="25400" rIns="25400" bIns="25400" rtlCol="0" anchor="t">
            <a:normAutofit/>
          </a:bodyPr>
          <a:lstStyle/>
          <a:p>
            <a:pPr algn="l" indent="0" marL="0">
              <a:lnSpc>
                <a:spcPct val="127500"/>
              </a:lnSpc>
              <a:buNone/>
            </a:pPr>
            <a:r>
              <a:rPr lang="en-US" sz="1200" dirty="0">
                <a:solidFill>
                  <a:srgbClr val="5B6675"/>
                </a:solidFill>
                <a:latin typeface="Public Sans" pitchFamily="34" charset="0"/>
                <a:ea typeface="Public Sans" pitchFamily="34" charset="-122"/>
                <a:cs typeface="Public Sans" pitchFamily="34" charset="-120"/>
              </a:rPr>
              <a:t>RM · Executive Assistant · Operations · Administrator roles with least-privilege scopes.</a:t>
            </a:r>
            <a:endParaRPr lang="en-US" sz="1200" dirty="0"/>
          </a:p>
        </p:txBody>
      </p:sp>
      <p:sp>
        <p:nvSpPr>
          <p:cNvPr id="12" name="Shape 10"/>
          <p:cNvSpPr/>
          <p:nvPr/>
        </p:nvSpPr>
        <p:spPr>
          <a:xfrm>
            <a:off x="6738061" y="5829335"/>
            <a:ext cx="5346431" cy="4000675"/>
          </a:xfrm>
          <a:prstGeom prst="roundRect">
            <a:avLst>
              <a:gd name="adj" fmla="val 3333"/>
            </a:avLst>
          </a:prstGeom>
          <a:solidFill>
            <a:srgbClr val="FFFFFF"/>
          </a:solidFill>
          <a:ln w="11206">
            <a:solidFill>
              <a:srgbClr val="E0E6ED"/>
            </a:solidFill>
            <a:prstDash val="solid"/>
          </a:ln>
        </p:spPr>
      </p:sp>
      <p:sp>
        <p:nvSpPr>
          <p:cNvPr id="13" name="Text 11"/>
          <p:cNvSpPr/>
          <p:nvPr/>
        </p:nvSpPr>
        <p:spPr>
          <a:xfrm>
            <a:off x="6977762" y="6049950"/>
            <a:ext cx="5353733" cy="251012"/>
          </a:xfrm>
          <a:prstGeom prst="rect">
            <a:avLst/>
          </a:prstGeom>
          <a:noFill/>
          <a:ln/>
        </p:spPr>
        <p:txBody>
          <a:bodyPr wrap="square" lIns="25400" tIns="25400" rIns="25400" bIns="25400" rtlCol="0" anchor="t">
            <a:normAutofit/>
          </a:bodyPr>
          <a:lstStyle/>
          <a:p>
            <a:pPr algn="l" indent="0" marL="0">
              <a:buNone/>
            </a:pPr>
            <a:r>
              <a:rPr lang="en-US" sz="1425" b="1" dirty="0">
                <a:solidFill>
                  <a:srgbClr val="0D2E22"/>
                </a:solidFill>
                <a:latin typeface="Public Sans" pitchFamily="34" charset="0"/>
                <a:ea typeface="Public Sans" pitchFamily="34" charset="-122"/>
                <a:cs typeface="Public Sans" pitchFamily="34" charset="-120"/>
              </a:rPr>
              <a:t>Least-privilege Graph</a:t>
            </a:r>
            <a:endParaRPr lang="en-US" sz="1425" dirty="0"/>
          </a:p>
        </p:txBody>
      </p:sp>
      <p:sp>
        <p:nvSpPr>
          <p:cNvPr id="14" name="Text 12"/>
          <p:cNvSpPr/>
          <p:nvPr/>
        </p:nvSpPr>
        <p:spPr>
          <a:xfrm>
            <a:off x="6977762" y="6339027"/>
            <a:ext cx="5013041" cy="486335"/>
          </a:xfrm>
          <a:prstGeom prst="rect">
            <a:avLst/>
          </a:prstGeom>
          <a:noFill/>
          <a:ln/>
        </p:spPr>
        <p:txBody>
          <a:bodyPr wrap="square" lIns="25400" tIns="25400" rIns="25400" bIns="25400" rtlCol="0" anchor="t">
            <a:normAutofit/>
          </a:bodyPr>
          <a:lstStyle/>
          <a:p>
            <a:pPr algn="l" indent="0" marL="0">
              <a:lnSpc>
                <a:spcPct val="127500"/>
              </a:lnSpc>
              <a:buNone/>
            </a:pPr>
            <a:r>
              <a:rPr lang="en-US" sz="1200" dirty="0">
                <a:solidFill>
                  <a:srgbClr val="5B6675"/>
                </a:solidFill>
                <a:latin typeface="Public Sans" pitchFamily="34" charset="0"/>
                <a:ea typeface="Public Sans" pitchFamily="34" charset="-122"/>
                <a:cs typeface="Public Sans" pitchFamily="34" charset="-120"/>
              </a:rPr>
              <a:t>Scoped delegated + application permissions; no broad mailbox access.</a:t>
            </a:r>
            <a:endParaRPr lang="en-US" sz="1200" dirty="0"/>
          </a:p>
        </p:txBody>
      </p:sp>
      <p:sp>
        <p:nvSpPr>
          <p:cNvPr id="15" name="Shape 13"/>
          <p:cNvSpPr/>
          <p:nvPr/>
        </p:nvSpPr>
        <p:spPr>
          <a:xfrm>
            <a:off x="12255908" y="1657245"/>
            <a:ext cx="5346256" cy="4000675"/>
          </a:xfrm>
          <a:prstGeom prst="roundRect">
            <a:avLst>
              <a:gd name="adj" fmla="val 3333"/>
            </a:avLst>
          </a:prstGeom>
          <a:solidFill>
            <a:srgbClr val="FFFFFF"/>
          </a:solidFill>
          <a:ln w="11206">
            <a:solidFill>
              <a:srgbClr val="E0E6ED"/>
            </a:solidFill>
            <a:prstDash val="solid"/>
          </a:ln>
        </p:spPr>
      </p:sp>
      <p:sp>
        <p:nvSpPr>
          <p:cNvPr id="16" name="Text 14"/>
          <p:cNvSpPr/>
          <p:nvPr/>
        </p:nvSpPr>
        <p:spPr>
          <a:xfrm>
            <a:off x="12495608" y="1877861"/>
            <a:ext cx="5353540" cy="251012"/>
          </a:xfrm>
          <a:prstGeom prst="rect">
            <a:avLst/>
          </a:prstGeom>
          <a:noFill/>
          <a:ln/>
        </p:spPr>
        <p:txBody>
          <a:bodyPr wrap="square" lIns="25400" tIns="25400" rIns="25400" bIns="25400" rtlCol="0" anchor="t">
            <a:normAutofit/>
          </a:bodyPr>
          <a:lstStyle/>
          <a:p>
            <a:pPr algn="l" indent="0" marL="0">
              <a:buNone/>
            </a:pPr>
            <a:r>
              <a:rPr lang="en-US" sz="1425" b="1" dirty="0">
                <a:solidFill>
                  <a:srgbClr val="0D2E22"/>
                </a:solidFill>
                <a:latin typeface="Public Sans" pitchFamily="34" charset="0"/>
                <a:ea typeface="Public Sans" pitchFamily="34" charset="-122"/>
                <a:cs typeface="Public Sans" pitchFamily="34" charset="-120"/>
              </a:rPr>
              <a:t>Secrets &amp; identities</a:t>
            </a:r>
            <a:endParaRPr lang="en-US" sz="1425" dirty="0"/>
          </a:p>
        </p:txBody>
      </p:sp>
      <p:sp>
        <p:nvSpPr>
          <p:cNvPr id="17" name="Text 15"/>
          <p:cNvSpPr/>
          <p:nvPr/>
        </p:nvSpPr>
        <p:spPr>
          <a:xfrm>
            <a:off x="12495608" y="2166937"/>
            <a:ext cx="5012860" cy="486335"/>
          </a:xfrm>
          <a:prstGeom prst="rect">
            <a:avLst/>
          </a:prstGeom>
          <a:noFill/>
          <a:ln/>
        </p:spPr>
        <p:txBody>
          <a:bodyPr wrap="square" lIns="25400" tIns="25400" rIns="25400" bIns="25400" rtlCol="0" anchor="t">
            <a:normAutofit/>
          </a:bodyPr>
          <a:lstStyle/>
          <a:p>
            <a:pPr algn="l" indent="0" marL="0">
              <a:lnSpc>
                <a:spcPct val="127500"/>
              </a:lnSpc>
              <a:buNone/>
            </a:pPr>
            <a:r>
              <a:rPr lang="en-US" sz="1200" dirty="0">
                <a:solidFill>
                  <a:srgbClr val="5B6675"/>
                </a:solidFill>
                <a:latin typeface="Public Sans" pitchFamily="34" charset="0"/>
                <a:ea typeface="Public Sans" pitchFamily="34" charset="-122"/>
                <a:cs typeface="Public Sans" pitchFamily="34" charset="-120"/>
              </a:rPr>
              <a:t>Service-principal connections via connection references; secrets in environment variables backed by Azure Key Vault.</a:t>
            </a:r>
            <a:endParaRPr lang="en-US" sz="1200" dirty="0"/>
          </a:p>
        </p:txBody>
      </p:sp>
      <p:sp>
        <p:nvSpPr>
          <p:cNvPr id="18" name="Shape 16"/>
          <p:cNvSpPr/>
          <p:nvPr/>
        </p:nvSpPr>
        <p:spPr>
          <a:xfrm>
            <a:off x="12255908" y="5829335"/>
            <a:ext cx="5346256" cy="4000675"/>
          </a:xfrm>
          <a:prstGeom prst="roundRect">
            <a:avLst>
              <a:gd name="adj" fmla="val 3333"/>
            </a:avLst>
          </a:prstGeom>
          <a:solidFill>
            <a:srgbClr val="FFFFFF"/>
          </a:solidFill>
          <a:ln w="11206">
            <a:solidFill>
              <a:srgbClr val="E0E6ED"/>
            </a:solidFill>
            <a:prstDash val="solid"/>
          </a:ln>
        </p:spPr>
      </p:sp>
      <p:sp>
        <p:nvSpPr>
          <p:cNvPr id="19" name="Text 17"/>
          <p:cNvSpPr/>
          <p:nvPr/>
        </p:nvSpPr>
        <p:spPr>
          <a:xfrm>
            <a:off x="12495608" y="6049950"/>
            <a:ext cx="5353540" cy="251012"/>
          </a:xfrm>
          <a:prstGeom prst="rect">
            <a:avLst/>
          </a:prstGeom>
          <a:noFill/>
          <a:ln/>
        </p:spPr>
        <p:txBody>
          <a:bodyPr wrap="square" lIns="25400" tIns="25400" rIns="25400" bIns="25400" rtlCol="0" anchor="t">
            <a:normAutofit/>
          </a:bodyPr>
          <a:lstStyle/>
          <a:p>
            <a:pPr algn="l" indent="0" marL="0">
              <a:buNone/>
            </a:pPr>
            <a:r>
              <a:rPr lang="en-US" sz="1425" b="1" dirty="0">
                <a:solidFill>
                  <a:srgbClr val="0D2E22"/>
                </a:solidFill>
                <a:latin typeface="Public Sans" pitchFamily="34" charset="0"/>
                <a:ea typeface="Public Sans" pitchFamily="34" charset="-122"/>
                <a:cs typeface="Public Sans" pitchFamily="34" charset="-120"/>
              </a:rPr>
              <a:t>Audit &amp; compliance</a:t>
            </a:r>
            <a:endParaRPr lang="en-US" sz="1425" dirty="0"/>
          </a:p>
        </p:txBody>
      </p:sp>
      <p:sp>
        <p:nvSpPr>
          <p:cNvPr id="20" name="Text 18"/>
          <p:cNvSpPr/>
          <p:nvPr/>
        </p:nvSpPr>
        <p:spPr>
          <a:xfrm>
            <a:off x="12495608" y="6339027"/>
            <a:ext cx="5012860" cy="486335"/>
          </a:xfrm>
          <a:prstGeom prst="rect">
            <a:avLst/>
          </a:prstGeom>
          <a:noFill/>
          <a:ln/>
        </p:spPr>
        <p:txBody>
          <a:bodyPr wrap="square" lIns="25400" tIns="25400" rIns="25400" bIns="25400" rtlCol="0" anchor="t">
            <a:normAutofit/>
          </a:bodyPr>
          <a:lstStyle/>
          <a:p>
            <a:pPr algn="l" indent="0" marL="0">
              <a:lnSpc>
                <a:spcPct val="127500"/>
              </a:lnSpc>
              <a:buNone/>
            </a:pPr>
            <a:r>
              <a:rPr lang="en-US" sz="1200" dirty="0">
                <a:solidFill>
                  <a:srgbClr val="5B6675"/>
                </a:solidFill>
                <a:latin typeface="Public Sans" pitchFamily="34" charset="0"/>
                <a:ea typeface="Public Sans" pitchFamily="34" charset="-122"/>
                <a:cs typeface="Public Sans" pitchFamily="34" charset="-120"/>
              </a:rPr>
              <a:t>End-to-end audit logging, data residency, retention and DLP aligned to financial-services regulation.</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660" y="533330"/>
            <a:ext cx="18608347" cy="307041"/>
          </a:xfrm>
          <a:prstGeom prst="rect">
            <a:avLst/>
          </a:prstGeom>
          <a:noFill/>
          <a:ln/>
        </p:spPr>
        <p:txBody>
          <a:bodyPr wrap="square" lIns="25400" tIns="25400" rIns="25400" bIns="25400" rtlCol="0" anchor="t">
            <a:normAutofit/>
          </a:bodyPr>
          <a:lstStyle/>
          <a:p>
            <a:pPr algn="l" indent="0" marL="0">
              <a:buNone/>
            </a:pPr>
            <a:r>
              <a:rPr lang="en-US" sz="1650" b="1" spc="198" kern="0" dirty="0">
                <a:solidFill>
                  <a:srgbClr val="1C5C43"/>
                </a:solidFill>
                <a:latin typeface="IBM Plex Mono" pitchFamily="34" charset="0"/>
                <a:ea typeface="IBM Plex Mono" pitchFamily="34" charset="-122"/>
                <a:cs typeface="IBM Plex Mono" pitchFamily="34" charset="-120"/>
              </a:rPr>
              <a:t>08 · NON-FUNCTIONAL REQUIREMENTS</a:t>
            </a:r>
            <a:endParaRPr lang="en-US" sz="1650" dirty="0"/>
          </a:p>
        </p:txBody>
      </p:sp>
      <p:sp>
        <p:nvSpPr>
          <p:cNvPr id="3" name="Text 1"/>
          <p:cNvSpPr/>
          <p:nvPr/>
        </p:nvSpPr>
        <p:spPr>
          <a:xfrm>
            <a:off x="685660" y="897521"/>
            <a:ext cx="18608347" cy="531159"/>
          </a:xfrm>
          <a:prstGeom prst="rect">
            <a:avLst/>
          </a:prstGeom>
          <a:noFill/>
          <a:ln/>
        </p:spPr>
        <p:txBody>
          <a:bodyPr wrap="square" lIns="25400" tIns="25400" rIns="25400" bIns="25400" rtlCol="0" anchor="t">
            <a:normAutofit/>
          </a:bodyPr>
          <a:lstStyle/>
          <a:p>
            <a:pPr algn="l" indent="0" marL="0">
              <a:buNone/>
            </a:pPr>
            <a:r>
              <a:rPr lang="en-US" sz="3300" b="1" spc="-33" kern="0" dirty="0">
                <a:solidFill>
                  <a:srgbClr val="0D2E22"/>
                </a:solidFill>
                <a:latin typeface="Public Sans" pitchFamily="34" charset="0"/>
                <a:ea typeface="Public Sans" pitchFamily="34" charset="-122"/>
                <a:cs typeface="Public Sans" pitchFamily="34" charset="-120"/>
              </a:rPr>
              <a:t>Non-functional requirements</a:t>
            </a:r>
            <a:endParaRPr lang="en-US" sz="3300" dirty="0"/>
          </a:p>
        </p:txBody>
      </p:sp>
      <p:sp>
        <p:nvSpPr>
          <p:cNvPr id="4" name="Shape 2"/>
          <p:cNvSpPr/>
          <p:nvPr/>
        </p:nvSpPr>
        <p:spPr>
          <a:xfrm>
            <a:off x="685660" y="1619075"/>
            <a:ext cx="5550063" cy="2648090"/>
          </a:xfrm>
          <a:prstGeom prst="roundRect">
            <a:avLst>
              <a:gd name="adj" fmla="val 4316"/>
            </a:avLst>
          </a:prstGeom>
          <a:ln w="11206">
            <a:solidFill>
              <a:srgbClr val="E0E6ED"/>
            </a:solidFill>
            <a:prstDash val="solid"/>
          </a:ln>
        </p:spPr>
      </p:sp>
      <p:sp>
        <p:nvSpPr>
          <p:cNvPr id="5" name="Text 3"/>
          <p:cNvSpPr/>
          <p:nvPr/>
        </p:nvSpPr>
        <p:spPr>
          <a:xfrm>
            <a:off x="906276" y="1820781"/>
            <a:ext cx="5619715" cy="262218"/>
          </a:xfrm>
          <a:prstGeom prst="rect">
            <a:avLst/>
          </a:prstGeom>
          <a:noFill/>
          <a:ln/>
        </p:spPr>
        <p:txBody>
          <a:bodyPr wrap="square" lIns="25400" tIns="25400" rIns="25400" bIns="25400" rtlCol="0" anchor="t">
            <a:normAutofit/>
          </a:bodyPr>
          <a:lstStyle/>
          <a:p>
            <a:pPr algn="l" indent="0" marL="0">
              <a:buNone/>
            </a:pPr>
            <a:r>
              <a:rPr lang="en-US" sz="1500" b="1" dirty="0">
                <a:solidFill>
                  <a:srgbClr val="1C5C43"/>
                </a:solidFill>
                <a:latin typeface="Public Sans" pitchFamily="34" charset="0"/>
                <a:ea typeface="Public Sans" pitchFamily="34" charset="-122"/>
                <a:cs typeface="Public Sans" pitchFamily="34" charset="-120"/>
              </a:rPr>
              <a:t>Performance</a:t>
            </a:r>
            <a:endParaRPr lang="en-US" sz="1500" dirty="0"/>
          </a:p>
        </p:txBody>
      </p:sp>
      <p:sp>
        <p:nvSpPr>
          <p:cNvPr id="6" name="Text 4"/>
          <p:cNvSpPr/>
          <p:nvPr/>
        </p:nvSpPr>
        <p:spPr>
          <a:xfrm>
            <a:off x="906276" y="2101978"/>
            <a:ext cx="5619715" cy="262218"/>
          </a:xfrm>
          <a:prstGeom prst="rect">
            <a:avLst/>
          </a:prstGeom>
          <a:noFill/>
          <a:ln/>
        </p:spPr>
        <p:txBody>
          <a:bodyPr wrap="square" lIns="25400" tIns="25400" rIns="25400" bIns="25400" rtlCol="0" anchor="t">
            <a:normAutofit/>
          </a:bodyPr>
          <a:lstStyle/>
          <a:p>
            <a:pPr algn="l" indent="0" marL="0">
              <a:lnSpc>
                <a:spcPct val="127500"/>
              </a:lnSpc>
              <a:buNone/>
            </a:pPr>
            <a:r>
              <a:rPr lang="en-US" sz="1200" dirty="0">
                <a:solidFill>
                  <a:srgbClr val="5B6675"/>
                </a:solidFill>
                <a:latin typeface="Public Sans" pitchFamily="34" charset="0"/>
                <a:ea typeface="Public Sans" pitchFamily="34" charset="-122"/>
                <a:cs typeface="Public Sans" pitchFamily="34" charset="-120"/>
              </a:rPr>
              <a:t>Slot suggestions in &lt; 5 s; async orchestration off the UI thread.</a:t>
            </a:r>
            <a:endParaRPr lang="en-US" sz="1200" dirty="0"/>
          </a:p>
        </p:txBody>
      </p:sp>
      <p:sp>
        <p:nvSpPr>
          <p:cNvPr id="7" name="Shape 5"/>
          <p:cNvSpPr/>
          <p:nvPr/>
        </p:nvSpPr>
        <p:spPr>
          <a:xfrm>
            <a:off x="6368968" y="1619075"/>
            <a:ext cx="5550063" cy="2648090"/>
          </a:xfrm>
          <a:prstGeom prst="roundRect">
            <a:avLst>
              <a:gd name="adj" fmla="val 4316"/>
            </a:avLst>
          </a:prstGeom>
          <a:ln w="11206">
            <a:solidFill>
              <a:srgbClr val="E0E6ED"/>
            </a:solidFill>
            <a:prstDash val="solid"/>
          </a:ln>
        </p:spPr>
      </p:sp>
      <p:sp>
        <p:nvSpPr>
          <p:cNvPr id="8" name="Text 6"/>
          <p:cNvSpPr/>
          <p:nvPr/>
        </p:nvSpPr>
        <p:spPr>
          <a:xfrm>
            <a:off x="6589584" y="1820781"/>
            <a:ext cx="5619715" cy="262218"/>
          </a:xfrm>
          <a:prstGeom prst="rect">
            <a:avLst/>
          </a:prstGeom>
          <a:noFill/>
          <a:ln/>
        </p:spPr>
        <p:txBody>
          <a:bodyPr wrap="square" lIns="25400" tIns="25400" rIns="25400" bIns="25400" rtlCol="0" anchor="t">
            <a:normAutofit/>
          </a:bodyPr>
          <a:lstStyle/>
          <a:p>
            <a:pPr algn="l" indent="0" marL="0">
              <a:buNone/>
            </a:pPr>
            <a:r>
              <a:rPr lang="en-US" sz="1500" b="1" dirty="0">
                <a:solidFill>
                  <a:srgbClr val="1C5C43"/>
                </a:solidFill>
                <a:latin typeface="Public Sans" pitchFamily="34" charset="0"/>
                <a:ea typeface="Public Sans" pitchFamily="34" charset="-122"/>
                <a:cs typeface="Public Sans" pitchFamily="34" charset="-120"/>
              </a:rPr>
              <a:t>Availability</a:t>
            </a:r>
            <a:endParaRPr lang="en-US" sz="1500" dirty="0"/>
          </a:p>
        </p:txBody>
      </p:sp>
      <p:sp>
        <p:nvSpPr>
          <p:cNvPr id="9" name="Text 7"/>
          <p:cNvSpPr/>
          <p:nvPr/>
        </p:nvSpPr>
        <p:spPr>
          <a:xfrm>
            <a:off x="6589584" y="2101978"/>
            <a:ext cx="5619715" cy="262218"/>
          </a:xfrm>
          <a:prstGeom prst="rect">
            <a:avLst/>
          </a:prstGeom>
          <a:noFill/>
          <a:ln/>
        </p:spPr>
        <p:txBody>
          <a:bodyPr wrap="square" lIns="25400" tIns="25400" rIns="25400" bIns="25400" rtlCol="0" anchor="t">
            <a:normAutofit/>
          </a:bodyPr>
          <a:lstStyle/>
          <a:p>
            <a:pPr algn="l" indent="0" marL="0">
              <a:lnSpc>
                <a:spcPct val="127500"/>
              </a:lnSpc>
              <a:buNone/>
            </a:pPr>
            <a:r>
              <a:rPr lang="en-US" sz="1200" dirty="0">
                <a:solidFill>
                  <a:srgbClr val="5B6675"/>
                </a:solidFill>
                <a:latin typeface="Public Sans" pitchFamily="34" charset="0"/>
                <a:ea typeface="Public Sans" pitchFamily="34" charset="-122"/>
                <a:cs typeface="Public Sans" pitchFamily="34" charset="-120"/>
              </a:rPr>
              <a:t>99.9% target on Microsoft 365 &amp; Power Platform SLAs.</a:t>
            </a:r>
            <a:endParaRPr lang="en-US" sz="1200" dirty="0"/>
          </a:p>
        </p:txBody>
      </p:sp>
      <p:sp>
        <p:nvSpPr>
          <p:cNvPr id="10" name="Shape 8"/>
          <p:cNvSpPr/>
          <p:nvPr/>
        </p:nvSpPr>
        <p:spPr>
          <a:xfrm>
            <a:off x="12052276" y="1619075"/>
            <a:ext cx="5550063" cy="2648090"/>
          </a:xfrm>
          <a:prstGeom prst="roundRect">
            <a:avLst>
              <a:gd name="adj" fmla="val 4316"/>
            </a:avLst>
          </a:prstGeom>
          <a:ln w="11206">
            <a:solidFill>
              <a:srgbClr val="E0E6ED"/>
            </a:solidFill>
            <a:prstDash val="solid"/>
          </a:ln>
        </p:spPr>
      </p:sp>
      <p:sp>
        <p:nvSpPr>
          <p:cNvPr id="11" name="Text 9"/>
          <p:cNvSpPr/>
          <p:nvPr/>
        </p:nvSpPr>
        <p:spPr>
          <a:xfrm>
            <a:off x="12272892" y="1820781"/>
            <a:ext cx="5619715" cy="262218"/>
          </a:xfrm>
          <a:prstGeom prst="rect">
            <a:avLst/>
          </a:prstGeom>
          <a:noFill/>
          <a:ln/>
        </p:spPr>
        <p:txBody>
          <a:bodyPr wrap="square" lIns="25400" tIns="25400" rIns="25400" bIns="25400" rtlCol="0" anchor="t">
            <a:normAutofit/>
          </a:bodyPr>
          <a:lstStyle/>
          <a:p>
            <a:pPr algn="l" indent="0" marL="0">
              <a:buNone/>
            </a:pPr>
            <a:r>
              <a:rPr lang="en-US" sz="1500" b="1" dirty="0">
                <a:solidFill>
                  <a:srgbClr val="1C5C43"/>
                </a:solidFill>
                <a:latin typeface="Public Sans" pitchFamily="34" charset="0"/>
                <a:ea typeface="Public Sans" pitchFamily="34" charset="-122"/>
                <a:cs typeface="Public Sans" pitchFamily="34" charset="-120"/>
              </a:rPr>
              <a:t>Security</a:t>
            </a:r>
            <a:endParaRPr lang="en-US" sz="1500" dirty="0"/>
          </a:p>
        </p:txBody>
      </p:sp>
      <p:sp>
        <p:nvSpPr>
          <p:cNvPr id="12" name="Text 10"/>
          <p:cNvSpPr/>
          <p:nvPr/>
        </p:nvSpPr>
        <p:spPr>
          <a:xfrm>
            <a:off x="12272892" y="2101978"/>
            <a:ext cx="5619715" cy="262218"/>
          </a:xfrm>
          <a:prstGeom prst="rect">
            <a:avLst/>
          </a:prstGeom>
          <a:noFill/>
          <a:ln/>
        </p:spPr>
        <p:txBody>
          <a:bodyPr wrap="square" lIns="25400" tIns="25400" rIns="25400" bIns="25400" rtlCol="0" anchor="t">
            <a:normAutofit/>
          </a:bodyPr>
          <a:lstStyle/>
          <a:p>
            <a:pPr algn="l" indent="0" marL="0">
              <a:lnSpc>
                <a:spcPct val="127500"/>
              </a:lnSpc>
              <a:buNone/>
            </a:pPr>
            <a:r>
              <a:rPr lang="en-US" sz="1200" dirty="0">
                <a:solidFill>
                  <a:srgbClr val="5B6675"/>
                </a:solidFill>
                <a:latin typeface="Public Sans" pitchFamily="34" charset="0"/>
                <a:ea typeface="Public Sans" pitchFamily="34" charset="-122"/>
                <a:cs typeface="Public Sans" pitchFamily="34" charset="-120"/>
              </a:rPr>
              <a:t>Entra, least privilege, encryption in transit &amp; at rest.</a:t>
            </a:r>
            <a:endParaRPr lang="en-US" sz="1200" dirty="0"/>
          </a:p>
        </p:txBody>
      </p:sp>
      <p:sp>
        <p:nvSpPr>
          <p:cNvPr id="13" name="Shape 11"/>
          <p:cNvSpPr/>
          <p:nvPr/>
        </p:nvSpPr>
        <p:spPr>
          <a:xfrm>
            <a:off x="685660" y="4400410"/>
            <a:ext cx="5550063" cy="2648090"/>
          </a:xfrm>
          <a:prstGeom prst="roundRect">
            <a:avLst>
              <a:gd name="adj" fmla="val 4316"/>
            </a:avLst>
          </a:prstGeom>
          <a:ln w="11206">
            <a:solidFill>
              <a:srgbClr val="E0E6ED"/>
            </a:solidFill>
            <a:prstDash val="solid"/>
          </a:ln>
        </p:spPr>
      </p:sp>
      <p:sp>
        <p:nvSpPr>
          <p:cNvPr id="14" name="Text 12"/>
          <p:cNvSpPr/>
          <p:nvPr/>
        </p:nvSpPr>
        <p:spPr>
          <a:xfrm>
            <a:off x="906276" y="4602116"/>
            <a:ext cx="5619715" cy="262218"/>
          </a:xfrm>
          <a:prstGeom prst="rect">
            <a:avLst/>
          </a:prstGeom>
          <a:noFill/>
          <a:ln/>
        </p:spPr>
        <p:txBody>
          <a:bodyPr wrap="square" lIns="25400" tIns="25400" rIns="25400" bIns="25400" rtlCol="0" anchor="t">
            <a:normAutofit/>
          </a:bodyPr>
          <a:lstStyle/>
          <a:p>
            <a:pPr algn="l" indent="0" marL="0">
              <a:buNone/>
            </a:pPr>
            <a:r>
              <a:rPr lang="en-US" sz="1500" b="1" dirty="0">
                <a:solidFill>
                  <a:srgbClr val="1C5C43"/>
                </a:solidFill>
                <a:latin typeface="Public Sans" pitchFamily="34" charset="0"/>
                <a:ea typeface="Public Sans" pitchFamily="34" charset="-122"/>
                <a:cs typeface="Public Sans" pitchFamily="34" charset="-120"/>
              </a:rPr>
              <a:t>Resilience</a:t>
            </a:r>
            <a:endParaRPr lang="en-US" sz="1500" dirty="0"/>
          </a:p>
        </p:txBody>
      </p:sp>
      <p:sp>
        <p:nvSpPr>
          <p:cNvPr id="15" name="Text 13"/>
          <p:cNvSpPr/>
          <p:nvPr/>
        </p:nvSpPr>
        <p:spPr>
          <a:xfrm>
            <a:off x="906276" y="4883313"/>
            <a:ext cx="5619715" cy="262218"/>
          </a:xfrm>
          <a:prstGeom prst="rect">
            <a:avLst/>
          </a:prstGeom>
          <a:noFill/>
          <a:ln/>
        </p:spPr>
        <p:txBody>
          <a:bodyPr wrap="square" lIns="25400" tIns="25400" rIns="25400" bIns="25400" rtlCol="0" anchor="t">
            <a:normAutofit/>
          </a:bodyPr>
          <a:lstStyle/>
          <a:p>
            <a:pPr algn="l" indent="0" marL="0">
              <a:lnSpc>
                <a:spcPct val="127500"/>
              </a:lnSpc>
              <a:buNone/>
            </a:pPr>
            <a:r>
              <a:rPr lang="en-US" sz="1200" dirty="0">
                <a:solidFill>
                  <a:srgbClr val="5B6675"/>
                </a:solidFill>
                <a:latin typeface="Public Sans" pitchFamily="34" charset="0"/>
                <a:ea typeface="Public Sans" pitchFamily="34" charset="-122"/>
                <a:cs typeface="Public Sans" pitchFamily="34" charset="-120"/>
              </a:rPr>
              <a:t>Retries, idempotency, compensating actions on failure.</a:t>
            </a:r>
            <a:endParaRPr lang="en-US" sz="1200" dirty="0"/>
          </a:p>
        </p:txBody>
      </p:sp>
      <p:sp>
        <p:nvSpPr>
          <p:cNvPr id="16" name="Shape 14"/>
          <p:cNvSpPr/>
          <p:nvPr/>
        </p:nvSpPr>
        <p:spPr>
          <a:xfrm>
            <a:off x="6368968" y="4400410"/>
            <a:ext cx="5550063" cy="2648090"/>
          </a:xfrm>
          <a:prstGeom prst="roundRect">
            <a:avLst>
              <a:gd name="adj" fmla="val 4316"/>
            </a:avLst>
          </a:prstGeom>
          <a:ln w="11206">
            <a:solidFill>
              <a:srgbClr val="E0E6ED"/>
            </a:solidFill>
            <a:prstDash val="solid"/>
          </a:ln>
        </p:spPr>
      </p:sp>
      <p:sp>
        <p:nvSpPr>
          <p:cNvPr id="17" name="Text 15"/>
          <p:cNvSpPr/>
          <p:nvPr/>
        </p:nvSpPr>
        <p:spPr>
          <a:xfrm>
            <a:off x="6589584" y="4602116"/>
            <a:ext cx="5619715" cy="262218"/>
          </a:xfrm>
          <a:prstGeom prst="rect">
            <a:avLst/>
          </a:prstGeom>
          <a:noFill/>
          <a:ln/>
        </p:spPr>
        <p:txBody>
          <a:bodyPr wrap="square" lIns="25400" tIns="25400" rIns="25400" bIns="25400" rtlCol="0" anchor="t">
            <a:normAutofit/>
          </a:bodyPr>
          <a:lstStyle/>
          <a:p>
            <a:pPr algn="l" indent="0" marL="0">
              <a:buNone/>
            </a:pPr>
            <a:r>
              <a:rPr lang="en-US" sz="1500" b="1" dirty="0">
                <a:solidFill>
                  <a:srgbClr val="1C5C43"/>
                </a:solidFill>
                <a:latin typeface="Public Sans" pitchFamily="34" charset="0"/>
                <a:ea typeface="Public Sans" pitchFamily="34" charset="-122"/>
                <a:cs typeface="Public Sans" pitchFamily="34" charset="-120"/>
              </a:rPr>
              <a:t>Supportability</a:t>
            </a:r>
            <a:endParaRPr lang="en-US" sz="1500" dirty="0"/>
          </a:p>
        </p:txBody>
      </p:sp>
      <p:sp>
        <p:nvSpPr>
          <p:cNvPr id="18" name="Text 16"/>
          <p:cNvSpPr/>
          <p:nvPr/>
        </p:nvSpPr>
        <p:spPr>
          <a:xfrm>
            <a:off x="6589584" y="4883313"/>
            <a:ext cx="5619715" cy="262218"/>
          </a:xfrm>
          <a:prstGeom prst="rect">
            <a:avLst/>
          </a:prstGeom>
          <a:noFill/>
          <a:ln/>
        </p:spPr>
        <p:txBody>
          <a:bodyPr wrap="square" lIns="25400" tIns="25400" rIns="25400" bIns="25400" rtlCol="0" anchor="t">
            <a:normAutofit/>
          </a:bodyPr>
          <a:lstStyle/>
          <a:p>
            <a:pPr algn="l" indent="0" marL="0">
              <a:lnSpc>
                <a:spcPct val="127500"/>
              </a:lnSpc>
              <a:buNone/>
            </a:pPr>
            <a:r>
              <a:rPr lang="en-US" sz="1200" dirty="0">
                <a:solidFill>
                  <a:srgbClr val="5B6675"/>
                </a:solidFill>
                <a:latin typeface="Public Sans" pitchFamily="34" charset="0"/>
                <a:ea typeface="Public Sans" pitchFamily="34" charset="-122"/>
                <a:cs typeface="Public Sans" pitchFamily="34" charset="-120"/>
              </a:rPr>
              <a:t>Low-code flows; clear run history for L1/L2 support.</a:t>
            </a:r>
            <a:endParaRPr lang="en-US" sz="1200" dirty="0"/>
          </a:p>
        </p:txBody>
      </p:sp>
      <p:sp>
        <p:nvSpPr>
          <p:cNvPr id="19" name="Shape 17"/>
          <p:cNvSpPr/>
          <p:nvPr/>
        </p:nvSpPr>
        <p:spPr>
          <a:xfrm>
            <a:off x="12052276" y="4400410"/>
            <a:ext cx="5550063" cy="2648090"/>
          </a:xfrm>
          <a:prstGeom prst="roundRect">
            <a:avLst>
              <a:gd name="adj" fmla="val 4316"/>
            </a:avLst>
          </a:prstGeom>
          <a:ln w="11206">
            <a:solidFill>
              <a:srgbClr val="E0E6ED"/>
            </a:solidFill>
            <a:prstDash val="solid"/>
          </a:ln>
        </p:spPr>
      </p:sp>
      <p:sp>
        <p:nvSpPr>
          <p:cNvPr id="20" name="Text 18"/>
          <p:cNvSpPr/>
          <p:nvPr/>
        </p:nvSpPr>
        <p:spPr>
          <a:xfrm>
            <a:off x="12272892" y="4602116"/>
            <a:ext cx="5619715" cy="262218"/>
          </a:xfrm>
          <a:prstGeom prst="rect">
            <a:avLst/>
          </a:prstGeom>
          <a:noFill/>
          <a:ln/>
        </p:spPr>
        <p:txBody>
          <a:bodyPr wrap="square" lIns="25400" tIns="25400" rIns="25400" bIns="25400" rtlCol="0" anchor="t">
            <a:normAutofit/>
          </a:bodyPr>
          <a:lstStyle/>
          <a:p>
            <a:pPr algn="l" indent="0" marL="0">
              <a:buNone/>
            </a:pPr>
            <a:r>
              <a:rPr lang="en-US" sz="1500" b="1" dirty="0">
                <a:solidFill>
                  <a:srgbClr val="1C5C43"/>
                </a:solidFill>
                <a:latin typeface="Public Sans" pitchFamily="34" charset="0"/>
                <a:ea typeface="Public Sans" pitchFamily="34" charset="-122"/>
                <a:cs typeface="Public Sans" pitchFamily="34" charset="-120"/>
              </a:rPr>
              <a:t>Maintainability</a:t>
            </a:r>
            <a:endParaRPr lang="en-US" sz="1500" dirty="0"/>
          </a:p>
        </p:txBody>
      </p:sp>
      <p:sp>
        <p:nvSpPr>
          <p:cNvPr id="21" name="Text 19"/>
          <p:cNvSpPr/>
          <p:nvPr/>
        </p:nvSpPr>
        <p:spPr>
          <a:xfrm>
            <a:off x="12272892" y="4883313"/>
            <a:ext cx="5619715" cy="262218"/>
          </a:xfrm>
          <a:prstGeom prst="rect">
            <a:avLst/>
          </a:prstGeom>
          <a:noFill/>
          <a:ln/>
        </p:spPr>
        <p:txBody>
          <a:bodyPr wrap="square" lIns="25400" tIns="25400" rIns="25400" bIns="25400" rtlCol="0" anchor="t">
            <a:normAutofit/>
          </a:bodyPr>
          <a:lstStyle/>
          <a:p>
            <a:pPr algn="l" indent="0" marL="0">
              <a:lnSpc>
                <a:spcPct val="127500"/>
              </a:lnSpc>
              <a:buNone/>
            </a:pPr>
            <a:r>
              <a:rPr lang="en-US" sz="1200" dirty="0">
                <a:solidFill>
                  <a:srgbClr val="5B6675"/>
                </a:solidFill>
                <a:latin typeface="Public Sans" pitchFamily="34" charset="0"/>
                <a:ea typeface="Public Sans" pitchFamily="34" charset="-122"/>
                <a:cs typeface="Public Sans" pitchFamily="34" charset="-120"/>
              </a:rPr>
              <a:t>Minimal custom code; ALM via managed solutions &amp; pipelines.</a:t>
            </a:r>
            <a:endParaRPr lang="en-US" sz="1200" dirty="0"/>
          </a:p>
        </p:txBody>
      </p:sp>
      <p:sp>
        <p:nvSpPr>
          <p:cNvPr id="22" name="Shape 20"/>
          <p:cNvSpPr/>
          <p:nvPr/>
        </p:nvSpPr>
        <p:spPr>
          <a:xfrm>
            <a:off x="685660" y="7181745"/>
            <a:ext cx="5550063" cy="2648090"/>
          </a:xfrm>
          <a:prstGeom prst="roundRect">
            <a:avLst>
              <a:gd name="adj" fmla="val 4316"/>
            </a:avLst>
          </a:prstGeom>
          <a:ln w="11206">
            <a:solidFill>
              <a:srgbClr val="E0E6ED"/>
            </a:solidFill>
            <a:prstDash val="solid"/>
          </a:ln>
        </p:spPr>
      </p:sp>
      <p:sp>
        <p:nvSpPr>
          <p:cNvPr id="23" name="Text 21"/>
          <p:cNvSpPr/>
          <p:nvPr/>
        </p:nvSpPr>
        <p:spPr>
          <a:xfrm>
            <a:off x="906276" y="7383450"/>
            <a:ext cx="5619715" cy="262218"/>
          </a:xfrm>
          <a:prstGeom prst="rect">
            <a:avLst/>
          </a:prstGeom>
          <a:noFill/>
          <a:ln/>
        </p:spPr>
        <p:txBody>
          <a:bodyPr wrap="square" lIns="25400" tIns="25400" rIns="25400" bIns="25400" rtlCol="0" anchor="t">
            <a:normAutofit/>
          </a:bodyPr>
          <a:lstStyle/>
          <a:p>
            <a:pPr algn="l" indent="0" marL="0">
              <a:buNone/>
            </a:pPr>
            <a:r>
              <a:rPr lang="en-US" sz="1500" b="1" dirty="0">
                <a:solidFill>
                  <a:srgbClr val="1C5C43"/>
                </a:solidFill>
                <a:latin typeface="Public Sans" pitchFamily="34" charset="0"/>
                <a:ea typeface="Public Sans" pitchFamily="34" charset="-122"/>
                <a:cs typeface="Public Sans" pitchFamily="34" charset="-120"/>
              </a:rPr>
              <a:t>Monitoring</a:t>
            </a:r>
            <a:endParaRPr lang="en-US" sz="1500" dirty="0"/>
          </a:p>
        </p:txBody>
      </p:sp>
      <p:sp>
        <p:nvSpPr>
          <p:cNvPr id="24" name="Text 22"/>
          <p:cNvSpPr/>
          <p:nvPr/>
        </p:nvSpPr>
        <p:spPr>
          <a:xfrm>
            <a:off x="906276" y="7664648"/>
            <a:ext cx="5619715" cy="262218"/>
          </a:xfrm>
          <a:prstGeom prst="rect">
            <a:avLst/>
          </a:prstGeom>
          <a:noFill/>
          <a:ln/>
        </p:spPr>
        <p:txBody>
          <a:bodyPr wrap="square" lIns="25400" tIns="25400" rIns="25400" bIns="25400" rtlCol="0" anchor="t">
            <a:normAutofit/>
          </a:bodyPr>
          <a:lstStyle/>
          <a:p>
            <a:pPr algn="l" indent="0" marL="0">
              <a:lnSpc>
                <a:spcPct val="127500"/>
              </a:lnSpc>
              <a:buNone/>
            </a:pPr>
            <a:r>
              <a:rPr lang="en-US" sz="1200" dirty="0">
                <a:solidFill>
                  <a:srgbClr val="5B6675"/>
                </a:solidFill>
                <a:latin typeface="Public Sans" pitchFamily="34" charset="0"/>
                <a:ea typeface="Public Sans" pitchFamily="34" charset="-122"/>
                <a:cs typeface="Public Sans" pitchFamily="34" charset="-120"/>
              </a:rPr>
              <a:t>Azure Monitor · App Insights · flow analytics &amp; alerts.</a:t>
            </a:r>
            <a:endParaRPr lang="en-US" sz="1200" dirty="0"/>
          </a:p>
        </p:txBody>
      </p:sp>
      <p:sp>
        <p:nvSpPr>
          <p:cNvPr id="25" name="Shape 23"/>
          <p:cNvSpPr/>
          <p:nvPr/>
        </p:nvSpPr>
        <p:spPr>
          <a:xfrm>
            <a:off x="6368968" y="7181745"/>
            <a:ext cx="5550063" cy="2648090"/>
          </a:xfrm>
          <a:prstGeom prst="roundRect">
            <a:avLst>
              <a:gd name="adj" fmla="val 4316"/>
            </a:avLst>
          </a:prstGeom>
          <a:ln w="11206">
            <a:solidFill>
              <a:srgbClr val="E0E6ED"/>
            </a:solidFill>
            <a:prstDash val="solid"/>
          </a:ln>
        </p:spPr>
      </p:sp>
      <p:sp>
        <p:nvSpPr>
          <p:cNvPr id="26" name="Text 24"/>
          <p:cNvSpPr/>
          <p:nvPr/>
        </p:nvSpPr>
        <p:spPr>
          <a:xfrm>
            <a:off x="6589584" y="7383450"/>
            <a:ext cx="5619715" cy="262218"/>
          </a:xfrm>
          <a:prstGeom prst="rect">
            <a:avLst/>
          </a:prstGeom>
          <a:noFill/>
          <a:ln/>
        </p:spPr>
        <p:txBody>
          <a:bodyPr wrap="square" lIns="25400" tIns="25400" rIns="25400" bIns="25400" rtlCol="0" anchor="t">
            <a:normAutofit/>
          </a:bodyPr>
          <a:lstStyle/>
          <a:p>
            <a:pPr algn="l" indent="0" marL="0">
              <a:buNone/>
            </a:pPr>
            <a:r>
              <a:rPr lang="en-US" sz="1500" b="1" dirty="0">
                <a:solidFill>
                  <a:srgbClr val="1C5C43"/>
                </a:solidFill>
                <a:latin typeface="Public Sans" pitchFamily="34" charset="0"/>
                <a:ea typeface="Public Sans" pitchFamily="34" charset="-122"/>
                <a:cs typeface="Public Sans" pitchFamily="34" charset="-120"/>
              </a:rPr>
              <a:t>Logging</a:t>
            </a:r>
            <a:endParaRPr lang="en-US" sz="1500" dirty="0"/>
          </a:p>
        </p:txBody>
      </p:sp>
      <p:sp>
        <p:nvSpPr>
          <p:cNvPr id="27" name="Text 25"/>
          <p:cNvSpPr/>
          <p:nvPr/>
        </p:nvSpPr>
        <p:spPr>
          <a:xfrm>
            <a:off x="6589584" y="7664648"/>
            <a:ext cx="5619715" cy="262218"/>
          </a:xfrm>
          <a:prstGeom prst="rect">
            <a:avLst/>
          </a:prstGeom>
          <a:noFill/>
          <a:ln/>
        </p:spPr>
        <p:txBody>
          <a:bodyPr wrap="square" lIns="25400" tIns="25400" rIns="25400" bIns="25400" rtlCol="0" anchor="t">
            <a:normAutofit/>
          </a:bodyPr>
          <a:lstStyle/>
          <a:p>
            <a:pPr algn="l" indent="0" marL="0">
              <a:lnSpc>
                <a:spcPct val="127500"/>
              </a:lnSpc>
              <a:buNone/>
            </a:pPr>
            <a:r>
              <a:rPr lang="en-US" sz="1200" dirty="0">
                <a:solidFill>
                  <a:srgbClr val="5B6675"/>
                </a:solidFill>
                <a:latin typeface="Public Sans" pitchFamily="34" charset="0"/>
                <a:ea typeface="Public Sans" pitchFamily="34" charset="-122"/>
                <a:cs typeface="Public Sans" pitchFamily="34" charset="-120"/>
              </a:rPr>
              <a:t>Structured, correlated logs across all components.</a:t>
            </a:r>
            <a:endParaRPr lang="en-US" sz="1200" dirty="0"/>
          </a:p>
        </p:txBody>
      </p:sp>
      <p:sp>
        <p:nvSpPr>
          <p:cNvPr id="28" name="Shape 26"/>
          <p:cNvSpPr/>
          <p:nvPr/>
        </p:nvSpPr>
        <p:spPr>
          <a:xfrm>
            <a:off x="12052276" y="7181745"/>
            <a:ext cx="5550063" cy="2648090"/>
          </a:xfrm>
          <a:prstGeom prst="roundRect">
            <a:avLst>
              <a:gd name="adj" fmla="val 4316"/>
            </a:avLst>
          </a:prstGeom>
          <a:ln w="11206">
            <a:solidFill>
              <a:srgbClr val="E0E6ED"/>
            </a:solidFill>
            <a:prstDash val="solid"/>
          </a:ln>
        </p:spPr>
      </p:sp>
      <p:sp>
        <p:nvSpPr>
          <p:cNvPr id="29" name="Text 27"/>
          <p:cNvSpPr/>
          <p:nvPr/>
        </p:nvSpPr>
        <p:spPr>
          <a:xfrm>
            <a:off x="12272892" y="7383450"/>
            <a:ext cx="5619715" cy="262218"/>
          </a:xfrm>
          <a:prstGeom prst="rect">
            <a:avLst/>
          </a:prstGeom>
          <a:noFill/>
          <a:ln/>
        </p:spPr>
        <p:txBody>
          <a:bodyPr wrap="square" lIns="25400" tIns="25400" rIns="25400" bIns="25400" rtlCol="0" anchor="t">
            <a:normAutofit/>
          </a:bodyPr>
          <a:lstStyle/>
          <a:p>
            <a:pPr algn="l" indent="0" marL="0">
              <a:buNone/>
            </a:pPr>
            <a:r>
              <a:rPr lang="en-US" sz="1500" b="1" dirty="0">
                <a:solidFill>
                  <a:srgbClr val="1C5C43"/>
                </a:solidFill>
                <a:latin typeface="Public Sans" pitchFamily="34" charset="0"/>
                <a:ea typeface="Public Sans" pitchFamily="34" charset="-122"/>
                <a:cs typeface="Public Sans" pitchFamily="34" charset="-120"/>
              </a:rPr>
              <a:t>Disaster recovery</a:t>
            </a:r>
            <a:endParaRPr lang="en-US" sz="1500" dirty="0"/>
          </a:p>
        </p:txBody>
      </p:sp>
      <p:sp>
        <p:nvSpPr>
          <p:cNvPr id="30" name="Text 28"/>
          <p:cNvSpPr/>
          <p:nvPr/>
        </p:nvSpPr>
        <p:spPr>
          <a:xfrm>
            <a:off x="12272892" y="7664648"/>
            <a:ext cx="5619715" cy="262218"/>
          </a:xfrm>
          <a:prstGeom prst="rect">
            <a:avLst/>
          </a:prstGeom>
          <a:noFill/>
          <a:ln/>
        </p:spPr>
        <p:txBody>
          <a:bodyPr wrap="square" lIns="25400" tIns="25400" rIns="25400" bIns="25400" rtlCol="0" anchor="t">
            <a:normAutofit/>
          </a:bodyPr>
          <a:lstStyle/>
          <a:p>
            <a:pPr algn="l" indent="0" marL="0">
              <a:lnSpc>
                <a:spcPct val="127500"/>
              </a:lnSpc>
              <a:buNone/>
            </a:pPr>
            <a:r>
              <a:rPr lang="en-US" sz="1200" dirty="0">
                <a:solidFill>
                  <a:srgbClr val="5B6675"/>
                </a:solidFill>
                <a:latin typeface="Public Sans" pitchFamily="34" charset="0"/>
                <a:ea typeface="Public Sans" pitchFamily="34" charset="-122"/>
                <a:cs typeface="Public Sans" pitchFamily="34" charset="-120"/>
              </a:rPr>
              <a:t>Geo-redundant M365/Azure; documented RPO/RTO — TBC.</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685660" y="533330"/>
            <a:ext cx="18608347" cy="307041"/>
          </a:xfrm>
          <a:prstGeom prst="rect">
            <a:avLst/>
          </a:prstGeom>
          <a:noFill/>
          <a:ln/>
        </p:spPr>
        <p:txBody>
          <a:bodyPr wrap="square" lIns="25400" tIns="25400" rIns="25400" bIns="25400" rtlCol="0" anchor="t">
            <a:normAutofit/>
          </a:bodyPr>
          <a:lstStyle/>
          <a:p>
            <a:pPr algn="l" indent="0" marL="0">
              <a:buNone/>
            </a:pPr>
            <a:r>
              <a:rPr lang="en-US" sz="1650" b="1" spc="198" kern="0" dirty="0">
                <a:solidFill>
                  <a:srgbClr val="1C5C43"/>
                </a:solidFill>
                <a:latin typeface="IBM Plex Mono" pitchFamily="34" charset="0"/>
                <a:ea typeface="IBM Plex Mono" pitchFamily="34" charset="-122"/>
                <a:cs typeface="IBM Plex Mono" pitchFamily="34" charset="-120"/>
              </a:rPr>
              <a:t>08 · LICENSING &amp; ALM</a:t>
            </a:r>
            <a:endParaRPr lang="en-US" sz="1650" dirty="0"/>
          </a:p>
        </p:txBody>
      </p:sp>
      <p:sp>
        <p:nvSpPr>
          <p:cNvPr id="3" name="Text 1"/>
          <p:cNvSpPr/>
          <p:nvPr/>
        </p:nvSpPr>
        <p:spPr>
          <a:xfrm>
            <a:off x="685660" y="897521"/>
            <a:ext cx="18608347" cy="531159"/>
          </a:xfrm>
          <a:prstGeom prst="rect">
            <a:avLst/>
          </a:prstGeom>
          <a:noFill/>
          <a:ln/>
        </p:spPr>
        <p:txBody>
          <a:bodyPr wrap="square" lIns="25400" tIns="25400" rIns="25400" bIns="25400" rtlCol="0" anchor="t">
            <a:normAutofit/>
          </a:bodyPr>
          <a:lstStyle/>
          <a:p>
            <a:pPr algn="l" indent="0" marL="0">
              <a:buNone/>
            </a:pPr>
            <a:r>
              <a:rPr lang="en-US" sz="3300" b="1" spc="-33" kern="0" dirty="0">
                <a:solidFill>
                  <a:srgbClr val="0D2E22"/>
                </a:solidFill>
                <a:latin typeface="Public Sans" pitchFamily="34" charset="0"/>
                <a:ea typeface="Public Sans" pitchFamily="34" charset="-122"/>
                <a:cs typeface="Public Sans" pitchFamily="34" charset="-120"/>
              </a:rPr>
              <a:t>Licensing, environments &amp; ALM</a:t>
            </a:r>
            <a:endParaRPr lang="en-US" sz="3300" dirty="0"/>
          </a:p>
        </p:txBody>
      </p:sp>
      <p:sp>
        <p:nvSpPr>
          <p:cNvPr id="4" name="Text 2"/>
          <p:cNvSpPr/>
          <p:nvPr/>
        </p:nvSpPr>
        <p:spPr>
          <a:xfrm>
            <a:off x="685660" y="1638160"/>
            <a:ext cx="9178405" cy="239806"/>
          </a:xfrm>
          <a:prstGeom prst="rect">
            <a:avLst/>
          </a:prstGeom>
          <a:noFill/>
          <a:ln/>
        </p:spPr>
        <p:txBody>
          <a:bodyPr wrap="square" lIns="25400" tIns="25400" rIns="25400" bIns="25400" rtlCol="0" anchor="t">
            <a:normAutofit/>
          </a:bodyPr>
          <a:lstStyle/>
          <a:p>
            <a:pPr algn="l" indent="0" marL="0">
              <a:buNone/>
            </a:pPr>
            <a:r>
              <a:rPr lang="en-US" sz="1200" b="1" spc="60" kern="0" dirty="0">
                <a:solidFill>
                  <a:srgbClr val="8996A6"/>
                </a:solidFill>
                <a:latin typeface="IBM Plex Mono" pitchFamily="34" charset="0"/>
                <a:ea typeface="IBM Plex Mono" pitchFamily="34" charset="-122"/>
                <a:cs typeface="IBM Plex Mono" pitchFamily="34" charset="-120"/>
              </a:rPr>
              <a:t>LICENSING FOOTPRINT</a:t>
            </a:r>
            <a:endParaRPr lang="en-US" sz="1200" dirty="0"/>
          </a:p>
        </p:txBody>
      </p:sp>
      <p:sp>
        <p:nvSpPr>
          <p:cNvPr id="5" name="Shape 3"/>
          <p:cNvSpPr/>
          <p:nvPr/>
        </p:nvSpPr>
        <p:spPr>
          <a:xfrm>
            <a:off x="685660" y="1954026"/>
            <a:ext cx="8344005" cy="1364316"/>
          </a:xfrm>
          <a:prstGeom prst="roundRect">
            <a:avLst>
              <a:gd name="adj" fmla="val 8378"/>
            </a:avLst>
          </a:prstGeom>
          <a:solidFill>
            <a:srgbClr val="FFFFFF"/>
          </a:solidFill>
          <a:ln w="11206">
            <a:solidFill>
              <a:srgbClr val="C8A45C"/>
            </a:solidFill>
            <a:prstDash val="solid"/>
          </a:ln>
        </p:spPr>
      </p:sp>
      <p:sp>
        <p:nvSpPr>
          <p:cNvPr id="6" name="Text 4"/>
          <p:cNvSpPr/>
          <p:nvPr/>
        </p:nvSpPr>
        <p:spPr>
          <a:xfrm>
            <a:off x="887366" y="2403311"/>
            <a:ext cx="8734652" cy="262218"/>
          </a:xfrm>
          <a:prstGeom prst="rect">
            <a:avLst/>
          </a:prstGeom>
          <a:noFill/>
          <a:ln/>
        </p:spPr>
        <p:txBody>
          <a:bodyPr wrap="square" lIns="25400" tIns="25400" rIns="25400" bIns="25400" rtlCol="0" anchor="t">
            <a:normAutofit/>
          </a:bodyPr>
          <a:lstStyle/>
          <a:p>
            <a:pPr algn="l" indent="0" marL="0">
              <a:buNone/>
            </a:pPr>
            <a:r>
              <a:rPr lang="en-US" sz="1500" b="1" dirty="0">
                <a:solidFill>
                  <a:srgbClr val="0D2E22"/>
                </a:solidFill>
                <a:latin typeface="Public Sans" pitchFamily="34" charset="0"/>
                <a:ea typeface="Public Sans" pitchFamily="34" charset="-122"/>
                <a:cs typeface="Public Sans" pitchFamily="34" charset="-120"/>
              </a:rPr>
              <a:t>Power Apps Premium </a:t>
            </a:r>
            <a:pPr algn="l" indent="0" marL="0">
              <a:buNone/>
            </a:pPr>
            <a:r>
              <a:rPr lang="en-US" sz="975" b="1" dirty="0">
                <a:solidFill>
                  <a:srgbClr val="B4690E"/>
                </a:solidFill>
                <a:highlight>
                  <a:srgbClr val="FBF1E3"/>
                </a:highlight>
                <a:latin typeface="IBM Plex Mono" pitchFamily="34" charset="0"/>
                <a:ea typeface="IBM Plex Mono" pitchFamily="34" charset="-122"/>
                <a:cs typeface="IBM Plex Mono" pitchFamily="34" charset="-120"/>
              </a:rPr>
              <a:t>NET NEW</a:t>
            </a:r>
            <a:endParaRPr lang="en-US" sz="1500" dirty="0"/>
          </a:p>
        </p:txBody>
      </p:sp>
      <p:sp>
        <p:nvSpPr>
          <p:cNvPr id="7" name="Text 5"/>
          <p:cNvSpPr/>
          <p:nvPr/>
        </p:nvSpPr>
        <p:spPr>
          <a:xfrm>
            <a:off x="887366" y="2655969"/>
            <a:ext cx="8734652" cy="251012"/>
          </a:xfrm>
          <a:prstGeom prst="rect">
            <a:avLst/>
          </a:prstGeom>
          <a:noFill/>
          <a:ln/>
        </p:spPr>
        <p:txBody>
          <a:bodyPr wrap="square" lIns="25400" tIns="25400" rIns="25400" bIns="25400" rtlCol="0" anchor="t">
            <a:normAutofit/>
          </a:bodyPr>
          <a:lstStyle/>
          <a:p>
            <a:pPr algn="l" indent="0" marL="0">
              <a:lnSpc>
                <a:spcPct val="123250"/>
              </a:lnSpc>
              <a:buNone/>
            </a:pPr>
            <a:r>
              <a:rPr lang="en-US" sz="1200" dirty="0">
                <a:solidFill>
                  <a:srgbClr val="5B6675"/>
                </a:solidFill>
                <a:latin typeface="Public Sans" pitchFamily="34" charset="0"/>
                <a:ea typeface="Public Sans" pitchFamily="34" charset="-122"/>
                <a:cs typeface="Public Sans" pitchFamily="34" charset="-120"/>
              </a:rPr>
              <a:t>The only net-new licence — scoped to RM &amp; EA personas, not the whole bank.</a:t>
            </a:r>
            <a:endParaRPr lang="en-US" sz="1200" dirty="0"/>
          </a:p>
        </p:txBody>
      </p:sp>
      <p:sp>
        <p:nvSpPr>
          <p:cNvPr id="8" name="Shape 6"/>
          <p:cNvSpPr/>
          <p:nvPr/>
        </p:nvSpPr>
        <p:spPr>
          <a:xfrm>
            <a:off x="685660" y="3432502"/>
            <a:ext cx="8344005" cy="1364316"/>
          </a:xfrm>
          <a:prstGeom prst="roundRect">
            <a:avLst>
              <a:gd name="adj" fmla="val 8378"/>
            </a:avLst>
          </a:prstGeom>
          <a:solidFill>
            <a:srgbClr val="FFFFFF"/>
          </a:solidFill>
          <a:ln w="11206">
            <a:solidFill>
              <a:srgbClr val="E0E6ED"/>
            </a:solidFill>
            <a:prstDash val="solid"/>
          </a:ln>
        </p:spPr>
      </p:sp>
      <p:sp>
        <p:nvSpPr>
          <p:cNvPr id="9" name="Text 7"/>
          <p:cNvSpPr/>
          <p:nvPr/>
        </p:nvSpPr>
        <p:spPr>
          <a:xfrm>
            <a:off x="887366" y="3881787"/>
            <a:ext cx="8734652" cy="262218"/>
          </a:xfrm>
          <a:prstGeom prst="rect">
            <a:avLst/>
          </a:prstGeom>
          <a:noFill/>
          <a:ln/>
        </p:spPr>
        <p:txBody>
          <a:bodyPr wrap="square" lIns="25400" tIns="25400" rIns="25400" bIns="25400" rtlCol="0" anchor="t">
            <a:normAutofit/>
          </a:bodyPr>
          <a:lstStyle/>
          <a:p>
            <a:pPr algn="l" indent="0" marL="0">
              <a:buNone/>
            </a:pPr>
            <a:r>
              <a:rPr lang="en-US" sz="1500" b="1" dirty="0">
                <a:solidFill>
                  <a:srgbClr val="0D2E22"/>
                </a:solidFill>
                <a:latin typeface="Public Sans" pitchFamily="34" charset="0"/>
                <a:ea typeface="Public Sans" pitchFamily="34" charset="-122"/>
                <a:cs typeface="Public Sans" pitchFamily="34" charset="-120"/>
              </a:rPr>
              <a:t>Power Automate</a:t>
            </a:r>
            <a:endParaRPr lang="en-US" sz="1500" dirty="0"/>
          </a:p>
        </p:txBody>
      </p:sp>
      <p:sp>
        <p:nvSpPr>
          <p:cNvPr id="10" name="Text 8"/>
          <p:cNvSpPr/>
          <p:nvPr/>
        </p:nvSpPr>
        <p:spPr>
          <a:xfrm>
            <a:off x="887366" y="4134445"/>
            <a:ext cx="8734652" cy="251012"/>
          </a:xfrm>
          <a:prstGeom prst="rect">
            <a:avLst/>
          </a:prstGeom>
          <a:noFill/>
          <a:ln/>
        </p:spPr>
        <p:txBody>
          <a:bodyPr wrap="square" lIns="25400" tIns="25400" rIns="25400" bIns="25400" rtlCol="0" anchor="t">
            <a:normAutofit/>
          </a:bodyPr>
          <a:lstStyle/>
          <a:p>
            <a:pPr algn="l" indent="0" marL="0">
              <a:lnSpc>
                <a:spcPct val="123250"/>
              </a:lnSpc>
              <a:buNone/>
            </a:pPr>
            <a:r>
              <a:rPr lang="en-US" sz="1200" dirty="0">
                <a:solidFill>
                  <a:srgbClr val="5B6675"/>
                </a:solidFill>
                <a:latin typeface="Public Sans" pitchFamily="34" charset="0"/>
                <a:ea typeface="Public Sans" pitchFamily="34" charset="-122"/>
                <a:cs typeface="Public Sans" pitchFamily="34" charset="-120"/>
              </a:rPr>
              <a:t>Flows run within the app licence at MVP scale; no per-flow licences.</a:t>
            </a:r>
            <a:endParaRPr lang="en-US" sz="1200" dirty="0"/>
          </a:p>
        </p:txBody>
      </p:sp>
      <p:sp>
        <p:nvSpPr>
          <p:cNvPr id="11" name="Shape 9"/>
          <p:cNvSpPr/>
          <p:nvPr/>
        </p:nvSpPr>
        <p:spPr>
          <a:xfrm>
            <a:off x="685660" y="4910978"/>
            <a:ext cx="8344005" cy="1364316"/>
          </a:xfrm>
          <a:prstGeom prst="roundRect">
            <a:avLst>
              <a:gd name="adj" fmla="val 8378"/>
            </a:avLst>
          </a:prstGeom>
          <a:solidFill>
            <a:srgbClr val="FFFFFF"/>
          </a:solidFill>
          <a:ln w="11206">
            <a:solidFill>
              <a:srgbClr val="E0E6ED"/>
            </a:solidFill>
            <a:prstDash val="solid"/>
          </a:ln>
        </p:spPr>
      </p:sp>
      <p:sp>
        <p:nvSpPr>
          <p:cNvPr id="12" name="Text 10"/>
          <p:cNvSpPr/>
          <p:nvPr/>
        </p:nvSpPr>
        <p:spPr>
          <a:xfrm>
            <a:off x="887366" y="5360264"/>
            <a:ext cx="8734652" cy="262218"/>
          </a:xfrm>
          <a:prstGeom prst="rect">
            <a:avLst/>
          </a:prstGeom>
          <a:noFill/>
          <a:ln/>
        </p:spPr>
        <p:txBody>
          <a:bodyPr wrap="square" lIns="25400" tIns="25400" rIns="25400" bIns="25400" rtlCol="0" anchor="t">
            <a:normAutofit/>
          </a:bodyPr>
          <a:lstStyle/>
          <a:p>
            <a:pPr algn="l" indent="0" marL="0">
              <a:buNone/>
            </a:pPr>
            <a:r>
              <a:rPr lang="en-US" sz="1500" b="1" dirty="0">
                <a:solidFill>
                  <a:srgbClr val="0D2E22"/>
                </a:solidFill>
                <a:latin typeface="Public Sans" pitchFamily="34" charset="0"/>
                <a:ea typeface="Public Sans" pitchFamily="34" charset="-122"/>
                <a:cs typeface="Public Sans" pitchFamily="34" charset="-120"/>
              </a:rPr>
              <a:t>Microsoft Graph</a:t>
            </a:r>
            <a:endParaRPr lang="en-US" sz="1500" dirty="0"/>
          </a:p>
        </p:txBody>
      </p:sp>
      <p:sp>
        <p:nvSpPr>
          <p:cNvPr id="13" name="Text 11"/>
          <p:cNvSpPr/>
          <p:nvPr/>
        </p:nvSpPr>
        <p:spPr>
          <a:xfrm>
            <a:off x="887366" y="5612921"/>
            <a:ext cx="8734652" cy="251012"/>
          </a:xfrm>
          <a:prstGeom prst="rect">
            <a:avLst/>
          </a:prstGeom>
          <a:noFill/>
          <a:ln/>
        </p:spPr>
        <p:txBody>
          <a:bodyPr wrap="square" lIns="25400" tIns="25400" rIns="25400" bIns="25400" rtlCol="0" anchor="t">
            <a:normAutofit/>
          </a:bodyPr>
          <a:lstStyle/>
          <a:p>
            <a:pPr algn="l" indent="0" marL="0">
              <a:lnSpc>
                <a:spcPct val="123250"/>
              </a:lnSpc>
              <a:buNone/>
            </a:pPr>
            <a:r>
              <a:rPr lang="en-US" sz="1200" dirty="0">
                <a:solidFill>
                  <a:srgbClr val="5B6675"/>
                </a:solidFill>
                <a:latin typeface="Public Sans" pitchFamily="34" charset="0"/>
                <a:ea typeface="Public Sans" pitchFamily="34" charset="-122"/>
                <a:cs typeface="Public Sans" pitchFamily="34" charset="-120"/>
              </a:rPr>
              <a:t>No additional cost — included with Microsoft 365.</a:t>
            </a:r>
            <a:endParaRPr lang="en-US" sz="1200" dirty="0"/>
          </a:p>
        </p:txBody>
      </p:sp>
      <p:sp>
        <p:nvSpPr>
          <p:cNvPr id="14" name="Shape 12"/>
          <p:cNvSpPr/>
          <p:nvPr/>
        </p:nvSpPr>
        <p:spPr>
          <a:xfrm>
            <a:off x="685660" y="6389454"/>
            <a:ext cx="8344005" cy="1364316"/>
          </a:xfrm>
          <a:prstGeom prst="roundRect">
            <a:avLst>
              <a:gd name="adj" fmla="val 8378"/>
            </a:avLst>
          </a:prstGeom>
          <a:solidFill>
            <a:srgbClr val="FFFFFF"/>
          </a:solidFill>
          <a:ln w="11206">
            <a:solidFill>
              <a:srgbClr val="E0E6ED"/>
            </a:solidFill>
            <a:prstDash val="solid"/>
          </a:ln>
        </p:spPr>
      </p:sp>
      <p:sp>
        <p:nvSpPr>
          <p:cNvPr id="15" name="Text 13"/>
          <p:cNvSpPr/>
          <p:nvPr/>
        </p:nvSpPr>
        <p:spPr>
          <a:xfrm>
            <a:off x="887366" y="6838740"/>
            <a:ext cx="8734652" cy="262218"/>
          </a:xfrm>
          <a:prstGeom prst="rect">
            <a:avLst/>
          </a:prstGeom>
          <a:noFill/>
          <a:ln/>
        </p:spPr>
        <p:txBody>
          <a:bodyPr wrap="square" lIns="25400" tIns="25400" rIns="25400" bIns="25400" rtlCol="0" anchor="t">
            <a:normAutofit/>
          </a:bodyPr>
          <a:lstStyle/>
          <a:p>
            <a:pPr algn="l" indent="0" marL="0">
              <a:buNone/>
            </a:pPr>
            <a:r>
              <a:rPr lang="en-US" sz="1500" b="1" dirty="0">
                <a:solidFill>
                  <a:srgbClr val="0D2E22"/>
                </a:solidFill>
                <a:latin typeface="Public Sans" pitchFamily="34" charset="0"/>
                <a:ea typeface="Public Sans" pitchFamily="34" charset="-122"/>
                <a:cs typeface="Public Sans" pitchFamily="34" charset="-120"/>
              </a:rPr>
              <a:t>Dataverse</a:t>
            </a:r>
            <a:endParaRPr lang="en-US" sz="1500" dirty="0"/>
          </a:p>
        </p:txBody>
      </p:sp>
      <p:sp>
        <p:nvSpPr>
          <p:cNvPr id="16" name="Text 14"/>
          <p:cNvSpPr/>
          <p:nvPr/>
        </p:nvSpPr>
        <p:spPr>
          <a:xfrm>
            <a:off x="887366" y="7091397"/>
            <a:ext cx="8734652" cy="251012"/>
          </a:xfrm>
          <a:prstGeom prst="rect">
            <a:avLst/>
          </a:prstGeom>
          <a:noFill/>
          <a:ln/>
        </p:spPr>
        <p:txBody>
          <a:bodyPr wrap="square" lIns="25400" tIns="25400" rIns="25400" bIns="25400" rtlCol="0" anchor="t">
            <a:normAutofit/>
          </a:bodyPr>
          <a:lstStyle/>
          <a:p>
            <a:pPr algn="l" indent="0" marL="0">
              <a:lnSpc>
                <a:spcPct val="123250"/>
              </a:lnSpc>
              <a:buNone/>
            </a:pPr>
            <a:r>
              <a:rPr lang="en-US" sz="1200" dirty="0">
                <a:solidFill>
                  <a:srgbClr val="5B6675"/>
                </a:solidFill>
                <a:latin typeface="Public Sans" pitchFamily="34" charset="0"/>
                <a:ea typeface="Public Sans" pitchFamily="34" charset="-122"/>
                <a:cs typeface="Public Sans" pitchFamily="34" charset="-120"/>
              </a:rPr>
              <a:t>One booking table within existing Dynamics 365 capacity.</a:t>
            </a:r>
            <a:endParaRPr lang="en-US" sz="1200" dirty="0"/>
          </a:p>
        </p:txBody>
      </p:sp>
      <p:sp>
        <p:nvSpPr>
          <p:cNvPr id="17" name="Shape 15"/>
          <p:cNvSpPr/>
          <p:nvPr/>
        </p:nvSpPr>
        <p:spPr>
          <a:xfrm>
            <a:off x="685660" y="7867930"/>
            <a:ext cx="8344005" cy="1364316"/>
          </a:xfrm>
          <a:prstGeom prst="roundRect">
            <a:avLst>
              <a:gd name="adj" fmla="val 8378"/>
            </a:avLst>
          </a:prstGeom>
          <a:solidFill>
            <a:srgbClr val="FFFFFF"/>
          </a:solidFill>
          <a:ln w="11206">
            <a:solidFill>
              <a:srgbClr val="E0E6ED"/>
            </a:solidFill>
            <a:prstDash val="solid"/>
          </a:ln>
        </p:spPr>
      </p:sp>
      <p:sp>
        <p:nvSpPr>
          <p:cNvPr id="18" name="Text 16"/>
          <p:cNvSpPr/>
          <p:nvPr/>
        </p:nvSpPr>
        <p:spPr>
          <a:xfrm>
            <a:off x="887366" y="8317216"/>
            <a:ext cx="8734652" cy="262218"/>
          </a:xfrm>
          <a:prstGeom prst="rect">
            <a:avLst/>
          </a:prstGeom>
          <a:noFill/>
          <a:ln/>
        </p:spPr>
        <p:txBody>
          <a:bodyPr wrap="square" lIns="25400" tIns="25400" rIns="25400" bIns="25400" rtlCol="0" anchor="t">
            <a:normAutofit/>
          </a:bodyPr>
          <a:lstStyle/>
          <a:p>
            <a:pPr algn="l" indent="0" marL="0">
              <a:buNone/>
            </a:pPr>
            <a:r>
              <a:rPr lang="en-US" sz="1500" b="1" dirty="0">
                <a:solidFill>
                  <a:srgbClr val="0D2E22"/>
                </a:solidFill>
                <a:latin typeface="Public Sans" pitchFamily="34" charset="0"/>
                <a:ea typeface="Public Sans" pitchFamily="34" charset="-122"/>
                <a:cs typeface="Public Sans" pitchFamily="34" charset="-120"/>
              </a:rPr>
              <a:t>Azure Static Web Apps</a:t>
            </a:r>
            <a:endParaRPr lang="en-US" sz="1500" dirty="0"/>
          </a:p>
        </p:txBody>
      </p:sp>
      <p:sp>
        <p:nvSpPr>
          <p:cNvPr id="19" name="Text 17"/>
          <p:cNvSpPr/>
          <p:nvPr/>
        </p:nvSpPr>
        <p:spPr>
          <a:xfrm>
            <a:off x="887366" y="8569873"/>
            <a:ext cx="8734652" cy="251012"/>
          </a:xfrm>
          <a:prstGeom prst="rect">
            <a:avLst/>
          </a:prstGeom>
          <a:noFill/>
          <a:ln/>
        </p:spPr>
        <p:txBody>
          <a:bodyPr wrap="square" lIns="25400" tIns="25400" rIns="25400" bIns="25400" rtlCol="0" anchor="t">
            <a:normAutofit/>
          </a:bodyPr>
          <a:lstStyle/>
          <a:p>
            <a:pPr algn="l" indent="0" marL="0">
              <a:lnSpc>
                <a:spcPct val="123250"/>
              </a:lnSpc>
              <a:buNone/>
            </a:pPr>
            <a:r>
              <a:rPr lang="en-US" sz="1200" dirty="0">
                <a:solidFill>
                  <a:srgbClr val="5B6675"/>
                </a:solidFill>
                <a:latin typeface="Public Sans" pitchFamily="34" charset="0"/>
                <a:ea typeface="Public Sans" pitchFamily="34" charset="-122"/>
                <a:cs typeface="Public Sans" pitchFamily="34" charset="-120"/>
              </a:rPr>
              <a:t>Booking page on free/standard tier — no servers, no VMs.</a:t>
            </a:r>
            <a:endParaRPr lang="en-US" sz="1200" dirty="0"/>
          </a:p>
        </p:txBody>
      </p:sp>
      <p:sp>
        <p:nvSpPr>
          <p:cNvPr id="20" name="Text 18"/>
          <p:cNvSpPr/>
          <p:nvPr/>
        </p:nvSpPr>
        <p:spPr>
          <a:xfrm>
            <a:off x="9258159" y="1638160"/>
            <a:ext cx="9178598" cy="239806"/>
          </a:xfrm>
          <a:prstGeom prst="rect">
            <a:avLst/>
          </a:prstGeom>
          <a:noFill/>
          <a:ln/>
        </p:spPr>
        <p:txBody>
          <a:bodyPr wrap="square" lIns="25400" tIns="25400" rIns="25400" bIns="25400" rtlCol="0" anchor="t">
            <a:normAutofit/>
          </a:bodyPr>
          <a:lstStyle/>
          <a:p>
            <a:pPr algn="l" indent="0" marL="0">
              <a:buNone/>
            </a:pPr>
            <a:r>
              <a:rPr lang="en-US" sz="1200" b="1" spc="60" kern="0" dirty="0">
                <a:solidFill>
                  <a:srgbClr val="8996A6"/>
                </a:solidFill>
                <a:latin typeface="IBM Plex Mono" pitchFamily="34" charset="0"/>
                <a:ea typeface="IBM Plex Mono" pitchFamily="34" charset="-122"/>
                <a:cs typeface="IBM Plex Mono" pitchFamily="34" charset="-120"/>
              </a:rPr>
              <a:t>ENVIRONMENTS &amp; ALM</a:t>
            </a:r>
            <a:endParaRPr lang="en-US" sz="1200" dirty="0"/>
          </a:p>
        </p:txBody>
      </p:sp>
      <p:sp>
        <p:nvSpPr>
          <p:cNvPr id="21" name="Shape 19"/>
          <p:cNvSpPr/>
          <p:nvPr/>
        </p:nvSpPr>
        <p:spPr>
          <a:xfrm>
            <a:off x="9258159" y="1954026"/>
            <a:ext cx="8344180" cy="1364316"/>
          </a:xfrm>
          <a:prstGeom prst="roundRect">
            <a:avLst>
              <a:gd name="adj" fmla="val 8378"/>
            </a:avLst>
          </a:prstGeom>
          <a:solidFill>
            <a:srgbClr val="FFFFFF"/>
          </a:solidFill>
          <a:ln w="11206">
            <a:solidFill>
              <a:srgbClr val="E0E6ED"/>
            </a:solidFill>
            <a:prstDash val="solid"/>
          </a:ln>
        </p:spPr>
      </p:sp>
      <p:sp>
        <p:nvSpPr>
          <p:cNvPr id="22" name="Text 20"/>
          <p:cNvSpPr/>
          <p:nvPr/>
        </p:nvSpPr>
        <p:spPr>
          <a:xfrm>
            <a:off x="9459865" y="2403311"/>
            <a:ext cx="8734844" cy="262218"/>
          </a:xfrm>
          <a:prstGeom prst="rect">
            <a:avLst/>
          </a:prstGeom>
          <a:noFill/>
          <a:ln/>
        </p:spPr>
        <p:txBody>
          <a:bodyPr wrap="square" lIns="25400" tIns="25400" rIns="25400" bIns="25400" rtlCol="0" anchor="t">
            <a:normAutofit/>
          </a:bodyPr>
          <a:lstStyle/>
          <a:p>
            <a:pPr algn="l" indent="0" marL="0">
              <a:buNone/>
            </a:pPr>
            <a:r>
              <a:rPr lang="en-US" sz="1500" b="1" dirty="0">
                <a:solidFill>
                  <a:srgbClr val="0D2E22"/>
                </a:solidFill>
                <a:latin typeface="Public Sans" pitchFamily="34" charset="0"/>
                <a:ea typeface="Public Sans" pitchFamily="34" charset="-122"/>
                <a:cs typeface="Public Sans" pitchFamily="34" charset="-120"/>
              </a:rPr>
              <a:t>Environments</a:t>
            </a:r>
            <a:endParaRPr lang="en-US" sz="1500" dirty="0"/>
          </a:p>
        </p:txBody>
      </p:sp>
      <p:sp>
        <p:nvSpPr>
          <p:cNvPr id="23" name="Text 21"/>
          <p:cNvSpPr/>
          <p:nvPr/>
        </p:nvSpPr>
        <p:spPr>
          <a:xfrm>
            <a:off x="9459865" y="2655969"/>
            <a:ext cx="8734844" cy="251012"/>
          </a:xfrm>
          <a:prstGeom prst="rect">
            <a:avLst/>
          </a:prstGeom>
          <a:noFill/>
          <a:ln/>
        </p:spPr>
        <p:txBody>
          <a:bodyPr wrap="square" lIns="25400" tIns="25400" rIns="25400" bIns="25400" rtlCol="0" anchor="t">
            <a:normAutofit/>
          </a:bodyPr>
          <a:lstStyle/>
          <a:p>
            <a:pPr algn="l" indent="0" marL="0">
              <a:lnSpc>
                <a:spcPct val="123250"/>
              </a:lnSpc>
              <a:buNone/>
            </a:pPr>
            <a:r>
              <a:rPr lang="en-US" sz="1200" dirty="0">
                <a:solidFill>
                  <a:srgbClr val="5B6675"/>
                </a:solidFill>
                <a:latin typeface="Public Sans" pitchFamily="34" charset="0"/>
                <a:ea typeface="Public Sans" pitchFamily="34" charset="-122"/>
                <a:cs typeface="Public Sans" pitchFamily="34" charset="-120"/>
              </a:rPr>
              <a:t>Dev → Test → Prod managed environments; production locked to service-principal deployments.</a:t>
            </a:r>
            <a:endParaRPr lang="en-US" sz="1200" dirty="0"/>
          </a:p>
        </p:txBody>
      </p:sp>
      <p:sp>
        <p:nvSpPr>
          <p:cNvPr id="24" name="Shape 22"/>
          <p:cNvSpPr/>
          <p:nvPr/>
        </p:nvSpPr>
        <p:spPr>
          <a:xfrm>
            <a:off x="9258159" y="3432502"/>
            <a:ext cx="8344180" cy="1364316"/>
          </a:xfrm>
          <a:prstGeom prst="roundRect">
            <a:avLst>
              <a:gd name="adj" fmla="val 8378"/>
            </a:avLst>
          </a:prstGeom>
          <a:solidFill>
            <a:srgbClr val="FFFFFF"/>
          </a:solidFill>
          <a:ln w="11206">
            <a:solidFill>
              <a:srgbClr val="E0E6ED"/>
            </a:solidFill>
            <a:prstDash val="solid"/>
          </a:ln>
        </p:spPr>
      </p:sp>
      <p:sp>
        <p:nvSpPr>
          <p:cNvPr id="25" name="Text 23"/>
          <p:cNvSpPr/>
          <p:nvPr/>
        </p:nvSpPr>
        <p:spPr>
          <a:xfrm>
            <a:off x="9459865" y="3881787"/>
            <a:ext cx="8734844" cy="262218"/>
          </a:xfrm>
          <a:prstGeom prst="rect">
            <a:avLst/>
          </a:prstGeom>
          <a:noFill/>
          <a:ln/>
        </p:spPr>
        <p:txBody>
          <a:bodyPr wrap="square" lIns="25400" tIns="25400" rIns="25400" bIns="25400" rtlCol="0" anchor="t">
            <a:normAutofit/>
          </a:bodyPr>
          <a:lstStyle/>
          <a:p>
            <a:pPr algn="l" indent="0" marL="0">
              <a:buNone/>
            </a:pPr>
            <a:r>
              <a:rPr lang="en-US" sz="1500" b="1" dirty="0">
                <a:solidFill>
                  <a:srgbClr val="0D2E22"/>
                </a:solidFill>
                <a:latin typeface="Public Sans" pitchFamily="34" charset="0"/>
                <a:ea typeface="Public Sans" pitchFamily="34" charset="-122"/>
                <a:cs typeface="Public Sans" pitchFamily="34" charset="-120"/>
              </a:rPr>
              <a:t>Managed solutions</a:t>
            </a:r>
            <a:endParaRPr lang="en-US" sz="1500" dirty="0"/>
          </a:p>
        </p:txBody>
      </p:sp>
      <p:sp>
        <p:nvSpPr>
          <p:cNvPr id="26" name="Text 24"/>
          <p:cNvSpPr/>
          <p:nvPr/>
        </p:nvSpPr>
        <p:spPr>
          <a:xfrm>
            <a:off x="9459865" y="4134445"/>
            <a:ext cx="8734844" cy="251012"/>
          </a:xfrm>
          <a:prstGeom prst="rect">
            <a:avLst/>
          </a:prstGeom>
          <a:noFill/>
          <a:ln/>
        </p:spPr>
        <p:txBody>
          <a:bodyPr wrap="square" lIns="25400" tIns="25400" rIns="25400" bIns="25400" rtlCol="0" anchor="t">
            <a:normAutofit/>
          </a:bodyPr>
          <a:lstStyle/>
          <a:p>
            <a:pPr algn="l" indent="0" marL="0">
              <a:lnSpc>
                <a:spcPct val="123250"/>
              </a:lnSpc>
              <a:buNone/>
            </a:pPr>
            <a:r>
              <a:rPr lang="en-US" sz="1200" dirty="0">
                <a:solidFill>
                  <a:srgbClr val="5B6675"/>
                </a:solidFill>
                <a:latin typeface="Public Sans" pitchFamily="34" charset="0"/>
                <a:ea typeface="Public Sans" pitchFamily="34" charset="-122"/>
                <a:cs typeface="Public Sans" pitchFamily="34" charset="-120"/>
              </a:rPr>
              <a:t>Connection references + environment variables; nothing rewired by hand between environments.</a:t>
            </a:r>
            <a:endParaRPr lang="en-US" sz="1200" dirty="0"/>
          </a:p>
        </p:txBody>
      </p:sp>
      <p:sp>
        <p:nvSpPr>
          <p:cNvPr id="27" name="Shape 25"/>
          <p:cNvSpPr/>
          <p:nvPr/>
        </p:nvSpPr>
        <p:spPr>
          <a:xfrm>
            <a:off x="9258159" y="4910978"/>
            <a:ext cx="8344180" cy="1364316"/>
          </a:xfrm>
          <a:prstGeom prst="roundRect">
            <a:avLst>
              <a:gd name="adj" fmla="val 8378"/>
            </a:avLst>
          </a:prstGeom>
          <a:solidFill>
            <a:srgbClr val="FFFFFF"/>
          </a:solidFill>
          <a:ln w="11206">
            <a:solidFill>
              <a:srgbClr val="E0E6ED"/>
            </a:solidFill>
            <a:prstDash val="solid"/>
          </a:ln>
        </p:spPr>
      </p:sp>
      <p:sp>
        <p:nvSpPr>
          <p:cNvPr id="28" name="Text 26"/>
          <p:cNvSpPr/>
          <p:nvPr/>
        </p:nvSpPr>
        <p:spPr>
          <a:xfrm>
            <a:off x="9459865" y="5360264"/>
            <a:ext cx="8734844" cy="262218"/>
          </a:xfrm>
          <a:prstGeom prst="rect">
            <a:avLst/>
          </a:prstGeom>
          <a:noFill/>
          <a:ln/>
        </p:spPr>
        <p:txBody>
          <a:bodyPr wrap="square" lIns="25400" tIns="25400" rIns="25400" bIns="25400" rtlCol="0" anchor="t">
            <a:normAutofit/>
          </a:bodyPr>
          <a:lstStyle/>
          <a:p>
            <a:pPr algn="l" indent="0" marL="0">
              <a:buNone/>
            </a:pPr>
            <a:r>
              <a:rPr lang="en-US" sz="1500" b="1" dirty="0">
                <a:solidFill>
                  <a:srgbClr val="0D2E22"/>
                </a:solidFill>
                <a:latin typeface="Public Sans" pitchFamily="34" charset="0"/>
                <a:ea typeface="Public Sans" pitchFamily="34" charset="-122"/>
                <a:cs typeface="Public Sans" pitchFamily="34" charset="-120"/>
              </a:rPr>
              <a:t>Pipelines</a:t>
            </a:r>
            <a:endParaRPr lang="en-US" sz="1500" dirty="0"/>
          </a:p>
        </p:txBody>
      </p:sp>
      <p:sp>
        <p:nvSpPr>
          <p:cNvPr id="29" name="Text 27"/>
          <p:cNvSpPr/>
          <p:nvPr/>
        </p:nvSpPr>
        <p:spPr>
          <a:xfrm>
            <a:off x="9459865" y="5612921"/>
            <a:ext cx="8734844" cy="251012"/>
          </a:xfrm>
          <a:prstGeom prst="rect">
            <a:avLst/>
          </a:prstGeom>
          <a:noFill/>
          <a:ln/>
        </p:spPr>
        <p:txBody>
          <a:bodyPr wrap="square" lIns="25400" tIns="25400" rIns="25400" bIns="25400" rtlCol="0" anchor="t">
            <a:normAutofit/>
          </a:bodyPr>
          <a:lstStyle/>
          <a:p>
            <a:pPr algn="l" indent="0" marL="0">
              <a:lnSpc>
                <a:spcPct val="123250"/>
              </a:lnSpc>
              <a:buNone/>
            </a:pPr>
            <a:r>
              <a:rPr lang="en-US" sz="1200" dirty="0">
                <a:solidFill>
                  <a:srgbClr val="5B6675"/>
                </a:solidFill>
                <a:latin typeface="Public Sans" pitchFamily="34" charset="0"/>
                <a:ea typeface="Public Sans" pitchFamily="34" charset="-122"/>
                <a:cs typeface="Public Sans" pitchFamily="34" charset="-120"/>
              </a:rPr>
              <a:t>Power Platform pipelines for promotion; source-controlled code app.</a:t>
            </a:r>
            <a:endParaRPr lang="en-US" sz="1200" dirty="0"/>
          </a:p>
        </p:txBody>
      </p:sp>
      <p:sp>
        <p:nvSpPr>
          <p:cNvPr id="30" name="Shape 28"/>
          <p:cNvSpPr/>
          <p:nvPr/>
        </p:nvSpPr>
        <p:spPr>
          <a:xfrm>
            <a:off x="9258159" y="6389454"/>
            <a:ext cx="8344180" cy="1364316"/>
          </a:xfrm>
          <a:prstGeom prst="roundRect">
            <a:avLst>
              <a:gd name="adj" fmla="val 8378"/>
            </a:avLst>
          </a:prstGeom>
          <a:solidFill>
            <a:srgbClr val="FFFFFF"/>
          </a:solidFill>
          <a:ln w="11206">
            <a:solidFill>
              <a:srgbClr val="E0E6ED"/>
            </a:solidFill>
            <a:prstDash val="solid"/>
          </a:ln>
        </p:spPr>
      </p:sp>
      <p:sp>
        <p:nvSpPr>
          <p:cNvPr id="31" name="Text 29"/>
          <p:cNvSpPr/>
          <p:nvPr/>
        </p:nvSpPr>
        <p:spPr>
          <a:xfrm>
            <a:off x="9459865" y="6838740"/>
            <a:ext cx="8734844" cy="262218"/>
          </a:xfrm>
          <a:prstGeom prst="rect">
            <a:avLst/>
          </a:prstGeom>
          <a:noFill/>
          <a:ln/>
        </p:spPr>
        <p:txBody>
          <a:bodyPr wrap="square" lIns="25400" tIns="25400" rIns="25400" bIns="25400" rtlCol="0" anchor="t">
            <a:normAutofit/>
          </a:bodyPr>
          <a:lstStyle/>
          <a:p>
            <a:pPr algn="l" indent="0" marL="0">
              <a:buNone/>
            </a:pPr>
            <a:r>
              <a:rPr lang="en-US" sz="1500" b="1" dirty="0">
                <a:solidFill>
                  <a:srgbClr val="0D2E22"/>
                </a:solidFill>
                <a:latin typeface="Public Sans" pitchFamily="34" charset="0"/>
                <a:ea typeface="Public Sans" pitchFamily="34" charset="-122"/>
                <a:cs typeface="Public Sans" pitchFamily="34" charset="-120"/>
              </a:rPr>
              <a:t>DLP policies</a:t>
            </a:r>
            <a:endParaRPr lang="en-US" sz="1500" dirty="0"/>
          </a:p>
        </p:txBody>
      </p:sp>
      <p:sp>
        <p:nvSpPr>
          <p:cNvPr id="32" name="Text 30"/>
          <p:cNvSpPr/>
          <p:nvPr/>
        </p:nvSpPr>
        <p:spPr>
          <a:xfrm>
            <a:off x="9459865" y="7091397"/>
            <a:ext cx="8734844" cy="251012"/>
          </a:xfrm>
          <a:prstGeom prst="rect">
            <a:avLst/>
          </a:prstGeom>
          <a:noFill/>
          <a:ln/>
        </p:spPr>
        <p:txBody>
          <a:bodyPr wrap="square" lIns="25400" tIns="25400" rIns="25400" bIns="25400" rtlCol="0" anchor="t">
            <a:normAutofit/>
          </a:bodyPr>
          <a:lstStyle/>
          <a:p>
            <a:pPr algn="l" indent="0" marL="0">
              <a:lnSpc>
                <a:spcPct val="123250"/>
              </a:lnSpc>
              <a:buNone/>
            </a:pPr>
            <a:r>
              <a:rPr lang="en-US" sz="1200" dirty="0">
                <a:solidFill>
                  <a:srgbClr val="5B6675"/>
                </a:solidFill>
                <a:latin typeface="Public Sans" pitchFamily="34" charset="0"/>
                <a:ea typeface="Public Sans" pitchFamily="34" charset="-122"/>
                <a:cs typeface="Public Sans" pitchFamily="34" charset="-120"/>
              </a:rPr>
              <a:t>Business / non-business connector groups enforced per environment.</a:t>
            </a:r>
            <a:endParaRPr lang="en-US" sz="1200" dirty="0"/>
          </a:p>
        </p:txBody>
      </p:sp>
      <p:sp>
        <p:nvSpPr>
          <p:cNvPr id="33" name="Shape 31"/>
          <p:cNvSpPr/>
          <p:nvPr/>
        </p:nvSpPr>
        <p:spPr>
          <a:xfrm>
            <a:off x="9258159" y="7867930"/>
            <a:ext cx="8344180" cy="1364316"/>
          </a:xfrm>
          <a:prstGeom prst="roundRect">
            <a:avLst>
              <a:gd name="adj" fmla="val 8378"/>
            </a:avLst>
          </a:prstGeom>
          <a:solidFill>
            <a:srgbClr val="FFFFFF"/>
          </a:solidFill>
          <a:ln w="11206">
            <a:solidFill>
              <a:srgbClr val="E0E6ED"/>
            </a:solidFill>
            <a:prstDash val="solid"/>
          </a:ln>
        </p:spPr>
      </p:sp>
      <p:sp>
        <p:nvSpPr>
          <p:cNvPr id="34" name="Text 32"/>
          <p:cNvSpPr/>
          <p:nvPr/>
        </p:nvSpPr>
        <p:spPr>
          <a:xfrm>
            <a:off x="9459865" y="8317216"/>
            <a:ext cx="8734844" cy="262218"/>
          </a:xfrm>
          <a:prstGeom prst="rect">
            <a:avLst/>
          </a:prstGeom>
          <a:noFill/>
          <a:ln/>
        </p:spPr>
        <p:txBody>
          <a:bodyPr wrap="square" lIns="25400" tIns="25400" rIns="25400" bIns="25400" rtlCol="0" anchor="t">
            <a:normAutofit/>
          </a:bodyPr>
          <a:lstStyle/>
          <a:p>
            <a:pPr algn="l" indent="0" marL="0">
              <a:buNone/>
            </a:pPr>
            <a:r>
              <a:rPr lang="en-US" sz="1500" b="1" dirty="0">
                <a:solidFill>
                  <a:srgbClr val="0D2E22"/>
                </a:solidFill>
                <a:latin typeface="Public Sans" pitchFamily="34" charset="0"/>
                <a:ea typeface="Public Sans" pitchFamily="34" charset="-122"/>
                <a:cs typeface="Public Sans" pitchFamily="34" charset="-120"/>
              </a:rPr>
              <a:t>Observability</a:t>
            </a:r>
            <a:endParaRPr lang="en-US" sz="1500" dirty="0"/>
          </a:p>
        </p:txBody>
      </p:sp>
      <p:sp>
        <p:nvSpPr>
          <p:cNvPr id="35" name="Text 33"/>
          <p:cNvSpPr/>
          <p:nvPr/>
        </p:nvSpPr>
        <p:spPr>
          <a:xfrm>
            <a:off x="9459865" y="8569873"/>
            <a:ext cx="8734844" cy="251012"/>
          </a:xfrm>
          <a:prstGeom prst="rect">
            <a:avLst/>
          </a:prstGeom>
          <a:noFill/>
          <a:ln/>
        </p:spPr>
        <p:txBody>
          <a:bodyPr wrap="square" lIns="25400" tIns="25400" rIns="25400" bIns="25400" rtlCol="0" anchor="t">
            <a:normAutofit/>
          </a:bodyPr>
          <a:lstStyle/>
          <a:p>
            <a:pPr algn="l" indent="0" marL="0">
              <a:lnSpc>
                <a:spcPct val="123250"/>
              </a:lnSpc>
              <a:buNone/>
            </a:pPr>
            <a:r>
              <a:rPr lang="en-US" sz="1200" dirty="0">
                <a:solidFill>
                  <a:srgbClr val="5B6675"/>
                </a:solidFill>
                <a:latin typeface="Public Sans" pitchFamily="34" charset="0"/>
                <a:ea typeface="Public Sans" pitchFamily="34" charset="-122"/>
                <a:cs typeface="Public Sans" pitchFamily="34" charset="-120"/>
              </a:rPr>
              <a:t>App Insights wired per environment; flow run history for L1/L2.</a:t>
            </a:r>
            <a:endParaRPr lang="en-US" sz="1200" dirty="0"/>
          </a:p>
        </p:txBody>
      </p:sp>
      <p:sp>
        <p:nvSpPr>
          <p:cNvPr id="36" name="Shape 34"/>
          <p:cNvSpPr/>
          <p:nvPr/>
        </p:nvSpPr>
        <p:spPr>
          <a:xfrm>
            <a:off x="685660" y="9404011"/>
            <a:ext cx="5516796" cy="425823"/>
          </a:xfrm>
          <a:prstGeom prst="roundRect">
            <a:avLst>
              <a:gd name="adj" fmla="val 17895"/>
            </a:avLst>
          </a:prstGeom>
          <a:solidFill>
            <a:srgbClr val="EDF1E0"/>
          </a:solidFill>
          <a:ln/>
        </p:spPr>
      </p:sp>
      <p:sp>
        <p:nvSpPr>
          <p:cNvPr id="37" name="Text 35"/>
          <p:cNvSpPr/>
          <p:nvPr/>
        </p:nvSpPr>
        <p:spPr>
          <a:xfrm>
            <a:off x="838060" y="9499261"/>
            <a:ext cx="5377500" cy="273423"/>
          </a:xfrm>
          <a:prstGeom prst="rect">
            <a:avLst/>
          </a:prstGeom>
          <a:noFill/>
          <a:ln/>
        </p:spPr>
        <p:txBody>
          <a:bodyPr wrap="square" lIns="25400" tIns="25400" rIns="25400" bIns="25400" rtlCol="0" anchor="t">
            <a:normAutofit/>
          </a:bodyPr>
          <a:lstStyle/>
          <a:p>
            <a:pPr algn="l" indent="0" marL="0">
              <a:buNone/>
            </a:pPr>
            <a:r>
              <a:rPr lang="en-US" sz="1425" dirty="0">
                <a:solidFill>
                  <a:srgbClr val="1C5C43"/>
                </a:solidFill>
                <a:latin typeface="IBM Plex Mono" pitchFamily="34" charset="0"/>
                <a:ea typeface="IBM Plex Mono" pitchFamily="34" charset="-122"/>
                <a:cs typeface="IBM Plex Mono" pitchFamily="34" charset="-120"/>
              </a:rPr>
              <a:t>No new infrastructure — SaaS and serverless only</a:t>
            </a:r>
            <a:endParaRPr lang="en-US" sz="1425"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660" y="533330"/>
            <a:ext cx="18608347" cy="307041"/>
          </a:xfrm>
          <a:prstGeom prst="rect">
            <a:avLst/>
          </a:prstGeom>
          <a:noFill/>
          <a:ln/>
        </p:spPr>
        <p:txBody>
          <a:bodyPr wrap="square" lIns="25400" tIns="25400" rIns="25400" bIns="25400" rtlCol="0" anchor="t">
            <a:normAutofit/>
          </a:bodyPr>
          <a:lstStyle/>
          <a:p>
            <a:pPr algn="l" indent="0" marL="0">
              <a:buNone/>
            </a:pPr>
            <a:r>
              <a:rPr lang="en-US" sz="1650" b="1" spc="198" kern="0" dirty="0">
                <a:solidFill>
                  <a:srgbClr val="1C5C43"/>
                </a:solidFill>
                <a:latin typeface="IBM Plex Mono" pitchFamily="34" charset="0"/>
                <a:ea typeface="IBM Plex Mono" pitchFamily="34" charset="-122"/>
                <a:cs typeface="IBM Plex Mono" pitchFamily="34" charset="-120"/>
              </a:rPr>
              <a:t>08 · RISKS &amp; ASSUMPTIONS</a:t>
            </a:r>
            <a:endParaRPr lang="en-US" sz="1650" dirty="0"/>
          </a:p>
        </p:txBody>
      </p:sp>
      <p:sp>
        <p:nvSpPr>
          <p:cNvPr id="3" name="Text 1"/>
          <p:cNvSpPr/>
          <p:nvPr/>
        </p:nvSpPr>
        <p:spPr>
          <a:xfrm>
            <a:off x="685660" y="897521"/>
            <a:ext cx="18608347" cy="531159"/>
          </a:xfrm>
          <a:prstGeom prst="rect">
            <a:avLst/>
          </a:prstGeom>
          <a:noFill/>
          <a:ln/>
        </p:spPr>
        <p:txBody>
          <a:bodyPr wrap="square" lIns="25400" tIns="25400" rIns="25400" bIns="25400" rtlCol="0" anchor="t">
            <a:normAutofit/>
          </a:bodyPr>
          <a:lstStyle/>
          <a:p>
            <a:pPr algn="l" indent="0" marL="0">
              <a:buNone/>
            </a:pPr>
            <a:r>
              <a:rPr lang="en-US" sz="3300" b="1" spc="-33" kern="0" dirty="0">
                <a:solidFill>
                  <a:srgbClr val="0D2E22"/>
                </a:solidFill>
                <a:latin typeface="Public Sans" pitchFamily="34" charset="0"/>
                <a:ea typeface="Public Sans" pitchFamily="34" charset="-122"/>
                <a:cs typeface="Public Sans" pitchFamily="34" charset="-120"/>
              </a:rPr>
              <a:t>Risks, assumptions &amp; dependencies</a:t>
            </a:r>
            <a:endParaRPr lang="en-US" sz="3300" dirty="0"/>
          </a:p>
        </p:txBody>
      </p:sp>
      <p:sp>
        <p:nvSpPr>
          <p:cNvPr id="4" name="Text 2"/>
          <p:cNvSpPr/>
          <p:nvPr/>
        </p:nvSpPr>
        <p:spPr>
          <a:xfrm>
            <a:off x="685660" y="1638160"/>
            <a:ext cx="9818804" cy="239806"/>
          </a:xfrm>
          <a:prstGeom prst="rect">
            <a:avLst/>
          </a:prstGeom>
          <a:noFill/>
          <a:ln/>
        </p:spPr>
        <p:txBody>
          <a:bodyPr wrap="square" lIns="25400" tIns="25400" rIns="25400" bIns="25400" rtlCol="0" anchor="t">
            <a:normAutofit/>
          </a:bodyPr>
          <a:lstStyle/>
          <a:p>
            <a:pPr algn="l" indent="0" marL="0">
              <a:buNone/>
            </a:pPr>
            <a:r>
              <a:rPr lang="en-US" sz="1200" b="1" spc="60" kern="0" dirty="0">
                <a:solidFill>
                  <a:srgbClr val="B4690E"/>
                </a:solidFill>
                <a:latin typeface="IBM Plex Mono" pitchFamily="34" charset="0"/>
                <a:ea typeface="IBM Plex Mono" pitchFamily="34" charset="-122"/>
                <a:cs typeface="IBM Plex Mono" pitchFamily="34" charset="-120"/>
              </a:rPr>
              <a:t>RISKS → MITIGATIONS</a:t>
            </a:r>
            <a:endParaRPr lang="en-US" sz="1200" dirty="0"/>
          </a:p>
        </p:txBody>
      </p:sp>
      <p:sp>
        <p:nvSpPr>
          <p:cNvPr id="5" name="Shape 3"/>
          <p:cNvSpPr/>
          <p:nvPr/>
        </p:nvSpPr>
        <p:spPr>
          <a:xfrm>
            <a:off x="685660" y="1954026"/>
            <a:ext cx="8926185" cy="1883289"/>
          </a:xfrm>
          <a:prstGeom prst="roundRect">
            <a:avLst>
              <a:gd name="adj" fmla="val 6069"/>
            </a:avLst>
          </a:prstGeom>
          <a:solidFill>
            <a:srgbClr val="FFFFFF"/>
          </a:solidFill>
          <a:ln w="11206">
            <a:solidFill>
              <a:srgbClr val="ECCFA3"/>
            </a:solidFill>
            <a:prstDash val="solid"/>
          </a:ln>
        </p:spPr>
      </p:sp>
      <p:sp>
        <p:nvSpPr>
          <p:cNvPr id="6" name="Text 4"/>
          <p:cNvSpPr/>
          <p:nvPr/>
        </p:nvSpPr>
        <p:spPr>
          <a:xfrm>
            <a:off x="887366" y="2662798"/>
            <a:ext cx="9375051" cy="262218"/>
          </a:xfrm>
          <a:prstGeom prst="rect">
            <a:avLst/>
          </a:prstGeom>
          <a:noFill/>
          <a:ln/>
        </p:spPr>
        <p:txBody>
          <a:bodyPr wrap="square" lIns="25400" tIns="25400" rIns="25400" bIns="25400" rtlCol="0" anchor="t">
            <a:normAutofit/>
          </a:bodyPr>
          <a:lstStyle/>
          <a:p>
            <a:pPr algn="l" indent="0" marL="0">
              <a:buNone/>
            </a:pPr>
            <a:r>
              <a:rPr lang="en-US" sz="1500" b="1" dirty="0">
                <a:solidFill>
                  <a:srgbClr val="0D2E22"/>
                </a:solidFill>
                <a:latin typeface="Public Sans" pitchFamily="34" charset="0"/>
                <a:ea typeface="Public Sans" pitchFamily="34" charset="-122"/>
                <a:cs typeface="Public Sans" pitchFamily="34" charset="-120"/>
              </a:rPr>
              <a:t>Graph throttling at scale</a:t>
            </a:r>
            <a:endParaRPr lang="en-US" sz="1500" dirty="0"/>
          </a:p>
        </p:txBody>
      </p:sp>
      <p:sp>
        <p:nvSpPr>
          <p:cNvPr id="7" name="Text 5"/>
          <p:cNvSpPr/>
          <p:nvPr/>
        </p:nvSpPr>
        <p:spPr>
          <a:xfrm>
            <a:off x="887366" y="2915455"/>
            <a:ext cx="9375051" cy="251012"/>
          </a:xfrm>
          <a:prstGeom prst="rect">
            <a:avLst/>
          </a:prstGeom>
          <a:noFill/>
          <a:ln/>
        </p:spPr>
        <p:txBody>
          <a:bodyPr wrap="square" lIns="25400" tIns="25400" rIns="25400" bIns="25400" rtlCol="0" anchor="t">
            <a:normAutofit/>
          </a:bodyPr>
          <a:lstStyle/>
          <a:p>
            <a:pPr algn="l" indent="0" marL="0">
              <a:lnSpc>
                <a:spcPct val="123250"/>
              </a:lnSpc>
              <a:buNone/>
            </a:pPr>
            <a:r>
              <a:rPr lang="en-US" sz="1200" dirty="0">
                <a:solidFill>
                  <a:srgbClr val="5B6675"/>
                </a:solidFill>
                <a:latin typeface="Public Sans" pitchFamily="34" charset="0"/>
                <a:ea typeface="Public Sans" pitchFamily="34" charset="-122"/>
                <a:cs typeface="Public Sans" pitchFamily="34" charset="-120"/>
              </a:rPr>
              <a:t>→ Batched getSchedule, cached room lists, exponential back-off on all connector calls.</a:t>
            </a:r>
            <a:endParaRPr lang="en-US" sz="1200" dirty="0"/>
          </a:p>
        </p:txBody>
      </p:sp>
      <p:sp>
        <p:nvSpPr>
          <p:cNvPr id="8" name="Shape 6"/>
          <p:cNvSpPr/>
          <p:nvPr/>
        </p:nvSpPr>
        <p:spPr>
          <a:xfrm>
            <a:off x="685660" y="3951474"/>
            <a:ext cx="8926185" cy="1883289"/>
          </a:xfrm>
          <a:prstGeom prst="roundRect">
            <a:avLst>
              <a:gd name="adj" fmla="val 6069"/>
            </a:avLst>
          </a:prstGeom>
          <a:solidFill>
            <a:srgbClr val="FFFFFF"/>
          </a:solidFill>
          <a:ln w="11206">
            <a:solidFill>
              <a:srgbClr val="ECCFA3"/>
            </a:solidFill>
            <a:prstDash val="solid"/>
          </a:ln>
        </p:spPr>
      </p:sp>
      <p:sp>
        <p:nvSpPr>
          <p:cNvPr id="9" name="Text 7"/>
          <p:cNvSpPr/>
          <p:nvPr/>
        </p:nvSpPr>
        <p:spPr>
          <a:xfrm>
            <a:off x="887366" y="4660246"/>
            <a:ext cx="9375051" cy="262218"/>
          </a:xfrm>
          <a:prstGeom prst="rect">
            <a:avLst/>
          </a:prstGeom>
          <a:noFill/>
          <a:ln/>
        </p:spPr>
        <p:txBody>
          <a:bodyPr wrap="square" lIns="25400" tIns="25400" rIns="25400" bIns="25400" rtlCol="0" anchor="t">
            <a:normAutofit/>
          </a:bodyPr>
          <a:lstStyle/>
          <a:p>
            <a:pPr algn="l" indent="0" marL="0">
              <a:buNone/>
            </a:pPr>
            <a:r>
              <a:rPr lang="en-US" sz="1500" b="1" dirty="0">
                <a:solidFill>
                  <a:srgbClr val="0D2E22"/>
                </a:solidFill>
                <a:latin typeface="Public Sans" pitchFamily="34" charset="0"/>
                <a:ea typeface="Public Sans" pitchFamily="34" charset="-122"/>
                <a:cs typeface="Public Sans" pitchFamily="34" charset="-120"/>
              </a:rPr>
              <a:t>Booking-link abuse</a:t>
            </a:r>
            <a:endParaRPr lang="en-US" sz="1500" dirty="0"/>
          </a:p>
        </p:txBody>
      </p:sp>
      <p:sp>
        <p:nvSpPr>
          <p:cNvPr id="10" name="Text 8"/>
          <p:cNvSpPr/>
          <p:nvPr/>
        </p:nvSpPr>
        <p:spPr>
          <a:xfrm>
            <a:off x="887366" y="4912904"/>
            <a:ext cx="9375051" cy="251012"/>
          </a:xfrm>
          <a:prstGeom prst="rect">
            <a:avLst/>
          </a:prstGeom>
          <a:noFill/>
          <a:ln/>
        </p:spPr>
        <p:txBody>
          <a:bodyPr wrap="square" lIns="25400" tIns="25400" rIns="25400" bIns="25400" rtlCol="0" anchor="t">
            <a:normAutofit/>
          </a:bodyPr>
          <a:lstStyle/>
          <a:p>
            <a:pPr algn="l" indent="0" marL="0">
              <a:lnSpc>
                <a:spcPct val="123250"/>
              </a:lnSpc>
              <a:buNone/>
            </a:pPr>
            <a:r>
              <a:rPr lang="en-US" sz="1200" dirty="0">
                <a:solidFill>
                  <a:srgbClr val="5B6675"/>
                </a:solidFill>
                <a:latin typeface="Public Sans" pitchFamily="34" charset="0"/>
                <a:ea typeface="Public Sans" pitchFamily="34" charset="-122"/>
                <a:cs typeface="Public Sans" pitchFamily="34" charset="-120"/>
              </a:rPr>
              <a:t>→ Single-use, expiring tokenised links; trigger validated before any action runs; rate limiting.</a:t>
            </a:r>
            <a:endParaRPr lang="en-US" sz="1200" dirty="0"/>
          </a:p>
        </p:txBody>
      </p:sp>
      <p:sp>
        <p:nvSpPr>
          <p:cNvPr id="11" name="Shape 9"/>
          <p:cNvSpPr/>
          <p:nvPr/>
        </p:nvSpPr>
        <p:spPr>
          <a:xfrm>
            <a:off x="685660" y="5948922"/>
            <a:ext cx="8926185" cy="1883289"/>
          </a:xfrm>
          <a:prstGeom prst="roundRect">
            <a:avLst>
              <a:gd name="adj" fmla="val 6069"/>
            </a:avLst>
          </a:prstGeom>
          <a:solidFill>
            <a:srgbClr val="FFFFFF"/>
          </a:solidFill>
          <a:ln w="11206">
            <a:solidFill>
              <a:srgbClr val="ECCFA3"/>
            </a:solidFill>
            <a:prstDash val="solid"/>
          </a:ln>
        </p:spPr>
      </p:sp>
      <p:sp>
        <p:nvSpPr>
          <p:cNvPr id="12" name="Text 10"/>
          <p:cNvSpPr/>
          <p:nvPr/>
        </p:nvSpPr>
        <p:spPr>
          <a:xfrm>
            <a:off x="887366" y="6657694"/>
            <a:ext cx="9375051" cy="262218"/>
          </a:xfrm>
          <a:prstGeom prst="rect">
            <a:avLst/>
          </a:prstGeom>
          <a:noFill/>
          <a:ln/>
        </p:spPr>
        <p:txBody>
          <a:bodyPr wrap="square" lIns="25400" tIns="25400" rIns="25400" bIns="25400" rtlCol="0" anchor="t">
            <a:normAutofit/>
          </a:bodyPr>
          <a:lstStyle/>
          <a:p>
            <a:pPr algn="l" indent="0" marL="0">
              <a:buNone/>
            </a:pPr>
            <a:r>
              <a:rPr lang="en-US" sz="1500" b="1" dirty="0">
                <a:solidFill>
                  <a:srgbClr val="0D2E22"/>
                </a:solidFill>
                <a:latin typeface="Public Sans" pitchFamily="34" charset="0"/>
                <a:ea typeface="Public Sans" pitchFamily="34" charset="-122"/>
                <a:cs typeface="Public Sans" pitchFamily="34" charset="-120"/>
              </a:rPr>
              <a:t>Licence cost creep</a:t>
            </a:r>
            <a:endParaRPr lang="en-US" sz="1500" dirty="0"/>
          </a:p>
        </p:txBody>
      </p:sp>
      <p:sp>
        <p:nvSpPr>
          <p:cNvPr id="13" name="Text 11"/>
          <p:cNvSpPr/>
          <p:nvPr/>
        </p:nvSpPr>
        <p:spPr>
          <a:xfrm>
            <a:off x="887366" y="6910352"/>
            <a:ext cx="9375051" cy="251012"/>
          </a:xfrm>
          <a:prstGeom prst="rect">
            <a:avLst/>
          </a:prstGeom>
          <a:noFill/>
          <a:ln/>
        </p:spPr>
        <p:txBody>
          <a:bodyPr wrap="square" lIns="25400" tIns="25400" rIns="25400" bIns="25400" rtlCol="0" anchor="t">
            <a:normAutofit/>
          </a:bodyPr>
          <a:lstStyle/>
          <a:p>
            <a:pPr algn="l" indent="0" marL="0">
              <a:lnSpc>
                <a:spcPct val="123250"/>
              </a:lnSpc>
              <a:buNone/>
            </a:pPr>
            <a:r>
              <a:rPr lang="en-US" sz="1200" dirty="0">
                <a:solidFill>
                  <a:srgbClr val="5B6675"/>
                </a:solidFill>
                <a:latin typeface="Public Sans" pitchFamily="34" charset="0"/>
                <a:ea typeface="Public Sans" pitchFamily="34" charset="-122"/>
                <a:cs typeface="Public Sans" pitchFamily="34" charset="-120"/>
              </a:rPr>
              <a:t>→ Premium licences scoped to RM/EA personas; usage reviewed quarterly.</a:t>
            </a:r>
            <a:endParaRPr lang="en-US" sz="1200" dirty="0"/>
          </a:p>
        </p:txBody>
      </p:sp>
      <p:sp>
        <p:nvSpPr>
          <p:cNvPr id="14" name="Shape 12"/>
          <p:cNvSpPr/>
          <p:nvPr/>
        </p:nvSpPr>
        <p:spPr>
          <a:xfrm>
            <a:off x="685660" y="7946371"/>
            <a:ext cx="8926185" cy="1883289"/>
          </a:xfrm>
          <a:prstGeom prst="roundRect">
            <a:avLst>
              <a:gd name="adj" fmla="val 6069"/>
            </a:avLst>
          </a:prstGeom>
          <a:solidFill>
            <a:srgbClr val="FFFFFF"/>
          </a:solidFill>
          <a:ln w="11206">
            <a:solidFill>
              <a:srgbClr val="ECCFA3"/>
            </a:solidFill>
            <a:prstDash val="solid"/>
          </a:ln>
        </p:spPr>
      </p:sp>
      <p:sp>
        <p:nvSpPr>
          <p:cNvPr id="15" name="Text 13"/>
          <p:cNvSpPr/>
          <p:nvPr/>
        </p:nvSpPr>
        <p:spPr>
          <a:xfrm>
            <a:off x="887366" y="8655143"/>
            <a:ext cx="9375051" cy="262218"/>
          </a:xfrm>
          <a:prstGeom prst="rect">
            <a:avLst/>
          </a:prstGeom>
          <a:noFill/>
          <a:ln/>
        </p:spPr>
        <p:txBody>
          <a:bodyPr wrap="square" lIns="25400" tIns="25400" rIns="25400" bIns="25400" rtlCol="0" anchor="t">
            <a:normAutofit/>
          </a:bodyPr>
          <a:lstStyle/>
          <a:p>
            <a:pPr algn="l" indent="0" marL="0">
              <a:buNone/>
            </a:pPr>
            <a:r>
              <a:rPr lang="en-US" sz="1500" b="1" dirty="0">
                <a:solidFill>
                  <a:srgbClr val="0D2E22"/>
                </a:solidFill>
                <a:latin typeface="Public Sans" pitchFamily="34" charset="0"/>
                <a:ea typeface="Public Sans" pitchFamily="34" charset="-122"/>
                <a:cs typeface="Public Sans" pitchFamily="34" charset="-120"/>
              </a:rPr>
              <a:t>EA &amp; ops adoption</a:t>
            </a:r>
            <a:endParaRPr lang="en-US" sz="1500" dirty="0"/>
          </a:p>
        </p:txBody>
      </p:sp>
      <p:sp>
        <p:nvSpPr>
          <p:cNvPr id="16" name="Text 14"/>
          <p:cNvSpPr/>
          <p:nvPr/>
        </p:nvSpPr>
        <p:spPr>
          <a:xfrm>
            <a:off x="887366" y="8907800"/>
            <a:ext cx="9375051" cy="251012"/>
          </a:xfrm>
          <a:prstGeom prst="rect">
            <a:avLst/>
          </a:prstGeom>
          <a:noFill/>
          <a:ln/>
        </p:spPr>
        <p:txBody>
          <a:bodyPr wrap="square" lIns="25400" tIns="25400" rIns="25400" bIns="25400" rtlCol="0" anchor="t">
            <a:normAutofit/>
          </a:bodyPr>
          <a:lstStyle/>
          <a:p>
            <a:pPr algn="l" indent="0" marL="0">
              <a:lnSpc>
                <a:spcPct val="123250"/>
              </a:lnSpc>
              <a:buNone/>
            </a:pPr>
            <a:r>
              <a:rPr lang="en-US" sz="1200" dirty="0">
                <a:solidFill>
                  <a:srgbClr val="5B6675"/>
                </a:solidFill>
                <a:latin typeface="Public Sans" pitchFamily="34" charset="0"/>
                <a:ea typeface="Public Sans" pitchFamily="34" charset="-122"/>
                <a:cs typeface="Public Sans" pitchFamily="34" charset="-120"/>
              </a:rPr>
              <a:t>→ Ops teams receive notifications, they never operate the app; training limited to RMs.</a:t>
            </a:r>
            <a:endParaRPr lang="en-US" sz="1200" dirty="0"/>
          </a:p>
        </p:txBody>
      </p:sp>
      <p:sp>
        <p:nvSpPr>
          <p:cNvPr id="17" name="Text 15"/>
          <p:cNvSpPr/>
          <p:nvPr/>
        </p:nvSpPr>
        <p:spPr>
          <a:xfrm>
            <a:off x="9840340" y="1638160"/>
            <a:ext cx="8538006" cy="239806"/>
          </a:xfrm>
          <a:prstGeom prst="rect">
            <a:avLst/>
          </a:prstGeom>
          <a:noFill/>
          <a:ln/>
        </p:spPr>
        <p:txBody>
          <a:bodyPr wrap="square" lIns="25400" tIns="25400" rIns="25400" bIns="25400" rtlCol="0" anchor="t">
            <a:normAutofit/>
          </a:bodyPr>
          <a:lstStyle/>
          <a:p>
            <a:pPr algn="l" indent="0" marL="0">
              <a:buNone/>
            </a:pPr>
            <a:r>
              <a:rPr lang="en-US" sz="1200" b="1" spc="60" kern="0" dirty="0">
                <a:solidFill>
                  <a:srgbClr val="1C5C43"/>
                </a:solidFill>
                <a:latin typeface="IBM Plex Mono" pitchFamily="34" charset="0"/>
                <a:ea typeface="IBM Plex Mono" pitchFamily="34" charset="-122"/>
                <a:cs typeface="IBM Plex Mono" pitchFamily="34" charset="-120"/>
              </a:rPr>
              <a:t>ASSUMPTIONS</a:t>
            </a:r>
            <a:endParaRPr lang="en-US" sz="1200" dirty="0"/>
          </a:p>
        </p:txBody>
      </p:sp>
      <p:sp>
        <p:nvSpPr>
          <p:cNvPr id="18" name="Shape 16"/>
          <p:cNvSpPr/>
          <p:nvPr/>
        </p:nvSpPr>
        <p:spPr>
          <a:xfrm>
            <a:off x="9840340" y="1954026"/>
            <a:ext cx="7761824" cy="4469046"/>
          </a:xfrm>
          <a:prstGeom prst="roundRect">
            <a:avLst>
              <a:gd name="adj" fmla="val 2558"/>
            </a:avLst>
          </a:prstGeom>
          <a:solidFill>
            <a:srgbClr val="F4F7FA"/>
          </a:solidFill>
          <a:ln w="11206">
            <a:solidFill>
              <a:srgbClr val="E0E6ED"/>
            </a:solidFill>
            <a:prstDash val="solid"/>
          </a:ln>
        </p:spPr>
      </p:sp>
      <p:sp>
        <p:nvSpPr>
          <p:cNvPr id="19" name="Text 17"/>
          <p:cNvSpPr/>
          <p:nvPr/>
        </p:nvSpPr>
        <p:spPr>
          <a:xfrm>
            <a:off x="10131441" y="2136646"/>
            <a:ext cx="7326308" cy="1203512"/>
          </a:xfrm>
          <a:prstGeom prst="rect">
            <a:avLst/>
          </a:prstGeom>
          <a:noFill/>
          <a:ln/>
        </p:spPr>
        <p:txBody>
          <a:bodyPr wrap="square" lIns="25400" tIns="25400" rIns="25400" bIns="25400" rtlCol="0" anchor="t">
            <a:normAutofit/>
          </a:bodyPr>
          <a:lstStyle/>
          <a:p>
            <a:pPr algn="l" marL="120015" indent="-120015">
              <a:lnSpc>
                <a:spcPct val="148750"/>
              </a:lnSpc>
              <a:buSzPct val="100000"/>
              <a:buChar char="•"/>
              <a:tabLst>
                <a:tab pos="120015" algn="l"/>
              </a:tabLst>
            </a:pPr>
            <a:r>
              <a:rPr lang="en-US" sz="1350" dirty="0">
                <a:solidFill>
                  <a:srgbClr val="33404F"/>
                </a:solidFill>
                <a:latin typeface="Public Sans" pitchFamily="34" charset="0"/>
                <a:ea typeface="Public Sans" pitchFamily="34" charset="-122"/>
                <a:cs typeface="Public Sans" pitchFamily="34" charset="-120"/>
              </a:rPr>
              <a:t>Microsoft 365 E3/E5 with Exchange Online in place</a:t>
            </a:r>
            <a:endParaRPr lang="en-US" sz="1350" dirty="0"/>
          </a:p>
          <a:p>
            <a:pPr algn="l" marL="120015" indent="-120015">
              <a:lnSpc>
                <a:spcPct val="148750"/>
              </a:lnSpc>
              <a:buSzPct val="100000"/>
              <a:buChar char="•"/>
              <a:tabLst>
                <a:tab pos="120015" algn="l"/>
              </a:tabLst>
            </a:pPr>
            <a:r>
              <a:rPr lang="en-US" sz="1350" dirty="0">
                <a:solidFill>
                  <a:srgbClr val="33404F"/>
                </a:solidFill>
                <a:latin typeface="Public Sans" pitchFamily="34" charset="0"/>
                <a:ea typeface="Public Sans" pitchFamily="34" charset="-122"/>
                <a:cs typeface="Public Sans" pitchFamily="34" charset="-120"/>
              </a:rPr>
              <a:t>Room mailboxes &amp; room lists already configured</a:t>
            </a:r>
            <a:endParaRPr lang="en-US" sz="1350" dirty="0"/>
          </a:p>
          <a:p>
            <a:pPr algn="l" marL="120015" indent="-120015">
              <a:lnSpc>
                <a:spcPct val="148750"/>
              </a:lnSpc>
              <a:buSzPct val="100000"/>
              <a:buChar char="•"/>
              <a:tabLst>
                <a:tab pos="120015" algn="l"/>
              </a:tabLst>
            </a:pPr>
            <a:r>
              <a:rPr lang="en-US" sz="1350" dirty="0">
                <a:solidFill>
                  <a:srgbClr val="33404F"/>
                </a:solidFill>
                <a:latin typeface="Public Sans" pitchFamily="34" charset="0"/>
                <a:ea typeface="Public Sans" pitchFamily="34" charset="-122"/>
                <a:cs typeface="Public Sans" pitchFamily="34" charset="-120"/>
              </a:rPr>
              <a:t>Dynamics 365 licensed as the customer master</a:t>
            </a:r>
            <a:endParaRPr lang="en-US" sz="1350" dirty="0"/>
          </a:p>
          <a:p>
            <a:pPr algn="l" marL="120015" indent="-120015">
              <a:lnSpc>
                <a:spcPct val="148750"/>
              </a:lnSpc>
              <a:buSzPct val="100000"/>
              <a:buChar char="•"/>
              <a:tabLst>
                <a:tab pos="120015" algn="l"/>
              </a:tabLst>
            </a:pPr>
            <a:r>
              <a:rPr lang="en-US" sz="1350" dirty="0">
                <a:solidFill>
                  <a:srgbClr val="33404F"/>
                </a:solidFill>
                <a:latin typeface="Public Sans" pitchFamily="34" charset="0"/>
                <a:ea typeface="Public Sans" pitchFamily="34" charset="-122"/>
                <a:cs typeface="Public Sans" pitchFamily="34" charset="-120"/>
              </a:rPr>
              <a:t>Entra Conditional Access policies in force</a:t>
            </a:r>
            <a:endParaRPr lang="en-US" sz="1350" dirty="0"/>
          </a:p>
        </p:txBody>
      </p:sp>
      <p:sp>
        <p:nvSpPr>
          <p:cNvPr id="20" name="Text 18"/>
          <p:cNvSpPr/>
          <p:nvPr/>
        </p:nvSpPr>
        <p:spPr>
          <a:xfrm>
            <a:off x="9840340" y="6537231"/>
            <a:ext cx="8538006" cy="239806"/>
          </a:xfrm>
          <a:prstGeom prst="rect">
            <a:avLst/>
          </a:prstGeom>
          <a:noFill/>
          <a:ln/>
        </p:spPr>
        <p:txBody>
          <a:bodyPr wrap="square" lIns="25400" tIns="25400" rIns="25400" bIns="25400" rtlCol="0" anchor="t">
            <a:normAutofit/>
          </a:bodyPr>
          <a:lstStyle/>
          <a:p>
            <a:pPr algn="l" indent="0" marL="0">
              <a:buNone/>
            </a:pPr>
            <a:r>
              <a:rPr lang="en-US" sz="1200" b="1" spc="60" kern="0" dirty="0">
                <a:solidFill>
                  <a:srgbClr val="1C5C43"/>
                </a:solidFill>
                <a:latin typeface="IBM Plex Mono" pitchFamily="34" charset="0"/>
                <a:ea typeface="IBM Plex Mono" pitchFamily="34" charset="-122"/>
                <a:cs typeface="IBM Plex Mono" pitchFamily="34" charset="-120"/>
              </a:rPr>
              <a:t>DEPENDENCIES</a:t>
            </a:r>
            <a:endParaRPr lang="en-US" sz="1200" dirty="0"/>
          </a:p>
        </p:txBody>
      </p:sp>
      <p:sp>
        <p:nvSpPr>
          <p:cNvPr id="21" name="Shape 19"/>
          <p:cNvSpPr/>
          <p:nvPr/>
        </p:nvSpPr>
        <p:spPr>
          <a:xfrm>
            <a:off x="9840340" y="6853097"/>
            <a:ext cx="7761824" cy="2976737"/>
          </a:xfrm>
          <a:prstGeom prst="roundRect">
            <a:avLst>
              <a:gd name="adj" fmla="val 3840"/>
            </a:avLst>
          </a:prstGeom>
          <a:solidFill>
            <a:srgbClr val="F4F7FA"/>
          </a:solidFill>
          <a:ln w="11206">
            <a:solidFill>
              <a:srgbClr val="E0E6ED"/>
            </a:solidFill>
            <a:prstDash val="solid"/>
          </a:ln>
        </p:spPr>
      </p:sp>
      <p:sp>
        <p:nvSpPr>
          <p:cNvPr id="22" name="Text 20"/>
          <p:cNvSpPr/>
          <p:nvPr/>
        </p:nvSpPr>
        <p:spPr>
          <a:xfrm>
            <a:off x="10131441" y="7035718"/>
            <a:ext cx="7326308" cy="912159"/>
          </a:xfrm>
          <a:prstGeom prst="rect">
            <a:avLst/>
          </a:prstGeom>
          <a:noFill/>
          <a:ln/>
        </p:spPr>
        <p:txBody>
          <a:bodyPr wrap="square" lIns="25400" tIns="25400" rIns="25400" bIns="25400" rtlCol="0" anchor="t">
            <a:normAutofit/>
          </a:bodyPr>
          <a:lstStyle/>
          <a:p>
            <a:pPr algn="l" marL="120015" indent="-120015">
              <a:lnSpc>
                <a:spcPct val="148750"/>
              </a:lnSpc>
              <a:buSzPct val="100000"/>
              <a:buChar char="•"/>
              <a:tabLst>
                <a:tab pos="120015" algn="l"/>
              </a:tabLst>
            </a:pPr>
            <a:r>
              <a:rPr lang="en-US" sz="1350" dirty="0">
                <a:solidFill>
                  <a:srgbClr val="33404F"/>
                </a:solidFill>
                <a:latin typeface="Public Sans" pitchFamily="34" charset="0"/>
                <a:ea typeface="Public Sans" pitchFamily="34" charset="-122"/>
                <a:cs typeface="Public Sans" pitchFamily="34" charset="-120"/>
              </a:rPr>
              <a:t>Room-mailbox data hygiene (capacity, location)</a:t>
            </a:r>
            <a:endParaRPr lang="en-US" sz="1350" dirty="0"/>
          </a:p>
          <a:p>
            <a:pPr algn="l" marL="120015" indent="-120015">
              <a:lnSpc>
                <a:spcPct val="148750"/>
              </a:lnSpc>
              <a:buSzPct val="100000"/>
              <a:buChar char="•"/>
              <a:tabLst>
                <a:tab pos="120015" algn="l"/>
              </a:tabLst>
            </a:pPr>
            <a:r>
              <a:rPr lang="en-US" sz="1350" dirty="0">
                <a:solidFill>
                  <a:srgbClr val="33404F"/>
                </a:solidFill>
                <a:latin typeface="Public Sans" pitchFamily="34" charset="0"/>
                <a:ea typeface="Public Sans" pitchFamily="34" charset="-122"/>
                <a:cs typeface="Public Sans" pitchFamily="34" charset="-120"/>
              </a:rPr>
              <a:t>Dataverse environment capacity approval</a:t>
            </a:r>
            <a:endParaRPr lang="en-US" sz="1350" dirty="0"/>
          </a:p>
          <a:p>
            <a:pPr algn="l" marL="120015" indent="-120015">
              <a:lnSpc>
                <a:spcPct val="148750"/>
              </a:lnSpc>
              <a:buSzPct val="100000"/>
              <a:buChar char="•"/>
              <a:tabLst>
                <a:tab pos="120015" algn="l"/>
              </a:tabLst>
            </a:pPr>
            <a:r>
              <a:rPr lang="en-US" sz="1350" dirty="0">
                <a:solidFill>
                  <a:srgbClr val="33404F"/>
                </a:solidFill>
                <a:latin typeface="Public Sans" pitchFamily="34" charset="0"/>
                <a:ea typeface="Public Sans" pitchFamily="34" charset="-122"/>
                <a:cs typeface="Public Sans" pitchFamily="34" charset="-120"/>
              </a:rPr>
              <a:t>Corporate DLP policy sign-off</a:t>
            </a:r>
            <a:endParaRPr lang="en-US" sz="13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2E22"/>
        </a:solidFill>
      </p:bgPr>
    </p:bg>
    <p:spTree>
      <p:nvGrpSpPr>
        <p:cNvPr id="1" name=""/>
        <p:cNvGrpSpPr/>
        <p:nvPr/>
      </p:nvGrpSpPr>
      <p:grpSpPr>
        <a:xfrm>
          <a:off x="0" y="0"/>
          <a:ext cx="0" cy="0"/>
          <a:chOff x="0" y="0"/>
          <a:chExt cx="0" cy="0"/>
        </a:xfrm>
      </p:grpSpPr>
      <p:sp>
        <p:nvSpPr>
          <p:cNvPr id="2" name="Text 0"/>
          <p:cNvSpPr/>
          <p:nvPr/>
        </p:nvSpPr>
        <p:spPr>
          <a:xfrm>
            <a:off x="685660" y="533330"/>
            <a:ext cx="10750415" cy="307041"/>
          </a:xfrm>
          <a:prstGeom prst="rect">
            <a:avLst/>
          </a:prstGeom>
          <a:noFill/>
          <a:ln/>
        </p:spPr>
        <p:txBody>
          <a:bodyPr wrap="square" lIns="25400" tIns="25400" rIns="25400" bIns="25400" rtlCol="0" anchor="t">
            <a:normAutofit/>
          </a:bodyPr>
          <a:lstStyle/>
          <a:p>
            <a:pPr algn="l" indent="0" marL="0">
              <a:buNone/>
            </a:pPr>
            <a:r>
              <a:rPr lang="en-US" sz="1650" b="1" spc="198" kern="0" dirty="0">
                <a:solidFill>
                  <a:srgbClr val="C8A45C"/>
                </a:solidFill>
                <a:latin typeface="IBM Plex Mono" pitchFamily="34" charset="0"/>
                <a:ea typeface="IBM Plex Mono" pitchFamily="34" charset="-122"/>
                <a:cs typeface="IBM Plex Mono" pitchFamily="34" charset="-120"/>
              </a:rPr>
              <a:t>AI ASSIST · IN THE DESIGN</a:t>
            </a:r>
            <a:endParaRPr lang="en-US" sz="1650" dirty="0"/>
          </a:p>
        </p:txBody>
      </p:sp>
      <p:sp>
        <p:nvSpPr>
          <p:cNvPr id="3" name="Text 1"/>
          <p:cNvSpPr/>
          <p:nvPr/>
        </p:nvSpPr>
        <p:spPr>
          <a:xfrm>
            <a:off x="685660" y="897521"/>
            <a:ext cx="10750415" cy="531159"/>
          </a:xfrm>
          <a:prstGeom prst="rect">
            <a:avLst/>
          </a:prstGeom>
          <a:noFill/>
          <a:ln/>
        </p:spPr>
        <p:txBody>
          <a:bodyPr wrap="square" lIns="25400" tIns="25400" rIns="25400" bIns="25400" rtlCol="0" anchor="t">
            <a:normAutofit/>
          </a:bodyPr>
          <a:lstStyle/>
          <a:p>
            <a:pPr algn="l" indent="0" marL="0">
              <a:buNone/>
            </a:pPr>
            <a:r>
              <a:rPr lang="en-US" sz="3300" b="1" spc="-33" kern="0" dirty="0">
                <a:solidFill>
                  <a:srgbClr val="EFF2E4"/>
                </a:solidFill>
                <a:latin typeface="Public Sans" pitchFamily="34" charset="0"/>
                <a:ea typeface="Public Sans" pitchFamily="34" charset="-122"/>
                <a:cs typeface="Public Sans" pitchFamily="34" charset="-120"/>
              </a:rPr>
              <a:t>AI in the loop — recommend &amp; draft, RM approves</a:t>
            </a:r>
            <a:endParaRPr lang="en-US" sz="3300" dirty="0"/>
          </a:p>
        </p:txBody>
      </p:sp>
      <p:sp>
        <p:nvSpPr>
          <p:cNvPr id="4" name="Shape 2"/>
          <p:cNvSpPr/>
          <p:nvPr/>
        </p:nvSpPr>
        <p:spPr>
          <a:xfrm>
            <a:off x="15510692" y="995222"/>
            <a:ext cx="2091648" cy="395358"/>
          </a:xfrm>
          <a:prstGeom prst="roundRect">
            <a:avLst>
              <a:gd name="adj" fmla="val 50000"/>
            </a:avLst>
          </a:prstGeom>
          <a:solidFill>
            <a:srgbClr val="C8A45C"/>
          </a:solidFill>
          <a:ln/>
        </p:spPr>
      </p:sp>
      <p:sp>
        <p:nvSpPr>
          <p:cNvPr id="5" name="Text 3"/>
          <p:cNvSpPr/>
          <p:nvPr/>
        </p:nvSpPr>
        <p:spPr>
          <a:xfrm>
            <a:off x="15682142" y="1080947"/>
            <a:ext cx="1824948" cy="262008"/>
          </a:xfrm>
          <a:prstGeom prst="rect">
            <a:avLst/>
          </a:prstGeom>
          <a:noFill/>
          <a:ln/>
        </p:spPr>
        <p:txBody>
          <a:bodyPr wrap="square" lIns="25400" tIns="25400" rIns="25400" bIns="25400" rtlCol="0" anchor="t">
            <a:normAutofit/>
          </a:bodyPr>
          <a:lstStyle/>
          <a:p>
            <a:pPr algn="l" indent="0" marL="0">
              <a:buNone/>
            </a:pPr>
            <a:r>
              <a:rPr lang="en-US" sz="1350" b="1" dirty="0">
                <a:solidFill>
                  <a:srgbClr val="0D2E22"/>
                </a:solidFill>
                <a:latin typeface="IBM Plex Mono" pitchFamily="34" charset="0"/>
                <a:ea typeface="IBM Plex Mono" pitchFamily="34" charset="-122"/>
                <a:cs typeface="IBM Plex Mono" pitchFamily="34" charset="-120"/>
              </a:rPr>
              <a:t>Human-in-the-loop</a:t>
            </a:r>
            <a:endParaRPr lang="en-US" sz="1350" dirty="0"/>
          </a:p>
        </p:txBody>
      </p:sp>
      <p:sp>
        <p:nvSpPr>
          <p:cNvPr id="6" name="Shape 4"/>
          <p:cNvSpPr/>
          <p:nvPr/>
        </p:nvSpPr>
        <p:spPr>
          <a:xfrm>
            <a:off x="685660" y="1619075"/>
            <a:ext cx="16916679" cy="551189"/>
          </a:xfrm>
          <a:prstGeom prst="roundRect">
            <a:avLst>
              <a:gd name="adj" fmla="val 20737"/>
            </a:avLst>
          </a:prstGeom>
          <a:solidFill>
            <a:srgbClr val="123A2D"/>
          </a:solidFill>
          <a:ln w="11206">
            <a:solidFill>
              <a:srgbClr val="1E4D3A"/>
            </a:solidFill>
            <a:prstDash val="solid"/>
          </a:ln>
        </p:spPr>
      </p:sp>
      <p:sp>
        <p:nvSpPr>
          <p:cNvPr id="7" name="Text 5"/>
          <p:cNvSpPr/>
          <p:nvPr/>
        </p:nvSpPr>
        <p:spPr>
          <a:xfrm>
            <a:off x="906416" y="1782681"/>
            <a:ext cx="16982668" cy="262078"/>
          </a:xfrm>
          <a:prstGeom prst="rect">
            <a:avLst/>
          </a:prstGeom>
          <a:noFill/>
          <a:ln/>
        </p:spPr>
        <p:txBody>
          <a:bodyPr wrap="square" lIns="25400" tIns="25400" rIns="25400" bIns="25400" rtlCol="0" anchor="t">
            <a:normAutofit/>
          </a:bodyPr>
          <a:lstStyle/>
          <a:p>
            <a:pPr algn="l" indent="0" marL="0">
              <a:buNone/>
            </a:pPr>
            <a:r>
              <a:rPr lang="en-US" sz="1500" b="1" dirty="0">
                <a:solidFill>
                  <a:srgbClr val="EFF2E4"/>
                </a:solidFill>
                <a:latin typeface="Public Sans" pitchFamily="34" charset="0"/>
                <a:ea typeface="Public Sans" pitchFamily="34" charset="-122"/>
                <a:cs typeface="Public Sans" pitchFamily="34" charset="-120"/>
              </a:rPr>
              <a:t>The problem it solves — </a:t>
            </a:r>
            <a:pPr algn="l" indent="0" marL="0">
              <a:buNone/>
            </a:pPr>
            <a:r>
              <a:rPr lang="en-US" sz="1500" dirty="0">
                <a:solidFill>
                  <a:srgbClr val="D9E2CC"/>
                </a:solidFill>
                <a:highlight>
                  <a:srgbClr val="123A2D"/>
                </a:highlight>
                <a:latin typeface="Public Sans" pitchFamily="34" charset="0"/>
                <a:ea typeface="Public Sans" pitchFamily="34" charset="-122"/>
                <a:cs typeface="Public Sans" pitchFamily="34" charset="-120"/>
              </a:rPr>
              <a:t>every RM books in their own style; there is no SOP. This standardises room, timing and tone without slowing anyone down.</a:t>
            </a:r>
            <a:endParaRPr lang="en-US" sz="1500" dirty="0"/>
          </a:p>
        </p:txBody>
      </p:sp>
      <p:sp>
        <p:nvSpPr>
          <p:cNvPr id="8" name="Shape 6"/>
          <p:cNvSpPr/>
          <p:nvPr/>
        </p:nvSpPr>
        <p:spPr>
          <a:xfrm>
            <a:off x="685660" y="2379674"/>
            <a:ext cx="5511893" cy="2120013"/>
          </a:xfrm>
          <a:prstGeom prst="roundRect">
            <a:avLst>
              <a:gd name="adj" fmla="val 6290"/>
            </a:avLst>
          </a:prstGeom>
          <a:solidFill>
            <a:srgbClr val="123A2D"/>
          </a:solidFill>
          <a:ln w="11206">
            <a:solidFill>
              <a:srgbClr val="1E4D3A"/>
            </a:solidFill>
            <a:prstDash val="solid"/>
          </a:ln>
        </p:spPr>
      </p:sp>
      <p:sp>
        <p:nvSpPr>
          <p:cNvPr id="9" name="Text 7"/>
          <p:cNvSpPr/>
          <p:nvPr/>
        </p:nvSpPr>
        <p:spPr>
          <a:xfrm>
            <a:off x="925361" y="2638460"/>
            <a:ext cx="5535741" cy="441512"/>
          </a:xfrm>
          <a:prstGeom prst="rect">
            <a:avLst/>
          </a:prstGeom>
          <a:noFill/>
          <a:ln/>
        </p:spPr>
        <p:txBody>
          <a:bodyPr wrap="square" lIns="25400" tIns="25400" rIns="25400" bIns="25400" rtlCol="0" anchor="t">
            <a:normAutofit/>
          </a:bodyPr>
          <a:lstStyle/>
          <a:p>
            <a:pPr algn="l" indent="0" marL="0">
              <a:buNone/>
            </a:pPr>
            <a:r>
              <a:rPr lang="en-US" sz="2250" b="1" dirty="0">
                <a:solidFill>
                  <a:srgbClr val="C8A45C"/>
                </a:solidFill>
                <a:latin typeface="IBM Plex Mono" pitchFamily="34" charset="0"/>
                <a:ea typeface="IBM Plex Mono" pitchFamily="34" charset="-122"/>
                <a:cs typeface="IBM Plex Mono" pitchFamily="34" charset="-120"/>
              </a:rPr>
              <a:t>①</a:t>
            </a:r>
            <a:endParaRPr lang="en-US" sz="2250" dirty="0"/>
          </a:p>
        </p:txBody>
      </p:sp>
      <p:sp>
        <p:nvSpPr>
          <p:cNvPr id="10" name="Text 8"/>
          <p:cNvSpPr/>
          <p:nvPr/>
        </p:nvSpPr>
        <p:spPr>
          <a:xfrm>
            <a:off x="925361" y="3137122"/>
            <a:ext cx="5535741" cy="307041"/>
          </a:xfrm>
          <a:prstGeom prst="rect">
            <a:avLst/>
          </a:prstGeom>
          <a:noFill/>
          <a:ln/>
        </p:spPr>
        <p:txBody>
          <a:bodyPr wrap="square" lIns="25400" tIns="25400" rIns="25400" bIns="25400" rtlCol="0" anchor="t">
            <a:normAutofit/>
          </a:bodyPr>
          <a:lstStyle/>
          <a:p>
            <a:pPr algn="l" indent="0" marL="0">
              <a:buNone/>
            </a:pPr>
            <a:r>
              <a:rPr lang="en-US" sz="1800" b="1" dirty="0">
                <a:solidFill>
                  <a:srgbClr val="EFF2E4"/>
                </a:solidFill>
                <a:latin typeface="Public Sans" pitchFamily="34" charset="0"/>
                <a:ea typeface="Public Sans" pitchFamily="34" charset="-122"/>
                <a:cs typeface="Public Sans" pitchFamily="34" charset="-120"/>
              </a:rPr>
              <a:t>Best room &amp; timing</a:t>
            </a:r>
            <a:endParaRPr lang="en-US" sz="1800" dirty="0"/>
          </a:p>
        </p:txBody>
      </p:sp>
      <p:sp>
        <p:nvSpPr>
          <p:cNvPr id="11" name="Text 9"/>
          <p:cNvSpPr/>
          <p:nvPr/>
        </p:nvSpPr>
        <p:spPr>
          <a:xfrm>
            <a:off x="925361" y="3501313"/>
            <a:ext cx="5183466" cy="777688"/>
          </a:xfrm>
          <a:prstGeom prst="rect">
            <a:avLst/>
          </a:prstGeom>
          <a:noFill/>
          <a:ln/>
        </p:spPr>
        <p:txBody>
          <a:bodyPr wrap="square" lIns="25400" tIns="25400" rIns="25400" bIns="25400" rtlCol="0" anchor="t">
            <a:normAutofit/>
          </a:bodyPr>
          <a:lstStyle/>
          <a:p>
            <a:pPr algn="l" indent="0" marL="0">
              <a:lnSpc>
                <a:spcPct val="127500"/>
              </a:lnSpc>
              <a:buNone/>
            </a:pPr>
            <a:r>
              <a:rPr lang="en-US" sz="1350" dirty="0">
                <a:solidFill>
                  <a:srgbClr val="B9C9AC"/>
                </a:solidFill>
                <a:latin typeface="Public Sans" pitchFamily="34" charset="0"/>
                <a:ea typeface="Public Sans" pitchFamily="34" charset="-122"/>
                <a:cs typeface="Public Sans" pitchFamily="34" charset="-120"/>
              </a:rPr>
              <a:t>Ranks the Graph availability results — capacity, location, attendee load, RM travel — and recommends the single best option with a one-line rationale.</a:t>
            </a:r>
            <a:endParaRPr lang="en-US" sz="1350" dirty="0"/>
          </a:p>
        </p:txBody>
      </p:sp>
      <p:sp>
        <p:nvSpPr>
          <p:cNvPr id="12" name="Shape 10"/>
          <p:cNvSpPr/>
          <p:nvPr/>
        </p:nvSpPr>
        <p:spPr>
          <a:xfrm>
            <a:off x="6388053" y="2379674"/>
            <a:ext cx="5511893" cy="2120013"/>
          </a:xfrm>
          <a:prstGeom prst="roundRect">
            <a:avLst>
              <a:gd name="adj" fmla="val 6290"/>
            </a:avLst>
          </a:prstGeom>
          <a:solidFill>
            <a:srgbClr val="123A2D"/>
          </a:solidFill>
          <a:ln w="11206">
            <a:solidFill>
              <a:srgbClr val="1E4D3A"/>
            </a:solidFill>
            <a:prstDash val="solid"/>
          </a:ln>
        </p:spPr>
      </p:sp>
      <p:sp>
        <p:nvSpPr>
          <p:cNvPr id="13" name="Text 11"/>
          <p:cNvSpPr/>
          <p:nvPr/>
        </p:nvSpPr>
        <p:spPr>
          <a:xfrm>
            <a:off x="6627754" y="2638460"/>
            <a:ext cx="5535741" cy="441512"/>
          </a:xfrm>
          <a:prstGeom prst="rect">
            <a:avLst/>
          </a:prstGeom>
          <a:noFill/>
          <a:ln/>
        </p:spPr>
        <p:txBody>
          <a:bodyPr wrap="square" lIns="25400" tIns="25400" rIns="25400" bIns="25400" rtlCol="0" anchor="t">
            <a:normAutofit/>
          </a:bodyPr>
          <a:lstStyle/>
          <a:p>
            <a:pPr algn="l" indent="0" marL="0">
              <a:buNone/>
            </a:pPr>
            <a:r>
              <a:rPr lang="en-US" sz="2250" b="1" dirty="0">
                <a:solidFill>
                  <a:srgbClr val="C8A45C"/>
                </a:solidFill>
                <a:latin typeface="IBM Plex Mono" pitchFamily="34" charset="0"/>
                <a:ea typeface="IBM Plex Mono" pitchFamily="34" charset="-122"/>
                <a:cs typeface="IBM Plex Mono" pitchFamily="34" charset="-120"/>
              </a:rPr>
              <a:t>②</a:t>
            </a:r>
            <a:endParaRPr lang="en-US" sz="2250" dirty="0"/>
          </a:p>
        </p:txBody>
      </p:sp>
      <p:sp>
        <p:nvSpPr>
          <p:cNvPr id="14" name="Text 12"/>
          <p:cNvSpPr/>
          <p:nvPr/>
        </p:nvSpPr>
        <p:spPr>
          <a:xfrm>
            <a:off x="6627754" y="3137122"/>
            <a:ext cx="5535741" cy="307041"/>
          </a:xfrm>
          <a:prstGeom prst="rect">
            <a:avLst/>
          </a:prstGeom>
          <a:noFill/>
          <a:ln/>
        </p:spPr>
        <p:txBody>
          <a:bodyPr wrap="square" lIns="25400" tIns="25400" rIns="25400" bIns="25400" rtlCol="0" anchor="t">
            <a:normAutofit/>
          </a:bodyPr>
          <a:lstStyle/>
          <a:p>
            <a:pPr algn="l" indent="0" marL="0">
              <a:buNone/>
            </a:pPr>
            <a:r>
              <a:rPr lang="en-US" sz="1800" b="1" dirty="0">
                <a:solidFill>
                  <a:srgbClr val="EFF2E4"/>
                </a:solidFill>
                <a:latin typeface="Public Sans" pitchFamily="34" charset="0"/>
                <a:ea typeface="Public Sans" pitchFamily="34" charset="-122"/>
                <a:cs typeface="Public Sans" pitchFamily="34" charset="-120"/>
              </a:rPr>
              <a:t>Drafts the invitation</a:t>
            </a:r>
            <a:endParaRPr lang="en-US" sz="1800" dirty="0"/>
          </a:p>
        </p:txBody>
      </p:sp>
      <p:sp>
        <p:nvSpPr>
          <p:cNvPr id="15" name="Text 13"/>
          <p:cNvSpPr/>
          <p:nvPr/>
        </p:nvSpPr>
        <p:spPr>
          <a:xfrm>
            <a:off x="6627754" y="3501313"/>
            <a:ext cx="5183466" cy="777688"/>
          </a:xfrm>
          <a:prstGeom prst="rect">
            <a:avLst/>
          </a:prstGeom>
          <a:noFill/>
          <a:ln/>
        </p:spPr>
        <p:txBody>
          <a:bodyPr wrap="square" lIns="25400" tIns="25400" rIns="25400" bIns="25400" rtlCol="0" anchor="t">
            <a:normAutofit/>
          </a:bodyPr>
          <a:lstStyle/>
          <a:p>
            <a:pPr algn="l" indent="0" marL="0">
              <a:lnSpc>
                <a:spcPct val="127500"/>
              </a:lnSpc>
              <a:buNone/>
            </a:pPr>
            <a:r>
              <a:rPr lang="en-US" sz="1350" dirty="0">
                <a:solidFill>
                  <a:srgbClr val="B9C9AC"/>
                </a:solidFill>
                <a:latin typeface="Public Sans" pitchFamily="34" charset="0"/>
                <a:ea typeface="Public Sans" pitchFamily="34" charset="-122"/>
                <a:cs typeface="Public Sans" pitchFamily="34" charset="-120"/>
              </a:rPr>
              <a:t>Writes the customer-facing message in one approved house style — a consistent SOP for every RM, in seconds, not a blank page.</a:t>
            </a:r>
            <a:endParaRPr lang="en-US" sz="1350" dirty="0"/>
          </a:p>
        </p:txBody>
      </p:sp>
      <p:sp>
        <p:nvSpPr>
          <p:cNvPr id="16" name="Shape 14"/>
          <p:cNvSpPr/>
          <p:nvPr/>
        </p:nvSpPr>
        <p:spPr>
          <a:xfrm>
            <a:off x="12090446" y="2379674"/>
            <a:ext cx="5511893" cy="2120013"/>
          </a:xfrm>
          <a:prstGeom prst="roundRect">
            <a:avLst>
              <a:gd name="adj" fmla="val 6290"/>
            </a:avLst>
          </a:prstGeom>
          <a:solidFill>
            <a:srgbClr val="123A2D"/>
          </a:solidFill>
          <a:ln w="11206">
            <a:solidFill>
              <a:srgbClr val="1E4D3A"/>
            </a:solidFill>
            <a:prstDash val="solid"/>
          </a:ln>
        </p:spPr>
      </p:sp>
      <p:sp>
        <p:nvSpPr>
          <p:cNvPr id="17" name="Text 15"/>
          <p:cNvSpPr/>
          <p:nvPr/>
        </p:nvSpPr>
        <p:spPr>
          <a:xfrm>
            <a:off x="12330146" y="2638460"/>
            <a:ext cx="5535741" cy="441512"/>
          </a:xfrm>
          <a:prstGeom prst="rect">
            <a:avLst/>
          </a:prstGeom>
          <a:noFill/>
          <a:ln/>
        </p:spPr>
        <p:txBody>
          <a:bodyPr wrap="square" lIns="25400" tIns="25400" rIns="25400" bIns="25400" rtlCol="0" anchor="t">
            <a:normAutofit/>
          </a:bodyPr>
          <a:lstStyle/>
          <a:p>
            <a:pPr algn="l" indent="0" marL="0">
              <a:buNone/>
            </a:pPr>
            <a:r>
              <a:rPr lang="en-US" sz="2250" b="1" dirty="0">
                <a:solidFill>
                  <a:srgbClr val="C8A45C"/>
                </a:solidFill>
                <a:latin typeface="IBM Plex Mono" pitchFamily="34" charset="0"/>
                <a:ea typeface="IBM Plex Mono" pitchFamily="34" charset="-122"/>
                <a:cs typeface="IBM Plex Mono" pitchFamily="34" charset="-120"/>
              </a:rPr>
              <a:t>③</a:t>
            </a:r>
            <a:endParaRPr lang="en-US" sz="2250" dirty="0"/>
          </a:p>
        </p:txBody>
      </p:sp>
      <p:sp>
        <p:nvSpPr>
          <p:cNvPr id="18" name="Text 16"/>
          <p:cNvSpPr/>
          <p:nvPr/>
        </p:nvSpPr>
        <p:spPr>
          <a:xfrm>
            <a:off x="12330146" y="3137122"/>
            <a:ext cx="5535741" cy="307041"/>
          </a:xfrm>
          <a:prstGeom prst="rect">
            <a:avLst/>
          </a:prstGeom>
          <a:noFill/>
          <a:ln/>
        </p:spPr>
        <p:txBody>
          <a:bodyPr wrap="square" lIns="25400" tIns="25400" rIns="25400" bIns="25400" rtlCol="0" anchor="t">
            <a:normAutofit/>
          </a:bodyPr>
          <a:lstStyle/>
          <a:p>
            <a:pPr algn="l" indent="0" marL="0">
              <a:buNone/>
            </a:pPr>
            <a:r>
              <a:rPr lang="en-US" sz="1800" b="1" dirty="0">
                <a:solidFill>
                  <a:srgbClr val="EFF2E4"/>
                </a:solidFill>
                <a:latin typeface="Public Sans" pitchFamily="34" charset="0"/>
                <a:ea typeface="Public Sans" pitchFamily="34" charset="-122"/>
                <a:cs typeface="Public Sans" pitchFamily="34" charset="-120"/>
              </a:rPr>
              <a:t>RM reviews &amp; sends</a:t>
            </a:r>
            <a:endParaRPr lang="en-US" sz="1800" dirty="0"/>
          </a:p>
        </p:txBody>
      </p:sp>
      <p:sp>
        <p:nvSpPr>
          <p:cNvPr id="19" name="Text 17"/>
          <p:cNvSpPr/>
          <p:nvPr/>
        </p:nvSpPr>
        <p:spPr>
          <a:xfrm>
            <a:off x="12330146" y="3501313"/>
            <a:ext cx="5183466" cy="531159"/>
          </a:xfrm>
          <a:prstGeom prst="rect">
            <a:avLst/>
          </a:prstGeom>
          <a:noFill/>
          <a:ln/>
        </p:spPr>
        <p:txBody>
          <a:bodyPr wrap="square" lIns="25400" tIns="25400" rIns="25400" bIns="25400" rtlCol="0" anchor="t">
            <a:normAutofit/>
          </a:bodyPr>
          <a:lstStyle/>
          <a:p>
            <a:pPr algn="l" indent="0" marL="0">
              <a:lnSpc>
                <a:spcPct val="127500"/>
              </a:lnSpc>
              <a:buNone/>
            </a:pPr>
            <a:r>
              <a:rPr lang="en-US" sz="1350" dirty="0">
                <a:solidFill>
                  <a:srgbClr val="B9C9AC"/>
                </a:solidFill>
                <a:latin typeface="Public Sans" pitchFamily="34" charset="0"/>
                <a:ea typeface="Public Sans" pitchFamily="34" charset="-122"/>
                <a:cs typeface="Public Sans" pitchFamily="34" charset="-120"/>
              </a:rPr>
              <a:t>Human stays in control — the RM edits or approves in one click. Nothing leaves the bank unread.</a:t>
            </a:r>
            <a:endParaRPr lang="en-US" sz="1350" dirty="0"/>
          </a:p>
        </p:txBody>
      </p:sp>
      <p:sp>
        <p:nvSpPr>
          <p:cNvPr id="20" name="Shape 18"/>
          <p:cNvSpPr/>
          <p:nvPr/>
        </p:nvSpPr>
        <p:spPr>
          <a:xfrm>
            <a:off x="685660" y="4709097"/>
            <a:ext cx="4129192" cy="1190975"/>
          </a:xfrm>
          <a:prstGeom prst="roundRect">
            <a:avLst>
              <a:gd name="adj" fmla="val 9597"/>
            </a:avLst>
          </a:prstGeom>
          <a:solidFill>
            <a:srgbClr val="0A251C"/>
          </a:solidFill>
          <a:ln w="11206">
            <a:solidFill>
              <a:srgbClr val="1E4D3A"/>
            </a:solidFill>
            <a:prstDash val="solid"/>
          </a:ln>
        </p:spPr>
      </p:sp>
      <p:sp>
        <p:nvSpPr>
          <p:cNvPr id="21" name="Text 19"/>
          <p:cNvSpPr/>
          <p:nvPr/>
        </p:nvSpPr>
        <p:spPr>
          <a:xfrm>
            <a:off x="868281" y="4872633"/>
            <a:ext cx="4140346" cy="206188"/>
          </a:xfrm>
          <a:prstGeom prst="rect">
            <a:avLst/>
          </a:prstGeom>
          <a:noFill/>
          <a:ln/>
        </p:spPr>
        <p:txBody>
          <a:bodyPr wrap="square" lIns="25400" tIns="25400" rIns="25400" bIns="25400" rtlCol="0" anchor="t">
            <a:normAutofit/>
          </a:bodyPr>
          <a:lstStyle/>
          <a:p>
            <a:pPr algn="l" indent="0" marL="0">
              <a:buNone/>
            </a:pPr>
            <a:r>
              <a:rPr lang="en-US" sz="1050" b="1" spc="52" kern="0" dirty="0">
                <a:solidFill>
                  <a:srgbClr val="7A9A83"/>
                </a:solidFill>
                <a:latin typeface="IBM Plex Mono" pitchFamily="34" charset="0"/>
                <a:ea typeface="IBM Plex Mono" pitchFamily="34" charset="-122"/>
                <a:cs typeface="IBM Plex Mono" pitchFamily="34" charset="-120"/>
              </a:rPr>
              <a:t>WHERE IT RUNS</a:t>
            </a:r>
            <a:endParaRPr lang="en-US" sz="1050" dirty="0"/>
          </a:p>
        </p:txBody>
      </p:sp>
      <p:sp>
        <p:nvSpPr>
          <p:cNvPr id="22" name="Text 20"/>
          <p:cNvSpPr/>
          <p:nvPr/>
        </p:nvSpPr>
        <p:spPr>
          <a:xfrm>
            <a:off x="868281" y="5097800"/>
            <a:ext cx="3876869" cy="463923"/>
          </a:xfrm>
          <a:prstGeom prst="rect">
            <a:avLst/>
          </a:prstGeom>
          <a:noFill/>
          <a:ln/>
        </p:spPr>
        <p:txBody>
          <a:bodyPr wrap="square" lIns="25400" tIns="25400" rIns="25400" bIns="25400" rtlCol="0" anchor="t">
            <a:normAutofit/>
          </a:bodyPr>
          <a:lstStyle/>
          <a:p>
            <a:pPr algn="l" indent="0" marL="0">
              <a:lnSpc>
                <a:spcPct val="123250"/>
              </a:lnSpc>
              <a:buNone/>
            </a:pPr>
            <a:r>
              <a:rPr lang="en-US" sz="1200" dirty="0">
                <a:solidFill>
                  <a:srgbClr val="D9E2CC"/>
                </a:solidFill>
                <a:latin typeface="Public Sans" pitchFamily="34" charset="0"/>
                <a:ea typeface="Public Sans" pitchFamily="34" charset="-122"/>
                <a:cs typeface="Public Sans" pitchFamily="34" charset="-120"/>
              </a:rPr>
              <a:t>One Azure OpenAI action inside the existing Power Automate flow — no new app, no new service.</a:t>
            </a:r>
            <a:endParaRPr lang="en-US" sz="1200" dirty="0"/>
          </a:p>
        </p:txBody>
      </p:sp>
      <p:sp>
        <p:nvSpPr>
          <p:cNvPr id="23" name="Shape 21"/>
          <p:cNvSpPr/>
          <p:nvPr/>
        </p:nvSpPr>
        <p:spPr>
          <a:xfrm>
            <a:off x="4948097" y="4709097"/>
            <a:ext cx="4129192" cy="1190975"/>
          </a:xfrm>
          <a:prstGeom prst="roundRect">
            <a:avLst>
              <a:gd name="adj" fmla="val 9597"/>
            </a:avLst>
          </a:prstGeom>
          <a:solidFill>
            <a:srgbClr val="0A251C"/>
          </a:solidFill>
          <a:ln w="11206">
            <a:solidFill>
              <a:srgbClr val="1E4D3A"/>
            </a:solidFill>
            <a:prstDash val="solid"/>
          </a:ln>
        </p:spPr>
      </p:sp>
      <p:sp>
        <p:nvSpPr>
          <p:cNvPr id="24" name="Text 22"/>
          <p:cNvSpPr/>
          <p:nvPr/>
        </p:nvSpPr>
        <p:spPr>
          <a:xfrm>
            <a:off x="5130718" y="4872633"/>
            <a:ext cx="4140346" cy="206188"/>
          </a:xfrm>
          <a:prstGeom prst="rect">
            <a:avLst/>
          </a:prstGeom>
          <a:noFill/>
          <a:ln/>
        </p:spPr>
        <p:txBody>
          <a:bodyPr wrap="square" lIns="25400" tIns="25400" rIns="25400" bIns="25400" rtlCol="0" anchor="t">
            <a:normAutofit/>
          </a:bodyPr>
          <a:lstStyle/>
          <a:p>
            <a:pPr algn="l" indent="0" marL="0">
              <a:buNone/>
            </a:pPr>
            <a:r>
              <a:rPr lang="en-US" sz="1050" b="1" spc="52" kern="0" dirty="0">
                <a:solidFill>
                  <a:srgbClr val="7A9A83"/>
                </a:solidFill>
                <a:latin typeface="IBM Plex Mono" pitchFamily="34" charset="0"/>
                <a:ea typeface="IBM Plex Mono" pitchFamily="34" charset="-122"/>
                <a:cs typeface="IBM Plex Mono" pitchFamily="34" charset="-120"/>
              </a:rPr>
              <a:t>GROUNDING</a:t>
            </a:r>
            <a:endParaRPr lang="en-US" sz="1050" dirty="0"/>
          </a:p>
        </p:txBody>
      </p:sp>
      <p:sp>
        <p:nvSpPr>
          <p:cNvPr id="25" name="Text 23"/>
          <p:cNvSpPr/>
          <p:nvPr/>
        </p:nvSpPr>
        <p:spPr>
          <a:xfrm>
            <a:off x="5130718" y="5097800"/>
            <a:ext cx="3876869" cy="676835"/>
          </a:xfrm>
          <a:prstGeom prst="rect">
            <a:avLst/>
          </a:prstGeom>
          <a:noFill/>
          <a:ln/>
        </p:spPr>
        <p:txBody>
          <a:bodyPr wrap="square" lIns="25400" tIns="25400" rIns="25400" bIns="25400" rtlCol="0" anchor="t">
            <a:normAutofit/>
          </a:bodyPr>
          <a:lstStyle/>
          <a:p>
            <a:pPr algn="l" indent="0" marL="0">
              <a:lnSpc>
                <a:spcPct val="123250"/>
              </a:lnSpc>
              <a:buNone/>
            </a:pPr>
            <a:r>
              <a:rPr lang="en-US" sz="1200" dirty="0">
                <a:solidFill>
                  <a:srgbClr val="D9E2CC"/>
                </a:solidFill>
                <a:latin typeface="Public Sans" pitchFamily="34" charset="0"/>
                <a:ea typeface="Public Sans" pitchFamily="34" charset="-122"/>
                <a:cs typeface="Public Sans" pitchFamily="34" charset="-120"/>
              </a:rPr>
              <a:t>Prompted with the Graph availability data &amp; the approved message template — no model training, no customer data retained.</a:t>
            </a:r>
            <a:endParaRPr lang="en-US" sz="1200" dirty="0"/>
          </a:p>
        </p:txBody>
      </p:sp>
      <p:sp>
        <p:nvSpPr>
          <p:cNvPr id="26" name="Shape 24"/>
          <p:cNvSpPr/>
          <p:nvPr/>
        </p:nvSpPr>
        <p:spPr>
          <a:xfrm>
            <a:off x="9210534" y="4709097"/>
            <a:ext cx="4129192" cy="1190975"/>
          </a:xfrm>
          <a:prstGeom prst="roundRect">
            <a:avLst>
              <a:gd name="adj" fmla="val 9597"/>
            </a:avLst>
          </a:prstGeom>
          <a:solidFill>
            <a:srgbClr val="0A251C"/>
          </a:solidFill>
          <a:ln w="11206">
            <a:solidFill>
              <a:srgbClr val="1E4D3A"/>
            </a:solidFill>
            <a:prstDash val="solid"/>
          </a:ln>
        </p:spPr>
      </p:sp>
      <p:sp>
        <p:nvSpPr>
          <p:cNvPr id="27" name="Text 25"/>
          <p:cNvSpPr/>
          <p:nvPr/>
        </p:nvSpPr>
        <p:spPr>
          <a:xfrm>
            <a:off x="9393155" y="4872633"/>
            <a:ext cx="4140346" cy="206188"/>
          </a:xfrm>
          <a:prstGeom prst="rect">
            <a:avLst/>
          </a:prstGeom>
          <a:noFill/>
          <a:ln/>
        </p:spPr>
        <p:txBody>
          <a:bodyPr wrap="square" lIns="25400" tIns="25400" rIns="25400" bIns="25400" rtlCol="0" anchor="t">
            <a:normAutofit/>
          </a:bodyPr>
          <a:lstStyle/>
          <a:p>
            <a:pPr algn="l" indent="0" marL="0">
              <a:buNone/>
            </a:pPr>
            <a:r>
              <a:rPr lang="en-US" sz="1050" b="1" spc="52" kern="0" dirty="0">
                <a:solidFill>
                  <a:srgbClr val="7A9A83"/>
                </a:solidFill>
                <a:latin typeface="IBM Plex Mono" pitchFamily="34" charset="0"/>
                <a:ea typeface="IBM Plex Mono" pitchFamily="34" charset="-122"/>
                <a:cs typeface="IBM Plex Mono" pitchFamily="34" charset="-120"/>
              </a:rPr>
              <a:t>HUMAN-IN-THE-LOOP</a:t>
            </a:r>
            <a:endParaRPr lang="en-US" sz="1050" dirty="0"/>
          </a:p>
        </p:txBody>
      </p:sp>
      <p:sp>
        <p:nvSpPr>
          <p:cNvPr id="28" name="Text 26"/>
          <p:cNvSpPr/>
          <p:nvPr/>
        </p:nvSpPr>
        <p:spPr>
          <a:xfrm>
            <a:off x="9393155" y="5097800"/>
            <a:ext cx="3876869" cy="463923"/>
          </a:xfrm>
          <a:prstGeom prst="rect">
            <a:avLst/>
          </a:prstGeom>
          <a:noFill/>
          <a:ln/>
        </p:spPr>
        <p:txBody>
          <a:bodyPr wrap="square" lIns="25400" tIns="25400" rIns="25400" bIns="25400" rtlCol="0" anchor="t">
            <a:normAutofit/>
          </a:bodyPr>
          <a:lstStyle/>
          <a:p>
            <a:pPr algn="l" indent="0" marL="0">
              <a:lnSpc>
                <a:spcPct val="123250"/>
              </a:lnSpc>
              <a:buNone/>
            </a:pPr>
            <a:r>
              <a:rPr lang="en-US" sz="1200" dirty="0">
                <a:solidFill>
                  <a:srgbClr val="D9E2CC"/>
                </a:solidFill>
                <a:latin typeface="Public Sans" pitchFamily="34" charset="0"/>
                <a:ea typeface="Public Sans" pitchFamily="34" charset="-122"/>
                <a:cs typeface="Public Sans" pitchFamily="34" charset="-120"/>
              </a:rPr>
              <a:t>Draft only — the RM always reviews. No autonomous sends, no decisions made without sign-off.</a:t>
            </a:r>
            <a:endParaRPr lang="en-US" sz="1200" dirty="0"/>
          </a:p>
        </p:txBody>
      </p:sp>
      <p:sp>
        <p:nvSpPr>
          <p:cNvPr id="29" name="Shape 27"/>
          <p:cNvSpPr/>
          <p:nvPr/>
        </p:nvSpPr>
        <p:spPr>
          <a:xfrm>
            <a:off x="13472972" y="4709097"/>
            <a:ext cx="4129367" cy="1190975"/>
          </a:xfrm>
          <a:prstGeom prst="roundRect">
            <a:avLst>
              <a:gd name="adj" fmla="val 9597"/>
            </a:avLst>
          </a:prstGeom>
          <a:solidFill>
            <a:srgbClr val="0A251C"/>
          </a:solidFill>
          <a:ln w="11206">
            <a:solidFill>
              <a:srgbClr val="1E4D3A"/>
            </a:solidFill>
            <a:prstDash val="solid"/>
          </a:ln>
        </p:spPr>
      </p:sp>
      <p:sp>
        <p:nvSpPr>
          <p:cNvPr id="30" name="Text 28"/>
          <p:cNvSpPr/>
          <p:nvPr/>
        </p:nvSpPr>
        <p:spPr>
          <a:xfrm>
            <a:off x="13655592" y="4872633"/>
            <a:ext cx="4140538" cy="206188"/>
          </a:xfrm>
          <a:prstGeom prst="rect">
            <a:avLst/>
          </a:prstGeom>
          <a:noFill/>
          <a:ln/>
        </p:spPr>
        <p:txBody>
          <a:bodyPr wrap="square" lIns="25400" tIns="25400" rIns="25400" bIns="25400" rtlCol="0" anchor="t">
            <a:normAutofit/>
          </a:bodyPr>
          <a:lstStyle/>
          <a:p>
            <a:pPr algn="l" indent="0" marL="0">
              <a:buNone/>
            </a:pPr>
            <a:r>
              <a:rPr lang="en-US" sz="1050" b="1" spc="52" kern="0" dirty="0">
                <a:solidFill>
                  <a:srgbClr val="7A9A83"/>
                </a:solidFill>
                <a:latin typeface="IBM Plex Mono" pitchFamily="34" charset="0"/>
                <a:ea typeface="IBM Plex Mono" pitchFamily="34" charset="-122"/>
                <a:cs typeface="IBM Plex Mono" pitchFamily="34" charset="-120"/>
              </a:rPr>
              <a:t>LICENSING</a:t>
            </a:r>
            <a:endParaRPr lang="en-US" sz="1050" dirty="0"/>
          </a:p>
        </p:txBody>
      </p:sp>
      <p:sp>
        <p:nvSpPr>
          <p:cNvPr id="31" name="Text 29"/>
          <p:cNvSpPr/>
          <p:nvPr/>
        </p:nvSpPr>
        <p:spPr>
          <a:xfrm>
            <a:off x="13655592" y="5097800"/>
            <a:ext cx="3877050" cy="463923"/>
          </a:xfrm>
          <a:prstGeom prst="rect">
            <a:avLst/>
          </a:prstGeom>
          <a:noFill/>
          <a:ln/>
        </p:spPr>
        <p:txBody>
          <a:bodyPr wrap="square" lIns="25400" tIns="25400" rIns="25400" bIns="25400" rtlCol="0" anchor="t">
            <a:normAutofit/>
          </a:bodyPr>
          <a:lstStyle/>
          <a:p>
            <a:pPr algn="l" indent="0" marL="0">
              <a:lnSpc>
                <a:spcPct val="123250"/>
              </a:lnSpc>
              <a:buNone/>
            </a:pPr>
            <a:r>
              <a:rPr lang="en-US" sz="1200" dirty="0">
                <a:solidFill>
                  <a:srgbClr val="D9E2CC"/>
                </a:solidFill>
                <a:latin typeface="Public Sans" pitchFamily="34" charset="0"/>
                <a:ea typeface="Public Sans" pitchFamily="34" charset="-122"/>
                <a:cs typeface="Public Sans" pitchFamily="34" charset="-120"/>
              </a:rPr>
              <a:t>Pay-as-you-go Azure OpenAI tokens — pennies per booking; no per-seat AI licence.</a:t>
            </a:r>
            <a:endParaRPr lang="en-US" sz="1200" dirty="0"/>
          </a:p>
        </p:txBody>
      </p:sp>
      <p:sp>
        <p:nvSpPr>
          <p:cNvPr id="32" name="Text 30"/>
          <p:cNvSpPr/>
          <p:nvPr/>
        </p:nvSpPr>
        <p:spPr>
          <a:xfrm>
            <a:off x="685660" y="6090572"/>
            <a:ext cx="18608347" cy="273424"/>
          </a:xfrm>
          <a:prstGeom prst="rect">
            <a:avLst/>
          </a:prstGeom>
          <a:noFill/>
          <a:ln/>
        </p:spPr>
        <p:txBody>
          <a:bodyPr wrap="square" lIns="25400" tIns="25400" rIns="25400" bIns="25400" rtlCol="0" anchor="t">
            <a:normAutofit/>
          </a:bodyPr>
          <a:lstStyle/>
          <a:p>
            <a:pPr algn="l" indent="0" marL="0">
              <a:buNone/>
            </a:pPr>
            <a:r>
              <a:rPr lang="en-US" sz="1425" dirty="0">
                <a:solidFill>
                  <a:srgbClr val="C8A45C"/>
                </a:solidFill>
                <a:latin typeface="IBM Plex Mono" pitchFamily="34" charset="0"/>
                <a:ea typeface="IBM Plex Mono" pitchFamily="34" charset="-122"/>
                <a:cs typeface="IBM Plex Mono" pitchFamily="34" charset="-120"/>
              </a:rPr>
              <a:t>Deterministic core stays intact — AI only recommends &amp; drafts, never decides or sends.</a:t>
            </a:r>
            <a:endParaRPr lang="en-US" sz="1425"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2E22"/>
        </a:solidFill>
      </p:bgPr>
    </p:bg>
    <p:spTree>
      <p:nvGrpSpPr>
        <p:cNvPr id="1" name=""/>
        <p:cNvGrpSpPr/>
        <p:nvPr/>
      </p:nvGrpSpPr>
      <p:grpSpPr>
        <a:xfrm>
          <a:off x="0" y="0"/>
          <a:ext cx="0" cy="0"/>
          <a:chOff x="0" y="0"/>
          <a:chExt cx="0" cy="0"/>
        </a:xfrm>
      </p:grpSpPr>
      <p:sp>
        <p:nvSpPr>
          <p:cNvPr id="2" name="Text 0"/>
          <p:cNvSpPr/>
          <p:nvPr/>
        </p:nvSpPr>
        <p:spPr>
          <a:xfrm>
            <a:off x="685660" y="533330"/>
            <a:ext cx="18608347" cy="307041"/>
          </a:xfrm>
          <a:prstGeom prst="rect">
            <a:avLst/>
          </a:prstGeom>
          <a:noFill/>
          <a:ln/>
        </p:spPr>
        <p:txBody>
          <a:bodyPr wrap="square" lIns="25400" tIns="25400" rIns="25400" bIns="25400" rtlCol="0" anchor="t">
            <a:normAutofit/>
          </a:bodyPr>
          <a:lstStyle/>
          <a:p>
            <a:pPr algn="l" indent="0" marL="0">
              <a:buNone/>
            </a:pPr>
            <a:r>
              <a:rPr lang="en-US" sz="1650" b="1" spc="198" kern="0" dirty="0">
                <a:solidFill>
                  <a:srgbClr val="C8A45C"/>
                </a:solidFill>
                <a:latin typeface="IBM Plex Mono" pitchFamily="34" charset="0"/>
                <a:ea typeface="IBM Plex Mono" pitchFamily="34" charset="-122"/>
                <a:cs typeface="IBM Plex Mono" pitchFamily="34" charset="-120"/>
              </a:rPr>
              <a:t>08 · FUTURE ROADMAP</a:t>
            </a:r>
            <a:endParaRPr lang="en-US" sz="1650" dirty="0"/>
          </a:p>
        </p:txBody>
      </p:sp>
      <p:sp>
        <p:nvSpPr>
          <p:cNvPr id="3" name="Text 1"/>
          <p:cNvSpPr/>
          <p:nvPr/>
        </p:nvSpPr>
        <p:spPr>
          <a:xfrm>
            <a:off x="685660" y="897521"/>
            <a:ext cx="18608347" cy="531159"/>
          </a:xfrm>
          <a:prstGeom prst="rect">
            <a:avLst/>
          </a:prstGeom>
          <a:noFill/>
          <a:ln/>
        </p:spPr>
        <p:txBody>
          <a:bodyPr wrap="square" lIns="25400" tIns="25400" rIns="25400" bIns="25400" rtlCol="0" anchor="t">
            <a:normAutofit/>
          </a:bodyPr>
          <a:lstStyle/>
          <a:p>
            <a:pPr algn="l" indent="0" marL="0">
              <a:buNone/>
            </a:pPr>
            <a:r>
              <a:rPr lang="en-US" sz="3300" b="1" spc="-33" kern="0" dirty="0">
                <a:solidFill>
                  <a:srgbClr val="EFF2E4"/>
                </a:solidFill>
                <a:latin typeface="Public Sans" pitchFamily="34" charset="0"/>
                <a:ea typeface="Public Sans" pitchFamily="34" charset="-122"/>
                <a:cs typeface="Public Sans" pitchFamily="34" charset="-120"/>
              </a:rPr>
              <a:t>Where value is genuine, add AI — carefully</a:t>
            </a:r>
            <a:endParaRPr lang="en-US" sz="3300" dirty="0"/>
          </a:p>
        </p:txBody>
      </p:sp>
      <p:sp>
        <p:nvSpPr>
          <p:cNvPr id="4" name="Shape 2"/>
          <p:cNvSpPr/>
          <p:nvPr/>
        </p:nvSpPr>
        <p:spPr>
          <a:xfrm>
            <a:off x="685660" y="1676330"/>
            <a:ext cx="5499286" cy="7697565"/>
          </a:xfrm>
          <a:prstGeom prst="roundRect">
            <a:avLst>
              <a:gd name="adj" fmla="val 2425"/>
            </a:avLst>
          </a:prstGeom>
          <a:solidFill>
            <a:srgbClr val="123A2D"/>
          </a:solidFill>
          <a:ln w="11206">
            <a:solidFill>
              <a:srgbClr val="1E4D3A"/>
            </a:solidFill>
            <a:prstDash val="solid"/>
          </a:ln>
        </p:spPr>
      </p:sp>
      <p:sp>
        <p:nvSpPr>
          <p:cNvPr id="5" name="Text 3"/>
          <p:cNvSpPr/>
          <p:nvPr/>
        </p:nvSpPr>
        <p:spPr>
          <a:xfrm>
            <a:off x="963531" y="1954201"/>
            <a:ext cx="5437899" cy="262218"/>
          </a:xfrm>
          <a:prstGeom prst="rect">
            <a:avLst/>
          </a:prstGeom>
          <a:noFill/>
          <a:ln/>
        </p:spPr>
        <p:txBody>
          <a:bodyPr wrap="square" lIns="25400" tIns="25400" rIns="25400" bIns="25400" rtlCol="0" anchor="t">
            <a:normAutofit/>
          </a:bodyPr>
          <a:lstStyle/>
          <a:p>
            <a:pPr algn="l" indent="0" marL="0">
              <a:buNone/>
            </a:pPr>
            <a:r>
              <a:rPr lang="en-US" sz="1350" b="1" dirty="0">
                <a:solidFill>
                  <a:srgbClr val="C8A45C"/>
                </a:solidFill>
                <a:latin typeface="IBM Plex Mono" pitchFamily="34" charset="0"/>
                <a:ea typeface="IBM Plex Mono" pitchFamily="34" charset="-122"/>
                <a:cs typeface="IBM Plex Mono" pitchFamily="34" charset="-120"/>
              </a:rPr>
              <a:t>NOW · MVP</a:t>
            </a:r>
            <a:endParaRPr lang="en-US" sz="1350" dirty="0"/>
          </a:p>
        </p:txBody>
      </p:sp>
      <p:sp>
        <p:nvSpPr>
          <p:cNvPr id="6" name="Text 4"/>
          <p:cNvSpPr/>
          <p:nvPr/>
        </p:nvSpPr>
        <p:spPr>
          <a:xfrm>
            <a:off x="963531" y="2235398"/>
            <a:ext cx="5437899" cy="307041"/>
          </a:xfrm>
          <a:prstGeom prst="rect">
            <a:avLst/>
          </a:prstGeom>
          <a:noFill/>
          <a:ln/>
        </p:spPr>
        <p:txBody>
          <a:bodyPr wrap="square" lIns="25400" tIns="25400" rIns="25400" bIns="25400" rtlCol="0" anchor="t">
            <a:normAutofit/>
          </a:bodyPr>
          <a:lstStyle/>
          <a:p>
            <a:pPr algn="l" indent="0" marL="0">
              <a:buNone/>
            </a:pPr>
            <a:r>
              <a:rPr lang="en-US" sz="1800" b="1" dirty="0">
                <a:solidFill>
                  <a:srgbClr val="EFF2E4"/>
                </a:solidFill>
                <a:latin typeface="Public Sans" pitchFamily="34" charset="0"/>
                <a:ea typeface="Public Sans" pitchFamily="34" charset="-122"/>
                <a:cs typeface="Public Sans" pitchFamily="34" charset="-120"/>
              </a:rPr>
              <a:t>Deterministic core</a:t>
            </a:r>
            <a:endParaRPr lang="en-US" sz="1800" dirty="0"/>
          </a:p>
        </p:txBody>
      </p:sp>
      <p:sp>
        <p:nvSpPr>
          <p:cNvPr id="7" name="Text 5"/>
          <p:cNvSpPr/>
          <p:nvPr/>
        </p:nvSpPr>
        <p:spPr>
          <a:xfrm>
            <a:off x="1027348" y="2656670"/>
            <a:ext cx="4955927" cy="1550894"/>
          </a:xfrm>
          <a:prstGeom prst="rect">
            <a:avLst/>
          </a:prstGeom>
          <a:noFill/>
          <a:ln/>
        </p:spPr>
        <p:txBody>
          <a:bodyPr wrap="square" lIns="25400" tIns="25400" rIns="25400" bIns="25400" rtlCol="0" anchor="t">
            <a:normAutofit/>
          </a:bodyPr>
          <a:lstStyle/>
          <a:p>
            <a:pPr algn="l" marL="126682" indent="-126682">
              <a:lnSpc>
                <a:spcPct val="144500"/>
              </a:lnSpc>
              <a:buSzPct val="100000"/>
              <a:buChar char="•"/>
              <a:tabLst>
                <a:tab pos="126682" algn="l"/>
              </a:tabLst>
            </a:pPr>
            <a:r>
              <a:rPr lang="en-US" sz="1425" dirty="0">
                <a:solidFill>
                  <a:srgbClr val="D9E2CC"/>
                </a:solidFill>
                <a:latin typeface="Public Sans" pitchFamily="34" charset="0"/>
                <a:ea typeface="Public Sans" pitchFamily="34" charset="-122"/>
                <a:cs typeface="Public Sans" pitchFamily="34" charset="-120"/>
              </a:rPr>
              <a:t>One-click booking</a:t>
            </a:r>
            <a:endParaRPr lang="en-US" sz="1425" dirty="0"/>
          </a:p>
          <a:p>
            <a:pPr algn="l" marL="126682" indent="-126682">
              <a:lnSpc>
                <a:spcPct val="144500"/>
              </a:lnSpc>
              <a:buSzPct val="100000"/>
              <a:buChar char="•"/>
              <a:tabLst>
                <a:tab pos="126682" algn="l"/>
              </a:tabLst>
            </a:pPr>
            <a:r>
              <a:rPr lang="en-US" sz="1425" dirty="0">
                <a:solidFill>
                  <a:srgbClr val="D9E2CC"/>
                </a:solidFill>
                <a:latin typeface="Public Sans" pitchFamily="34" charset="0"/>
                <a:ea typeface="Public Sans" pitchFamily="34" charset="-122"/>
                <a:cs typeface="Public Sans" pitchFamily="34" charset="-120"/>
              </a:rPr>
              <a:t>Graph availability &amp; rooms</a:t>
            </a:r>
            <a:endParaRPr lang="en-US" sz="1425" dirty="0"/>
          </a:p>
          <a:p>
            <a:pPr algn="l" marL="126682" indent="-126682">
              <a:lnSpc>
                <a:spcPct val="144500"/>
              </a:lnSpc>
              <a:buSzPct val="100000"/>
              <a:buChar char="•"/>
              <a:tabLst>
                <a:tab pos="126682" algn="l"/>
              </a:tabLst>
            </a:pPr>
            <a:r>
              <a:rPr lang="en-US" sz="1425" dirty="0">
                <a:solidFill>
                  <a:srgbClr val="D9E2CC"/>
                </a:solidFill>
                <a:latin typeface="Public Sans" pitchFamily="34" charset="0"/>
                <a:ea typeface="Public Sans" pitchFamily="34" charset="-122"/>
                <a:cs typeface="Public Sans" pitchFamily="34" charset="-120"/>
              </a:rPr>
              <a:t>Power Automate orchestration</a:t>
            </a:r>
            <a:endParaRPr lang="en-US" sz="1425" dirty="0"/>
          </a:p>
          <a:p>
            <a:pPr algn="l" marL="126682" indent="-126682">
              <a:lnSpc>
                <a:spcPct val="144500"/>
              </a:lnSpc>
              <a:buSzPct val="100000"/>
              <a:buChar char="•"/>
              <a:tabLst>
                <a:tab pos="126682" algn="l"/>
              </a:tabLst>
            </a:pPr>
            <a:r>
              <a:rPr lang="en-US" sz="1425" dirty="0">
                <a:solidFill>
                  <a:srgbClr val="D9E2CC"/>
                </a:solidFill>
                <a:latin typeface="Public Sans" pitchFamily="34" charset="0"/>
                <a:ea typeface="Public Sans" pitchFamily="34" charset="-122"/>
                <a:cs typeface="Public Sans" pitchFamily="34" charset="-120"/>
              </a:rPr>
              <a:t>Teams &amp; ops notifications</a:t>
            </a:r>
            <a:endParaRPr lang="en-US" sz="1425" dirty="0"/>
          </a:p>
          <a:p>
            <a:pPr algn="l" marL="126682" indent="-126682">
              <a:lnSpc>
                <a:spcPct val="144500"/>
              </a:lnSpc>
              <a:buSzPct val="100000"/>
              <a:buChar char="•"/>
              <a:tabLst>
                <a:tab pos="126682" algn="l"/>
              </a:tabLst>
            </a:pPr>
            <a:r>
              <a:rPr lang="en-US" sz="1425" dirty="0">
                <a:solidFill>
                  <a:srgbClr val="D9E2CC"/>
                </a:solidFill>
                <a:latin typeface="Public Sans" pitchFamily="34" charset="0"/>
                <a:ea typeface="Public Sans" pitchFamily="34" charset="-122"/>
                <a:cs typeface="Public Sans" pitchFamily="34" charset="-120"/>
              </a:rPr>
              <a:t>Lightweight Dynamics audit</a:t>
            </a:r>
            <a:endParaRPr lang="en-US" sz="1425" dirty="0"/>
          </a:p>
        </p:txBody>
      </p:sp>
      <p:sp>
        <p:nvSpPr>
          <p:cNvPr id="8" name="Shape 6"/>
          <p:cNvSpPr/>
          <p:nvPr/>
        </p:nvSpPr>
        <p:spPr>
          <a:xfrm>
            <a:off x="6394356" y="1676330"/>
            <a:ext cx="5499286" cy="7697565"/>
          </a:xfrm>
          <a:prstGeom prst="roundRect">
            <a:avLst>
              <a:gd name="adj" fmla="val 2425"/>
            </a:avLst>
          </a:prstGeom>
          <a:solidFill>
            <a:srgbClr val="123A2D"/>
          </a:solidFill>
          <a:ln w="11206">
            <a:solidFill>
              <a:srgbClr val="1E4D3A"/>
            </a:solidFill>
            <a:prstDash val="solid"/>
          </a:ln>
        </p:spPr>
      </p:sp>
      <p:sp>
        <p:nvSpPr>
          <p:cNvPr id="9" name="Text 7"/>
          <p:cNvSpPr/>
          <p:nvPr/>
        </p:nvSpPr>
        <p:spPr>
          <a:xfrm>
            <a:off x="6672227" y="1954201"/>
            <a:ext cx="5437899" cy="262218"/>
          </a:xfrm>
          <a:prstGeom prst="rect">
            <a:avLst/>
          </a:prstGeom>
          <a:noFill/>
          <a:ln/>
        </p:spPr>
        <p:txBody>
          <a:bodyPr wrap="square" lIns="25400" tIns="25400" rIns="25400" bIns="25400" rtlCol="0" anchor="t">
            <a:normAutofit/>
          </a:bodyPr>
          <a:lstStyle/>
          <a:p>
            <a:pPr algn="l" indent="0" marL="0">
              <a:buNone/>
            </a:pPr>
            <a:r>
              <a:rPr lang="en-US" sz="1350" b="1" dirty="0">
                <a:solidFill>
                  <a:srgbClr val="C8A45C"/>
                </a:solidFill>
                <a:latin typeface="IBM Plex Mono" pitchFamily="34" charset="0"/>
                <a:ea typeface="IBM Plex Mono" pitchFamily="34" charset="-122"/>
                <a:cs typeface="IBM Plex Mono" pitchFamily="34" charset="-120"/>
              </a:rPr>
              <a:t>NEXT · EXPERIENCE</a:t>
            </a:r>
            <a:endParaRPr lang="en-US" sz="1350" dirty="0"/>
          </a:p>
        </p:txBody>
      </p:sp>
      <p:sp>
        <p:nvSpPr>
          <p:cNvPr id="10" name="Text 8"/>
          <p:cNvSpPr/>
          <p:nvPr/>
        </p:nvSpPr>
        <p:spPr>
          <a:xfrm>
            <a:off x="6672227" y="2235398"/>
            <a:ext cx="5437899" cy="307041"/>
          </a:xfrm>
          <a:prstGeom prst="rect">
            <a:avLst/>
          </a:prstGeom>
          <a:noFill/>
          <a:ln/>
        </p:spPr>
        <p:txBody>
          <a:bodyPr wrap="square" lIns="25400" tIns="25400" rIns="25400" bIns="25400" rtlCol="0" anchor="t">
            <a:normAutofit/>
          </a:bodyPr>
          <a:lstStyle/>
          <a:p>
            <a:pPr algn="l" indent="0" marL="0">
              <a:buNone/>
            </a:pPr>
            <a:r>
              <a:rPr lang="en-US" sz="1800" b="1" dirty="0">
                <a:solidFill>
                  <a:srgbClr val="EFF2E4"/>
                </a:solidFill>
                <a:latin typeface="Public Sans" pitchFamily="34" charset="0"/>
                <a:ea typeface="Public Sans" pitchFamily="34" charset="-122"/>
                <a:cs typeface="Public Sans" pitchFamily="34" charset="-120"/>
              </a:rPr>
              <a:t>Depth &amp; reach</a:t>
            </a:r>
            <a:endParaRPr lang="en-US" sz="1800" dirty="0"/>
          </a:p>
        </p:txBody>
      </p:sp>
      <p:sp>
        <p:nvSpPr>
          <p:cNvPr id="11" name="Text 9"/>
          <p:cNvSpPr/>
          <p:nvPr/>
        </p:nvSpPr>
        <p:spPr>
          <a:xfrm>
            <a:off x="6736045" y="2656670"/>
            <a:ext cx="4955927" cy="1248335"/>
          </a:xfrm>
          <a:prstGeom prst="rect">
            <a:avLst/>
          </a:prstGeom>
          <a:noFill/>
          <a:ln/>
        </p:spPr>
        <p:txBody>
          <a:bodyPr wrap="square" lIns="25400" tIns="25400" rIns="25400" bIns="25400" rtlCol="0" anchor="t">
            <a:normAutofit/>
          </a:bodyPr>
          <a:lstStyle/>
          <a:p>
            <a:pPr algn="l" marL="126682" indent="-126682">
              <a:lnSpc>
                <a:spcPct val="144500"/>
              </a:lnSpc>
              <a:buSzPct val="100000"/>
              <a:buChar char="•"/>
              <a:tabLst>
                <a:tab pos="126682" algn="l"/>
              </a:tabLst>
            </a:pPr>
            <a:r>
              <a:rPr lang="en-US" sz="1425" dirty="0">
                <a:solidFill>
                  <a:srgbClr val="D9E2CC"/>
                </a:solidFill>
                <a:latin typeface="Public Sans" pitchFamily="34" charset="0"/>
                <a:ea typeface="Public Sans" pitchFamily="34" charset="-122"/>
                <a:cs typeface="Public Sans" pitchFamily="34" charset="-120"/>
              </a:rPr>
              <a:t>Mobile experience</a:t>
            </a:r>
            <a:endParaRPr lang="en-US" sz="1425" dirty="0"/>
          </a:p>
          <a:p>
            <a:pPr algn="l" marL="126682" indent="-126682">
              <a:lnSpc>
                <a:spcPct val="144500"/>
              </a:lnSpc>
              <a:buSzPct val="100000"/>
              <a:buChar char="•"/>
              <a:tabLst>
                <a:tab pos="126682" algn="l"/>
              </a:tabLst>
            </a:pPr>
            <a:r>
              <a:rPr lang="en-US" sz="1425" dirty="0">
                <a:solidFill>
                  <a:srgbClr val="D9E2CC"/>
                </a:solidFill>
                <a:latin typeface="Public Sans" pitchFamily="34" charset="0"/>
                <a:ea typeface="Public Sans" pitchFamily="34" charset="-122"/>
                <a:cs typeface="Public Sans" pitchFamily="34" charset="-120"/>
              </a:rPr>
              <a:t>Deeper Teams integration</a:t>
            </a:r>
            <a:endParaRPr lang="en-US" sz="1425" dirty="0"/>
          </a:p>
          <a:p>
            <a:pPr algn="l" marL="126682" indent="-126682">
              <a:lnSpc>
                <a:spcPct val="144500"/>
              </a:lnSpc>
              <a:buSzPct val="100000"/>
              <a:buChar char="•"/>
              <a:tabLst>
                <a:tab pos="126682" algn="l"/>
              </a:tabLst>
            </a:pPr>
            <a:r>
              <a:rPr lang="en-US" sz="1425" dirty="0">
                <a:solidFill>
                  <a:srgbClr val="D9E2CC"/>
                </a:solidFill>
                <a:latin typeface="Public Sans" pitchFamily="34" charset="0"/>
                <a:ea typeface="Public Sans" pitchFamily="34" charset="-122"/>
                <a:cs typeface="Public Sans" pitchFamily="34" charset="-120"/>
              </a:rPr>
              <a:t>Analytics dashboard</a:t>
            </a:r>
            <a:endParaRPr lang="en-US" sz="1425" dirty="0"/>
          </a:p>
          <a:p>
            <a:pPr algn="l" marL="126682" indent="-126682">
              <a:lnSpc>
                <a:spcPct val="144500"/>
              </a:lnSpc>
              <a:buSzPct val="100000"/>
              <a:buChar char="•"/>
              <a:tabLst>
                <a:tab pos="126682" algn="l"/>
              </a:tabLst>
            </a:pPr>
            <a:r>
              <a:rPr lang="en-US" sz="1425" dirty="0">
                <a:solidFill>
                  <a:srgbClr val="D9E2CC"/>
                </a:solidFill>
                <a:latin typeface="Public Sans" pitchFamily="34" charset="0"/>
                <a:ea typeface="Public Sans" pitchFamily="34" charset="-122"/>
                <a:cs typeface="Public Sans" pitchFamily="34" charset="-120"/>
              </a:rPr>
              <a:t>Reporting &amp; insights</a:t>
            </a:r>
            <a:endParaRPr lang="en-US" sz="1425" dirty="0"/>
          </a:p>
        </p:txBody>
      </p:sp>
      <p:sp>
        <p:nvSpPr>
          <p:cNvPr id="12" name="Shape 10"/>
          <p:cNvSpPr/>
          <p:nvPr/>
        </p:nvSpPr>
        <p:spPr>
          <a:xfrm>
            <a:off x="12103053" y="1676330"/>
            <a:ext cx="5499286" cy="7697565"/>
          </a:xfrm>
          <a:prstGeom prst="roundRect">
            <a:avLst>
              <a:gd name="adj" fmla="val 2425"/>
            </a:avLst>
          </a:prstGeom>
          <a:solidFill>
            <a:srgbClr val="123A2A"/>
          </a:solidFill>
          <a:ln w="11206">
            <a:solidFill>
              <a:srgbClr val="2C6B45"/>
            </a:solidFill>
            <a:prstDash val="solid"/>
          </a:ln>
        </p:spPr>
      </p:sp>
      <p:sp>
        <p:nvSpPr>
          <p:cNvPr id="13" name="Text 11"/>
          <p:cNvSpPr/>
          <p:nvPr/>
        </p:nvSpPr>
        <p:spPr>
          <a:xfrm>
            <a:off x="12380923" y="1954201"/>
            <a:ext cx="5437899" cy="262218"/>
          </a:xfrm>
          <a:prstGeom prst="rect">
            <a:avLst/>
          </a:prstGeom>
          <a:noFill/>
          <a:ln/>
        </p:spPr>
        <p:txBody>
          <a:bodyPr wrap="square" lIns="25400" tIns="25400" rIns="25400" bIns="25400" rtlCol="0" anchor="t">
            <a:normAutofit/>
          </a:bodyPr>
          <a:lstStyle/>
          <a:p>
            <a:pPr algn="l" indent="0" marL="0">
              <a:buNone/>
            </a:pPr>
            <a:r>
              <a:rPr lang="en-US" sz="1350" b="1" dirty="0">
                <a:solidFill>
                  <a:srgbClr val="7FE6A8"/>
                </a:solidFill>
                <a:latin typeface="IBM Plex Mono" pitchFamily="34" charset="0"/>
                <a:ea typeface="IBM Plex Mono" pitchFamily="34" charset="-122"/>
                <a:cs typeface="IBM Plex Mono" pitchFamily="34" charset="-120"/>
              </a:rPr>
              <a:t>LATER · AI, WHERE IT PAYS</a:t>
            </a:r>
            <a:endParaRPr lang="en-US" sz="1350" dirty="0"/>
          </a:p>
        </p:txBody>
      </p:sp>
      <p:sp>
        <p:nvSpPr>
          <p:cNvPr id="14" name="Text 12"/>
          <p:cNvSpPr/>
          <p:nvPr/>
        </p:nvSpPr>
        <p:spPr>
          <a:xfrm>
            <a:off x="12380923" y="2235398"/>
            <a:ext cx="5437899" cy="307041"/>
          </a:xfrm>
          <a:prstGeom prst="rect">
            <a:avLst/>
          </a:prstGeom>
          <a:noFill/>
          <a:ln/>
        </p:spPr>
        <p:txBody>
          <a:bodyPr wrap="square" lIns="25400" tIns="25400" rIns="25400" bIns="25400" rtlCol="0" anchor="t">
            <a:normAutofit/>
          </a:bodyPr>
          <a:lstStyle/>
          <a:p>
            <a:pPr algn="l" indent="0" marL="0">
              <a:buNone/>
            </a:pPr>
            <a:r>
              <a:rPr lang="en-US" sz="1800" b="1" dirty="0">
                <a:solidFill>
                  <a:srgbClr val="EFF2E4"/>
                </a:solidFill>
                <a:latin typeface="Public Sans" pitchFamily="34" charset="0"/>
                <a:ea typeface="Public Sans" pitchFamily="34" charset="-122"/>
                <a:cs typeface="Public Sans" pitchFamily="34" charset="-120"/>
              </a:rPr>
              <a:t>Copilot &amp; intelligence</a:t>
            </a:r>
            <a:endParaRPr lang="en-US" sz="1800" dirty="0"/>
          </a:p>
        </p:txBody>
      </p:sp>
      <p:sp>
        <p:nvSpPr>
          <p:cNvPr id="15" name="Text 13"/>
          <p:cNvSpPr/>
          <p:nvPr/>
        </p:nvSpPr>
        <p:spPr>
          <a:xfrm>
            <a:off x="12444741" y="2656670"/>
            <a:ext cx="4955927" cy="1550894"/>
          </a:xfrm>
          <a:prstGeom prst="rect">
            <a:avLst/>
          </a:prstGeom>
          <a:noFill/>
          <a:ln/>
        </p:spPr>
        <p:txBody>
          <a:bodyPr wrap="square" lIns="25400" tIns="25400" rIns="25400" bIns="25400" rtlCol="0" anchor="t">
            <a:normAutofit/>
          </a:bodyPr>
          <a:lstStyle/>
          <a:p>
            <a:pPr algn="l" marL="126682" indent="-126682">
              <a:lnSpc>
                <a:spcPct val="144500"/>
              </a:lnSpc>
              <a:buSzPct val="100000"/>
              <a:buChar char="•"/>
              <a:tabLst>
                <a:tab pos="126682" algn="l"/>
              </a:tabLst>
            </a:pPr>
            <a:r>
              <a:rPr lang="en-US" sz="1425" dirty="0">
                <a:solidFill>
                  <a:srgbClr val="D8ECDF"/>
                </a:solidFill>
                <a:latin typeface="Public Sans" pitchFamily="34" charset="0"/>
                <a:ea typeface="Public Sans" pitchFamily="34" charset="-122"/>
                <a:cs typeface="Public Sans" pitchFamily="34" charset="-120"/>
              </a:rPr>
              <a:t>Email intent detection</a:t>
            </a:r>
            <a:endParaRPr lang="en-US" sz="1425" dirty="0"/>
          </a:p>
          <a:p>
            <a:pPr algn="l" marL="126682" indent="-126682">
              <a:lnSpc>
                <a:spcPct val="144500"/>
              </a:lnSpc>
              <a:buSzPct val="100000"/>
              <a:buChar char="•"/>
              <a:tabLst>
                <a:tab pos="126682" algn="l"/>
              </a:tabLst>
            </a:pPr>
            <a:r>
              <a:rPr lang="en-US" sz="1425" dirty="0">
                <a:solidFill>
                  <a:srgbClr val="D8ECDF"/>
                </a:solidFill>
                <a:latin typeface="Public Sans" pitchFamily="34" charset="0"/>
                <a:ea typeface="Public Sans" pitchFamily="34" charset="-122"/>
                <a:cs typeface="Public Sans" pitchFamily="34" charset="-120"/>
              </a:rPr>
              <a:t>AI meeting summaries</a:t>
            </a:r>
            <a:endParaRPr lang="en-US" sz="1425" dirty="0"/>
          </a:p>
          <a:p>
            <a:pPr algn="l" marL="126682" indent="-126682">
              <a:lnSpc>
                <a:spcPct val="144500"/>
              </a:lnSpc>
              <a:buSzPct val="100000"/>
              <a:buChar char="•"/>
              <a:tabLst>
                <a:tab pos="126682" algn="l"/>
              </a:tabLst>
            </a:pPr>
            <a:r>
              <a:rPr lang="en-US" sz="1425" dirty="0">
                <a:solidFill>
                  <a:srgbClr val="D8ECDF"/>
                </a:solidFill>
                <a:latin typeface="Public Sans" pitchFamily="34" charset="0"/>
                <a:ea typeface="Public Sans" pitchFamily="34" charset="-122"/>
                <a:cs typeface="Public Sans" pitchFamily="34" charset="-120"/>
              </a:rPr>
              <a:t>Room &amp; catering prediction</a:t>
            </a:r>
            <a:endParaRPr lang="en-US" sz="1425" dirty="0"/>
          </a:p>
          <a:p>
            <a:pPr algn="l" marL="126682" indent="-126682">
              <a:lnSpc>
                <a:spcPct val="144500"/>
              </a:lnSpc>
              <a:buSzPct val="100000"/>
              <a:buChar char="•"/>
              <a:tabLst>
                <a:tab pos="126682" algn="l"/>
              </a:tabLst>
            </a:pPr>
            <a:r>
              <a:rPr lang="en-US" sz="1425" dirty="0">
                <a:solidFill>
                  <a:srgbClr val="D8ECDF"/>
                </a:solidFill>
                <a:latin typeface="Public Sans" pitchFamily="34" charset="0"/>
                <a:ea typeface="Public Sans" pitchFamily="34" charset="-122"/>
                <a:cs typeface="Public Sans" pitchFamily="34" charset="-120"/>
              </a:rPr>
              <a:t>Predictive scheduling</a:t>
            </a:r>
            <a:endParaRPr lang="en-US" sz="1425" dirty="0"/>
          </a:p>
          <a:p>
            <a:pPr algn="l" marL="126682" indent="-126682">
              <a:lnSpc>
                <a:spcPct val="144500"/>
              </a:lnSpc>
              <a:buSzPct val="100000"/>
              <a:buChar char="•"/>
              <a:tabLst>
                <a:tab pos="126682" algn="l"/>
              </a:tabLst>
            </a:pPr>
            <a:r>
              <a:rPr lang="en-US" sz="1425" dirty="0">
                <a:solidFill>
                  <a:srgbClr val="D8ECDF"/>
                </a:solidFill>
                <a:latin typeface="Public Sans" pitchFamily="34" charset="0"/>
                <a:ea typeface="Public Sans" pitchFamily="34" charset="-122"/>
                <a:cs typeface="Public Sans" pitchFamily="34" charset="-120"/>
              </a:rPr>
              <a:t>Copilot for RM questions</a:t>
            </a:r>
            <a:endParaRPr lang="en-US" sz="1425" dirty="0"/>
          </a:p>
        </p:txBody>
      </p:sp>
      <p:sp>
        <p:nvSpPr>
          <p:cNvPr id="16" name="Text 14"/>
          <p:cNvSpPr/>
          <p:nvPr/>
        </p:nvSpPr>
        <p:spPr>
          <a:xfrm>
            <a:off x="685660" y="9583305"/>
            <a:ext cx="18608347" cy="284629"/>
          </a:xfrm>
          <a:prstGeom prst="rect">
            <a:avLst/>
          </a:prstGeom>
          <a:noFill/>
          <a:ln/>
        </p:spPr>
        <p:txBody>
          <a:bodyPr wrap="square" lIns="25400" tIns="25400" rIns="25400" bIns="25400" rtlCol="0" anchor="t">
            <a:normAutofit/>
          </a:bodyPr>
          <a:lstStyle/>
          <a:p>
            <a:pPr algn="l" indent="0" marL="0">
              <a:buNone/>
            </a:pPr>
            <a:r>
              <a:rPr lang="en-US" sz="1500" dirty="0">
                <a:solidFill>
                  <a:srgbClr val="7FE6A8"/>
                </a:solidFill>
                <a:latin typeface="IBM Plex Mono" pitchFamily="34" charset="0"/>
                <a:ea typeface="IBM Plex Mono" pitchFamily="34" charset="-122"/>
                <a:cs typeface="IBM Plex Mono" pitchFamily="34" charset="-120"/>
              </a:rPr>
              <a:t>AI augments people at the edges — it never runs the deterministic, auditable workflow.</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18287999" cy="10286999"/>
          </a:xfrm>
          <a:prstGeom prst="rect">
            <a:avLst/>
          </a:prstGeom>
          <a:gradFill rotWithShape="1">
            <a:gsLst>
              <a:gs pos="0">
                <a:srgbClr val="1C5C43">
                  <a:alpha val="100000"/>
                </a:srgbClr>
              </a:gs>
              <a:gs pos="55000">
                <a:srgbClr val="0D2E22">
                  <a:alpha val="100000"/>
                </a:srgbClr>
              </a:gs>
              <a:gs pos="100000">
                <a:srgbClr val="08221A">
                  <a:alpha val="100000"/>
                </a:srgbClr>
              </a:gs>
            </a:gsLst>
            <a:path path="circle">
              <a:fillToRect l="80000" t="100000" r="20000" b="0"/>
            </a:path>
          </a:gradFill>
          <a:ln/>
        </p:spPr>
      </p:sp>
      <p:sp>
        <p:nvSpPr>
          <p:cNvPr id="3" name="Text 1"/>
          <p:cNvSpPr/>
          <p:nvPr/>
        </p:nvSpPr>
        <p:spPr>
          <a:xfrm>
            <a:off x="952500" y="3102979"/>
            <a:ext cx="18021299" cy="307041"/>
          </a:xfrm>
          <a:prstGeom prst="rect">
            <a:avLst/>
          </a:prstGeom>
          <a:noFill/>
          <a:ln/>
        </p:spPr>
        <p:txBody>
          <a:bodyPr wrap="square" lIns="25400" tIns="25400" rIns="25400" bIns="25400" rtlCol="0" anchor="t">
            <a:normAutofit/>
          </a:bodyPr>
          <a:lstStyle/>
          <a:p>
            <a:pPr algn="l" indent="0" marL="0">
              <a:buNone/>
            </a:pPr>
            <a:r>
              <a:rPr lang="en-US" sz="1650" b="1" spc="231" kern="0" dirty="0">
                <a:solidFill>
                  <a:srgbClr val="C8A45C"/>
                </a:solidFill>
                <a:latin typeface="IBM Plex Mono" pitchFamily="34" charset="0"/>
                <a:ea typeface="IBM Plex Mono" pitchFamily="34" charset="-122"/>
                <a:cs typeface="IBM Plex Mono" pitchFamily="34" charset="-120"/>
              </a:rPr>
              <a:t>IN SUMMARY</a:t>
            </a:r>
            <a:endParaRPr lang="en-US" sz="1650" dirty="0"/>
          </a:p>
        </p:txBody>
      </p:sp>
      <p:sp>
        <p:nvSpPr>
          <p:cNvPr id="4" name="Text 2"/>
          <p:cNvSpPr/>
          <p:nvPr/>
        </p:nvSpPr>
        <p:spPr>
          <a:xfrm>
            <a:off x="952500" y="3562420"/>
            <a:ext cx="12753974" cy="1337982"/>
          </a:xfrm>
          <a:prstGeom prst="rect">
            <a:avLst/>
          </a:prstGeom>
          <a:noFill/>
          <a:ln/>
        </p:spPr>
        <p:txBody>
          <a:bodyPr wrap="square" lIns="25400" tIns="25400" rIns="25400" bIns="25400" rtlCol="0" anchor="t">
            <a:normAutofit/>
          </a:bodyPr>
          <a:lstStyle/>
          <a:p>
            <a:pPr algn="l" indent="0" marL="0">
              <a:lnSpc>
                <a:spcPct val="91800"/>
              </a:lnSpc>
              <a:buNone/>
            </a:pPr>
            <a:r>
              <a:rPr lang="en-US" sz="4800" b="1" spc="-96" kern="0" dirty="0">
                <a:solidFill>
                  <a:srgbClr val="EFF2E4"/>
                </a:solidFill>
                <a:latin typeface="Public Sans" pitchFamily="34" charset="0"/>
                <a:ea typeface="Public Sans" pitchFamily="34" charset="-122"/>
                <a:cs typeface="Public Sans" pitchFamily="34" charset="-120"/>
              </a:rPr>
              <a:t>The Relationship Manager does one thing. Microsoft does the rest.</a:t>
            </a:r>
            <a:endParaRPr lang="en-US" sz="4800" dirty="0"/>
          </a:p>
        </p:txBody>
      </p:sp>
      <p:sp>
        <p:nvSpPr>
          <p:cNvPr id="5" name="Text 3"/>
          <p:cNvSpPr/>
          <p:nvPr/>
        </p:nvSpPr>
        <p:spPr>
          <a:xfrm>
            <a:off x="952500" y="5128967"/>
            <a:ext cx="10301286" cy="1214718"/>
          </a:xfrm>
          <a:prstGeom prst="rect">
            <a:avLst/>
          </a:prstGeom>
          <a:noFill/>
          <a:ln/>
        </p:spPr>
        <p:txBody>
          <a:bodyPr wrap="square" lIns="25400" tIns="25400" rIns="25400" bIns="25400" rtlCol="0" anchor="t">
            <a:normAutofit/>
          </a:bodyPr>
          <a:lstStyle/>
          <a:p>
            <a:pPr algn="l" indent="0" marL="0">
              <a:lnSpc>
                <a:spcPct val="127500"/>
              </a:lnSpc>
              <a:buNone/>
            </a:pPr>
            <a:r>
              <a:rPr lang="en-US" sz="2100" dirty="0">
                <a:solidFill>
                  <a:srgbClr val="DFE7CF"/>
                </a:solidFill>
                <a:latin typeface="Public Sans" pitchFamily="34" charset="0"/>
                <a:ea typeface="Public Sans" pitchFamily="34" charset="-122"/>
                <a:cs typeface="Public Sans" pitchFamily="34" charset="-120"/>
              </a:rPr>
              <a:t>A single Create Meeting action, orchestrated across Graph, Outlook, Power Automate and Teams — faster, consistent, auditable, and ready for AI when the value is real.</a:t>
            </a:r>
            <a:endParaRPr lang="en-US" sz="2100" dirty="0"/>
          </a:p>
        </p:txBody>
      </p:sp>
      <p:sp>
        <p:nvSpPr>
          <p:cNvPr id="6" name="Shape 4"/>
          <p:cNvSpPr/>
          <p:nvPr/>
        </p:nvSpPr>
        <p:spPr>
          <a:xfrm>
            <a:off x="952500" y="6686585"/>
            <a:ext cx="5089746" cy="497261"/>
          </a:xfrm>
          <a:prstGeom prst="roundRect">
            <a:avLst>
              <a:gd name="adj" fmla="val 50000"/>
            </a:avLst>
          </a:prstGeom>
          <a:ln w="11206">
            <a:solidFill>
              <a:srgbClr val="2C5F49"/>
            </a:solidFill>
            <a:prstDash val="solid"/>
          </a:ln>
        </p:spPr>
      </p:sp>
      <p:sp>
        <p:nvSpPr>
          <p:cNvPr id="7" name="Text 5"/>
          <p:cNvSpPr/>
          <p:nvPr/>
        </p:nvSpPr>
        <p:spPr>
          <a:xfrm>
            <a:off x="1154206" y="6812091"/>
            <a:ext cx="4839027" cy="284349"/>
          </a:xfrm>
          <a:prstGeom prst="rect">
            <a:avLst/>
          </a:prstGeom>
          <a:noFill/>
          <a:ln/>
        </p:spPr>
        <p:txBody>
          <a:bodyPr wrap="square" lIns="25400" tIns="25400" rIns="25400" bIns="25400" rtlCol="0" anchor="t">
            <a:normAutofit/>
          </a:bodyPr>
          <a:lstStyle/>
          <a:p>
            <a:pPr algn="l" indent="0" marL="0">
              <a:buNone/>
            </a:pPr>
            <a:r>
              <a:rPr lang="en-US" sz="1500" dirty="0">
                <a:solidFill>
                  <a:srgbClr val="DBE6CD"/>
                </a:solidFill>
                <a:latin typeface="IBM Plex Mono" pitchFamily="34" charset="0"/>
                <a:ea typeface="IBM Plex Mono" pitchFamily="34" charset="-122"/>
                <a:cs typeface="IBM Plex Mono" pitchFamily="34" charset="-120"/>
              </a:rPr>
              <a:t>Next step · Discovery to baseline metrics</a:t>
            </a:r>
            <a:endParaRPr lang="en-US" sz="1500" dirty="0"/>
          </a:p>
        </p:txBody>
      </p:sp>
      <p:sp>
        <p:nvSpPr>
          <p:cNvPr id="8" name="Shape 6"/>
          <p:cNvSpPr/>
          <p:nvPr/>
        </p:nvSpPr>
        <p:spPr>
          <a:xfrm>
            <a:off x="6194577" y="6686585"/>
            <a:ext cx="5432752" cy="497261"/>
          </a:xfrm>
          <a:prstGeom prst="roundRect">
            <a:avLst>
              <a:gd name="adj" fmla="val 50000"/>
            </a:avLst>
          </a:prstGeom>
          <a:ln w="11206">
            <a:solidFill>
              <a:srgbClr val="2C5F49"/>
            </a:solidFill>
            <a:prstDash val="solid"/>
          </a:ln>
        </p:spPr>
      </p:sp>
      <p:sp>
        <p:nvSpPr>
          <p:cNvPr id="9" name="Text 7"/>
          <p:cNvSpPr/>
          <p:nvPr/>
        </p:nvSpPr>
        <p:spPr>
          <a:xfrm>
            <a:off x="6396282" y="6812091"/>
            <a:ext cx="5192322" cy="284349"/>
          </a:xfrm>
          <a:prstGeom prst="rect">
            <a:avLst/>
          </a:prstGeom>
          <a:noFill/>
          <a:ln/>
        </p:spPr>
        <p:txBody>
          <a:bodyPr wrap="square" lIns="25400" tIns="25400" rIns="25400" bIns="25400" rtlCol="0" anchor="t">
            <a:normAutofit/>
          </a:bodyPr>
          <a:lstStyle/>
          <a:p>
            <a:pPr algn="l" indent="0" marL="0">
              <a:buNone/>
            </a:pPr>
            <a:r>
              <a:rPr lang="en-US" sz="1500" dirty="0">
                <a:solidFill>
                  <a:srgbClr val="DBE6CD"/>
                </a:solidFill>
                <a:latin typeface="IBM Plex Mono" pitchFamily="34" charset="0"/>
                <a:ea typeface="IBM Plex Mono" pitchFamily="34" charset="-122"/>
                <a:cs typeface="IBM Plex Mono" pitchFamily="34" charset="-120"/>
              </a:rPr>
              <a:t>Confirm scope with Architecture Review Board</a:t>
            </a:r>
            <a:endParaRPr lang="en-US" sz="1500" dirty="0"/>
          </a:p>
        </p:txBody>
      </p:sp>
      <p:sp>
        <p:nvSpPr>
          <p:cNvPr id="10" name="Shape 8"/>
          <p:cNvSpPr/>
          <p:nvPr/>
        </p:nvSpPr>
        <p:spPr>
          <a:xfrm>
            <a:off x="11779658" y="6686585"/>
            <a:ext cx="3832411" cy="497261"/>
          </a:xfrm>
          <a:prstGeom prst="roundRect">
            <a:avLst>
              <a:gd name="adj" fmla="val 50000"/>
            </a:avLst>
          </a:prstGeom>
          <a:ln w="11206">
            <a:solidFill>
              <a:srgbClr val="2C5F49"/>
            </a:solidFill>
            <a:prstDash val="solid"/>
          </a:ln>
        </p:spPr>
      </p:sp>
      <p:sp>
        <p:nvSpPr>
          <p:cNvPr id="11" name="Text 9"/>
          <p:cNvSpPr/>
          <p:nvPr/>
        </p:nvSpPr>
        <p:spPr>
          <a:xfrm>
            <a:off x="11981364" y="6812091"/>
            <a:ext cx="3543972" cy="284349"/>
          </a:xfrm>
          <a:prstGeom prst="rect">
            <a:avLst/>
          </a:prstGeom>
          <a:noFill/>
          <a:ln/>
        </p:spPr>
        <p:txBody>
          <a:bodyPr wrap="square" lIns="25400" tIns="25400" rIns="25400" bIns="25400" rtlCol="0" anchor="t">
            <a:normAutofit/>
          </a:bodyPr>
          <a:lstStyle/>
          <a:p>
            <a:pPr algn="l" indent="0" marL="0">
              <a:buNone/>
            </a:pPr>
            <a:r>
              <a:rPr lang="en-US" sz="1500" dirty="0">
                <a:solidFill>
                  <a:srgbClr val="DBE6CD"/>
                </a:solidFill>
                <a:latin typeface="IBM Plex Mono" pitchFamily="34" charset="0"/>
                <a:ea typeface="IBM Plex Mono" pitchFamily="34" charset="-122"/>
                <a:cs typeface="IBM Plex Mono" pitchFamily="34" charset="-120"/>
              </a:rPr>
              <a:t>MVP delivery on Power Platform</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2026-07-27T12:31:12Z</dcterms:created>
  <dcterms:modified xsi:type="dcterms:W3CDTF">2026-07-27T12:31:12Z</dcterms:modified>
</cp:coreProperties>
</file>