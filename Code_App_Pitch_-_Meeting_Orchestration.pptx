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Twenty minutes. Frame it plainly: we are not asking for money or a decision today, we are asking whether you agree with the direction. Three things to land — the RM problem is a joined-up-experience problem, not a missing-data problem; a code app is the right build for it and we can show why; and we can move quickly because of how code apps are built. Say up front that what they will see demoed later is deliberately plain, and slide 8 shows where the UX goes.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minutes. The key sentence is the headline: the data is not missing, it is not joined. An RM carries many relationships; for one meeting they need the client record from Dynamics, three or four diaries from Outlook, a room, and sometimes a partner's availability from an EA. None of that is hard to find. All of it is a different screen. Today the RM is the integration layer, and that is what we are removing. The two numbers are the ones worth baselining before the build — say plainly that they are ours to confirm, not claims.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true as-is, decisions and all — ten core steps across four active teams (Team Assistant sits in the lane but only handles lunches, intermediaries and complex meetings). Three decision points and two rework loops are the story: if the customer can't make any of the three dates the RM deletes all provisional holds and restarts at step 4; if the partner isn't available the flow also restarts at step 4. Known-to-partner short-circuits the partner phase — No creates the CRM invite directly, Yes emails the EA to check the partner. Every diamond is a place the process can stall or repeat; every envelope is a manual email. That fragility is what the future state removes.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swimlane grammar as the as-is slide. Follow the numbered path — ten steps, three of them customer touches. Step 4 is the Copilot Studio agent: it reads the client request, and once Graph has resolved availability it drafts the invitation in one house style. The RM reviews before anything goes out. The tech chip on each step names the component. An automated CRM partner-flag check auto-includes the partner as an attendee — the manual EA email and rework loop from the as-is are gone. The orange line of visibility marks everything customers and RMs never see.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minutes, the technology decision. Be even-handed: we considered doing nothing first. Native Microsoft can find a time, but it cannot read the client relationship or hold provisional options, so the RM still does the joining. Canvas is quick to start and painful at this level of interaction and state — and it is not testable or reviewable the way our engineers work. Model-driven gives us Dataverse for free but the RM journey is not a form over a table; it is a guided flow. Code apps keep the Power Platform envelope — same tenancy, same connectors, same governance — and give us React, source control, code review and reuse. Land it as: same platform, better craft.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correction to make, and it simplifies things. Earlier drafts of this design had a bespoke Azure OpenAI call in the flow. We are not doing that — the app talks to a Copilot Studio agent instead. Two jobs only: read the client's email and pull out the meeting intent, then draft the invitation in one house style. It never picks a time on its own and it never sends. Why the change: nothing new to stand up, it sits inside the Power Platform governance the bank already signed off, and the prompts and topics are maintained by the team rather than shipped as code. If asked about Azure OpenAI — it is still what runs underneath Copilot Studio; we just stop owning the plumbing.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minutes, and this is the part that is genuinely different. Wireframes to a clickable app in two weeks — that already happened, it is not a projection. The reason is not heroics: it is that a code app is ordinary engineering. Changes go through source control and review, deploy through the pipeline we already use, and a change asked for in a session can be in front of the RM the same day. If the panel takes one thing away: we can bring them something to react to every week rather than every quarter.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honest here first: the working app you will see is deliberately plain, because we spent the two weeks proving the flow, not the finish. This slide is where it goes. Three ideas — the RM lands on what needs them rather than a blank form; the app shows its reasoning when it proposes times so the RM stays in charge; and every draft is editable before anything leaves the bank. The second half of the ask is for the technology team: if we agree on this shell — the frame, the auth, the CRM plumbing, the review-gate pattern — the next journey starts at week two, not week zero.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minutes, and keep it honest. Lead with the qualitative — that is what this is really about. The RM stops being the integration layer. The client gets one clear message instead of a thread. Every booking looks the same regardless of who made it, and there is a record of what happened. Then the two numbers: we will baseline both before the pilot, and we would rather commit to measuring them than to a business case built on guesses.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their objections rather than our summary. These five are the questions we have actually been asked, and the short answer to each. Then the ask, which is deliberately small: we are not asking for money or headcount today, only whether you agree with the direction — code app, Copilot Studio for reading and drafting, and this UX. If you do, we take it to pilot with a few RMs and come back with real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sv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sv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6F9"/>
        </a:solidFill>
      </p:bgPr>
    </p:bg>
    <p:spTree>
      <p:nvGrpSpPr>
        <p:cNvPr id="1" name=""/>
        <p:cNvGrpSpPr/>
        <p:nvPr/>
      </p:nvGrpSpPr>
      <p:grpSpPr>
        <a:xfrm>
          <a:off x="0" y="0"/>
          <a:ext cx="0" cy="0"/>
          <a:chOff x="0" y="0"/>
          <a:chExt cx="0" cy="0"/>
        </a:xfrm>
      </p:grpSpPr>
      <p:sp>
        <p:nvSpPr>
          <p:cNvPr id="2" name="Text 0"/>
          <p:cNvSpPr/>
          <p:nvPr/>
        </p:nvSpPr>
        <p:spPr>
          <a:xfrm>
            <a:off x="914330" y="762000"/>
            <a:ext cx="6699051" cy="340659"/>
          </a:xfrm>
          <a:prstGeom prst="rect">
            <a:avLst/>
          </a:prstGeom>
          <a:noFill/>
          <a:ln/>
        </p:spPr>
        <p:txBody>
          <a:bodyPr wrap="square" lIns="25400" tIns="25400" rIns="25400" bIns="25400" rtlCol="0" anchor="t">
            <a:normAutofit/>
          </a:bodyPr>
          <a:lstStyle/>
          <a:p>
            <a:pPr algn="l" indent="0" marL="0">
              <a:buNone/>
            </a:pPr>
            <a:r>
              <a:rPr lang="en-US" sz="1800" b="1" spc="252" kern="0" dirty="0">
                <a:solidFill>
                  <a:srgbClr val="1C5C43"/>
                </a:solidFill>
                <a:latin typeface="IBM Plex Mono" pitchFamily="34" charset="0"/>
                <a:ea typeface="IBM Plex Mono" pitchFamily="34" charset="-122"/>
                <a:cs typeface="IBM Plex Mono" pitchFamily="34" charset="-120"/>
              </a:rPr>
              <a:t>MEETING ORCHESTRATION · PRIVATE BANK</a:t>
            </a:r>
            <a:endParaRPr lang="en-US" sz="1800" dirty="0"/>
          </a:p>
        </p:txBody>
      </p:sp>
      <p:sp>
        <p:nvSpPr>
          <p:cNvPr id="3" name="Text 1"/>
          <p:cNvSpPr/>
          <p:nvPr/>
        </p:nvSpPr>
        <p:spPr>
          <a:xfrm>
            <a:off x="12218613" y="762000"/>
            <a:ext cx="5670561" cy="307041"/>
          </a:xfrm>
          <a:prstGeom prst="rect">
            <a:avLst/>
          </a:prstGeom>
          <a:noFill/>
          <a:ln/>
        </p:spPr>
        <p:txBody>
          <a:bodyPr wrap="square" lIns="25400" tIns="25400" rIns="25400" bIns="25400" rtlCol="0" anchor="t">
            <a:normAutofit/>
          </a:bodyPr>
          <a:lstStyle/>
          <a:p>
            <a:pPr algn="l" indent="0" marL="0">
              <a:buNone/>
            </a:pPr>
            <a:r>
              <a:rPr lang="en-US" sz="1650" b="1" dirty="0">
                <a:solidFill>
                  <a:srgbClr val="5B6675"/>
                </a:solidFill>
                <a:latin typeface="IBM Plex Mono" pitchFamily="34" charset="0"/>
                <a:ea typeface="IBM Plex Mono" pitchFamily="34" charset="-122"/>
                <a:cs typeface="IBM Plex Mono" pitchFamily="34" charset="-120"/>
              </a:rPr>
              <a:t>20 minutes · for endorsement of direction</a:t>
            </a:r>
            <a:endParaRPr lang="en-US" sz="1650" dirty="0"/>
          </a:p>
        </p:txBody>
      </p:sp>
      <p:sp>
        <p:nvSpPr>
          <p:cNvPr id="4" name="Shape 2"/>
          <p:cNvSpPr/>
          <p:nvPr/>
        </p:nvSpPr>
        <p:spPr>
          <a:xfrm>
            <a:off x="914330" y="2937692"/>
            <a:ext cx="1143000" cy="57080"/>
          </a:xfrm>
          <a:prstGeom prst="roundRect">
            <a:avLst>
              <a:gd name="adj" fmla="val 50000"/>
            </a:avLst>
          </a:prstGeom>
          <a:solidFill>
            <a:srgbClr val="C8A45C"/>
          </a:solidFill>
          <a:ln/>
        </p:spPr>
      </p:sp>
      <p:sp>
        <p:nvSpPr>
          <p:cNvPr id="5" name="Text 3"/>
          <p:cNvSpPr/>
          <p:nvPr/>
        </p:nvSpPr>
        <p:spPr>
          <a:xfrm>
            <a:off x="914330" y="3337602"/>
            <a:ext cx="13735049" cy="1898276"/>
          </a:xfrm>
          <a:prstGeom prst="rect">
            <a:avLst/>
          </a:prstGeom>
          <a:noFill/>
          <a:ln/>
        </p:spPr>
        <p:txBody>
          <a:bodyPr wrap="square" lIns="25400" tIns="25400" rIns="25400" bIns="25400" rtlCol="0" anchor="t">
            <a:normAutofit/>
          </a:bodyPr>
          <a:lstStyle/>
          <a:p>
            <a:pPr algn="l" indent="0" marL="0">
              <a:lnSpc>
                <a:spcPct val="86700"/>
              </a:lnSpc>
              <a:buNone/>
            </a:pPr>
            <a:r>
              <a:rPr lang="en-US" sz="7200" b="1" spc="-180" kern="0" dirty="0">
                <a:solidFill>
                  <a:srgbClr val="0D2E22"/>
                </a:solidFill>
                <a:latin typeface="Public Sans" pitchFamily="34" charset="0"/>
                <a:ea typeface="Public Sans" pitchFamily="34" charset="-122"/>
                <a:cs typeface="Public Sans" pitchFamily="34" charset="-120"/>
              </a:rPr>
              <a:t>Why we are building this as a code app</a:t>
            </a:r>
            <a:endParaRPr lang="en-US" sz="7200" dirty="0"/>
          </a:p>
        </p:txBody>
      </p:sp>
      <p:sp>
        <p:nvSpPr>
          <p:cNvPr id="6" name="Text 4"/>
          <p:cNvSpPr/>
          <p:nvPr/>
        </p:nvSpPr>
        <p:spPr>
          <a:xfrm>
            <a:off x="914330" y="5502438"/>
            <a:ext cx="11576684" cy="1416423"/>
          </a:xfrm>
          <a:prstGeom prst="rect">
            <a:avLst/>
          </a:prstGeom>
          <a:noFill/>
          <a:ln/>
        </p:spPr>
        <p:txBody>
          <a:bodyPr wrap="square" lIns="25400" tIns="25400" rIns="25400" bIns="25400" rtlCol="0" anchor="t">
            <a:normAutofit/>
          </a:bodyPr>
          <a:lstStyle/>
          <a:p>
            <a:pPr algn="l" indent="0" marL="0">
              <a:lnSpc>
                <a:spcPct val="123250"/>
              </a:lnSpc>
              <a:buNone/>
            </a:pPr>
            <a:r>
              <a:rPr lang="en-US" sz="2550" dirty="0">
                <a:solidFill>
                  <a:srgbClr val="33404F"/>
                </a:solidFill>
                <a:latin typeface="Public Sans" pitchFamily="34" charset="0"/>
                <a:ea typeface="Public Sans" pitchFamily="34" charset="-122"/>
                <a:cs typeface="Public Sans" pitchFamily="34" charset="-120"/>
              </a:rPr>
              <a:t>Relationship Managers already have the data they need to book a client meeting. What they do not have is one place to do it. This is the case for the build, how fast we can move, and where the experience goes next.</a:t>
            </a:r>
            <a:endParaRPr lang="en-US" sz="2550" dirty="0"/>
          </a:p>
        </p:txBody>
      </p:sp>
      <p:sp>
        <p:nvSpPr>
          <p:cNvPr id="7" name="Shape 5"/>
          <p:cNvSpPr/>
          <p:nvPr/>
        </p:nvSpPr>
        <p:spPr>
          <a:xfrm>
            <a:off x="914330" y="8753895"/>
            <a:ext cx="16459340" cy="11206"/>
          </a:xfrm>
          <a:prstGeom prst="rect">
            <a:avLst/>
          </a:prstGeom>
          <a:solidFill>
            <a:srgbClr val="DBE2EA"/>
          </a:solidFill>
          <a:ln/>
        </p:spPr>
      </p:sp>
      <p:sp>
        <p:nvSpPr>
          <p:cNvPr id="8" name="Shape 6"/>
          <p:cNvSpPr/>
          <p:nvPr/>
        </p:nvSpPr>
        <p:spPr>
          <a:xfrm>
            <a:off x="914330" y="9065383"/>
            <a:ext cx="2994247" cy="459441"/>
          </a:xfrm>
          <a:prstGeom prst="roundRect">
            <a:avLst>
              <a:gd name="adj" fmla="val 50000"/>
            </a:avLst>
          </a:prstGeom>
          <a:solidFill>
            <a:srgbClr val="FFFFFF"/>
          </a:solidFill>
          <a:ln w="11206">
            <a:solidFill>
              <a:srgbClr val="DBE2EA"/>
            </a:solidFill>
            <a:prstDash val="solid"/>
          </a:ln>
        </p:spPr>
      </p:sp>
      <p:sp>
        <p:nvSpPr>
          <p:cNvPr id="9" name="Text 7"/>
          <p:cNvSpPr/>
          <p:nvPr/>
        </p:nvSpPr>
        <p:spPr>
          <a:xfrm>
            <a:off x="1096986" y="9171839"/>
            <a:ext cx="2718762" cy="284629"/>
          </a:xfrm>
          <a:prstGeom prst="rect">
            <a:avLst/>
          </a:prstGeom>
          <a:noFill/>
          <a:ln/>
        </p:spPr>
        <p:txBody>
          <a:bodyPr wrap="square" lIns="25400" tIns="25400" rIns="25400" bIns="25400" rtlCol="0" anchor="t">
            <a:normAutofit/>
          </a:bodyPr>
          <a:lstStyle/>
          <a:p>
            <a:pPr algn="l" indent="0" marL="0">
              <a:buNone/>
            </a:pPr>
            <a:r>
              <a:rPr lang="en-US" sz="1500" b="1" dirty="0">
                <a:solidFill>
                  <a:srgbClr val="1C5C43"/>
                </a:solidFill>
                <a:latin typeface="IBM Plex Mono" pitchFamily="34" charset="0"/>
                <a:ea typeface="IBM Plex Mono" pitchFamily="34" charset="-122"/>
                <a:cs typeface="IBM Plex Mono" pitchFamily="34" charset="-120"/>
              </a:rPr>
              <a:t>Power Platform code app</a:t>
            </a:r>
            <a:endParaRPr lang="en-US" sz="1500" dirty="0"/>
          </a:p>
        </p:txBody>
      </p:sp>
      <p:sp>
        <p:nvSpPr>
          <p:cNvPr id="10" name="Shape 8"/>
          <p:cNvSpPr/>
          <p:nvPr/>
        </p:nvSpPr>
        <p:spPr>
          <a:xfrm>
            <a:off x="4022736" y="9065383"/>
            <a:ext cx="1965582" cy="459441"/>
          </a:xfrm>
          <a:prstGeom prst="roundRect">
            <a:avLst>
              <a:gd name="adj" fmla="val 50000"/>
            </a:avLst>
          </a:prstGeom>
          <a:solidFill>
            <a:srgbClr val="FFFFFF"/>
          </a:solidFill>
          <a:ln w="11206">
            <a:solidFill>
              <a:srgbClr val="DBE2EA"/>
            </a:solidFill>
            <a:prstDash val="solid"/>
          </a:ln>
        </p:spPr>
      </p:sp>
      <p:sp>
        <p:nvSpPr>
          <p:cNvPr id="11" name="Text 9"/>
          <p:cNvSpPr/>
          <p:nvPr/>
        </p:nvSpPr>
        <p:spPr>
          <a:xfrm>
            <a:off x="4205392" y="9171839"/>
            <a:ext cx="1676470" cy="284629"/>
          </a:xfrm>
          <a:prstGeom prst="rect">
            <a:avLst/>
          </a:prstGeom>
          <a:noFill/>
          <a:ln/>
        </p:spPr>
        <p:txBody>
          <a:bodyPr wrap="square" lIns="25400" tIns="25400" rIns="25400" bIns="25400" rtlCol="0" anchor="t">
            <a:normAutofit/>
          </a:bodyPr>
          <a:lstStyle/>
          <a:p>
            <a:pPr algn="l" indent="0" marL="0">
              <a:buNone/>
            </a:pPr>
            <a:r>
              <a:rPr lang="en-US" sz="1500" b="1" dirty="0">
                <a:solidFill>
                  <a:srgbClr val="1C5C43"/>
                </a:solidFill>
                <a:latin typeface="IBM Plex Mono" pitchFamily="34" charset="0"/>
                <a:ea typeface="IBM Plex Mono" pitchFamily="34" charset="-122"/>
                <a:cs typeface="IBM Plex Mono" pitchFamily="34" charset="-120"/>
              </a:rPr>
              <a:t>Copilot Studio</a:t>
            </a:r>
            <a:endParaRPr lang="en-US" sz="1500" dirty="0"/>
          </a:p>
        </p:txBody>
      </p:sp>
      <p:sp>
        <p:nvSpPr>
          <p:cNvPr id="12" name="Shape 10"/>
          <p:cNvSpPr/>
          <p:nvPr/>
        </p:nvSpPr>
        <p:spPr>
          <a:xfrm>
            <a:off x="6102478" y="9065383"/>
            <a:ext cx="2079742" cy="459441"/>
          </a:xfrm>
          <a:prstGeom prst="roundRect">
            <a:avLst>
              <a:gd name="adj" fmla="val 50000"/>
            </a:avLst>
          </a:prstGeom>
          <a:solidFill>
            <a:srgbClr val="FFFFFF"/>
          </a:solidFill>
          <a:ln w="11206">
            <a:solidFill>
              <a:srgbClr val="DBE2EA"/>
            </a:solidFill>
            <a:prstDash val="solid"/>
          </a:ln>
        </p:spPr>
      </p:sp>
      <p:sp>
        <p:nvSpPr>
          <p:cNvPr id="13" name="Text 11"/>
          <p:cNvSpPr/>
          <p:nvPr/>
        </p:nvSpPr>
        <p:spPr>
          <a:xfrm>
            <a:off x="6285134" y="9171839"/>
            <a:ext cx="1790630" cy="284629"/>
          </a:xfrm>
          <a:prstGeom prst="rect">
            <a:avLst/>
          </a:prstGeom>
          <a:noFill/>
          <a:ln/>
        </p:spPr>
        <p:txBody>
          <a:bodyPr wrap="square" lIns="25400" tIns="25400" rIns="25400" bIns="25400" rtlCol="0" anchor="t">
            <a:normAutofit/>
          </a:bodyPr>
          <a:lstStyle/>
          <a:p>
            <a:pPr algn="l" indent="0" marL="0">
              <a:buNone/>
            </a:pPr>
            <a:r>
              <a:rPr lang="en-US" sz="1500" b="1" dirty="0">
                <a:solidFill>
                  <a:srgbClr val="1C5C43"/>
                </a:solidFill>
                <a:latin typeface="IBM Plex Mono" pitchFamily="34" charset="0"/>
                <a:ea typeface="IBM Plex Mono" pitchFamily="34" charset="-122"/>
                <a:cs typeface="IBM Plex Mono" pitchFamily="34" charset="-120"/>
              </a:rPr>
              <a:t>Microsoft Graph</a:t>
            </a:r>
            <a:endParaRPr lang="en-US" sz="1500" dirty="0"/>
          </a:p>
        </p:txBody>
      </p:sp>
      <p:sp>
        <p:nvSpPr>
          <p:cNvPr id="14" name="Shape 12"/>
          <p:cNvSpPr/>
          <p:nvPr/>
        </p:nvSpPr>
        <p:spPr>
          <a:xfrm>
            <a:off x="8296380" y="9065383"/>
            <a:ext cx="1736912" cy="459441"/>
          </a:xfrm>
          <a:prstGeom prst="roundRect">
            <a:avLst>
              <a:gd name="adj" fmla="val 50000"/>
            </a:avLst>
          </a:prstGeom>
          <a:solidFill>
            <a:srgbClr val="FFFFFF"/>
          </a:solidFill>
          <a:ln w="11206">
            <a:solidFill>
              <a:srgbClr val="DBE2EA"/>
            </a:solidFill>
            <a:prstDash val="solid"/>
          </a:ln>
        </p:spPr>
      </p:sp>
      <p:sp>
        <p:nvSpPr>
          <p:cNvPr id="15" name="Text 13"/>
          <p:cNvSpPr/>
          <p:nvPr/>
        </p:nvSpPr>
        <p:spPr>
          <a:xfrm>
            <a:off x="8479036" y="9171839"/>
            <a:ext cx="1447800" cy="284629"/>
          </a:xfrm>
          <a:prstGeom prst="rect">
            <a:avLst/>
          </a:prstGeom>
          <a:noFill/>
          <a:ln/>
        </p:spPr>
        <p:txBody>
          <a:bodyPr wrap="square" lIns="25400" tIns="25400" rIns="25400" bIns="25400" rtlCol="0" anchor="t">
            <a:normAutofit/>
          </a:bodyPr>
          <a:lstStyle/>
          <a:p>
            <a:pPr algn="l" indent="0" marL="0">
              <a:buNone/>
            </a:pPr>
            <a:r>
              <a:rPr lang="en-US" sz="1500" b="1" dirty="0">
                <a:solidFill>
                  <a:srgbClr val="1C5C43"/>
                </a:solidFill>
                <a:latin typeface="IBM Plex Mono" pitchFamily="34" charset="0"/>
                <a:ea typeface="IBM Plex Mono" pitchFamily="34" charset="-122"/>
                <a:cs typeface="IBM Plex Mono" pitchFamily="34" charset="-120"/>
              </a:rPr>
              <a:t>Dynamics 365</a:t>
            </a:r>
            <a:endParaRPr lang="en-US" sz="1500" dirty="0"/>
          </a:p>
        </p:txBody>
      </p:sp>
      <p:sp>
        <p:nvSpPr>
          <p:cNvPr id="16" name="Text 14"/>
          <p:cNvSpPr/>
          <p:nvPr/>
        </p:nvSpPr>
        <p:spPr>
          <a:xfrm>
            <a:off x="12311214" y="9031766"/>
            <a:ext cx="5062455" cy="531159"/>
          </a:xfrm>
          <a:prstGeom prst="rect">
            <a:avLst/>
          </a:prstGeom>
          <a:noFill/>
          <a:ln/>
        </p:spPr>
        <p:txBody>
          <a:bodyPr wrap="square" lIns="25400" tIns="25400" rIns="25400" bIns="25400" rtlCol="0" anchor="t">
            <a:normAutofit/>
          </a:bodyPr>
          <a:lstStyle/>
          <a:p>
            <a:pPr algn="r" indent="0" marL="0">
              <a:buNone/>
            </a:pPr>
            <a:r>
              <a:rPr lang="en-US" sz="1500" b="1" dirty="0">
                <a:solidFill>
                  <a:srgbClr val="8996A6"/>
                </a:solidFill>
                <a:latin typeface="IBM Plex Mono" pitchFamily="34" charset="0"/>
                <a:ea typeface="IBM Plex Mono" pitchFamily="34" charset="-122"/>
                <a:cs typeface="IBM Plex Mono" pitchFamily="34" charset="-120"/>
              </a:rPr>
              <a:t>Head of Customer Journeys · Head of Banking and direct reports</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9"/>
        </a:solidFill>
      </p:bgPr>
    </p:bg>
    <p:spTree>
      <p:nvGrpSpPr>
        <p:cNvPr id="1" name=""/>
        <p:cNvGrpSpPr/>
        <p:nvPr/>
      </p:nvGrpSpPr>
      <p:grpSpPr>
        <a:xfrm>
          <a:off x="0" y="0"/>
          <a:ext cx="0" cy="0"/>
          <a:chOff x="0" y="0"/>
          <a:chExt cx="0" cy="0"/>
        </a:xfrm>
      </p:grpSpPr>
      <p:sp>
        <p:nvSpPr>
          <p:cNvPr id="2" name="Text 0"/>
          <p:cNvSpPr/>
          <p:nvPr/>
        </p:nvSpPr>
        <p:spPr>
          <a:xfrm>
            <a:off x="838165" y="685660"/>
            <a:ext cx="18272835" cy="307041"/>
          </a:xfrm>
          <a:prstGeom prst="rect">
            <a:avLst/>
          </a:prstGeom>
          <a:noFill/>
          <a:ln/>
        </p:spPr>
        <p:txBody>
          <a:bodyPr wrap="square" lIns="25400" tIns="25400" rIns="25400" bIns="25400" rtlCol="0" anchor="t">
            <a:normAutofit/>
          </a:bodyPr>
          <a:lstStyle/>
          <a:p>
            <a:pPr algn="l" indent="0" marL="0">
              <a:buNone/>
            </a:pPr>
            <a:r>
              <a:rPr lang="en-US" sz="1650" b="1" spc="198" kern="0" dirty="0">
                <a:solidFill>
                  <a:srgbClr val="1C5C43"/>
                </a:solidFill>
                <a:latin typeface="IBM Plex Mono" pitchFamily="34" charset="0"/>
                <a:ea typeface="IBM Plex Mono" pitchFamily="34" charset="-122"/>
                <a:cs typeface="IBM Plex Mono" pitchFamily="34" charset="-120"/>
              </a:rPr>
              <a:t>01 · THE PROBLEM</a:t>
            </a:r>
            <a:endParaRPr lang="en-US" sz="1650" dirty="0"/>
          </a:p>
        </p:txBody>
      </p:sp>
      <p:sp>
        <p:nvSpPr>
          <p:cNvPr id="3" name="Text 1"/>
          <p:cNvSpPr/>
          <p:nvPr/>
        </p:nvSpPr>
        <p:spPr>
          <a:xfrm>
            <a:off x="838165" y="1742164"/>
            <a:ext cx="18272835" cy="688041"/>
          </a:xfrm>
          <a:prstGeom prst="rect">
            <a:avLst/>
          </a:prstGeom>
          <a:noFill/>
          <a:ln/>
        </p:spPr>
        <p:txBody>
          <a:bodyPr wrap="square" lIns="25400" tIns="25400" rIns="25400" bIns="25400" rtlCol="0" anchor="t">
            <a:normAutofit/>
          </a:bodyPr>
          <a:lstStyle/>
          <a:p>
            <a:pPr algn="l" indent="0" marL="0">
              <a:buNone/>
            </a:pPr>
            <a:r>
              <a:rPr lang="en-US" sz="4350" b="1" spc="-65" kern="0" dirty="0">
                <a:solidFill>
                  <a:srgbClr val="0D2E22"/>
                </a:solidFill>
                <a:latin typeface="Public Sans" pitchFamily="34" charset="0"/>
                <a:ea typeface="Public Sans" pitchFamily="34" charset="-122"/>
                <a:cs typeface="Public Sans" pitchFamily="34" charset="-120"/>
              </a:rPr>
              <a:t>The data is not missing. It is not joined.</a:t>
            </a:r>
            <a:endParaRPr lang="en-US" sz="4350" dirty="0"/>
          </a:p>
        </p:txBody>
      </p:sp>
      <p:sp>
        <p:nvSpPr>
          <p:cNvPr id="4" name="Text 2"/>
          <p:cNvSpPr/>
          <p:nvPr/>
        </p:nvSpPr>
        <p:spPr>
          <a:xfrm>
            <a:off x="838165" y="3198754"/>
            <a:ext cx="14716124" cy="822512"/>
          </a:xfrm>
          <a:prstGeom prst="rect">
            <a:avLst/>
          </a:prstGeom>
          <a:noFill/>
          <a:ln/>
        </p:spPr>
        <p:txBody>
          <a:bodyPr wrap="square" lIns="25400" tIns="25400" rIns="25400" bIns="25400" rtlCol="0" anchor="t">
            <a:normAutofit/>
          </a:bodyPr>
          <a:lstStyle/>
          <a:p>
            <a:pPr algn="l" indent="0" marL="0">
              <a:lnSpc>
                <a:spcPct val="123250"/>
              </a:lnSpc>
              <a:buNone/>
            </a:pPr>
            <a:r>
              <a:rPr lang="en-US" sz="2175" dirty="0">
                <a:solidFill>
                  <a:srgbClr val="5B6675"/>
                </a:solidFill>
                <a:latin typeface="Public Sans" pitchFamily="34" charset="0"/>
                <a:ea typeface="Public Sans" pitchFamily="34" charset="-122"/>
                <a:cs typeface="Public Sans" pitchFamily="34" charset="-120"/>
              </a:rPr>
              <a:t>Every fact needed to arrange a client meeting already exists in a Microsoft system we own. The RM is the thing holding them together.</a:t>
            </a:r>
            <a:endParaRPr lang="en-US" sz="2175" dirty="0"/>
          </a:p>
        </p:txBody>
      </p:sp>
      <p:sp>
        <p:nvSpPr>
          <p:cNvPr id="5" name="Shape 3"/>
          <p:cNvSpPr/>
          <p:nvPr/>
        </p:nvSpPr>
        <p:spPr>
          <a:xfrm>
            <a:off x="838165" y="5056479"/>
            <a:ext cx="5384777" cy="2538833"/>
          </a:xfrm>
          <a:prstGeom prst="roundRect">
            <a:avLst>
              <a:gd name="adj" fmla="val 5252"/>
            </a:avLst>
          </a:prstGeom>
          <a:solidFill>
            <a:srgbClr val="FFFFFF"/>
          </a:solidFill>
          <a:ln w="11206">
            <a:solidFill>
              <a:srgbClr val="E4E9EF"/>
            </a:solidFill>
            <a:prstDash val="solid"/>
          </a:ln>
        </p:spPr>
      </p:sp>
      <p:sp>
        <p:nvSpPr>
          <p:cNvPr id="6" name="Text 4"/>
          <p:cNvSpPr/>
          <p:nvPr/>
        </p:nvSpPr>
        <p:spPr>
          <a:xfrm>
            <a:off x="1154031" y="5391430"/>
            <a:ext cx="5228349" cy="273424"/>
          </a:xfrm>
          <a:prstGeom prst="rect">
            <a:avLst/>
          </a:prstGeom>
          <a:noFill/>
          <a:ln/>
        </p:spPr>
        <p:txBody>
          <a:bodyPr wrap="square" lIns="25400" tIns="25400" rIns="25400" bIns="25400" rtlCol="0" anchor="t">
            <a:normAutofit/>
          </a:bodyPr>
          <a:lstStyle/>
          <a:p>
            <a:pPr algn="l" indent="0" marL="0">
              <a:buNone/>
            </a:pPr>
            <a:r>
              <a:rPr lang="en-US" sz="1425" b="1" spc="114" kern="0" dirty="0">
                <a:solidFill>
                  <a:srgbClr val="8996A6"/>
                </a:solidFill>
                <a:latin typeface="IBM Plex Mono" pitchFamily="34" charset="0"/>
                <a:ea typeface="IBM Plex Mono" pitchFamily="34" charset="-122"/>
                <a:cs typeface="IBM Plex Mono" pitchFamily="34" charset="-120"/>
              </a:rPr>
              <a:t>MANY RELATIONSHIPS</a:t>
            </a:r>
            <a:endParaRPr lang="en-US" sz="1425" dirty="0"/>
          </a:p>
        </p:txBody>
      </p:sp>
      <p:sp>
        <p:nvSpPr>
          <p:cNvPr id="7" name="Text 5"/>
          <p:cNvSpPr/>
          <p:nvPr/>
        </p:nvSpPr>
        <p:spPr>
          <a:xfrm>
            <a:off x="1154031" y="5759998"/>
            <a:ext cx="5228349" cy="396688"/>
          </a:xfrm>
          <a:prstGeom prst="rect">
            <a:avLst/>
          </a:prstGeom>
          <a:noFill/>
          <a:ln/>
        </p:spPr>
        <p:txBody>
          <a:bodyPr wrap="square" lIns="25400" tIns="25400" rIns="25400" bIns="25400" rtlCol="0" anchor="t">
            <a:normAutofit/>
          </a:bodyPr>
          <a:lstStyle/>
          <a:p>
            <a:pPr algn="l" indent="0" marL="0">
              <a:lnSpc>
                <a:spcPct val="106250"/>
              </a:lnSpc>
              <a:buNone/>
            </a:pPr>
            <a:r>
              <a:rPr lang="en-US" sz="2325" b="1" dirty="0">
                <a:solidFill>
                  <a:srgbClr val="0D2E22"/>
                </a:solidFill>
                <a:latin typeface="Public Sans" pitchFamily="34" charset="0"/>
                <a:ea typeface="Public Sans" pitchFamily="34" charset="-122"/>
                <a:cs typeface="Public Sans" pitchFamily="34" charset="-120"/>
              </a:rPr>
              <a:t>One RM, a book of clients</a:t>
            </a:r>
            <a:endParaRPr lang="en-US" sz="2325" dirty="0"/>
          </a:p>
        </p:txBody>
      </p:sp>
      <p:sp>
        <p:nvSpPr>
          <p:cNvPr id="8" name="Text 6"/>
          <p:cNvSpPr/>
          <p:nvPr/>
        </p:nvSpPr>
        <p:spPr>
          <a:xfrm>
            <a:off x="1154031" y="6251831"/>
            <a:ext cx="4895636" cy="1046629"/>
          </a:xfrm>
          <a:prstGeom prst="rect">
            <a:avLst/>
          </a:prstGeom>
          <a:noFill/>
          <a:ln/>
        </p:spPr>
        <p:txBody>
          <a:bodyPr wrap="square" lIns="25400" tIns="25400" rIns="25400" bIns="25400" rtlCol="0" anchor="t">
            <a:normAutofit/>
          </a:bodyPr>
          <a:lstStyle/>
          <a:p>
            <a:pPr algn="l" indent="0" marL="0">
              <a:lnSpc>
                <a:spcPct val="127500"/>
              </a:lnSpc>
              <a:buNone/>
            </a:pPr>
            <a:r>
              <a:rPr lang="en-US" sz="1800" dirty="0">
                <a:solidFill>
                  <a:srgbClr val="5B6675"/>
                </a:solidFill>
                <a:latin typeface="Public Sans" pitchFamily="34" charset="0"/>
                <a:ea typeface="Public Sans" pitchFamily="34" charset="-122"/>
                <a:cs typeface="Public Sans" pitchFamily="34" charset="-120"/>
              </a:rPr>
              <a:t>Each with a different partner, sensitivity and meeting rhythm. Nothing about the booking flow knows any of that.</a:t>
            </a:r>
            <a:endParaRPr lang="en-US" sz="1800" dirty="0"/>
          </a:p>
        </p:txBody>
      </p:sp>
      <p:sp>
        <p:nvSpPr>
          <p:cNvPr id="9" name="Shape 7"/>
          <p:cNvSpPr/>
          <p:nvPr/>
        </p:nvSpPr>
        <p:spPr>
          <a:xfrm>
            <a:off x="6451436" y="5056479"/>
            <a:ext cx="5384952" cy="2538833"/>
          </a:xfrm>
          <a:prstGeom prst="roundRect">
            <a:avLst>
              <a:gd name="adj" fmla="val 5252"/>
            </a:avLst>
          </a:prstGeom>
          <a:solidFill>
            <a:srgbClr val="FFFFFF"/>
          </a:solidFill>
          <a:ln w="11206">
            <a:solidFill>
              <a:srgbClr val="E4E9EF"/>
            </a:solidFill>
            <a:prstDash val="solid"/>
          </a:ln>
        </p:spPr>
      </p:sp>
      <p:sp>
        <p:nvSpPr>
          <p:cNvPr id="10" name="Text 8"/>
          <p:cNvSpPr/>
          <p:nvPr/>
        </p:nvSpPr>
        <p:spPr>
          <a:xfrm>
            <a:off x="6767302" y="5391430"/>
            <a:ext cx="5228542" cy="273424"/>
          </a:xfrm>
          <a:prstGeom prst="rect">
            <a:avLst/>
          </a:prstGeom>
          <a:noFill/>
          <a:ln/>
        </p:spPr>
        <p:txBody>
          <a:bodyPr wrap="square" lIns="25400" tIns="25400" rIns="25400" bIns="25400" rtlCol="0" anchor="t">
            <a:normAutofit/>
          </a:bodyPr>
          <a:lstStyle/>
          <a:p>
            <a:pPr algn="l" indent="0" marL="0">
              <a:buNone/>
            </a:pPr>
            <a:r>
              <a:rPr lang="en-US" sz="1425" b="1" spc="114" kern="0" dirty="0">
                <a:solidFill>
                  <a:srgbClr val="8996A6"/>
                </a:solidFill>
                <a:latin typeface="IBM Plex Mono" pitchFamily="34" charset="0"/>
                <a:ea typeface="IBM Plex Mono" pitchFamily="34" charset="-122"/>
                <a:cs typeface="IBM Plex Mono" pitchFamily="34" charset="-120"/>
              </a:rPr>
              <a:t>FOUR PLACES TO LOOK</a:t>
            </a:r>
            <a:endParaRPr lang="en-US" sz="1425" dirty="0"/>
          </a:p>
        </p:txBody>
      </p:sp>
      <p:sp>
        <p:nvSpPr>
          <p:cNvPr id="11" name="Text 9"/>
          <p:cNvSpPr/>
          <p:nvPr/>
        </p:nvSpPr>
        <p:spPr>
          <a:xfrm>
            <a:off x="6767302" y="5759998"/>
            <a:ext cx="5228542" cy="396688"/>
          </a:xfrm>
          <a:prstGeom prst="rect">
            <a:avLst/>
          </a:prstGeom>
          <a:noFill/>
          <a:ln/>
        </p:spPr>
        <p:txBody>
          <a:bodyPr wrap="square" lIns="25400" tIns="25400" rIns="25400" bIns="25400" rtlCol="0" anchor="t">
            <a:normAutofit/>
          </a:bodyPr>
          <a:lstStyle/>
          <a:p>
            <a:pPr algn="l" indent="0" marL="0">
              <a:lnSpc>
                <a:spcPct val="106250"/>
              </a:lnSpc>
              <a:buNone/>
            </a:pPr>
            <a:r>
              <a:rPr lang="en-US" sz="2325" b="1" dirty="0">
                <a:solidFill>
                  <a:srgbClr val="0D2E22"/>
                </a:solidFill>
                <a:latin typeface="Public Sans" pitchFamily="34" charset="0"/>
                <a:ea typeface="Public Sans" pitchFamily="34" charset="-122"/>
                <a:cs typeface="Public Sans" pitchFamily="34" charset="-120"/>
              </a:rPr>
              <a:t>Dynamics, Outlook, rooms, an EA</a:t>
            </a:r>
            <a:endParaRPr lang="en-US" sz="2325" dirty="0"/>
          </a:p>
        </p:txBody>
      </p:sp>
      <p:sp>
        <p:nvSpPr>
          <p:cNvPr id="12" name="Text 10"/>
          <p:cNvSpPr/>
          <p:nvPr/>
        </p:nvSpPr>
        <p:spPr>
          <a:xfrm>
            <a:off x="6767302" y="6251831"/>
            <a:ext cx="4895816" cy="1046629"/>
          </a:xfrm>
          <a:prstGeom prst="rect">
            <a:avLst/>
          </a:prstGeom>
          <a:noFill/>
          <a:ln/>
        </p:spPr>
        <p:txBody>
          <a:bodyPr wrap="square" lIns="25400" tIns="25400" rIns="25400" bIns="25400" rtlCol="0" anchor="t">
            <a:normAutofit/>
          </a:bodyPr>
          <a:lstStyle/>
          <a:p>
            <a:pPr algn="l" indent="0" marL="0">
              <a:lnSpc>
                <a:spcPct val="127500"/>
              </a:lnSpc>
              <a:buNone/>
            </a:pPr>
            <a:r>
              <a:rPr lang="en-US" sz="1800" dirty="0">
                <a:solidFill>
                  <a:srgbClr val="5B6675"/>
                </a:solidFill>
                <a:latin typeface="Public Sans" pitchFamily="34" charset="0"/>
                <a:ea typeface="Public Sans" pitchFamily="34" charset="-122"/>
                <a:cs typeface="Public Sans" pitchFamily="34" charset="-120"/>
              </a:rPr>
              <a:t>The client record, three or four diaries, a room, and a partner's availability that arrives by email.</a:t>
            </a:r>
            <a:endParaRPr lang="en-US" sz="1800" dirty="0"/>
          </a:p>
        </p:txBody>
      </p:sp>
      <p:sp>
        <p:nvSpPr>
          <p:cNvPr id="13" name="Shape 11"/>
          <p:cNvSpPr/>
          <p:nvPr/>
        </p:nvSpPr>
        <p:spPr>
          <a:xfrm>
            <a:off x="12064882" y="5056479"/>
            <a:ext cx="5384952" cy="2538833"/>
          </a:xfrm>
          <a:prstGeom prst="roundRect">
            <a:avLst>
              <a:gd name="adj" fmla="val 5252"/>
            </a:avLst>
          </a:prstGeom>
          <a:solidFill>
            <a:srgbClr val="FFFFFF"/>
          </a:solidFill>
          <a:ln w="11206">
            <a:solidFill>
              <a:srgbClr val="E4E9EF"/>
            </a:solidFill>
            <a:prstDash val="solid"/>
          </a:ln>
        </p:spPr>
      </p:sp>
      <p:sp>
        <p:nvSpPr>
          <p:cNvPr id="14" name="Text 12"/>
          <p:cNvSpPr/>
          <p:nvPr/>
        </p:nvSpPr>
        <p:spPr>
          <a:xfrm>
            <a:off x="12380748" y="5391430"/>
            <a:ext cx="5228542" cy="273424"/>
          </a:xfrm>
          <a:prstGeom prst="rect">
            <a:avLst/>
          </a:prstGeom>
          <a:noFill/>
          <a:ln/>
        </p:spPr>
        <p:txBody>
          <a:bodyPr wrap="square" lIns="25400" tIns="25400" rIns="25400" bIns="25400" rtlCol="0" anchor="t">
            <a:normAutofit/>
          </a:bodyPr>
          <a:lstStyle/>
          <a:p>
            <a:pPr algn="l" indent="0" marL="0">
              <a:buNone/>
            </a:pPr>
            <a:r>
              <a:rPr lang="en-US" sz="1425" b="1" spc="114" kern="0" dirty="0">
                <a:solidFill>
                  <a:srgbClr val="B4690E"/>
                </a:solidFill>
                <a:latin typeface="IBM Plex Mono" pitchFamily="34" charset="0"/>
                <a:ea typeface="IBM Plex Mono" pitchFamily="34" charset="-122"/>
                <a:cs typeface="IBM Plex Mono" pitchFamily="34" charset="-120"/>
              </a:rPr>
              <a:t>THE REAL GAP</a:t>
            </a:r>
            <a:endParaRPr lang="en-US" sz="1425" dirty="0"/>
          </a:p>
        </p:txBody>
      </p:sp>
      <p:sp>
        <p:nvSpPr>
          <p:cNvPr id="15" name="Text 13"/>
          <p:cNvSpPr/>
          <p:nvPr/>
        </p:nvSpPr>
        <p:spPr>
          <a:xfrm>
            <a:off x="12380748" y="5759998"/>
            <a:ext cx="5228542" cy="396688"/>
          </a:xfrm>
          <a:prstGeom prst="rect">
            <a:avLst/>
          </a:prstGeom>
          <a:noFill/>
          <a:ln/>
        </p:spPr>
        <p:txBody>
          <a:bodyPr wrap="square" lIns="25400" tIns="25400" rIns="25400" bIns="25400" rtlCol="0" anchor="t">
            <a:normAutofit/>
          </a:bodyPr>
          <a:lstStyle/>
          <a:p>
            <a:pPr algn="l" indent="0" marL="0">
              <a:lnSpc>
                <a:spcPct val="106250"/>
              </a:lnSpc>
              <a:buNone/>
            </a:pPr>
            <a:r>
              <a:rPr lang="en-US" sz="2325" b="1" dirty="0">
                <a:solidFill>
                  <a:srgbClr val="0D2E22"/>
                </a:solidFill>
                <a:latin typeface="Public Sans" pitchFamily="34" charset="0"/>
                <a:ea typeface="Public Sans" pitchFamily="34" charset="-122"/>
                <a:cs typeface="Public Sans" pitchFamily="34" charset="-120"/>
              </a:rPr>
              <a:t>No streamlined experience</a:t>
            </a:r>
            <a:endParaRPr lang="en-US" sz="2325" dirty="0"/>
          </a:p>
        </p:txBody>
      </p:sp>
      <p:sp>
        <p:nvSpPr>
          <p:cNvPr id="16" name="Text 14"/>
          <p:cNvSpPr/>
          <p:nvPr/>
        </p:nvSpPr>
        <p:spPr>
          <a:xfrm>
            <a:off x="12380748" y="6251831"/>
            <a:ext cx="4895816" cy="1046629"/>
          </a:xfrm>
          <a:prstGeom prst="rect">
            <a:avLst/>
          </a:prstGeom>
          <a:noFill/>
          <a:ln/>
        </p:spPr>
        <p:txBody>
          <a:bodyPr wrap="square" lIns="25400" tIns="25400" rIns="25400" bIns="25400" rtlCol="0" anchor="t">
            <a:normAutofit/>
          </a:bodyPr>
          <a:lstStyle/>
          <a:p>
            <a:pPr algn="l" indent="0" marL="0">
              <a:lnSpc>
                <a:spcPct val="127500"/>
              </a:lnSpc>
              <a:buNone/>
            </a:pPr>
            <a:r>
              <a:rPr lang="en-US" sz="1800" dirty="0">
                <a:solidFill>
                  <a:srgbClr val="5B6675"/>
                </a:solidFill>
                <a:latin typeface="Public Sans" pitchFamily="34" charset="0"/>
                <a:ea typeface="Public Sans" pitchFamily="34" charset="-122"/>
                <a:cs typeface="Public Sans" pitchFamily="34" charset="-120"/>
              </a:rPr>
              <a:t>Provisional invites created and deleted, chased by hand. Consistency depends on who is doing it.</a:t>
            </a:r>
            <a:endParaRPr lang="en-US" sz="1800" dirty="0"/>
          </a:p>
        </p:txBody>
      </p:sp>
      <p:sp>
        <p:nvSpPr>
          <p:cNvPr id="17" name="Shape 15"/>
          <p:cNvSpPr/>
          <p:nvPr/>
        </p:nvSpPr>
        <p:spPr>
          <a:xfrm>
            <a:off x="838165" y="8554290"/>
            <a:ext cx="8191674" cy="1122689"/>
          </a:xfrm>
          <a:prstGeom prst="roundRect">
            <a:avLst>
              <a:gd name="adj" fmla="val 11878"/>
            </a:avLst>
          </a:prstGeom>
          <a:solidFill>
            <a:srgbClr val="FFFFFF"/>
          </a:solidFill>
          <a:ln/>
        </p:spPr>
      </p:sp>
      <p:sp>
        <p:nvSpPr>
          <p:cNvPr id="18" name="Shape 16"/>
          <p:cNvSpPr/>
          <p:nvPr/>
        </p:nvSpPr>
        <p:spPr>
          <a:xfrm>
            <a:off x="838165" y="9665773"/>
            <a:ext cx="8191674" cy="11206"/>
          </a:xfrm>
          <a:prstGeom prst="rect">
            <a:avLst/>
          </a:prstGeom>
          <a:solidFill>
            <a:srgbClr val="E4E9EF"/>
          </a:solidFill>
          <a:ln/>
        </p:spPr>
      </p:sp>
      <p:sp>
        <p:nvSpPr>
          <p:cNvPr id="19" name="Shape 17"/>
          <p:cNvSpPr/>
          <p:nvPr/>
        </p:nvSpPr>
        <p:spPr>
          <a:xfrm>
            <a:off x="838165" y="8554290"/>
            <a:ext cx="8191674" cy="11206"/>
          </a:xfrm>
          <a:prstGeom prst="rect">
            <a:avLst/>
          </a:prstGeom>
          <a:solidFill>
            <a:srgbClr val="E4E9EF"/>
          </a:solidFill>
          <a:ln/>
        </p:spPr>
      </p:sp>
      <p:sp>
        <p:nvSpPr>
          <p:cNvPr id="20" name="Shape 18"/>
          <p:cNvSpPr/>
          <p:nvPr/>
        </p:nvSpPr>
        <p:spPr>
          <a:xfrm>
            <a:off x="838165" y="8554290"/>
            <a:ext cx="44824" cy="1122689"/>
          </a:xfrm>
          <a:prstGeom prst="rect">
            <a:avLst/>
          </a:prstGeom>
          <a:solidFill>
            <a:srgbClr val="1C5C43"/>
          </a:solidFill>
          <a:ln/>
        </p:spPr>
      </p:sp>
      <p:sp>
        <p:nvSpPr>
          <p:cNvPr id="21" name="Shape 19"/>
          <p:cNvSpPr/>
          <p:nvPr/>
        </p:nvSpPr>
        <p:spPr>
          <a:xfrm>
            <a:off x="9018633" y="8554290"/>
            <a:ext cx="11206" cy="1122689"/>
          </a:xfrm>
          <a:prstGeom prst="rect">
            <a:avLst/>
          </a:prstGeom>
          <a:solidFill>
            <a:srgbClr val="E4E9EF"/>
          </a:solidFill>
          <a:ln/>
        </p:spPr>
      </p:sp>
      <p:sp>
        <p:nvSpPr>
          <p:cNvPr id="22" name="Text 20"/>
          <p:cNvSpPr/>
          <p:nvPr/>
        </p:nvSpPr>
        <p:spPr>
          <a:xfrm>
            <a:off x="1168738" y="8829885"/>
            <a:ext cx="2024430" cy="609600"/>
          </a:xfrm>
          <a:prstGeom prst="rect">
            <a:avLst/>
          </a:prstGeom>
          <a:noFill/>
          <a:ln/>
        </p:spPr>
        <p:txBody>
          <a:bodyPr wrap="square" lIns="25400" tIns="25400" rIns="25400" bIns="25400" rtlCol="0" anchor="t">
            <a:normAutofit/>
          </a:bodyPr>
          <a:lstStyle/>
          <a:p>
            <a:pPr algn="l" indent="0" marL="0">
              <a:buNone/>
            </a:pPr>
            <a:r>
              <a:rPr lang="en-US" sz="3450" b="1" dirty="0">
                <a:solidFill>
                  <a:srgbClr val="1C5C43"/>
                </a:solidFill>
                <a:latin typeface="IBM Plex Mono" pitchFamily="34" charset="0"/>
                <a:ea typeface="IBM Plex Mono" pitchFamily="34" charset="-122"/>
                <a:cs typeface="IBM Plex Mono" pitchFamily="34" charset="-120"/>
              </a:rPr>
              <a:t>~40 min</a:t>
            </a:r>
            <a:endParaRPr lang="en-US" sz="3450" dirty="0"/>
          </a:p>
        </p:txBody>
      </p:sp>
      <p:sp>
        <p:nvSpPr>
          <p:cNvPr id="23" name="Text 21"/>
          <p:cNvSpPr/>
          <p:nvPr/>
        </p:nvSpPr>
        <p:spPr>
          <a:xfrm>
            <a:off x="3256709" y="8813076"/>
            <a:ext cx="5289870" cy="643218"/>
          </a:xfrm>
          <a:prstGeom prst="rect">
            <a:avLst/>
          </a:prstGeom>
          <a:noFill/>
          <a:ln/>
        </p:spPr>
        <p:txBody>
          <a:bodyPr wrap="square" lIns="25400" tIns="25400" rIns="25400" bIns="25400" rtlCol="0" anchor="t">
            <a:normAutofit/>
          </a:bodyPr>
          <a:lstStyle/>
          <a:p>
            <a:pPr algn="l" indent="0" marL="0">
              <a:lnSpc>
                <a:spcPct val="119000"/>
              </a:lnSpc>
              <a:buNone/>
            </a:pPr>
            <a:r>
              <a:rPr lang="en-US" sz="1725" dirty="0">
                <a:solidFill>
                  <a:srgbClr val="5B6675"/>
                </a:solidFill>
                <a:latin typeface="Public Sans" pitchFamily="34" charset="0"/>
                <a:ea typeface="Public Sans" pitchFamily="34" charset="-122"/>
                <a:cs typeface="Public Sans" pitchFamily="34" charset="-120"/>
              </a:rPr>
              <a:t>hands-on time to arrange </a:t>
            </a:r>
            <a:pPr algn="l" indent="0" marL="0">
              <a:lnSpc>
                <a:spcPct val="119000"/>
              </a:lnSpc>
              <a:buNone/>
            </a:pPr>
            <a:r>
              <a:rPr lang="en-US" sz="1725" b="1" dirty="0">
                <a:solidFill>
                  <a:srgbClr val="0D2E22"/>
                </a:solidFill>
                <a:latin typeface="Public Sans" pitchFamily="34" charset="0"/>
                <a:ea typeface="Public Sans" pitchFamily="34" charset="-122"/>
                <a:cs typeface="Public Sans" pitchFamily="34" charset="-120"/>
              </a:rPr>
              <a:t>one </a:t>
            </a:r>
            <a:pPr algn="l" indent="0" marL="0">
              <a:lnSpc>
                <a:spcPct val="119000"/>
              </a:lnSpc>
              <a:buNone/>
            </a:pPr>
            <a:r>
              <a:rPr lang="en-US" sz="1725" dirty="0">
                <a:solidFill>
                  <a:srgbClr val="5B6675"/>
                </a:solidFill>
                <a:latin typeface="Public Sans" pitchFamily="34" charset="0"/>
                <a:ea typeface="Public Sans" pitchFamily="34" charset="-122"/>
                <a:cs typeface="Public Sans" pitchFamily="34" charset="-120"/>
              </a:rPr>
              <a:t>client meeting today </a:t>
            </a:r>
            <a:pPr algn="l" indent="0" marL="0">
              <a:lnSpc>
                <a:spcPct val="119000"/>
              </a:lnSpc>
              <a:buNone/>
            </a:pPr>
            <a:r>
              <a:rPr lang="en-US" sz="1350" b="1" dirty="0">
                <a:solidFill>
                  <a:srgbClr val="8996A6"/>
                </a:solidFill>
                <a:latin typeface="IBM Plex Mono" pitchFamily="34" charset="0"/>
                <a:ea typeface="IBM Plex Mono" pitchFamily="34" charset="-122"/>
                <a:cs typeface="IBM Plex Mono" pitchFamily="34" charset="-120"/>
              </a:rPr>
              <a:t>TO BASELINE WITH THE RM TEAMS</a:t>
            </a:r>
            <a:endParaRPr lang="en-US" sz="1725" dirty="0"/>
          </a:p>
        </p:txBody>
      </p:sp>
      <p:sp>
        <p:nvSpPr>
          <p:cNvPr id="24" name="Shape 22"/>
          <p:cNvSpPr/>
          <p:nvPr/>
        </p:nvSpPr>
        <p:spPr>
          <a:xfrm>
            <a:off x="9258334" y="8554290"/>
            <a:ext cx="8191674" cy="1122689"/>
          </a:xfrm>
          <a:prstGeom prst="roundRect">
            <a:avLst>
              <a:gd name="adj" fmla="val 11878"/>
            </a:avLst>
          </a:prstGeom>
          <a:solidFill>
            <a:srgbClr val="FFFFFF"/>
          </a:solidFill>
          <a:ln/>
        </p:spPr>
      </p:sp>
      <p:sp>
        <p:nvSpPr>
          <p:cNvPr id="25" name="Shape 23"/>
          <p:cNvSpPr/>
          <p:nvPr/>
        </p:nvSpPr>
        <p:spPr>
          <a:xfrm>
            <a:off x="9258334" y="9665773"/>
            <a:ext cx="8191674" cy="11206"/>
          </a:xfrm>
          <a:prstGeom prst="rect">
            <a:avLst/>
          </a:prstGeom>
          <a:solidFill>
            <a:srgbClr val="E4E9EF"/>
          </a:solidFill>
          <a:ln/>
        </p:spPr>
      </p:sp>
      <p:sp>
        <p:nvSpPr>
          <p:cNvPr id="26" name="Shape 24"/>
          <p:cNvSpPr/>
          <p:nvPr/>
        </p:nvSpPr>
        <p:spPr>
          <a:xfrm>
            <a:off x="9258334" y="8554290"/>
            <a:ext cx="8191674" cy="11206"/>
          </a:xfrm>
          <a:prstGeom prst="rect">
            <a:avLst/>
          </a:prstGeom>
          <a:solidFill>
            <a:srgbClr val="E4E9EF"/>
          </a:solidFill>
          <a:ln/>
        </p:spPr>
      </p:sp>
      <p:sp>
        <p:nvSpPr>
          <p:cNvPr id="27" name="Shape 25"/>
          <p:cNvSpPr/>
          <p:nvPr/>
        </p:nvSpPr>
        <p:spPr>
          <a:xfrm>
            <a:off x="9258334" y="8554290"/>
            <a:ext cx="44824" cy="1122689"/>
          </a:xfrm>
          <a:prstGeom prst="rect">
            <a:avLst/>
          </a:prstGeom>
          <a:solidFill>
            <a:srgbClr val="C8A45C"/>
          </a:solidFill>
          <a:ln/>
        </p:spPr>
      </p:sp>
      <p:sp>
        <p:nvSpPr>
          <p:cNvPr id="28" name="Shape 26"/>
          <p:cNvSpPr/>
          <p:nvPr/>
        </p:nvSpPr>
        <p:spPr>
          <a:xfrm>
            <a:off x="17438803" y="8554290"/>
            <a:ext cx="11206" cy="1122689"/>
          </a:xfrm>
          <a:prstGeom prst="rect">
            <a:avLst/>
          </a:prstGeom>
          <a:solidFill>
            <a:srgbClr val="E4E9EF"/>
          </a:solidFill>
          <a:ln/>
        </p:spPr>
      </p:sp>
      <p:sp>
        <p:nvSpPr>
          <p:cNvPr id="29" name="Text 27"/>
          <p:cNvSpPr/>
          <p:nvPr/>
        </p:nvSpPr>
        <p:spPr>
          <a:xfrm>
            <a:off x="9588908" y="8829885"/>
            <a:ext cx="2313524" cy="609600"/>
          </a:xfrm>
          <a:prstGeom prst="rect">
            <a:avLst/>
          </a:prstGeom>
          <a:noFill/>
          <a:ln/>
        </p:spPr>
        <p:txBody>
          <a:bodyPr wrap="square" lIns="25400" tIns="25400" rIns="25400" bIns="25400" rtlCol="0" anchor="t">
            <a:normAutofit/>
          </a:bodyPr>
          <a:lstStyle/>
          <a:p>
            <a:pPr algn="l" indent="0" marL="0">
              <a:buNone/>
            </a:pPr>
            <a:r>
              <a:rPr lang="en-US" sz="3450" b="1" dirty="0">
                <a:solidFill>
                  <a:srgbClr val="8A5410"/>
                </a:solidFill>
                <a:latin typeface="IBM Plex Mono" pitchFamily="34" charset="0"/>
                <a:ea typeface="IBM Plex Mono" pitchFamily="34" charset="-122"/>
                <a:cs typeface="IBM Plex Mono" pitchFamily="34" charset="-120"/>
              </a:rPr>
              <a:t>× volume</a:t>
            </a:r>
            <a:endParaRPr lang="en-US" sz="3450" dirty="0"/>
          </a:p>
        </p:txBody>
      </p:sp>
      <p:sp>
        <p:nvSpPr>
          <p:cNvPr id="30" name="Text 28"/>
          <p:cNvSpPr/>
          <p:nvPr/>
        </p:nvSpPr>
        <p:spPr>
          <a:xfrm>
            <a:off x="11939692" y="8813076"/>
            <a:ext cx="5218633" cy="643218"/>
          </a:xfrm>
          <a:prstGeom prst="rect">
            <a:avLst/>
          </a:prstGeom>
          <a:noFill/>
          <a:ln/>
        </p:spPr>
        <p:txBody>
          <a:bodyPr wrap="square" lIns="25400" tIns="25400" rIns="25400" bIns="25400" rtlCol="0" anchor="t">
            <a:normAutofit/>
          </a:bodyPr>
          <a:lstStyle/>
          <a:p>
            <a:pPr algn="l" indent="0" marL="0">
              <a:lnSpc>
                <a:spcPct val="119000"/>
              </a:lnSpc>
              <a:buNone/>
            </a:pPr>
            <a:r>
              <a:rPr lang="en-US" sz="1725" dirty="0">
                <a:solidFill>
                  <a:srgbClr val="5B6675"/>
                </a:solidFill>
                <a:latin typeface="Public Sans" pitchFamily="34" charset="0"/>
                <a:ea typeface="Public Sans" pitchFamily="34" charset="-122"/>
                <a:cs typeface="Public Sans" pitchFamily="34" charset="-120"/>
              </a:rPr>
              <a:t>client meetings booked across the bank each year </a:t>
            </a:r>
            <a:pPr algn="l" indent="0" marL="0">
              <a:lnSpc>
                <a:spcPct val="119000"/>
              </a:lnSpc>
              <a:buNone/>
            </a:pPr>
            <a:r>
              <a:rPr lang="en-US" sz="1350" b="1" dirty="0">
                <a:solidFill>
                  <a:srgbClr val="8996A6"/>
                </a:solidFill>
                <a:latin typeface="IBM Plex Mono" pitchFamily="34" charset="0"/>
                <a:ea typeface="IBM Plex Mono" pitchFamily="34" charset="-122"/>
                <a:cs typeface="IBM Plex Mono" pitchFamily="34" charset="-120"/>
              </a:rPr>
              <a:t>ANNUAL FIGURE TO CONFIRM — THIS IS THE MULTIPLIER</a:t>
            </a:r>
            <a:endParaRPr lang="en-US" sz="1725"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23830" y="418995"/>
            <a:ext cx="10194376" cy="284629"/>
          </a:xfrm>
          <a:prstGeom prst="rect">
            <a:avLst/>
          </a:prstGeom>
          <a:noFill/>
          <a:ln/>
        </p:spPr>
        <p:txBody>
          <a:bodyPr wrap="square" lIns="25400" tIns="25400" rIns="25400" bIns="25400" rtlCol="0" anchor="t">
            <a:normAutofit/>
          </a:bodyPr>
          <a:lstStyle/>
          <a:p>
            <a:pPr algn="l" indent="0" marL="0">
              <a:buNone/>
            </a:pPr>
            <a:r>
              <a:rPr lang="en-US" sz="1500" b="1" spc="180" kern="0" dirty="0">
                <a:solidFill>
                  <a:srgbClr val="1C5C43"/>
                </a:solidFill>
                <a:latin typeface="IBM Plex Mono" pitchFamily="34" charset="0"/>
                <a:ea typeface="IBM Plex Mono" pitchFamily="34" charset="-122"/>
                <a:cs typeface="IBM Plex Mono" pitchFamily="34" charset="-120"/>
              </a:rPr>
              <a:t>02 · CURRENT STATE — AS-IS</a:t>
            </a:r>
            <a:endParaRPr lang="en-US" sz="1500" dirty="0"/>
          </a:p>
        </p:txBody>
      </p:sp>
      <p:sp>
        <p:nvSpPr>
          <p:cNvPr id="3" name="Text 1"/>
          <p:cNvSpPr/>
          <p:nvPr/>
        </p:nvSpPr>
        <p:spPr>
          <a:xfrm>
            <a:off x="723830" y="741689"/>
            <a:ext cx="10194376" cy="508747"/>
          </a:xfrm>
          <a:prstGeom prst="rect">
            <a:avLst/>
          </a:prstGeom>
          <a:noFill/>
          <a:ln/>
        </p:spPr>
        <p:txBody>
          <a:bodyPr wrap="square" lIns="25400" tIns="25400" rIns="25400" bIns="25400" rtlCol="0" anchor="t">
            <a:normAutofit/>
          </a:bodyPr>
          <a:lstStyle/>
          <a:p>
            <a:pPr algn="l" indent="0" marL="0">
              <a:buNone/>
            </a:pPr>
            <a:r>
              <a:rPr lang="en-US" sz="3150" b="1" spc="-31" kern="0" dirty="0">
                <a:solidFill>
                  <a:srgbClr val="0D2E22"/>
                </a:solidFill>
                <a:latin typeface="Public Sans" pitchFamily="34" charset="0"/>
                <a:ea typeface="Public Sans" pitchFamily="34" charset="-122"/>
                <a:cs typeface="Public Sans" pitchFamily="34" charset="-120"/>
              </a:rPr>
              <a:t>As-is booking process — swimlane with decisions</a:t>
            </a:r>
            <a:endParaRPr lang="en-US" sz="3150" dirty="0"/>
          </a:p>
        </p:txBody>
      </p:sp>
      <p:sp>
        <p:nvSpPr>
          <p:cNvPr id="4" name="Shape 2"/>
          <p:cNvSpPr/>
          <p:nvPr/>
        </p:nvSpPr>
        <p:spPr>
          <a:xfrm>
            <a:off x="12344155" y="843943"/>
            <a:ext cx="2174992" cy="368393"/>
          </a:xfrm>
          <a:prstGeom prst="roundRect">
            <a:avLst>
              <a:gd name="adj" fmla="val 20684"/>
            </a:avLst>
          </a:prstGeom>
          <a:solidFill>
            <a:srgbClr val="EDF1E0"/>
          </a:solidFill>
          <a:ln w="11206">
            <a:solidFill>
              <a:srgbClr val="DBE6CD"/>
            </a:solidFill>
            <a:prstDash val="solid"/>
          </a:ln>
        </p:spPr>
      </p:sp>
      <p:sp>
        <p:nvSpPr>
          <p:cNvPr id="5" name="Text 3"/>
          <p:cNvSpPr/>
          <p:nvPr/>
        </p:nvSpPr>
        <p:spPr>
          <a:xfrm>
            <a:off x="12460136" y="921824"/>
            <a:ext cx="2019230" cy="250732"/>
          </a:xfrm>
          <a:prstGeom prst="rect">
            <a:avLst/>
          </a:prstGeom>
          <a:noFill/>
          <a:ln/>
        </p:spPr>
        <p:txBody>
          <a:bodyPr wrap="square" lIns="25400" tIns="25400" rIns="25400" bIns="25400" rtlCol="0" anchor="t">
            <a:normAutofit/>
          </a:bodyPr>
          <a:lstStyle/>
          <a:p>
            <a:pPr algn="l" indent="0" marL="0">
              <a:buNone/>
            </a:pPr>
            <a:r>
              <a:rPr lang="en-US" sz="1275" b="1" dirty="0">
                <a:solidFill>
                  <a:srgbClr val="1C5C43"/>
                </a:solidFill>
                <a:latin typeface="IBM Plex Mono" pitchFamily="34" charset="0"/>
                <a:ea typeface="IBM Plex Mono" pitchFamily="34" charset="-122"/>
                <a:cs typeface="IBM Plex Mono" pitchFamily="34" charset="-120"/>
              </a:rPr>
              <a:t>10 steps · 3–4 teams</a:t>
            </a:r>
            <a:endParaRPr lang="en-US" sz="1275" dirty="0"/>
          </a:p>
        </p:txBody>
      </p:sp>
      <p:sp>
        <p:nvSpPr>
          <p:cNvPr id="6" name="Shape 4"/>
          <p:cNvSpPr/>
          <p:nvPr/>
        </p:nvSpPr>
        <p:spPr>
          <a:xfrm>
            <a:off x="14595310" y="843943"/>
            <a:ext cx="1300583" cy="368393"/>
          </a:xfrm>
          <a:prstGeom prst="roundRect">
            <a:avLst>
              <a:gd name="adj" fmla="val 20684"/>
            </a:avLst>
          </a:prstGeom>
          <a:solidFill>
            <a:srgbClr val="FDF6EA"/>
          </a:solidFill>
          <a:ln w="11206">
            <a:solidFill>
              <a:srgbClr val="E0C58A"/>
            </a:solidFill>
            <a:prstDash val="solid"/>
          </a:ln>
        </p:spPr>
      </p:sp>
      <p:sp>
        <p:nvSpPr>
          <p:cNvPr id="7" name="Text 5"/>
          <p:cNvSpPr/>
          <p:nvPr/>
        </p:nvSpPr>
        <p:spPr>
          <a:xfrm>
            <a:off x="14711291" y="921824"/>
            <a:ext cx="1144821" cy="250732"/>
          </a:xfrm>
          <a:prstGeom prst="rect">
            <a:avLst/>
          </a:prstGeom>
          <a:noFill/>
          <a:ln/>
        </p:spPr>
        <p:txBody>
          <a:bodyPr wrap="square" lIns="25400" tIns="25400" rIns="25400" bIns="25400" rtlCol="0" anchor="t">
            <a:normAutofit/>
          </a:bodyPr>
          <a:lstStyle/>
          <a:p>
            <a:pPr algn="l" indent="0" marL="0">
              <a:buNone/>
            </a:pPr>
            <a:r>
              <a:rPr lang="en-US" sz="1275" b="1" dirty="0">
                <a:solidFill>
                  <a:srgbClr val="8A5410"/>
                </a:solidFill>
                <a:latin typeface="IBM Plex Mono" pitchFamily="34" charset="0"/>
                <a:ea typeface="IBM Plex Mono" pitchFamily="34" charset="-122"/>
                <a:cs typeface="IBM Plex Mono" pitchFamily="34" charset="-120"/>
              </a:rPr>
              <a:t>3 decisions</a:t>
            </a:r>
            <a:endParaRPr lang="en-US" sz="1275" dirty="0"/>
          </a:p>
        </p:txBody>
      </p:sp>
      <p:sp>
        <p:nvSpPr>
          <p:cNvPr id="8" name="Shape 6"/>
          <p:cNvSpPr/>
          <p:nvPr/>
        </p:nvSpPr>
        <p:spPr>
          <a:xfrm>
            <a:off x="15972059" y="843943"/>
            <a:ext cx="1592111" cy="368393"/>
          </a:xfrm>
          <a:prstGeom prst="roundRect">
            <a:avLst>
              <a:gd name="adj" fmla="val 20684"/>
            </a:avLst>
          </a:prstGeom>
          <a:solidFill>
            <a:srgbClr val="FBF1E3"/>
          </a:solidFill>
          <a:ln w="11206">
            <a:solidFill>
              <a:srgbClr val="ECCFA3"/>
            </a:solidFill>
            <a:prstDash val="solid"/>
          </a:ln>
        </p:spPr>
      </p:sp>
      <p:sp>
        <p:nvSpPr>
          <p:cNvPr id="9" name="Text 7"/>
          <p:cNvSpPr/>
          <p:nvPr/>
        </p:nvSpPr>
        <p:spPr>
          <a:xfrm>
            <a:off x="16088040" y="921824"/>
            <a:ext cx="1436349" cy="250732"/>
          </a:xfrm>
          <a:prstGeom prst="rect">
            <a:avLst/>
          </a:prstGeom>
          <a:noFill/>
          <a:ln/>
        </p:spPr>
        <p:txBody>
          <a:bodyPr wrap="square" lIns="25400" tIns="25400" rIns="25400" bIns="25400" rtlCol="0" anchor="t">
            <a:normAutofit/>
          </a:bodyPr>
          <a:lstStyle/>
          <a:p>
            <a:pPr algn="l" indent="0" marL="0">
              <a:buNone/>
            </a:pPr>
            <a:r>
              <a:rPr lang="en-US" sz="1275" b="1" dirty="0">
                <a:solidFill>
                  <a:srgbClr val="B4690E"/>
                </a:solidFill>
                <a:latin typeface="IBM Plex Mono" pitchFamily="34" charset="0"/>
                <a:ea typeface="IBM Plex Mono" pitchFamily="34" charset="-122"/>
                <a:cs typeface="IBM Plex Mono" pitchFamily="34" charset="-120"/>
              </a:rPr>
              <a:t>2 rework loops</a:t>
            </a:r>
            <a:endParaRPr lang="en-US" sz="1275" dirty="0"/>
          </a:p>
        </p:txBody>
      </p:sp>
      <p:sp>
        <p:nvSpPr>
          <p:cNvPr id="10" name="Text 8"/>
          <p:cNvSpPr/>
          <p:nvPr/>
        </p:nvSpPr>
        <p:spPr>
          <a:xfrm>
            <a:off x="2857500" y="1981165"/>
            <a:ext cx="929773" cy="206188"/>
          </a:xfrm>
          <a:prstGeom prst="rect">
            <a:avLst/>
          </a:prstGeom>
          <a:noFill/>
          <a:ln/>
        </p:spPr>
        <p:txBody>
          <a:bodyPr wrap="square" lIns="25400" tIns="25400" rIns="25400" bIns="25400" rtlCol="0" anchor="t">
            <a:normAutofit/>
          </a:bodyPr>
          <a:lstStyle/>
          <a:p>
            <a:pPr algn="l" indent="0" marL="0">
              <a:buNone/>
            </a:pPr>
            <a:r>
              <a:rPr lang="en-US" sz="1050" b="1" spc="42" kern="0" dirty="0">
                <a:solidFill>
                  <a:srgbClr val="8996A6"/>
                </a:solidFill>
                <a:latin typeface="IBM Plex Mono" pitchFamily="34" charset="0"/>
                <a:ea typeface="IBM Plex Mono" pitchFamily="34" charset="-122"/>
                <a:cs typeface="IBM Plex Mono" pitchFamily="34" charset="-120"/>
              </a:rPr>
              <a:t>INITIATION</a:t>
            </a:r>
            <a:endParaRPr lang="en-US" sz="1050" dirty="0"/>
          </a:p>
        </p:txBody>
      </p:sp>
      <p:sp>
        <p:nvSpPr>
          <p:cNvPr id="11" name="Text 9"/>
          <p:cNvSpPr/>
          <p:nvPr/>
        </p:nvSpPr>
        <p:spPr>
          <a:xfrm>
            <a:off x="5905499" y="1981165"/>
            <a:ext cx="1100488" cy="206188"/>
          </a:xfrm>
          <a:prstGeom prst="rect">
            <a:avLst/>
          </a:prstGeom>
          <a:noFill/>
          <a:ln/>
        </p:spPr>
        <p:txBody>
          <a:bodyPr wrap="square" lIns="25400" tIns="25400" rIns="25400" bIns="25400" rtlCol="0" anchor="t">
            <a:normAutofit/>
          </a:bodyPr>
          <a:lstStyle/>
          <a:p>
            <a:pPr algn="l" indent="0" marL="0">
              <a:buNone/>
            </a:pPr>
            <a:r>
              <a:rPr lang="en-US" sz="1050" b="1" spc="42" kern="0" dirty="0">
                <a:solidFill>
                  <a:srgbClr val="8996A6"/>
                </a:solidFill>
                <a:latin typeface="IBM Plex Mono" pitchFamily="34" charset="0"/>
                <a:ea typeface="IBM Plex Mono" pitchFamily="34" charset="-122"/>
                <a:cs typeface="IBM Plex Mono" pitchFamily="34" charset="-120"/>
              </a:rPr>
              <a:t>AVAILABILITY</a:t>
            </a:r>
            <a:endParaRPr lang="en-US" sz="1050" dirty="0"/>
          </a:p>
        </p:txBody>
      </p:sp>
      <p:sp>
        <p:nvSpPr>
          <p:cNvPr id="12" name="Text 10"/>
          <p:cNvSpPr/>
          <p:nvPr/>
        </p:nvSpPr>
        <p:spPr>
          <a:xfrm>
            <a:off x="9524999" y="1981165"/>
            <a:ext cx="929773" cy="206188"/>
          </a:xfrm>
          <a:prstGeom prst="rect">
            <a:avLst/>
          </a:prstGeom>
          <a:noFill/>
          <a:ln/>
        </p:spPr>
        <p:txBody>
          <a:bodyPr wrap="square" lIns="25400" tIns="25400" rIns="25400" bIns="25400" rtlCol="0" anchor="t">
            <a:normAutofit/>
          </a:bodyPr>
          <a:lstStyle/>
          <a:p>
            <a:pPr algn="l" indent="0" marL="0">
              <a:buNone/>
            </a:pPr>
            <a:r>
              <a:rPr lang="en-US" sz="1050" b="1" spc="42" kern="0" dirty="0">
                <a:solidFill>
                  <a:srgbClr val="8996A6"/>
                </a:solidFill>
                <a:latin typeface="IBM Plex Mono" pitchFamily="34" charset="0"/>
                <a:ea typeface="IBM Plex Mono" pitchFamily="34" charset="-122"/>
                <a:cs typeface="IBM Plex Mono" pitchFamily="34" charset="-120"/>
              </a:rPr>
              <a:t>ATTENDANCE</a:t>
            </a:r>
            <a:endParaRPr lang="en-US" sz="1050" dirty="0"/>
          </a:p>
        </p:txBody>
      </p:sp>
      <p:sp>
        <p:nvSpPr>
          <p:cNvPr id="13" name="Text 11"/>
          <p:cNvSpPr/>
          <p:nvPr/>
        </p:nvSpPr>
        <p:spPr>
          <a:xfrm>
            <a:off x="14001749" y="1981165"/>
            <a:ext cx="1971465" cy="206188"/>
          </a:xfrm>
          <a:prstGeom prst="rect">
            <a:avLst/>
          </a:prstGeom>
          <a:noFill/>
          <a:ln/>
        </p:spPr>
        <p:txBody>
          <a:bodyPr wrap="square" lIns="25400" tIns="25400" rIns="25400" bIns="25400" rtlCol="0" anchor="t">
            <a:normAutofit/>
          </a:bodyPr>
          <a:lstStyle/>
          <a:p>
            <a:pPr algn="l" indent="0" marL="0">
              <a:buNone/>
            </a:pPr>
            <a:r>
              <a:rPr lang="en-US" sz="1050" b="1" spc="42" kern="0" dirty="0">
                <a:solidFill>
                  <a:srgbClr val="8996A6"/>
                </a:solidFill>
                <a:latin typeface="IBM Plex Mono" pitchFamily="34" charset="0"/>
                <a:ea typeface="IBM Plex Mono" pitchFamily="34" charset="-122"/>
                <a:cs typeface="IBM Plex Mono" pitchFamily="34" charset="-120"/>
              </a:rPr>
              <a:t>PARTNER · IF REQUIRED</a:t>
            </a:r>
            <a:endParaRPr lang="en-US" sz="1050" dirty="0"/>
          </a:p>
        </p:txBody>
      </p:sp>
      <p:sp>
        <p:nvSpPr>
          <p:cNvPr id="14" name="Text 12"/>
          <p:cNvSpPr/>
          <p:nvPr/>
        </p:nvSpPr>
        <p:spPr>
          <a:xfrm>
            <a:off x="16382999" y="1981165"/>
            <a:ext cx="1100488" cy="206188"/>
          </a:xfrm>
          <a:prstGeom prst="rect">
            <a:avLst/>
          </a:prstGeom>
          <a:noFill/>
          <a:ln/>
        </p:spPr>
        <p:txBody>
          <a:bodyPr wrap="square" lIns="25400" tIns="25400" rIns="25400" bIns="25400" rtlCol="0" anchor="t">
            <a:normAutofit/>
          </a:bodyPr>
          <a:lstStyle/>
          <a:p>
            <a:pPr algn="l" indent="0" marL="0">
              <a:buNone/>
            </a:pPr>
            <a:r>
              <a:rPr lang="en-US" sz="1050" b="1" spc="42" kern="0" dirty="0">
                <a:solidFill>
                  <a:srgbClr val="8996A6"/>
                </a:solidFill>
                <a:latin typeface="IBM Plex Mono" pitchFamily="34" charset="0"/>
                <a:ea typeface="IBM Plex Mono" pitchFamily="34" charset="-122"/>
                <a:cs typeface="IBM Plex Mono" pitchFamily="34" charset="-120"/>
              </a:rPr>
              <a:t>CONFIRMATION</a:t>
            </a:r>
            <a:endParaRPr lang="en-US" sz="1050" dirty="0"/>
          </a:p>
        </p:txBody>
      </p:sp>
      <p:sp>
        <p:nvSpPr>
          <p:cNvPr id="15" name="Shape 13"/>
          <p:cNvSpPr/>
          <p:nvPr/>
        </p:nvSpPr>
        <p:spPr>
          <a:xfrm>
            <a:off x="723830" y="2381250"/>
            <a:ext cx="17011579" cy="1409665"/>
          </a:xfrm>
          <a:prstGeom prst="roundRect">
            <a:avLst>
              <a:gd name="adj" fmla="val 8108"/>
            </a:avLst>
          </a:prstGeom>
          <a:solidFill>
            <a:srgbClr val="F5F8FA"/>
          </a:solidFill>
          <a:ln/>
        </p:spPr>
      </p:sp>
      <p:sp>
        <p:nvSpPr>
          <p:cNvPr id="16" name="Shape 14"/>
          <p:cNvSpPr/>
          <p:nvPr/>
        </p:nvSpPr>
        <p:spPr>
          <a:xfrm>
            <a:off x="723830" y="3847995"/>
            <a:ext cx="17011579" cy="1409665"/>
          </a:xfrm>
          <a:prstGeom prst="roundRect">
            <a:avLst>
              <a:gd name="adj" fmla="val 8108"/>
            </a:avLst>
          </a:prstGeom>
          <a:solidFill>
            <a:srgbClr val="FAFBFD"/>
          </a:solidFill>
          <a:ln/>
        </p:spPr>
      </p:sp>
      <p:sp>
        <p:nvSpPr>
          <p:cNvPr id="17" name="Shape 15"/>
          <p:cNvSpPr/>
          <p:nvPr/>
        </p:nvSpPr>
        <p:spPr>
          <a:xfrm>
            <a:off x="723830" y="5314915"/>
            <a:ext cx="17011579" cy="1409665"/>
          </a:xfrm>
          <a:prstGeom prst="roundRect">
            <a:avLst>
              <a:gd name="adj" fmla="val 8108"/>
            </a:avLst>
          </a:prstGeom>
          <a:solidFill>
            <a:srgbClr val="F5F8FA"/>
          </a:solidFill>
          <a:ln/>
        </p:spPr>
      </p:sp>
      <p:sp>
        <p:nvSpPr>
          <p:cNvPr id="18" name="Shape 16"/>
          <p:cNvSpPr/>
          <p:nvPr/>
        </p:nvSpPr>
        <p:spPr>
          <a:xfrm>
            <a:off x="723830" y="6781659"/>
            <a:ext cx="17011579" cy="1409665"/>
          </a:xfrm>
          <a:prstGeom prst="roundRect">
            <a:avLst>
              <a:gd name="adj" fmla="val 8108"/>
            </a:avLst>
          </a:prstGeom>
          <a:solidFill>
            <a:srgbClr val="FAFBFD"/>
          </a:solidFill>
          <a:ln/>
        </p:spPr>
      </p:sp>
      <p:sp>
        <p:nvSpPr>
          <p:cNvPr id="19" name="Shape 17"/>
          <p:cNvSpPr/>
          <p:nvPr/>
        </p:nvSpPr>
        <p:spPr>
          <a:xfrm>
            <a:off x="723830" y="8248580"/>
            <a:ext cx="17011579" cy="1409665"/>
          </a:xfrm>
          <a:prstGeom prst="roundRect">
            <a:avLst>
              <a:gd name="adj" fmla="val 8108"/>
            </a:avLst>
          </a:prstGeom>
          <a:solidFill>
            <a:srgbClr val="F5F8FA"/>
          </a:solidFill>
          <a:ln/>
        </p:spPr>
      </p:sp>
      <p:sp>
        <p:nvSpPr>
          <p:cNvPr id="20" name="Shape 18"/>
          <p:cNvSpPr/>
          <p:nvPr/>
        </p:nvSpPr>
        <p:spPr>
          <a:xfrm>
            <a:off x="857075" y="3038370"/>
            <a:ext cx="95250" cy="95250"/>
          </a:xfrm>
          <a:prstGeom prst="ellipse">
            <a:avLst/>
          </a:prstGeom>
          <a:solidFill>
            <a:srgbClr val="0B7A75"/>
          </a:solidFill>
          <a:ln/>
        </p:spPr>
      </p:sp>
      <p:sp>
        <p:nvSpPr>
          <p:cNvPr id="21" name="Text 19"/>
          <p:cNvSpPr/>
          <p:nvPr/>
        </p:nvSpPr>
        <p:spPr>
          <a:xfrm>
            <a:off x="1037945" y="3001951"/>
            <a:ext cx="747327" cy="206188"/>
          </a:xfrm>
          <a:prstGeom prst="rect">
            <a:avLst/>
          </a:prstGeom>
          <a:noFill/>
          <a:ln/>
        </p:spPr>
        <p:txBody>
          <a:bodyPr wrap="square" lIns="25400" tIns="25400" rIns="25400" bIns="25400" rtlCol="0" anchor="t">
            <a:normAutofit/>
          </a:bodyPr>
          <a:lstStyle/>
          <a:p>
            <a:pPr algn="l" indent="0" marL="0">
              <a:lnSpc>
                <a:spcPct val="106250"/>
              </a:lnSpc>
              <a:buNone/>
            </a:pPr>
            <a:r>
              <a:rPr lang="en-US" sz="1125" b="1" dirty="0">
                <a:solidFill>
                  <a:srgbClr val="0B7A75"/>
                </a:solidFill>
                <a:latin typeface="Public Sans" pitchFamily="34" charset="0"/>
                <a:ea typeface="Public Sans" pitchFamily="34" charset="-122"/>
                <a:cs typeface="Public Sans" pitchFamily="34" charset="-120"/>
              </a:rPr>
              <a:t>Customer</a:t>
            </a:r>
            <a:endParaRPr lang="en-US" sz="1125" dirty="0"/>
          </a:p>
        </p:txBody>
      </p:sp>
      <p:sp>
        <p:nvSpPr>
          <p:cNvPr id="22" name="Shape 20"/>
          <p:cNvSpPr/>
          <p:nvPr/>
        </p:nvSpPr>
        <p:spPr>
          <a:xfrm>
            <a:off x="857075" y="4505115"/>
            <a:ext cx="95250" cy="95250"/>
          </a:xfrm>
          <a:prstGeom prst="ellipse">
            <a:avLst/>
          </a:prstGeom>
          <a:solidFill>
            <a:srgbClr val="1C5C43"/>
          </a:solidFill>
          <a:ln/>
        </p:spPr>
      </p:sp>
      <p:sp>
        <p:nvSpPr>
          <p:cNvPr id="23" name="Text 21"/>
          <p:cNvSpPr/>
          <p:nvPr/>
        </p:nvSpPr>
        <p:spPr>
          <a:xfrm>
            <a:off x="1037945" y="4468696"/>
            <a:ext cx="1240211" cy="206188"/>
          </a:xfrm>
          <a:prstGeom prst="rect">
            <a:avLst/>
          </a:prstGeom>
          <a:noFill/>
          <a:ln/>
        </p:spPr>
        <p:txBody>
          <a:bodyPr wrap="square" lIns="25400" tIns="25400" rIns="25400" bIns="25400" rtlCol="0" anchor="t">
            <a:normAutofit/>
          </a:bodyPr>
          <a:lstStyle/>
          <a:p>
            <a:pPr algn="l" indent="0" marL="0">
              <a:lnSpc>
                <a:spcPct val="106250"/>
              </a:lnSpc>
              <a:buNone/>
            </a:pPr>
            <a:r>
              <a:rPr lang="en-US" sz="1125" b="1" dirty="0">
                <a:solidFill>
                  <a:srgbClr val="1C5C43"/>
                </a:solidFill>
                <a:latin typeface="Public Sans" pitchFamily="34" charset="0"/>
                <a:ea typeface="Public Sans" pitchFamily="34" charset="-122"/>
                <a:cs typeface="Public Sans" pitchFamily="34" charset="-120"/>
              </a:rPr>
              <a:t>Relationship Mgr</a:t>
            </a:r>
            <a:endParaRPr lang="en-US" sz="1125" dirty="0"/>
          </a:p>
        </p:txBody>
      </p:sp>
      <p:sp>
        <p:nvSpPr>
          <p:cNvPr id="24" name="Shape 22"/>
          <p:cNvSpPr/>
          <p:nvPr/>
        </p:nvSpPr>
        <p:spPr>
          <a:xfrm>
            <a:off x="857075" y="5972034"/>
            <a:ext cx="95250" cy="95250"/>
          </a:xfrm>
          <a:prstGeom prst="ellipse">
            <a:avLst/>
          </a:prstGeom>
          <a:solidFill>
            <a:srgbClr val="5B6B52"/>
          </a:solidFill>
          <a:ln/>
        </p:spPr>
      </p:sp>
      <p:sp>
        <p:nvSpPr>
          <p:cNvPr id="25" name="Text 23"/>
          <p:cNvSpPr/>
          <p:nvPr/>
        </p:nvSpPr>
        <p:spPr>
          <a:xfrm>
            <a:off x="1037945" y="5935616"/>
            <a:ext cx="1122899" cy="206188"/>
          </a:xfrm>
          <a:prstGeom prst="rect">
            <a:avLst/>
          </a:prstGeom>
          <a:noFill/>
          <a:ln/>
        </p:spPr>
        <p:txBody>
          <a:bodyPr wrap="square" lIns="25400" tIns="25400" rIns="25400" bIns="25400" rtlCol="0" anchor="t">
            <a:normAutofit/>
          </a:bodyPr>
          <a:lstStyle/>
          <a:p>
            <a:pPr algn="l" indent="0" marL="0">
              <a:lnSpc>
                <a:spcPct val="106250"/>
              </a:lnSpc>
              <a:buNone/>
            </a:pPr>
            <a:r>
              <a:rPr lang="en-US" sz="1125" b="1" dirty="0">
                <a:solidFill>
                  <a:srgbClr val="5B6B52"/>
                </a:solidFill>
                <a:latin typeface="Public Sans" pitchFamily="34" charset="0"/>
                <a:ea typeface="Public Sans" pitchFamily="34" charset="-122"/>
                <a:cs typeface="Public Sans" pitchFamily="34" charset="-120"/>
              </a:rPr>
              <a:t>Team Assistant</a:t>
            </a:r>
            <a:endParaRPr lang="en-US" sz="1125" dirty="0"/>
          </a:p>
        </p:txBody>
      </p:sp>
      <p:sp>
        <p:nvSpPr>
          <p:cNvPr id="26" name="Shape 24"/>
          <p:cNvSpPr/>
          <p:nvPr/>
        </p:nvSpPr>
        <p:spPr>
          <a:xfrm>
            <a:off x="857075" y="7438780"/>
            <a:ext cx="95250" cy="95250"/>
          </a:xfrm>
          <a:prstGeom prst="ellipse">
            <a:avLst/>
          </a:prstGeom>
          <a:solidFill>
            <a:srgbClr val="B4690E"/>
          </a:solidFill>
          <a:ln/>
        </p:spPr>
      </p:sp>
      <p:sp>
        <p:nvSpPr>
          <p:cNvPr id="27" name="Text 25"/>
          <p:cNvSpPr/>
          <p:nvPr/>
        </p:nvSpPr>
        <p:spPr>
          <a:xfrm>
            <a:off x="1037945" y="7402360"/>
            <a:ext cx="1149338" cy="206188"/>
          </a:xfrm>
          <a:prstGeom prst="rect">
            <a:avLst/>
          </a:prstGeom>
          <a:noFill/>
          <a:ln/>
        </p:spPr>
        <p:txBody>
          <a:bodyPr wrap="square" lIns="25400" tIns="25400" rIns="25400" bIns="25400" rtlCol="0" anchor="t">
            <a:normAutofit/>
          </a:bodyPr>
          <a:lstStyle/>
          <a:p>
            <a:pPr algn="l" indent="0" marL="0">
              <a:lnSpc>
                <a:spcPct val="106250"/>
              </a:lnSpc>
              <a:buNone/>
            </a:pPr>
            <a:r>
              <a:rPr lang="en-US" sz="1125" b="1" dirty="0">
                <a:solidFill>
                  <a:srgbClr val="B4690E"/>
                </a:solidFill>
                <a:latin typeface="Public Sans" pitchFamily="34" charset="0"/>
                <a:ea typeface="Public Sans" pitchFamily="34" charset="-122"/>
                <a:cs typeface="Public Sans" pitchFamily="34" charset="-120"/>
              </a:rPr>
              <a:t>Catering &amp; FOH</a:t>
            </a:r>
            <a:endParaRPr lang="en-US" sz="1125" dirty="0"/>
          </a:p>
        </p:txBody>
      </p:sp>
      <p:sp>
        <p:nvSpPr>
          <p:cNvPr id="28" name="Shape 26"/>
          <p:cNvSpPr/>
          <p:nvPr/>
        </p:nvSpPr>
        <p:spPr>
          <a:xfrm>
            <a:off x="857075" y="8905699"/>
            <a:ext cx="95250" cy="95250"/>
          </a:xfrm>
          <a:prstGeom prst="ellipse">
            <a:avLst/>
          </a:prstGeom>
          <a:solidFill>
            <a:srgbClr val="742774"/>
          </a:solidFill>
          <a:ln/>
        </p:spPr>
      </p:sp>
      <p:sp>
        <p:nvSpPr>
          <p:cNvPr id="29" name="Text 27"/>
          <p:cNvSpPr/>
          <p:nvPr/>
        </p:nvSpPr>
        <p:spPr>
          <a:xfrm>
            <a:off x="1037945" y="8785236"/>
            <a:ext cx="1533840" cy="374276"/>
          </a:xfrm>
          <a:prstGeom prst="rect">
            <a:avLst/>
          </a:prstGeom>
          <a:noFill/>
          <a:ln/>
        </p:spPr>
        <p:txBody>
          <a:bodyPr wrap="square" lIns="25400" tIns="25400" rIns="25400" bIns="25400" rtlCol="0" anchor="t">
            <a:normAutofit/>
          </a:bodyPr>
          <a:lstStyle/>
          <a:p>
            <a:pPr algn="l" indent="0" marL="0">
              <a:lnSpc>
                <a:spcPct val="106250"/>
              </a:lnSpc>
              <a:buNone/>
            </a:pPr>
            <a:r>
              <a:rPr lang="en-US" sz="1125" b="1" dirty="0">
                <a:solidFill>
                  <a:srgbClr val="742774"/>
                </a:solidFill>
                <a:latin typeface="Public Sans" pitchFamily="34" charset="0"/>
                <a:ea typeface="Public Sans" pitchFamily="34" charset="-122"/>
                <a:cs typeface="Public Sans" pitchFamily="34" charset="-120"/>
              </a:rPr>
              <a:t>Exec Assistants · Partners</a:t>
            </a:r>
            <a:endParaRPr lang="en-US" sz="1125" dirty="0"/>
          </a:p>
        </p:txBody>
      </p:sp>
      <p:pic>
        <p:nvPicPr>
          <p:cNvPr id="30"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8287999" cy="10286999"/>
          </a:xfrm>
          <a:prstGeom prst="rect">
            <a:avLst/>
          </a:prstGeom>
        </p:spPr>
      </p:pic>
      <p:sp>
        <p:nvSpPr>
          <p:cNvPr id="31" name="Shape 28"/>
          <p:cNvSpPr/>
          <p:nvPr/>
        </p:nvSpPr>
        <p:spPr>
          <a:xfrm rot="2700000">
            <a:off x="10267915" y="2609745"/>
            <a:ext cx="952500" cy="952500"/>
          </a:xfrm>
          <a:prstGeom prst="roundRect">
            <a:avLst>
              <a:gd name="adj" fmla="val 12000"/>
            </a:avLst>
          </a:prstGeom>
          <a:solidFill>
            <a:srgbClr val="FDF6EA"/>
          </a:solidFill>
          <a:ln w="16809">
            <a:solidFill>
              <a:srgbClr val="C8A45C"/>
            </a:solidFill>
            <a:prstDash val="solid"/>
          </a:ln>
          <a:effectLst>
            <a:outerShdw sx="100000" sy="100000" kx="0" ky="0" algn="bl" rotWithShape="0" blurRad="57150" dist="19050" dir="5400000">
              <a:srgbClr val="785014">
                <a:alpha val="12000"/>
              </a:srgbClr>
            </a:outerShdw>
          </a:effectLst>
        </p:spPr>
      </p:sp>
      <p:sp>
        <p:nvSpPr>
          <p:cNvPr id="32" name="Text 29"/>
          <p:cNvSpPr/>
          <p:nvPr/>
        </p:nvSpPr>
        <p:spPr>
          <a:xfrm>
            <a:off x="10115479" y="2819330"/>
            <a:ext cx="1257195" cy="571430"/>
          </a:xfrm>
          <a:prstGeom prst="rect">
            <a:avLst/>
          </a:prstGeom>
          <a:noFill/>
          <a:ln/>
        </p:spPr>
        <p:txBody>
          <a:bodyPr wrap="square" lIns="25400" tIns="25400" rIns="25400" bIns="25400" rtlCol="0" anchor="ctr">
            <a:normAutofit/>
          </a:bodyPr>
          <a:lstStyle/>
          <a:p>
            <a:pPr algn="ctr" indent="0" marL="0">
              <a:lnSpc>
                <a:spcPct val="97750"/>
              </a:lnSpc>
              <a:buNone/>
            </a:pPr>
            <a:r>
              <a:rPr lang="en-US" sz="1050" b="1" dirty="0">
                <a:solidFill>
                  <a:srgbClr val="8A5410"/>
                </a:solidFill>
                <a:latin typeface="Public Sans" pitchFamily="34" charset="0"/>
                <a:ea typeface="Public Sans" pitchFamily="34" charset="-122"/>
                <a:cs typeface="Public Sans" pitchFamily="34" charset="-120"/>
              </a:rPr>
              <a:t>Able to attend?</a:t>
            </a:r>
            <a:endParaRPr lang="en-US" sz="1050" dirty="0"/>
          </a:p>
        </p:txBody>
      </p:sp>
      <p:sp>
        <p:nvSpPr>
          <p:cNvPr id="33" name="Shape 30"/>
          <p:cNvSpPr/>
          <p:nvPr/>
        </p:nvSpPr>
        <p:spPr>
          <a:xfrm rot="2700000">
            <a:off x="13982664" y="4076665"/>
            <a:ext cx="952500" cy="952500"/>
          </a:xfrm>
          <a:prstGeom prst="roundRect">
            <a:avLst>
              <a:gd name="adj" fmla="val 12000"/>
            </a:avLst>
          </a:prstGeom>
          <a:solidFill>
            <a:srgbClr val="FDF6EA"/>
          </a:solidFill>
          <a:ln w="16809">
            <a:solidFill>
              <a:srgbClr val="C8A45C"/>
            </a:solidFill>
            <a:prstDash val="solid"/>
          </a:ln>
          <a:effectLst>
            <a:outerShdw sx="100000" sy="100000" kx="0" ky="0" algn="bl" rotWithShape="0" blurRad="57150" dist="19050" dir="5400000">
              <a:srgbClr val="785014">
                <a:alpha val="12000"/>
              </a:srgbClr>
            </a:outerShdw>
          </a:effectLst>
        </p:spPr>
      </p:sp>
      <p:sp>
        <p:nvSpPr>
          <p:cNvPr id="34" name="Text 31"/>
          <p:cNvSpPr/>
          <p:nvPr/>
        </p:nvSpPr>
        <p:spPr>
          <a:xfrm>
            <a:off x="13830229" y="4286250"/>
            <a:ext cx="1257195" cy="571430"/>
          </a:xfrm>
          <a:prstGeom prst="rect">
            <a:avLst/>
          </a:prstGeom>
          <a:noFill/>
          <a:ln/>
        </p:spPr>
        <p:txBody>
          <a:bodyPr wrap="square" lIns="25400" tIns="25400" rIns="25400" bIns="25400" rtlCol="0" anchor="ctr">
            <a:normAutofit/>
          </a:bodyPr>
          <a:lstStyle/>
          <a:p>
            <a:pPr algn="ctr" indent="0" marL="0">
              <a:lnSpc>
                <a:spcPct val="97750"/>
              </a:lnSpc>
              <a:buNone/>
            </a:pPr>
            <a:r>
              <a:rPr lang="en-US" sz="1050" b="1" dirty="0">
                <a:solidFill>
                  <a:srgbClr val="8A5410"/>
                </a:solidFill>
                <a:latin typeface="Public Sans" pitchFamily="34" charset="0"/>
                <a:ea typeface="Public Sans" pitchFamily="34" charset="-122"/>
                <a:cs typeface="Public Sans" pitchFamily="34" charset="-120"/>
              </a:rPr>
              <a:t>Known to partner?</a:t>
            </a:r>
            <a:endParaRPr lang="en-US" sz="1050" dirty="0"/>
          </a:p>
        </p:txBody>
      </p:sp>
      <p:sp>
        <p:nvSpPr>
          <p:cNvPr id="35" name="Shape 32"/>
          <p:cNvSpPr/>
          <p:nvPr/>
        </p:nvSpPr>
        <p:spPr>
          <a:xfrm rot="2700000">
            <a:off x="15220914" y="8477250"/>
            <a:ext cx="952500" cy="952500"/>
          </a:xfrm>
          <a:prstGeom prst="roundRect">
            <a:avLst>
              <a:gd name="adj" fmla="val 12000"/>
            </a:avLst>
          </a:prstGeom>
          <a:solidFill>
            <a:srgbClr val="FDF6EA"/>
          </a:solidFill>
          <a:ln w="16809">
            <a:solidFill>
              <a:srgbClr val="C8A45C"/>
            </a:solidFill>
            <a:prstDash val="solid"/>
          </a:ln>
          <a:effectLst>
            <a:outerShdw sx="100000" sy="100000" kx="0" ky="0" algn="bl" rotWithShape="0" blurRad="57150" dist="19050" dir="5400000">
              <a:srgbClr val="785014">
                <a:alpha val="12000"/>
              </a:srgbClr>
            </a:outerShdw>
          </a:effectLst>
        </p:spPr>
      </p:sp>
      <p:sp>
        <p:nvSpPr>
          <p:cNvPr id="36" name="Text 33"/>
          <p:cNvSpPr/>
          <p:nvPr/>
        </p:nvSpPr>
        <p:spPr>
          <a:xfrm>
            <a:off x="15068479" y="8686659"/>
            <a:ext cx="1257195" cy="571430"/>
          </a:xfrm>
          <a:prstGeom prst="rect">
            <a:avLst/>
          </a:prstGeom>
          <a:noFill/>
          <a:ln/>
        </p:spPr>
        <p:txBody>
          <a:bodyPr wrap="square" lIns="25400" tIns="25400" rIns="25400" bIns="25400" rtlCol="0" anchor="ctr">
            <a:normAutofit/>
          </a:bodyPr>
          <a:lstStyle/>
          <a:p>
            <a:pPr algn="ctr" indent="0" marL="0">
              <a:lnSpc>
                <a:spcPct val="97750"/>
              </a:lnSpc>
              <a:buNone/>
            </a:pPr>
            <a:r>
              <a:rPr lang="en-US" sz="1050" b="1" dirty="0">
                <a:solidFill>
                  <a:srgbClr val="8A5410"/>
                </a:solidFill>
                <a:latin typeface="Public Sans" pitchFamily="34" charset="0"/>
                <a:ea typeface="Public Sans" pitchFamily="34" charset="-122"/>
                <a:cs typeface="Public Sans" pitchFamily="34" charset="-120"/>
              </a:rPr>
              <a:t>Partner available?</a:t>
            </a:r>
            <a:endParaRPr lang="en-US" sz="1050" dirty="0"/>
          </a:p>
        </p:txBody>
      </p:sp>
      <p:sp>
        <p:nvSpPr>
          <p:cNvPr id="37" name="Shape 34"/>
          <p:cNvSpPr/>
          <p:nvPr/>
        </p:nvSpPr>
        <p:spPr>
          <a:xfrm>
            <a:off x="2743165" y="2667000"/>
            <a:ext cx="1143000" cy="838165"/>
          </a:xfrm>
          <a:prstGeom prst="roundRect">
            <a:avLst>
              <a:gd name="adj" fmla="val 11364"/>
            </a:avLst>
          </a:prstGeom>
          <a:solidFill>
            <a:srgbClr val="E6F4F2"/>
          </a:solidFill>
          <a:ln w="11206">
            <a:solidFill>
              <a:srgbClr val="BFE0DC"/>
            </a:solidFill>
            <a:prstDash val="solid"/>
          </a:ln>
        </p:spPr>
      </p:sp>
      <p:sp>
        <p:nvSpPr>
          <p:cNvPr id="38" name="Shape 35"/>
          <p:cNvSpPr/>
          <p:nvPr/>
        </p:nvSpPr>
        <p:spPr>
          <a:xfrm>
            <a:off x="2640211" y="2564046"/>
            <a:ext cx="266665" cy="266665"/>
          </a:xfrm>
          <a:prstGeom prst="ellipse">
            <a:avLst/>
          </a:prstGeom>
          <a:solidFill>
            <a:srgbClr val="0D2E22"/>
          </a:solidFill>
          <a:ln/>
        </p:spPr>
      </p:sp>
      <p:sp>
        <p:nvSpPr>
          <p:cNvPr id="39" name="Text 36"/>
          <p:cNvSpPr/>
          <p:nvPr/>
        </p:nvSpPr>
        <p:spPr>
          <a:xfrm>
            <a:off x="2602111" y="2564046"/>
            <a:ext cx="342865" cy="304765"/>
          </a:xfrm>
          <a:prstGeom prst="rect">
            <a:avLst/>
          </a:prstGeom>
          <a:noFill/>
          <a:ln/>
        </p:spPr>
        <p:txBody>
          <a:bodyPr wrap="square" lIns="25400" tIns="25400" rIns="25400" bIns="25400" rtlCol="0" anchor="ctr">
            <a:normAutofit/>
          </a:bodyPr>
          <a:lstStyle/>
          <a:p>
            <a:pPr algn="ctr" indent="0" marL="0">
              <a:buNone/>
            </a:pPr>
            <a:r>
              <a:rPr lang="en-US" sz="1050" b="1" dirty="0">
                <a:solidFill>
                  <a:srgbClr val="FFFFFF"/>
                </a:solidFill>
                <a:latin typeface="IBM Plex Mono" pitchFamily="34" charset="0"/>
                <a:ea typeface="IBM Plex Mono" pitchFamily="34" charset="-122"/>
                <a:cs typeface="IBM Plex Mono" pitchFamily="34" charset="-120"/>
              </a:rPr>
              <a:t>1</a:t>
            </a:r>
            <a:endParaRPr lang="en-US" sz="1050" dirty="0"/>
          </a:p>
        </p:txBody>
      </p:sp>
      <p:sp>
        <p:nvSpPr>
          <p:cNvPr id="40" name="Text 37"/>
          <p:cNvSpPr/>
          <p:nvPr/>
        </p:nvSpPr>
        <p:spPr>
          <a:xfrm>
            <a:off x="2792436" y="2929112"/>
            <a:ext cx="1044458" cy="351865"/>
          </a:xfrm>
          <a:prstGeom prst="rect">
            <a:avLst/>
          </a:prstGeom>
          <a:noFill/>
          <a:ln/>
        </p:spPr>
        <p:txBody>
          <a:bodyPr wrap="square" lIns="25400" tIns="25400" rIns="25400" bIns="25400" rtlCol="0" anchor="t">
            <a:normAutofit/>
          </a:bodyPr>
          <a:lstStyle/>
          <a:p>
            <a:pPr algn="ctr" indent="0" marL="0">
              <a:lnSpc>
                <a:spcPct val="102000"/>
              </a:lnSpc>
              <a:buNone/>
            </a:pPr>
            <a:r>
              <a:rPr lang="en-US" sz="1050" b="1" dirty="0">
                <a:solidFill>
                  <a:srgbClr val="0D2E22"/>
                </a:solidFill>
                <a:latin typeface="Public Sans" pitchFamily="34" charset="0"/>
                <a:ea typeface="Public Sans" pitchFamily="34" charset="-122"/>
                <a:cs typeface="Public Sans" pitchFamily="34" charset="-120"/>
              </a:rPr>
              <a:t>Requests meeting</a:t>
            </a:r>
            <a:endParaRPr lang="en-US" sz="1050" dirty="0"/>
          </a:p>
        </p:txBody>
      </p:sp>
      <p:sp>
        <p:nvSpPr>
          <p:cNvPr id="41" name="Shape 38"/>
          <p:cNvSpPr/>
          <p:nvPr/>
        </p:nvSpPr>
        <p:spPr>
          <a:xfrm>
            <a:off x="2762250" y="4133745"/>
            <a:ext cx="1047750" cy="838165"/>
          </a:xfrm>
          <a:prstGeom prst="roundRect">
            <a:avLst>
              <a:gd name="adj" fmla="val 11364"/>
            </a:avLst>
          </a:prstGeom>
          <a:solidFill>
            <a:srgbClr val="EDF1E0"/>
          </a:solidFill>
          <a:ln w="11206">
            <a:solidFill>
              <a:srgbClr val="DBE6CD"/>
            </a:solidFill>
            <a:prstDash val="solid"/>
          </a:ln>
        </p:spPr>
      </p:sp>
      <p:sp>
        <p:nvSpPr>
          <p:cNvPr id="42" name="Shape 39"/>
          <p:cNvSpPr/>
          <p:nvPr/>
        </p:nvSpPr>
        <p:spPr>
          <a:xfrm>
            <a:off x="2659296" y="4030791"/>
            <a:ext cx="266665" cy="266665"/>
          </a:xfrm>
          <a:prstGeom prst="ellipse">
            <a:avLst/>
          </a:prstGeom>
          <a:solidFill>
            <a:srgbClr val="0D2E22"/>
          </a:solidFill>
          <a:ln/>
        </p:spPr>
      </p:sp>
      <p:sp>
        <p:nvSpPr>
          <p:cNvPr id="43" name="Text 40"/>
          <p:cNvSpPr/>
          <p:nvPr/>
        </p:nvSpPr>
        <p:spPr>
          <a:xfrm>
            <a:off x="2621196" y="4030791"/>
            <a:ext cx="342865" cy="304765"/>
          </a:xfrm>
          <a:prstGeom prst="rect">
            <a:avLst/>
          </a:prstGeom>
          <a:noFill/>
          <a:ln/>
        </p:spPr>
        <p:txBody>
          <a:bodyPr wrap="square" lIns="25400" tIns="25400" rIns="25400" bIns="25400" rtlCol="0" anchor="ctr">
            <a:normAutofit/>
          </a:bodyPr>
          <a:lstStyle/>
          <a:p>
            <a:pPr algn="ctr" indent="0" marL="0">
              <a:buNone/>
            </a:pPr>
            <a:r>
              <a:rPr lang="en-US" sz="1050" b="1" dirty="0">
                <a:solidFill>
                  <a:srgbClr val="FFFFFF"/>
                </a:solidFill>
                <a:latin typeface="IBM Plex Mono" pitchFamily="34" charset="0"/>
                <a:ea typeface="IBM Plex Mono" pitchFamily="34" charset="-122"/>
                <a:cs typeface="IBM Plex Mono" pitchFamily="34" charset="-120"/>
              </a:rPr>
              <a:t>2</a:t>
            </a:r>
            <a:endParaRPr lang="en-US" sz="1050" dirty="0"/>
          </a:p>
        </p:txBody>
      </p:sp>
      <p:sp>
        <p:nvSpPr>
          <p:cNvPr id="44" name="Text 41"/>
          <p:cNvSpPr/>
          <p:nvPr/>
        </p:nvSpPr>
        <p:spPr>
          <a:xfrm>
            <a:off x="2811521" y="4238975"/>
            <a:ext cx="949208" cy="665629"/>
          </a:xfrm>
          <a:prstGeom prst="rect">
            <a:avLst/>
          </a:prstGeom>
          <a:noFill/>
          <a:ln/>
        </p:spPr>
        <p:txBody>
          <a:bodyPr wrap="square" lIns="25400" tIns="25400" rIns="25400" bIns="25400" rtlCol="0" anchor="t">
            <a:normAutofit/>
          </a:bodyPr>
          <a:lstStyle/>
          <a:p>
            <a:pPr algn="ctr" indent="0" marL="0">
              <a:lnSpc>
                <a:spcPct val="102000"/>
              </a:lnSpc>
              <a:buNone/>
            </a:pPr>
            <a:r>
              <a:rPr lang="en-US" sz="1050" b="1" dirty="0">
                <a:solidFill>
                  <a:srgbClr val="0D2E22"/>
                </a:solidFill>
                <a:latin typeface="Public Sans" pitchFamily="34" charset="0"/>
                <a:ea typeface="Public Sans" pitchFamily="34" charset="-122"/>
                <a:cs typeface="Public Sans" pitchFamily="34" charset="-120"/>
              </a:rPr>
              <a:t>Identifies who to meet · CRM/ARR review</a:t>
            </a:r>
            <a:endParaRPr lang="en-US" sz="1050" dirty="0"/>
          </a:p>
        </p:txBody>
      </p:sp>
      <p:sp>
        <p:nvSpPr>
          <p:cNvPr id="45" name="Shape 42"/>
          <p:cNvSpPr/>
          <p:nvPr/>
        </p:nvSpPr>
        <p:spPr>
          <a:xfrm>
            <a:off x="4191000" y="4133745"/>
            <a:ext cx="1047750" cy="838165"/>
          </a:xfrm>
          <a:prstGeom prst="roundRect">
            <a:avLst>
              <a:gd name="adj" fmla="val 11364"/>
            </a:avLst>
          </a:prstGeom>
          <a:solidFill>
            <a:srgbClr val="EDF1E0"/>
          </a:solidFill>
          <a:ln w="11206">
            <a:solidFill>
              <a:srgbClr val="DBE6CD"/>
            </a:solidFill>
            <a:prstDash val="solid"/>
          </a:ln>
        </p:spPr>
      </p:sp>
      <p:sp>
        <p:nvSpPr>
          <p:cNvPr id="46" name="Shape 43"/>
          <p:cNvSpPr/>
          <p:nvPr/>
        </p:nvSpPr>
        <p:spPr>
          <a:xfrm>
            <a:off x="4088046" y="4030791"/>
            <a:ext cx="266665" cy="266665"/>
          </a:xfrm>
          <a:prstGeom prst="ellipse">
            <a:avLst/>
          </a:prstGeom>
          <a:solidFill>
            <a:srgbClr val="0D2E22"/>
          </a:solidFill>
          <a:ln/>
        </p:spPr>
      </p:sp>
      <p:sp>
        <p:nvSpPr>
          <p:cNvPr id="47" name="Text 44"/>
          <p:cNvSpPr/>
          <p:nvPr/>
        </p:nvSpPr>
        <p:spPr>
          <a:xfrm>
            <a:off x="4049946" y="4030791"/>
            <a:ext cx="342865" cy="304765"/>
          </a:xfrm>
          <a:prstGeom prst="rect">
            <a:avLst/>
          </a:prstGeom>
          <a:noFill/>
          <a:ln/>
        </p:spPr>
        <p:txBody>
          <a:bodyPr wrap="square" lIns="25400" tIns="25400" rIns="25400" bIns="25400" rtlCol="0" anchor="ctr">
            <a:normAutofit/>
          </a:bodyPr>
          <a:lstStyle/>
          <a:p>
            <a:pPr algn="ctr" indent="0" marL="0">
              <a:buNone/>
            </a:pPr>
            <a:r>
              <a:rPr lang="en-US" sz="1050" b="1" dirty="0">
                <a:solidFill>
                  <a:srgbClr val="FFFFFF"/>
                </a:solidFill>
                <a:latin typeface="IBM Plex Mono" pitchFamily="34" charset="0"/>
                <a:ea typeface="IBM Plex Mono" pitchFamily="34" charset="-122"/>
                <a:cs typeface="IBM Plex Mono" pitchFamily="34" charset="-120"/>
              </a:rPr>
              <a:t>3</a:t>
            </a:r>
            <a:endParaRPr lang="en-US" sz="1050" dirty="0"/>
          </a:p>
        </p:txBody>
      </p:sp>
      <p:sp>
        <p:nvSpPr>
          <p:cNvPr id="48" name="Text 45"/>
          <p:cNvSpPr/>
          <p:nvPr/>
        </p:nvSpPr>
        <p:spPr>
          <a:xfrm>
            <a:off x="4240271" y="4160709"/>
            <a:ext cx="949208" cy="822512"/>
          </a:xfrm>
          <a:prstGeom prst="rect">
            <a:avLst/>
          </a:prstGeom>
          <a:noFill/>
          <a:ln/>
        </p:spPr>
        <p:txBody>
          <a:bodyPr wrap="square" lIns="25400" tIns="25400" rIns="25400" bIns="25400" rtlCol="0" anchor="t">
            <a:normAutofit/>
          </a:bodyPr>
          <a:lstStyle/>
          <a:p>
            <a:pPr algn="ctr" indent="0" marL="0">
              <a:lnSpc>
                <a:spcPct val="102000"/>
              </a:lnSpc>
              <a:buNone/>
            </a:pPr>
            <a:r>
              <a:rPr lang="en-US" sz="1050" b="1" dirty="0">
                <a:solidFill>
                  <a:srgbClr val="0D2E22"/>
                </a:solidFill>
                <a:latin typeface="Public Sans" pitchFamily="34" charset="0"/>
                <a:ea typeface="Public Sans" pitchFamily="34" charset="-122"/>
                <a:cs typeface="Public Sans" pitchFamily="34" charset="-120"/>
              </a:rPr>
              <a:t>Checks type, room &amp; internal attendee availability</a:t>
            </a:r>
            <a:endParaRPr lang="en-US" sz="1050" dirty="0"/>
          </a:p>
        </p:txBody>
      </p:sp>
      <p:sp>
        <p:nvSpPr>
          <p:cNvPr id="49" name="Shape 46"/>
          <p:cNvSpPr/>
          <p:nvPr/>
        </p:nvSpPr>
        <p:spPr>
          <a:xfrm>
            <a:off x="5619749" y="4133745"/>
            <a:ext cx="1047750" cy="838165"/>
          </a:xfrm>
          <a:prstGeom prst="roundRect">
            <a:avLst>
              <a:gd name="adj" fmla="val 11364"/>
            </a:avLst>
          </a:prstGeom>
          <a:solidFill>
            <a:srgbClr val="EDF1E0"/>
          </a:solidFill>
          <a:ln w="11206">
            <a:solidFill>
              <a:srgbClr val="DBE6CD"/>
            </a:solidFill>
            <a:prstDash val="solid"/>
          </a:ln>
        </p:spPr>
      </p:sp>
      <p:sp>
        <p:nvSpPr>
          <p:cNvPr id="50" name="Shape 47"/>
          <p:cNvSpPr/>
          <p:nvPr/>
        </p:nvSpPr>
        <p:spPr>
          <a:xfrm>
            <a:off x="5516796" y="4030791"/>
            <a:ext cx="266665" cy="266665"/>
          </a:xfrm>
          <a:prstGeom prst="ellipse">
            <a:avLst/>
          </a:prstGeom>
          <a:solidFill>
            <a:srgbClr val="0D2E22"/>
          </a:solidFill>
          <a:ln/>
        </p:spPr>
      </p:sp>
      <p:sp>
        <p:nvSpPr>
          <p:cNvPr id="51" name="Text 48"/>
          <p:cNvSpPr/>
          <p:nvPr/>
        </p:nvSpPr>
        <p:spPr>
          <a:xfrm>
            <a:off x="5478696" y="4030791"/>
            <a:ext cx="342865" cy="304765"/>
          </a:xfrm>
          <a:prstGeom prst="rect">
            <a:avLst/>
          </a:prstGeom>
          <a:noFill/>
          <a:ln/>
        </p:spPr>
        <p:txBody>
          <a:bodyPr wrap="square" lIns="25400" tIns="25400" rIns="25400" bIns="25400" rtlCol="0" anchor="ctr">
            <a:normAutofit/>
          </a:bodyPr>
          <a:lstStyle/>
          <a:p>
            <a:pPr algn="ctr" indent="0" marL="0">
              <a:buNone/>
            </a:pPr>
            <a:r>
              <a:rPr lang="en-US" sz="1050" b="1" dirty="0">
                <a:solidFill>
                  <a:srgbClr val="FFFFFF"/>
                </a:solidFill>
                <a:latin typeface="IBM Plex Mono" pitchFamily="34" charset="0"/>
                <a:ea typeface="IBM Plex Mono" pitchFamily="34" charset="-122"/>
                <a:cs typeface="IBM Plex Mono" pitchFamily="34" charset="-120"/>
              </a:rPr>
              <a:t>4</a:t>
            </a:r>
            <a:endParaRPr lang="en-US" sz="1050" dirty="0"/>
          </a:p>
        </p:txBody>
      </p:sp>
      <p:sp>
        <p:nvSpPr>
          <p:cNvPr id="52" name="Text 49"/>
          <p:cNvSpPr/>
          <p:nvPr/>
        </p:nvSpPr>
        <p:spPr>
          <a:xfrm>
            <a:off x="5669020" y="4238975"/>
            <a:ext cx="949208" cy="665629"/>
          </a:xfrm>
          <a:prstGeom prst="rect">
            <a:avLst/>
          </a:prstGeom>
          <a:noFill/>
          <a:ln/>
        </p:spPr>
        <p:txBody>
          <a:bodyPr wrap="square" lIns="25400" tIns="25400" rIns="25400" bIns="25400" rtlCol="0" anchor="t">
            <a:normAutofit/>
          </a:bodyPr>
          <a:lstStyle/>
          <a:p>
            <a:pPr algn="ctr" indent="0" marL="0">
              <a:lnSpc>
                <a:spcPct val="102000"/>
              </a:lnSpc>
              <a:buNone/>
            </a:pPr>
            <a:r>
              <a:rPr lang="en-US" sz="1050" b="1" dirty="0">
                <a:solidFill>
                  <a:srgbClr val="0D2E22"/>
                </a:solidFill>
                <a:latin typeface="Public Sans" pitchFamily="34" charset="0"/>
                <a:ea typeface="Public Sans" pitchFamily="34" charset="-122"/>
                <a:cs typeface="Public Sans" pitchFamily="34" charset="-120"/>
              </a:rPr>
              <a:t>Creates 3 PROV Outlook invites + room</a:t>
            </a:r>
            <a:endParaRPr lang="en-US" sz="1050" dirty="0"/>
          </a:p>
        </p:txBody>
      </p:sp>
      <p:sp>
        <p:nvSpPr>
          <p:cNvPr id="53" name="Shape 50"/>
          <p:cNvSpPr/>
          <p:nvPr/>
        </p:nvSpPr>
        <p:spPr>
          <a:xfrm>
            <a:off x="7048499" y="4133745"/>
            <a:ext cx="1143000" cy="838165"/>
          </a:xfrm>
          <a:prstGeom prst="roundRect">
            <a:avLst>
              <a:gd name="adj" fmla="val 11364"/>
            </a:avLst>
          </a:prstGeom>
          <a:solidFill>
            <a:srgbClr val="EDF1E0"/>
          </a:solidFill>
          <a:ln w="11206">
            <a:solidFill>
              <a:srgbClr val="DBE6CD"/>
            </a:solidFill>
            <a:prstDash val="solid"/>
          </a:ln>
        </p:spPr>
      </p:sp>
      <p:sp>
        <p:nvSpPr>
          <p:cNvPr id="54" name="Shape 51"/>
          <p:cNvSpPr/>
          <p:nvPr/>
        </p:nvSpPr>
        <p:spPr>
          <a:xfrm>
            <a:off x="6945546" y="4030791"/>
            <a:ext cx="266665" cy="266665"/>
          </a:xfrm>
          <a:prstGeom prst="ellipse">
            <a:avLst/>
          </a:prstGeom>
          <a:solidFill>
            <a:srgbClr val="0D2E22"/>
          </a:solidFill>
          <a:ln/>
        </p:spPr>
      </p:sp>
      <p:sp>
        <p:nvSpPr>
          <p:cNvPr id="55" name="Text 52"/>
          <p:cNvSpPr/>
          <p:nvPr/>
        </p:nvSpPr>
        <p:spPr>
          <a:xfrm>
            <a:off x="6907446" y="4030791"/>
            <a:ext cx="342865" cy="304765"/>
          </a:xfrm>
          <a:prstGeom prst="rect">
            <a:avLst/>
          </a:prstGeom>
          <a:noFill/>
          <a:ln/>
        </p:spPr>
        <p:txBody>
          <a:bodyPr wrap="square" lIns="25400" tIns="25400" rIns="25400" bIns="25400" rtlCol="0" anchor="ctr">
            <a:normAutofit/>
          </a:bodyPr>
          <a:lstStyle/>
          <a:p>
            <a:pPr algn="ctr" indent="0" marL="0">
              <a:buNone/>
            </a:pPr>
            <a:r>
              <a:rPr lang="en-US" sz="1050" b="1" dirty="0">
                <a:solidFill>
                  <a:srgbClr val="FFFFFF"/>
                </a:solidFill>
                <a:latin typeface="IBM Plex Mono" pitchFamily="34" charset="0"/>
                <a:ea typeface="IBM Plex Mono" pitchFamily="34" charset="-122"/>
                <a:cs typeface="IBM Plex Mono" pitchFamily="34" charset="-120"/>
              </a:rPr>
              <a:t>5</a:t>
            </a:r>
            <a:endParaRPr lang="en-US" sz="1050" dirty="0"/>
          </a:p>
        </p:txBody>
      </p:sp>
      <p:sp>
        <p:nvSpPr>
          <p:cNvPr id="56" name="Text 53"/>
          <p:cNvSpPr/>
          <p:nvPr/>
        </p:nvSpPr>
        <p:spPr>
          <a:xfrm>
            <a:off x="7097770" y="4230396"/>
            <a:ext cx="1044458" cy="508747"/>
          </a:xfrm>
          <a:prstGeom prst="rect">
            <a:avLst/>
          </a:prstGeom>
          <a:noFill/>
          <a:ln/>
        </p:spPr>
        <p:txBody>
          <a:bodyPr wrap="square" lIns="25400" tIns="25400" rIns="25400" bIns="25400" rtlCol="0" anchor="t">
            <a:normAutofit/>
          </a:bodyPr>
          <a:lstStyle/>
          <a:p>
            <a:pPr algn="ctr" indent="0" marL="0">
              <a:lnSpc>
                <a:spcPct val="102000"/>
              </a:lnSpc>
              <a:buNone/>
            </a:pPr>
            <a:r>
              <a:rPr lang="en-US" sz="1050" b="1" dirty="0">
                <a:solidFill>
                  <a:srgbClr val="0D2E22"/>
                </a:solidFill>
                <a:latin typeface="Public Sans" pitchFamily="34" charset="0"/>
                <a:ea typeface="Public Sans" pitchFamily="34" charset="-122"/>
                <a:cs typeface="Public Sans" pitchFamily="34" charset="-120"/>
              </a:rPr>
              <a:t>Emails 3 proposed dates</a:t>
            </a:r>
            <a:endParaRPr lang="en-US" sz="1050" dirty="0"/>
          </a:p>
        </p:txBody>
      </p:sp>
      <p:sp>
        <p:nvSpPr>
          <p:cNvPr id="57" name="Text 54"/>
          <p:cNvSpPr/>
          <p:nvPr/>
        </p:nvSpPr>
        <p:spPr>
          <a:xfrm>
            <a:off x="7393150" y="4729583"/>
            <a:ext cx="453698" cy="183776"/>
          </a:xfrm>
          <a:prstGeom prst="rect">
            <a:avLst/>
          </a:prstGeom>
          <a:noFill/>
          <a:ln/>
        </p:spPr>
        <p:txBody>
          <a:bodyPr wrap="square" lIns="25400" tIns="25400" rIns="25400" bIns="25400" rtlCol="0" anchor="t">
            <a:normAutofit/>
          </a:bodyPr>
          <a:lstStyle/>
          <a:p>
            <a:pPr algn="ctr" indent="0" marL="0">
              <a:buNone/>
            </a:pPr>
            <a:r>
              <a:rPr lang="en-US" sz="825" b="1" dirty="0">
                <a:solidFill>
                  <a:srgbClr val="B4690E"/>
                </a:solidFill>
                <a:latin typeface="IBM Plex Mono" pitchFamily="34" charset="0"/>
                <a:ea typeface="IBM Plex Mono" pitchFamily="34" charset="-122"/>
                <a:cs typeface="IBM Plex Mono" pitchFamily="34" charset="-120"/>
              </a:rPr>
              <a:t>✉ MAIL</a:t>
            </a:r>
            <a:endParaRPr lang="en-US" sz="825" dirty="0"/>
          </a:p>
        </p:txBody>
      </p:sp>
      <p:sp>
        <p:nvSpPr>
          <p:cNvPr id="58" name="Shape 55"/>
          <p:cNvSpPr/>
          <p:nvPr/>
        </p:nvSpPr>
        <p:spPr>
          <a:xfrm>
            <a:off x="8934415" y="2667000"/>
            <a:ext cx="1143000" cy="838165"/>
          </a:xfrm>
          <a:prstGeom prst="roundRect">
            <a:avLst>
              <a:gd name="adj" fmla="val 11364"/>
            </a:avLst>
          </a:prstGeom>
          <a:solidFill>
            <a:srgbClr val="E6F4F2"/>
          </a:solidFill>
          <a:ln w="11206">
            <a:solidFill>
              <a:srgbClr val="BFE0DC"/>
            </a:solidFill>
            <a:prstDash val="solid"/>
          </a:ln>
        </p:spPr>
      </p:sp>
      <p:sp>
        <p:nvSpPr>
          <p:cNvPr id="59" name="Shape 56"/>
          <p:cNvSpPr/>
          <p:nvPr/>
        </p:nvSpPr>
        <p:spPr>
          <a:xfrm>
            <a:off x="8831460" y="2564046"/>
            <a:ext cx="266665" cy="266665"/>
          </a:xfrm>
          <a:prstGeom prst="ellipse">
            <a:avLst/>
          </a:prstGeom>
          <a:solidFill>
            <a:srgbClr val="0D2E22"/>
          </a:solidFill>
          <a:ln/>
        </p:spPr>
      </p:sp>
      <p:sp>
        <p:nvSpPr>
          <p:cNvPr id="60" name="Text 57"/>
          <p:cNvSpPr/>
          <p:nvPr/>
        </p:nvSpPr>
        <p:spPr>
          <a:xfrm>
            <a:off x="8793360" y="2564046"/>
            <a:ext cx="342865" cy="304765"/>
          </a:xfrm>
          <a:prstGeom prst="rect">
            <a:avLst/>
          </a:prstGeom>
          <a:noFill/>
          <a:ln/>
        </p:spPr>
        <p:txBody>
          <a:bodyPr wrap="square" lIns="25400" tIns="25400" rIns="25400" bIns="25400" rtlCol="0" anchor="ctr">
            <a:normAutofit/>
          </a:bodyPr>
          <a:lstStyle/>
          <a:p>
            <a:pPr algn="ctr" indent="0" marL="0">
              <a:buNone/>
            </a:pPr>
            <a:r>
              <a:rPr lang="en-US" sz="1050" b="1" dirty="0">
                <a:solidFill>
                  <a:srgbClr val="FFFFFF"/>
                </a:solidFill>
                <a:latin typeface="IBM Plex Mono" pitchFamily="34" charset="0"/>
                <a:ea typeface="IBM Plex Mono" pitchFamily="34" charset="-122"/>
                <a:cs typeface="IBM Plex Mono" pitchFamily="34" charset="-120"/>
              </a:rPr>
              <a:t>6</a:t>
            </a:r>
            <a:endParaRPr lang="en-US" sz="1050" dirty="0"/>
          </a:p>
        </p:txBody>
      </p:sp>
      <p:sp>
        <p:nvSpPr>
          <p:cNvPr id="61" name="Text 58"/>
          <p:cNvSpPr/>
          <p:nvPr/>
        </p:nvSpPr>
        <p:spPr>
          <a:xfrm>
            <a:off x="8983685" y="2929112"/>
            <a:ext cx="1044458" cy="351865"/>
          </a:xfrm>
          <a:prstGeom prst="rect">
            <a:avLst/>
          </a:prstGeom>
          <a:noFill/>
          <a:ln/>
        </p:spPr>
        <p:txBody>
          <a:bodyPr wrap="square" lIns="25400" tIns="25400" rIns="25400" bIns="25400" rtlCol="0" anchor="t">
            <a:normAutofit/>
          </a:bodyPr>
          <a:lstStyle/>
          <a:p>
            <a:pPr algn="ctr" indent="0" marL="0">
              <a:lnSpc>
                <a:spcPct val="102000"/>
              </a:lnSpc>
              <a:buNone/>
            </a:pPr>
            <a:r>
              <a:rPr lang="en-US" sz="1050" b="1" dirty="0">
                <a:solidFill>
                  <a:srgbClr val="0D2E22"/>
                </a:solidFill>
                <a:latin typeface="Public Sans" pitchFamily="34" charset="0"/>
                <a:ea typeface="Public Sans" pitchFamily="34" charset="-122"/>
                <a:cs typeface="Public Sans" pitchFamily="34" charset="-120"/>
              </a:rPr>
              <a:t>Receives 3 available dates</a:t>
            </a:r>
            <a:endParaRPr lang="en-US" sz="1050" dirty="0"/>
          </a:p>
        </p:txBody>
      </p:sp>
      <p:sp>
        <p:nvSpPr>
          <p:cNvPr id="62" name="Shape 59"/>
          <p:cNvSpPr/>
          <p:nvPr/>
        </p:nvSpPr>
        <p:spPr>
          <a:xfrm>
            <a:off x="10172664" y="4133745"/>
            <a:ext cx="1143000" cy="838165"/>
          </a:xfrm>
          <a:prstGeom prst="roundRect">
            <a:avLst>
              <a:gd name="adj" fmla="val 11364"/>
            </a:avLst>
          </a:prstGeom>
          <a:solidFill>
            <a:srgbClr val="FBF1E3"/>
          </a:solidFill>
          <a:ln w="11206">
            <a:solidFill>
              <a:srgbClr val="E0B478"/>
            </a:solidFill>
            <a:prstDash val="solid"/>
          </a:ln>
        </p:spPr>
      </p:sp>
      <p:sp>
        <p:nvSpPr>
          <p:cNvPr id="63" name="Shape 60"/>
          <p:cNvSpPr/>
          <p:nvPr/>
        </p:nvSpPr>
        <p:spPr>
          <a:xfrm>
            <a:off x="10069710" y="4030791"/>
            <a:ext cx="266665" cy="266665"/>
          </a:xfrm>
          <a:prstGeom prst="ellipse">
            <a:avLst/>
          </a:prstGeom>
          <a:solidFill>
            <a:srgbClr val="B4690E"/>
          </a:solidFill>
          <a:ln/>
        </p:spPr>
      </p:sp>
      <p:sp>
        <p:nvSpPr>
          <p:cNvPr id="64" name="Text 61"/>
          <p:cNvSpPr/>
          <p:nvPr/>
        </p:nvSpPr>
        <p:spPr>
          <a:xfrm>
            <a:off x="10031610" y="4030791"/>
            <a:ext cx="342865" cy="304765"/>
          </a:xfrm>
          <a:prstGeom prst="rect">
            <a:avLst/>
          </a:prstGeom>
          <a:noFill/>
          <a:ln/>
        </p:spPr>
        <p:txBody>
          <a:bodyPr wrap="square" lIns="25400" tIns="25400" rIns="25400" bIns="25400" rtlCol="0" anchor="ctr">
            <a:normAutofit/>
          </a:bodyPr>
          <a:lstStyle/>
          <a:p>
            <a:pPr algn="ctr" indent="0" marL="0">
              <a:buNone/>
            </a:pPr>
            <a:r>
              <a:rPr lang="en-US" sz="1275" b="1" dirty="0">
                <a:solidFill>
                  <a:srgbClr val="FFFFFF"/>
                </a:solidFill>
                <a:latin typeface="IBM Plex Mono" pitchFamily="34" charset="0"/>
                <a:ea typeface="IBM Plex Mono" pitchFamily="34" charset="-122"/>
                <a:cs typeface="IBM Plex Mono" pitchFamily="34" charset="-120"/>
              </a:rPr>
              <a:t>!</a:t>
            </a:r>
            <a:endParaRPr lang="en-US" sz="1275" dirty="0"/>
          </a:p>
        </p:txBody>
      </p:sp>
      <p:sp>
        <p:nvSpPr>
          <p:cNvPr id="65" name="Text 62"/>
          <p:cNvSpPr/>
          <p:nvPr/>
        </p:nvSpPr>
        <p:spPr>
          <a:xfrm>
            <a:off x="10221935" y="4317416"/>
            <a:ext cx="1044458" cy="508747"/>
          </a:xfrm>
          <a:prstGeom prst="rect">
            <a:avLst/>
          </a:prstGeom>
          <a:noFill/>
          <a:ln/>
        </p:spPr>
        <p:txBody>
          <a:bodyPr wrap="square" lIns="25400" tIns="25400" rIns="25400" bIns="25400" rtlCol="0" anchor="t">
            <a:normAutofit/>
          </a:bodyPr>
          <a:lstStyle/>
          <a:p>
            <a:pPr algn="ctr" indent="0" marL="0">
              <a:lnSpc>
                <a:spcPct val="102000"/>
              </a:lnSpc>
              <a:buNone/>
            </a:pPr>
            <a:r>
              <a:rPr lang="en-US" sz="1050" b="1" dirty="0">
                <a:solidFill>
                  <a:srgbClr val="0D2E22"/>
                </a:solidFill>
                <a:latin typeface="Public Sans" pitchFamily="34" charset="0"/>
                <a:ea typeface="Public Sans" pitchFamily="34" charset="-122"/>
                <a:cs typeface="Public Sans" pitchFamily="34" charset="-120"/>
              </a:rPr>
              <a:t>Deletes all 3 PROV meetings</a:t>
            </a:r>
            <a:endParaRPr lang="en-US" sz="1050" dirty="0"/>
          </a:p>
        </p:txBody>
      </p:sp>
      <p:sp>
        <p:nvSpPr>
          <p:cNvPr id="66" name="Shape 63"/>
          <p:cNvSpPr/>
          <p:nvPr/>
        </p:nvSpPr>
        <p:spPr>
          <a:xfrm>
            <a:off x="11410914" y="2667000"/>
            <a:ext cx="1143000" cy="838165"/>
          </a:xfrm>
          <a:prstGeom prst="roundRect">
            <a:avLst>
              <a:gd name="adj" fmla="val 11364"/>
            </a:avLst>
          </a:prstGeom>
          <a:solidFill>
            <a:srgbClr val="E6F4F2"/>
          </a:solidFill>
          <a:ln w="11206">
            <a:solidFill>
              <a:srgbClr val="BFE0DC"/>
            </a:solidFill>
            <a:prstDash val="solid"/>
          </a:ln>
        </p:spPr>
      </p:sp>
      <p:sp>
        <p:nvSpPr>
          <p:cNvPr id="67" name="Shape 64"/>
          <p:cNvSpPr/>
          <p:nvPr/>
        </p:nvSpPr>
        <p:spPr>
          <a:xfrm>
            <a:off x="11307960" y="2564046"/>
            <a:ext cx="266665" cy="266665"/>
          </a:xfrm>
          <a:prstGeom prst="ellipse">
            <a:avLst/>
          </a:prstGeom>
          <a:solidFill>
            <a:srgbClr val="0D2E22"/>
          </a:solidFill>
          <a:ln/>
        </p:spPr>
      </p:sp>
      <p:sp>
        <p:nvSpPr>
          <p:cNvPr id="68" name="Text 65"/>
          <p:cNvSpPr/>
          <p:nvPr/>
        </p:nvSpPr>
        <p:spPr>
          <a:xfrm>
            <a:off x="11269860" y="2564046"/>
            <a:ext cx="342865" cy="304765"/>
          </a:xfrm>
          <a:prstGeom prst="rect">
            <a:avLst/>
          </a:prstGeom>
          <a:noFill/>
          <a:ln/>
        </p:spPr>
        <p:txBody>
          <a:bodyPr wrap="square" lIns="25400" tIns="25400" rIns="25400" bIns="25400" rtlCol="0" anchor="ctr">
            <a:normAutofit/>
          </a:bodyPr>
          <a:lstStyle/>
          <a:p>
            <a:pPr algn="ctr" indent="0" marL="0">
              <a:buNone/>
            </a:pPr>
            <a:r>
              <a:rPr lang="en-US" sz="1050" b="1" dirty="0">
                <a:solidFill>
                  <a:srgbClr val="FFFFFF"/>
                </a:solidFill>
                <a:latin typeface="IBM Plex Mono" pitchFamily="34" charset="0"/>
                <a:ea typeface="IBM Plex Mono" pitchFamily="34" charset="-122"/>
                <a:cs typeface="IBM Plex Mono" pitchFamily="34" charset="-120"/>
              </a:rPr>
              <a:t>7</a:t>
            </a:r>
            <a:endParaRPr lang="en-US" sz="1050" dirty="0"/>
          </a:p>
        </p:txBody>
      </p:sp>
      <p:sp>
        <p:nvSpPr>
          <p:cNvPr id="69" name="Text 66"/>
          <p:cNvSpPr/>
          <p:nvPr/>
        </p:nvSpPr>
        <p:spPr>
          <a:xfrm>
            <a:off x="11460185" y="2842092"/>
            <a:ext cx="1044458" cy="351865"/>
          </a:xfrm>
          <a:prstGeom prst="rect">
            <a:avLst/>
          </a:prstGeom>
          <a:noFill/>
          <a:ln/>
        </p:spPr>
        <p:txBody>
          <a:bodyPr wrap="square" lIns="25400" tIns="25400" rIns="25400" bIns="25400" rtlCol="0" anchor="t">
            <a:normAutofit/>
          </a:bodyPr>
          <a:lstStyle/>
          <a:p>
            <a:pPr algn="ctr" indent="0" marL="0">
              <a:lnSpc>
                <a:spcPct val="102000"/>
              </a:lnSpc>
              <a:buNone/>
            </a:pPr>
            <a:r>
              <a:rPr lang="en-US" sz="1050" b="1" dirty="0">
                <a:solidFill>
                  <a:srgbClr val="0D2E22"/>
                </a:solidFill>
                <a:latin typeface="Public Sans" pitchFamily="34" charset="0"/>
                <a:ea typeface="Public Sans" pitchFamily="34" charset="-122"/>
                <a:cs typeface="Public Sans" pitchFamily="34" charset="-120"/>
              </a:rPr>
              <a:t>Informs bank of chosen date</a:t>
            </a:r>
            <a:endParaRPr lang="en-US" sz="1050" dirty="0"/>
          </a:p>
        </p:txBody>
      </p:sp>
      <p:sp>
        <p:nvSpPr>
          <p:cNvPr id="70" name="Text 67"/>
          <p:cNvSpPr/>
          <p:nvPr/>
        </p:nvSpPr>
        <p:spPr>
          <a:xfrm>
            <a:off x="11755565" y="3184396"/>
            <a:ext cx="453698" cy="183776"/>
          </a:xfrm>
          <a:prstGeom prst="rect">
            <a:avLst/>
          </a:prstGeom>
          <a:noFill/>
          <a:ln/>
        </p:spPr>
        <p:txBody>
          <a:bodyPr wrap="square" lIns="25400" tIns="25400" rIns="25400" bIns="25400" rtlCol="0" anchor="t">
            <a:normAutofit/>
          </a:bodyPr>
          <a:lstStyle/>
          <a:p>
            <a:pPr algn="ctr" indent="0" marL="0">
              <a:buNone/>
            </a:pPr>
            <a:r>
              <a:rPr lang="en-US" sz="825" b="1" dirty="0">
                <a:solidFill>
                  <a:srgbClr val="B4690E"/>
                </a:solidFill>
                <a:latin typeface="IBM Plex Mono" pitchFamily="34" charset="0"/>
                <a:ea typeface="IBM Plex Mono" pitchFamily="34" charset="-122"/>
                <a:cs typeface="IBM Plex Mono" pitchFamily="34" charset="-120"/>
              </a:rPr>
              <a:t>✉ MAIL</a:t>
            </a:r>
            <a:endParaRPr lang="en-US" sz="825" dirty="0"/>
          </a:p>
        </p:txBody>
      </p:sp>
      <p:sp>
        <p:nvSpPr>
          <p:cNvPr id="71" name="Shape 68"/>
          <p:cNvSpPr/>
          <p:nvPr/>
        </p:nvSpPr>
        <p:spPr>
          <a:xfrm>
            <a:off x="12649164" y="4133745"/>
            <a:ext cx="1143000" cy="838165"/>
          </a:xfrm>
          <a:prstGeom prst="roundRect">
            <a:avLst>
              <a:gd name="adj" fmla="val 11364"/>
            </a:avLst>
          </a:prstGeom>
          <a:solidFill>
            <a:srgbClr val="EDF1E0"/>
          </a:solidFill>
          <a:ln w="11206">
            <a:solidFill>
              <a:srgbClr val="DBE6CD"/>
            </a:solidFill>
            <a:prstDash val="solid"/>
          </a:ln>
        </p:spPr>
      </p:sp>
      <p:sp>
        <p:nvSpPr>
          <p:cNvPr id="72" name="Shape 69"/>
          <p:cNvSpPr/>
          <p:nvPr/>
        </p:nvSpPr>
        <p:spPr>
          <a:xfrm>
            <a:off x="12546210" y="4030791"/>
            <a:ext cx="266665" cy="266665"/>
          </a:xfrm>
          <a:prstGeom prst="ellipse">
            <a:avLst/>
          </a:prstGeom>
          <a:solidFill>
            <a:srgbClr val="0D2E22"/>
          </a:solidFill>
          <a:ln/>
        </p:spPr>
      </p:sp>
      <p:sp>
        <p:nvSpPr>
          <p:cNvPr id="73" name="Text 70"/>
          <p:cNvSpPr/>
          <p:nvPr/>
        </p:nvSpPr>
        <p:spPr>
          <a:xfrm>
            <a:off x="12508110" y="4030791"/>
            <a:ext cx="342865" cy="304765"/>
          </a:xfrm>
          <a:prstGeom prst="rect">
            <a:avLst/>
          </a:prstGeom>
          <a:noFill/>
          <a:ln/>
        </p:spPr>
        <p:txBody>
          <a:bodyPr wrap="square" lIns="25400" tIns="25400" rIns="25400" bIns="25400" rtlCol="0" anchor="ctr">
            <a:normAutofit/>
          </a:bodyPr>
          <a:lstStyle/>
          <a:p>
            <a:pPr algn="ctr" indent="0" marL="0">
              <a:buNone/>
            </a:pPr>
            <a:r>
              <a:rPr lang="en-US" sz="1050" b="1" dirty="0">
                <a:solidFill>
                  <a:srgbClr val="FFFFFF"/>
                </a:solidFill>
                <a:latin typeface="IBM Plex Mono" pitchFamily="34" charset="0"/>
                <a:ea typeface="IBM Plex Mono" pitchFamily="34" charset="-122"/>
                <a:cs typeface="IBM Plex Mono" pitchFamily="34" charset="-120"/>
              </a:rPr>
              <a:t>8</a:t>
            </a:r>
            <a:endParaRPr lang="en-US" sz="1050" dirty="0"/>
          </a:p>
        </p:txBody>
      </p:sp>
      <p:sp>
        <p:nvSpPr>
          <p:cNvPr id="74" name="Text 71"/>
          <p:cNvSpPr/>
          <p:nvPr/>
        </p:nvSpPr>
        <p:spPr>
          <a:xfrm>
            <a:off x="12698435" y="4238975"/>
            <a:ext cx="1044458" cy="665629"/>
          </a:xfrm>
          <a:prstGeom prst="rect">
            <a:avLst/>
          </a:prstGeom>
          <a:noFill/>
          <a:ln/>
        </p:spPr>
        <p:txBody>
          <a:bodyPr wrap="square" lIns="25400" tIns="25400" rIns="25400" bIns="25400" rtlCol="0" anchor="t">
            <a:normAutofit/>
          </a:bodyPr>
          <a:lstStyle/>
          <a:p>
            <a:pPr algn="ctr" indent="0" marL="0">
              <a:lnSpc>
                <a:spcPct val="102000"/>
              </a:lnSpc>
              <a:buNone/>
            </a:pPr>
            <a:r>
              <a:rPr lang="en-US" sz="1050" b="1" dirty="0">
                <a:solidFill>
                  <a:srgbClr val="0D2E22"/>
                </a:solidFill>
                <a:latin typeface="Public Sans" pitchFamily="34" charset="0"/>
                <a:ea typeface="Public Sans" pitchFamily="34" charset="-122"/>
                <a:cs typeface="Public Sans" pitchFamily="34" charset="-120"/>
              </a:rPr>
              <a:t>Deletes irrelevant dates · removes PROV</a:t>
            </a:r>
            <a:endParaRPr lang="en-US" sz="1050" dirty="0"/>
          </a:p>
        </p:txBody>
      </p:sp>
      <p:sp>
        <p:nvSpPr>
          <p:cNvPr id="75" name="Shape 72"/>
          <p:cNvSpPr/>
          <p:nvPr/>
        </p:nvSpPr>
        <p:spPr>
          <a:xfrm>
            <a:off x="16363914" y="4133745"/>
            <a:ext cx="1143000" cy="838165"/>
          </a:xfrm>
          <a:prstGeom prst="roundRect">
            <a:avLst>
              <a:gd name="adj" fmla="val 11364"/>
            </a:avLst>
          </a:prstGeom>
          <a:solidFill>
            <a:srgbClr val="EDF1E0"/>
          </a:solidFill>
          <a:ln w="11206">
            <a:solidFill>
              <a:srgbClr val="DBE6CD"/>
            </a:solidFill>
            <a:prstDash val="solid"/>
          </a:ln>
        </p:spPr>
      </p:sp>
      <p:sp>
        <p:nvSpPr>
          <p:cNvPr id="76" name="Shape 73"/>
          <p:cNvSpPr/>
          <p:nvPr/>
        </p:nvSpPr>
        <p:spPr>
          <a:xfrm>
            <a:off x="16260960" y="4030791"/>
            <a:ext cx="266665" cy="266665"/>
          </a:xfrm>
          <a:prstGeom prst="ellipse">
            <a:avLst/>
          </a:prstGeom>
          <a:solidFill>
            <a:srgbClr val="0D2E22"/>
          </a:solidFill>
          <a:ln/>
        </p:spPr>
      </p:sp>
      <p:sp>
        <p:nvSpPr>
          <p:cNvPr id="77" name="Text 74"/>
          <p:cNvSpPr/>
          <p:nvPr/>
        </p:nvSpPr>
        <p:spPr>
          <a:xfrm>
            <a:off x="16222860" y="4030791"/>
            <a:ext cx="342865" cy="304765"/>
          </a:xfrm>
          <a:prstGeom prst="rect">
            <a:avLst/>
          </a:prstGeom>
          <a:noFill/>
          <a:ln/>
        </p:spPr>
        <p:txBody>
          <a:bodyPr wrap="square" lIns="25400" tIns="25400" rIns="25400" bIns="25400" rtlCol="0" anchor="ctr">
            <a:normAutofit/>
          </a:bodyPr>
          <a:lstStyle/>
          <a:p>
            <a:pPr algn="ctr" indent="0" marL="0">
              <a:buNone/>
            </a:pPr>
            <a:r>
              <a:rPr lang="en-US" sz="1050" b="1" dirty="0">
                <a:solidFill>
                  <a:srgbClr val="FFFFFF"/>
                </a:solidFill>
                <a:latin typeface="IBM Plex Mono" pitchFamily="34" charset="0"/>
                <a:ea typeface="IBM Plex Mono" pitchFamily="34" charset="-122"/>
                <a:cs typeface="IBM Plex Mono" pitchFamily="34" charset="-120"/>
              </a:rPr>
              <a:t>9</a:t>
            </a:r>
            <a:endParaRPr lang="en-US" sz="1050" dirty="0"/>
          </a:p>
        </p:txBody>
      </p:sp>
      <p:sp>
        <p:nvSpPr>
          <p:cNvPr id="78" name="Text 75"/>
          <p:cNvSpPr/>
          <p:nvPr/>
        </p:nvSpPr>
        <p:spPr>
          <a:xfrm>
            <a:off x="16413185" y="4230396"/>
            <a:ext cx="1044458" cy="508747"/>
          </a:xfrm>
          <a:prstGeom prst="rect">
            <a:avLst/>
          </a:prstGeom>
          <a:noFill/>
          <a:ln/>
        </p:spPr>
        <p:txBody>
          <a:bodyPr wrap="square" lIns="25400" tIns="25400" rIns="25400" bIns="25400" rtlCol="0" anchor="t">
            <a:normAutofit/>
          </a:bodyPr>
          <a:lstStyle/>
          <a:p>
            <a:pPr algn="ctr" indent="0" marL="0">
              <a:lnSpc>
                <a:spcPct val="102000"/>
              </a:lnSpc>
              <a:buNone/>
            </a:pPr>
            <a:r>
              <a:rPr lang="en-US" sz="1050" b="1" dirty="0">
                <a:solidFill>
                  <a:srgbClr val="0D2E22"/>
                </a:solidFill>
                <a:latin typeface="Public Sans" pitchFamily="34" charset="0"/>
                <a:ea typeface="Public Sans" pitchFamily="34" charset="-122"/>
                <a:cs typeface="Public Sans" pitchFamily="34" charset="-120"/>
              </a:rPr>
              <a:t>Emails Outlook invite to customer</a:t>
            </a:r>
            <a:endParaRPr lang="en-US" sz="1050" dirty="0"/>
          </a:p>
        </p:txBody>
      </p:sp>
      <p:sp>
        <p:nvSpPr>
          <p:cNvPr id="79" name="Text 76"/>
          <p:cNvSpPr/>
          <p:nvPr/>
        </p:nvSpPr>
        <p:spPr>
          <a:xfrm>
            <a:off x="16708565" y="4729583"/>
            <a:ext cx="453698" cy="183776"/>
          </a:xfrm>
          <a:prstGeom prst="rect">
            <a:avLst/>
          </a:prstGeom>
          <a:noFill/>
          <a:ln/>
        </p:spPr>
        <p:txBody>
          <a:bodyPr wrap="square" lIns="25400" tIns="25400" rIns="25400" bIns="25400" rtlCol="0" anchor="t">
            <a:normAutofit/>
          </a:bodyPr>
          <a:lstStyle/>
          <a:p>
            <a:pPr algn="ctr" indent="0" marL="0">
              <a:buNone/>
            </a:pPr>
            <a:r>
              <a:rPr lang="en-US" sz="825" b="1" dirty="0">
                <a:solidFill>
                  <a:srgbClr val="B4690E"/>
                </a:solidFill>
                <a:latin typeface="IBM Plex Mono" pitchFamily="34" charset="0"/>
                <a:ea typeface="IBM Plex Mono" pitchFamily="34" charset="-122"/>
                <a:cs typeface="IBM Plex Mono" pitchFamily="34" charset="-120"/>
              </a:rPr>
              <a:t>✉ MAIL</a:t>
            </a:r>
            <a:endParaRPr lang="en-US" sz="825" dirty="0"/>
          </a:p>
        </p:txBody>
      </p:sp>
      <p:sp>
        <p:nvSpPr>
          <p:cNvPr id="80" name="Shape 77"/>
          <p:cNvSpPr/>
          <p:nvPr/>
        </p:nvSpPr>
        <p:spPr>
          <a:xfrm>
            <a:off x="16363914" y="2667000"/>
            <a:ext cx="1143000" cy="838165"/>
          </a:xfrm>
          <a:prstGeom prst="roundRect">
            <a:avLst>
              <a:gd name="adj" fmla="val 11364"/>
            </a:avLst>
          </a:prstGeom>
          <a:solidFill>
            <a:srgbClr val="E6F4F2"/>
          </a:solidFill>
          <a:ln w="11206">
            <a:solidFill>
              <a:srgbClr val="BFE0DC"/>
            </a:solidFill>
            <a:prstDash val="solid"/>
          </a:ln>
        </p:spPr>
      </p:sp>
      <p:sp>
        <p:nvSpPr>
          <p:cNvPr id="81" name="Shape 78"/>
          <p:cNvSpPr/>
          <p:nvPr/>
        </p:nvSpPr>
        <p:spPr>
          <a:xfrm>
            <a:off x="16260960" y="2564046"/>
            <a:ext cx="266665" cy="266665"/>
          </a:xfrm>
          <a:prstGeom prst="ellipse">
            <a:avLst/>
          </a:prstGeom>
          <a:solidFill>
            <a:srgbClr val="0D2E22"/>
          </a:solidFill>
          <a:ln/>
        </p:spPr>
      </p:sp>
      <p:sp>
        <p:nvSpPr>
          <p:cNvPr id="82" name="Text 79"/>
          <p:cNvSpPr/>
          <p:nvPr/>
        </p:nvSpPr>
        <p:spPr>
          <a:xfrm>
            <a:off x="16222860" y="2564046"/>
            <a:ext cx="342865" cy="304765"/>
          </a:xfrm>
          <a:prstGeom prst="rect">
            <a:avLst/>
          </a:prstGeom>
          <a:noFill/>
          <a:ln/>
        </p:spPr>
        <p:txBody>
          <a:bodyPr wrap="square" lIns="25400" tIns="25400" rIns="25400" bIns="25400" rtlCol="0" anchor="ctr">
            <a:normAutofit/>
          </a:bodyPr>
          <a:lstStyle/>
          <a:p>
            <a:pPr algn="ctr" indent="0" marL="0">
              <a:buNone/>
            </a:pPr>
            <a:r>
              <a:rPr lang="en-US" sz="1050" b="1" dirty="0">
                <a:solidFill>
                  <a:srgbClr val="FFFFFF"/>
                </a:solidFill>
                <a:latin typeface="IBM Plex Mono" pitchFamily="34" charset="0"/>
                <a:ea typeface="IBM Plex Mono" pitchFamily="34" charset="-122"/>
                <a:cs typeface="IBM Plex Mono" pitchFamily="34" charset="-120"/>
              </a:rPr>
              <a:t>10</a:t>
            </a:r>
            <a:endParaRPr lang="en-US" sz="1050" dirty="0"/>
          </a:p>
        </p:txBody>
      </p:sp>
      <p:sp>
        <p:nvSpPr>
          <p:cNvPr id="83" name="Text 80"/>
          <p:cNvSpPr/>
          <p:nvPr/>
        </p:nvSpPr>
        <p:spPr>
          <a:xfrm>
            <a:off x="16413185" y="2850671"/>
            <a:ext cx="1044458" cy="508747"/>
          </a:xfrm>
          <a:prstGeom prst="rect">
            <a:avLst/>
          </a:prstGeom>
          <a:noFill/>
          <a:ln/>
        </p:spPr>
        <p:txBody>
          <a:bodyPr wrap="square" lIns="25400" tIns="25400" rIns="25400" bIns="25400" rtlCol="0" anchor="t">
            <a:normAutofit/>
          </a:bodyPr>
          <a:lstStyle/>
          <a:p>
            <a:pPr algn="ctr" indent="0" marL="0">
              <a:lnSpc>
                <a:spcPct val="102000"/>
              </a:lnSpc>
              <a:buNone/>
            </a:pPr>
            <a:r>
              <a:rPr lang="en-US" sz="1050" b="1" dirty="0">
                <a:solidFill>
                  <a:srgbClr val="0D2E22"/>
                </a:solidFill>
                <a:latin typeface="Public Sans" pitchFamily="34" charset="0"/>
                <a:ea typeface="Public Sans" pitchFamily="34" charset="-122"/>
                <a:cs typeface="Public Sans" pitchFamily="34" charset="-120"/>
              </a:rPr>
              <a:t>Accepts invite → Outlook calendar</a:t>
            </a:r>
            <a:endParaRPr lang="en-US" sz="1050" dirty="0"/>
          </a:p>
        </p:txBody>
      </p:sp>
      <p:sp>
        <p:nvSpPr>
          <p:cNvPr id="84" name="Shape 81"/>
          <p:cNvSpPr/>
          <p:nvPr/>
        </p:nvSpPr>
        <p:spPr>
          <a:xfrm>
            <a:off x="5619749" y="7067409"/>
            <a:ext cx="1143000" cy="838165"/>
          </a:xfrm>
          <a:prstGeom prst="roundRect">
            <a:avLst>
              <a:gd name="adj" fmla="val 11364"/>
            </a:avLst>
          </a:prstGeom>
          <a:solidFill>
            <a:srgbClr val="EEF1F6"/>
          </a:solidFill>
          <a:ln w="11206">
            <a:solidFill>
              <a:srgbClr val="CFD6E6"/>
            </a:solidFill>
            <a:prstDash val="solid"/>
          </a:ln>
        </p:spPr>
      </p:sp>
      <p:sp>
        <p:nvSpPr>
          <p:cNvPr id="85" name="Shape 82"/>
          <p:cNvSpPr/>
          <p:nvPr/>
        </p:nvSpPr>
        <p:spPr>
          <a:xfrm>
            <a:off x="5526250" y="6973910"/>
            <a:ext cx="209410" cy="209410"/>
          </a:xfrm>
          <a:prstGeom prst="ellipse">
            <a:avLst/>
          </a:prstGeom>
          <a:solidFill>
            <a:srgbClr val="FFFFFF"/>
          </a:solidFill>
          <a:ln w="16809">
            <a:solidFill>
              <a:srgbClr val="9AA7B3"/>
            </a:solidFill>
            <a:prstDash val="solid"/>
          </a:ln>
        </p:spPr>
      </p:sp>
      <p:sp>
        <p:nvSpPr>
          <p:cNvPr id="86" name="Text 83"/>
          <p:cNvSpPr/>
          <p:nvPr/>
        </p:nvSpPr>
        <p:spPr>
          <a:xfrm>
            <a:off x="5669020" y="7251081"/>
            <a:ext cx="1044458" cy="508747"/>
          </a:xfrm>
          <a:prstGeom prst="rect">
            <a:avLst/>
          </a:prstGeom>
          <a:noFill/>
          <a:ln/>
        </p:spPr>
        <p:txBody>
          <a:bodyPr wrap="square" lIns="25400" tIns="25400" rIns="25400" bIns="25400" rtlCol="0" anchor="t">
            <a:normAutofit/>
          </a:bodyPr>
          <a:lstStyle/>
          <a:p>
            <a:pPr algn="ctr" indent="0" marL="0">
              <a:lnSpc>
                <a:spcPct val="102000"/>
              </a:lnSpc>
              <a:buNone/>
            </a:pPr>
            <a:r>
              <a:rPr lang="en-US" sz="1050" b="1" dirty="0">
                <a:solidFill>
                  <a:srgbClr val="0D2E22"/>
                </a:solidFill>
                <a:latin typeface="Public Sans" pitchFamily="34" charset="0"/>
                <a:ea typeface="Public Sans" pitchFamily="34" charset="-122"/>
                <a:cs typeface="Public Sans" pitchFamily="34" charset="-120"/>
              </a:rPr>
              <a:t>Accepts all 3 PROV CRM holds</a:t>
            </a:r>
            <a:endParaRPr lang="en-US" sz="1050" dirty="0"/>
          </a:p>
        </p:txBody>
      </p:sp>
      <p:sp>
        <p:nvSpPr>
          <p:cNvPr id="87" name="Shape 84"/>
          <p:cNvSpPr/>
          <p:nvPr/>
        </p:nvSpPr>
        <p:spPr>
          <a:xfrm>
            <a:off x="13887414" y="8534330"/>
            <a:ext cx="1143000" cy="838165"/>
          </a:xfrm>
          <a:prstGeom prst="roundRect">
            <a:avLst>
              <a:gd name="adj" fmla="val 11364"/>
            </a:avLst>
          </a:prstGeom>
          <a:solidFill>
            <a:srgbClr val="F3E9F3"/>
          </a:solidFill>
          <a:ln w="11206">
            <a:solidFill>
              <a:srgbClr val="DDC4DD"/>
            </a:solidFill>
            <a:prstDash val="solid"/>
          </a:ln>
        </p:spPr>
      </p:sp>
      <p:sp>
        <p:nvSpPr>
          <p:cNvPr id="88" name="Shape 85"/>
          <p:cNvSpPr/>
          <p:nvPr/>
        </p:nvSpPr>
        <p:spPr>
          <a:xfrm>
            <a:off x="13793915" y="8440830"/>
            <a:ext cx="209410" cy="209410"/>
          </a:xfrm>
          <a:prstGeom prst="ellipse">
            <a:avLst/>
          </a:prstGeom>
          <a:solidFill>
            <a:srgbClr val="FFFFFF"/>
          </a:solidFill>
          <a:ln w="16809">
            <a:solidFill>
              <a:srgbClr val="9AA7B3"/>
            </a:solidFill>
            <a:prstDash val="solid"/>
          </a:ln>
        </p:spPr>
      </p:sp>
      <p:sp>
        <p:nvSpPr>
          <p:cNvPr id="89" name="Text 86"/>
          <p:cNvSpPr/>
          <p:nvPr/>
        </p:nvSpPr>
        <p:spPr>
          <a:xfrm>
            <a:off x="13936685" y="8639560"/>
            <a:ext cx="1044458" cy="665629"/>
          </a:xfrm>
          <a:prstGeom prst="rect">
            <a:avLst/>
          </a:prstGeom>
          <a:noFill/>
          <a:ln/>
        </p:spPr>
        <p:txBody>
          <a:bodyPr wrap="square" lIns="25400" tIns="25400" rIns="25400" bIns="25400" rtlCol="0" anchor="t">
            <a:normAutofit/>
          </a:bodyPr>
          <a:lstStyle/>
          <a:p>
            <a:pPr algn="ctr" indent="0" marL="0">
              <a:lnSpc>
                <a:spcPct val="102000"/>
              </a:lnSpc>
              <a:buNone/>
            </a:pPr>
            <a:r>
              <a:rPr lang="en-US" sz="1050" b="1" dirty="0">
                <a:solidFill>
                  <a:srgbClr val="0D2E22"/>
                </a:solidFill>
                <a:latin typeface="Public Sans" pitchFamily="34" charset="0"/>
                <a:ea typeface="Public Sans" pitchFamily="34" charset="-122"/>
                <a:cs typeface="Public Sans" pitchFamily="34" charset="-120"/>
              </a:rPr>
              <a:t>Email EA to check if partner is available</a:t>
            </a:r>
            <a:endParaRPr lang="en-US" sz="1050" dirty="0"/>
          </a:p>
        </p:txBody>
      </p:sp>
      <p:sp>
        <p:nvSpPr>
          <p:cNvPr id="90" name="Shape 87"/>
          <p:cNvSpPr/>
          <p:nvPr/>
        </p:nvSpPr>
        <p:spPr>
          <a:xfrm>
            <a:off x="16363914" y="8534330"/>
            <a:ext cx="1143000" cy="838165"/>
          </a:xfrm>
          <a:prstGeom prst="roundRect">
            <a:avLst>
              <a:gd name="adj" fmla="val 11364"/>
            </a:avLst>
          </a:prstGeom>
          <a:solidFill>
            <a:srgbClr val="F3E9F3"/>
          </a:solidFill>
          <a:ln w="11206">
            <a:solidFill>
              <a:srgbClr val="DDC4DD"/>
            </a:solidFill>
            <a:prstDash val="solid"/>
          </a:ln>
        </p:spPr>
      </p:sp>
      <p:sp>
        <p:nvSpPr>
          <p:cNvPr id="91" name="Shape 88"/>
          <p:cNvSpPr/>
          <p:nvPr/>
        </p:nvSpPr>
        <p:spPr>
          <a:xfrm>
            <a:off x="16270415" y="8440830"/>
            <a:ext cx="209410" cy="209410"/>
          </a:xfrm>
          <a:prstGeom prst="ellipse">
            <a:avLst/>
          </a:prstGeom>
          <a:solidFill>
            <a:srgbClr val="FFFFFF"/>
          </a:solidFill>
          <a:ln w="16809">
            <a:solidFill>
              <a:srgbClr val="9AA7B3"/>
            </a:solidFill>
            <a:prstDash val="solid"/>
          </a:ln>
        </p:spPr>
      </p:sp>
      <p:sp>
        <p:nvSpPr>
          <p:cNvPr id="92" name="Text 89"/>
          <p:cNvSpPr/>
          <p:nvPr/>
        </p:nvSpPr>
        <p:spPr>
          <a:xfrm>
            <a:off x="16413185" y="8630980"/>
            <a:ext cx="1044458" cy="508747"/>
          </a:xfrm>
          <a:prstGeom prst="rect">
            <a:avLst/>
          </a:prstGeom>
          <a:noFill/>
          <a:ln/>
        </p:spPr>
        <p:txBody>
          <a:bodyPr wrap="square" lIns="25400" tIns="25400" rIns="25400" bIns="25400" rtlCol="0" anchor="t">
            <a:normAutofit/>
          </a:bodyPr>
          <a:lstStyle/>
          <a:p>
            <a:pPr algn="ctr" indent="0" marL="0">
              <a:lnSpc>
                <a:spcPct val="102000"/>
              </a:lnSpc>
              <a:buNone/>
            </a:pPr>
            <a:r>
              <a:rPr lang="en-US" sz="1050" b="1" dirty="0">
                <a:solidFill>
                  <a:srgbClr val="0D2E22"/>
                </a:solidFill>
                <a:latin typeface="Public Sans" pitchFamily="34" charset="0"/>
                <a:ea typeface="Public Sans" pitchFamily="34" charset="-122"/>
                <a:cs typeface="Public Sans" pitchFamily="34" charset="-120"/>
              </a:rPr>
              <a:t>Emails RM to add partner to invite</a:t>
            </a:r>
            <a:endParaRPr lang="en-US" sz="1050" dirty="0"/>
          </a:p>
        </p:txBody>
      </p:sp>
      <p:sp>
        <p:nvSpPr>
          <p:cNvPr id="93" name="Text 90"/>
          <p:cNvSpPr/>
          <p:nvPr/>
        </p:nvSpPr>
        <p:spPr>
          <a:xfrm>
            <a:off x="16708565" y="9130167"/>
            <a:ext cx="453698" cy="183776"/>
          </a:xfrm>
          <a:prstGeom prst="rect">
            <a:avLst/>
          </a:prstGeom>
          <a:noFill/>
          <a:ln/>
        </p:spPr>
        <p:txBody>
          <a:bodyPr wrap="square" lIns="25400" tIns="25400" rIns="25400" bIns="25400" rtlCol="0" anchor="t">
            <a:normAutofit/>
          </a:bodyPr>
          <a:lstStyle/>
          <a:p>
            <a:pPr algn="ctr" indent="0" marL="0">
              <a:buNone/>
            </a:pPr>
            <a:r>
              <a:rPr lang="en-US" sz="825" b="1" dirty="0">
                <a:solidFill>
                  <a:srgbClr val="B4690E"/>
                </a:solidFill>
                <a:latin typeface="IBM Plex Mono" pitchFamily="34" charset="0"/>
                <a:ea typeface="IBM Plex Mono" pitchFamily="34" charset="-122"/>
                <a:cs typeface="IBM Plex Mono" pitchFamily="34" charset="-120"/>
              </a:rPr>
              <a:t>✉ MAIL</a:t>
            </a:r>
            <a:endParaRPr lang="en-US" sz="825" dirty="0"/>
          </a:p>
        </p:txBody>
      </p:sp>
      <p:sp>
        <p:nvSpPr>
          <p:cNvPr id="94" name="Shape 91"/>
          <p:cNvSpPr/>
          <p:nvPr/>
        </p:nvSpPr>
        <p:spPr>
          <a:xfrm>
            <a:off x="15125664" y="4133745"/>
            <a:ext cx="1047750" cy="838165"/>
          </a:xfrm>
          <a:prstGeom prst="roundRect">
            <a:avLst>
              <a:gd name="adj" fmla="val 11364"/>
            </a:avLst>
          </a:prstGeom>
          <a:solidFill>
            <a:srgbClr val="EDF1E0"/>
          </a:solidFill>
          <a:ln w="11206">
            <a:solidFill>
              <a:srgbClr val="DBE6CD"/>
            </a:solidFill>
            <a:prstDash val="solid"/>
          </a:ln>
        </p:spPr>
      </p:sp>
      <p:sp>
        <p:nvSpPr>
          <p:cNvPr id="95" name="Shape 92"/>
          <p:cNvSpPr/>
          <p:nvPr/>
        </p:nvSpPr>
        <p:spPr>
          <a:xfrm>
            <a:off x="15032165" y="4040246"/>
            <a:ext cx="209410" cy="209410"/>
          </a:xfrm>
          <a:prstGeom prst="ellipse">
            <a:avLst/>
          </a:prstGeom>
          <a:solidFill>
            <a:srgbClr val="FFFFFF"/>
          </a:solidFill>
          <a:ln w="16809">
            <a:solidFill>
              <a:srgbClr val="9AA7B3"/>
            </a:solidFill>
            <a:prstDash val="solid"/>
          </a:ln>
        </p:spPr>
      </p:sp>
      <p:sp>
        <p:nvSpPr>
          <p:cNvPr id="96" name="Text 93"/>
          <p:cNvSpPr/>
          <p:nvPr/>
        </p:nvSpPr>
        <p:spPr>
          <a:xfrm>
            <a:off x="15174935" y="4317416"/>
            <a:ext cx="949208" cy="508747"/>
          </a:xfrm>
          <a:prstGeom prst="rect">
            <a:avLst/>
          </a:prstGeom>
          <a:noFill/>
          <a:ln/>
        </p:spPr>
        <p:txBody>
          <a:bodyPr wrap="square" lIns="25400" tIns="25400" rIns="25400" bIns="25400" rtlCol="0" anchor="t">
            <a:normAutofit/>
          </a:bodyPr>
          <a:lstStyle/>
          <a:p>
            <a:pPr algn="ctr" indent="0" marL="0">
              <a:lnSpc>
                <a:spcPct val="102000"/>
              </a:lnSpc>
              <a:buNone/>
            </a:pPr>
            <a:r>
              <a:rPr lang="en-US" sz="1050" b="1" dirty="0">
                <a:solidFill>
                  <a:srgbClr val="0D2E22"/>
                </a:solidFill>
                <a:latin typeface="Public Sans" pitchFamily="34" charset="0"/>
                <a:ea typeface="Public Sans" pitchFamily="34" charset="-122"/>
                <a:cs typeface="Public Sans" pitchFamily="34" charset="-120"/>
              </a:rPr>
              <a:t>Creates internal CRM invite</a:t>
            </a:r>
            <a:endParaRPr lang="en-US" sz="1050" dirty="0"/>
          </a:p>
        </p:txBody>
      </p:sp>
      <p:sp>
        <p:nvSpPr>
          <p:cNvPr id="97" name="Shape 94"/>
          <p:cNvSpPr/>
          <p:nvPr/>
        </p:nvSpPr>
        <p:spPr>
          <a:xfrm>
            <a:off x="15125664" y="7067409"/>
            <a:ext cx="1143000" cy="838165"/>
          </a:xfrm>
          <a:prstGeom prst="roundRect">
            <a:avLst>
              <a:gd name="adj" fmla="val 11364"/>
            </a:avLst>
          </a:prstGeom>
          <a:solidFill>
            <a:srgbClr val="EEF1F6"/>
          </a:solidFill>
          <a:ln w="11206">
            <a:solidFill>
              <a:srgbClr val="CFD6E6"/>
            </a:solidFill>
            <a:prstDash val="solid"/>
          </a:ln>
        </p:spPr>
      </p:sp>
      <p:sp>
        <p:nvSpPr>
          <p:cNvPr id="98" name="Shape 95"/>
          <p:cNvSpPr/>
          <p:nvPr/>
        </p:nvSpPr>
        <p:spPr>
          <a:xfrm>
            <a:off x="15032165" y="6973910"/>
            <a:ext cx="209410" cy="209410"/>
          </a:xfrm>
          <a:prstGeom prst="ellipse">
            <a:avLst/>
          </a:prstGeom>
          <a:solidFill>
            <a:srgbClr val="FFFFFF"/>
          </a:solidFill>
          <a:ln w="16809">
            <a:solidFill>
              <a:srgbClr val="9AA7B3"/>
            </a:solidFill>
            <a:prstDash val="solid"/>
          </a:ln>
        </p:spPr>
      </p:sp>
      <p:sp>
        <p:nvSpPr>
          <p:cNvPr id="99" name="Text 96"/>
          <p:cNvSpPr/>
          <p:nvPr/>
        </p:nvSpPr>
        <p:spPr>
          <a:xfrm>
            <a:off x="15174935" y="7329522"/>
            <a:ext cx="1044458" cy="351865"/>
          </a:xfrm>
          <a:prstGeom prst="rect">
            <a:avLst/>
          </a:prstGeom>
          <a:noFill/>
          <a:ln/>
        </p:spPr>
        <p:txBody>
          <a:bodyPr wrap="square" lIns="25400" tIns="25400" rIns="25400" bIns="25400" rtlCol="0" anchor="t">
            <a:normAutofit/>
          </a:bodyPr>
          <a:lstStyle/>
          <a:p>
            <a:pPr algn="ctr" indent="0" marL="0">
              <a:lnSpc>
                <a:spcPct val="102000"/>
              </a:lnSpc>
              <a:buNone/>
            </a:pPr>
            <a:r>
              <a:rPr lang="en-US" sz="1050" b="1" dirty="0">
                <a:solidFill>
                  <a:srgbClr val="0D2E22"/>
                </a:solidFill>
                <a:latin typeface="Public Sans" pitchFamily="34" charset="0"/>
                <a:ea typeface="Public Sans" pitchFamily="34" charset="-122"/>
                <a:cs typeface="Public Sans" pitchFamily="34" charset="-120"/>
              </a:rPr>
              <a:t>Accepts CRM invite</a:t>
            </a:r>
            <a:endParaRPr lang="en-US" sz="1050" dirty="0"/>
          </a:p>
        </p:txBody>
      </p:sp>
      <p:sp>
        <p:nvSpPr>
          <p:cNvPr id="100" name="Text 97"/>
          <p:cNvSpPr/>
          <p:nvPr/>
        </p:nvSpPr>
        <p:spPr>
          <a:xfrm>
            <a:off x="11277494" y="2857500"/>
            <a:ext cx="299092" cy="194982"/>
          </a:xfrm>
          <a:prstGeom prst="rect">
            <a:avLst/>
          </a:prstGeom>
          <a:noFill/>
          <a:ln/>
        </p:spPr>
        <p:txBody>
          <a:bodyPr wrap="square" lIns="25400" tIns="25400" rIns="25400" bIns="25400" rtlCol="0" anchor="t">
            <a:normAutofit/>
          </a:bodyPr>
          <a:lstStyle/>
          <a:p>
            <a:pPr algn="l" indent="0" marL="0">
              <a:buNone/>
            </a:pPr>
            <a:r>
              <a:rPr lang="en-US" sz="975" b="1" dirty="0">
                <a:solidFill>
                  <a:srgbClr val="8A5410"/>
                </a:solidFill>
                <a:latin typeface="IBM Plex Mono" pitchFamily="34" charset="0"/>
                <a:ea typeface="IBM Plex Mono" pitchFamily="34" charset="-122"/>
                <a:cs typeface="IBM Plex Mono" pitchFamily="34" charset="-120"/>
              </a:rPr>
              <a:t>Yes</a:t>
            </a:r>
            <a:endParaRPr lang="en-US" sz="975" dirty="0"/>
          </a:p>
        </p:txBody>
      </p:sp>
      <p:sp>
        <p:nvSpPr>
          <p:cNvPr id="101" name="Text 98"/>
          <p:cNvSpPr/>
          <p:nvPr/>
        </p:nvSpPr>
        <p:spPr>
          <a:xfrm>
            <a:off x="10820329" y="3695665"/>
            <a:ext cx="224853" cy="194982"/>
          </a:xfrm>
          <a:prstGeom prst="rect">
            <a:avLst/>
          </a:prstGeom>
          <a:noFill/>
          <a:ln/>
        </p:spPr>
        <p:txBody>
          <a:bodyPr wrap="square" lIns="25400" tIns="25400" rIns="25400" bIns="25400" rtlCol="0" anchor="t">
            <a:normAutofit/>
          </a:bodyPr>
          <a:lstStyle/>
          <a:p>
            <a:pPr algn="l" indent="0" marL="0">
              <a:buNone/>
            </a:pPr>
            <a:r>
              <a:rPr lang="en-US" sz="975" b="1" dirty="0">
                <a:solidFill>
                  <a:srgbClr val="8A5410"/>
                </a:solidFill>
                <a:latin typeface="IBM Plex Mono" pitchFamily="34" charset="0"/>
                <a:ea typeface="IBM Plex Mono" pitchFamily="34" charset="-122"/>
                <a:cs typeface="IBM Plex Mono" pitchFamily="34" charset="-120"/>
              </a:rPr>
              <a:t>No</a:t>
            </a:r>
            <a:endParaRPr lang="en-US" sz="975" dirty="0"/>
          </a:p>
        </p:txBody>
      </p:sp>
      <p:sp>
        <p:nvSpPr>
          <p:cNvPr id="102" name="Text 99"/>
          <p:cNvSpPr/>
          <p:nvPr/>
        </p:nvSpPr>
        <p:spPr>
          <a:xfrm>
            <a:off x="14992244" y="4305160"/>
            <a:ext cx="224853" cy="194982"/>
          </a:xfrm>
          <a:prstGeom prst="rect">
            <a:avLst/>
          </a:prstGeom>
          <a:noFill/>
          <a:ln/>
        </p:spPr>
        <p:txBody>
          <a:bodyPr wrap="square" lIns="25400" tIns="25400" rIns="25400" bIns="25400" rtlCol="0" anchor="t">
            <a:normAutofit/>
          </a:bodyPr>
          <a:lstStyle/>
          <a:p>
            <a:pPr algn="l" indent="0" marL="0">
              <a:buNone/>
            </a:pPr>
            <a:r>
              <a:rPr lang="en-US" sz="975" b="1" dirty="0">
                <a:solidFill>
                  <a:srgbClr val="8A5410"/>
                </a:solidFill>
                <a:latin typeface="IBM Plex Mono" pitchFamily="34" charset="0"/>
                <a:ea typeface="IBM Plex Mono" pitchFamily="34" charset="-122"/>
                <a:cs typeface="IBM Plex Mono" pitchFamily="34" charset="-120"/>
              </a:rPr>
              <a:t>No</a:t>
            </a:r>
            <a:endParaRPr lang="en-US" sz="975" dirty="0"/>
          </a:p>
        </p:txBody>
      </p:sp>
      <p:sp>
        <p:nvSpPr>
          <p:cNvPr id="103" name="Text 100"/>
          <p:cNvSpPr/>
          <p:nvPr/>
        </p:nvSpPr>
        <p:spPr>
          <a:xfrm>
            <a:off x="14515994" y="5143499"/>
            <a:ext cx="819465" cy="194982"/>
          </a:xfrm>
          <a:prstGeom prst="rect">
            <a:avLst/>
          </a:prstGeom>
          <a:noFill/>
          <a:ln/>
        </p:spPr>
        <p:txBody>
          <a:bodyPr wrap="square" lIns="25400" tIns="25400" rIns="25400" bIns="25400" rtlCol="0" anchor="t">
            <a:normAutofit/>
          </a:bodyPr>
          <a:lstStyle/>
          <a:p>
            <a:pPr algn="l" indent="0" marL="0">
              <a:buNone/>
            </a:pPr>
            <a:r>
              <a:rPr lang="en-US" sz="975" b="1" dirty="0">
                <a:solidFill>
                  <a:srgbClr val="8A5410"/>
                </a:solidFill>
                <a:latin typeface="IBM Plex Mono" pitchFamily="34" charset="0"/>
                <a:ea typeface="IBM Plex Mono" pitchFamily="34" charset="-122"/>
                <a:cs typeface="IBM Plex Mono" pitchFamily="34" charset="-120"/>
              </a:rPr>
              <a:t>Yes · ✉ EA</a:t>
            </a:r>
            <a:endParaRPr lang="en-US" sz="975" dirty="0"/>
          </a:p>
        </p:txBody>
      </p:sp>
      <p:sp>
        <p:nvSpPr>
          <p:cNvPr id="104" name="Text 101"/>
          <p:cNvSpPr/>
          <p:nvPr/>
        </p:nvSpPr>
        <p:spPr>
          <a:xfrm>
            <a:off x="16211409" y="8705744"/>
            <a:ext cx="299092" cy="194982"/>
          </a:xfrm>
          <a:prstGeom prst="rect">
            <a:avLst/>
          </a:prstGeom>
          <a:noFill/>
          <a:ln/>
        </p:spPr>
        <p:txBody>
          <a:bodyPr wrap="square" lIns="25400" tIns="25400" rIns="25400" bIns="25400" rtlCol="0" anchor="t">
            <a:normAutofit/>
          </a:bodyPr>
          <a:lstStyle/>
          <a:p>
            <a:pPr algn="l" indent="0" marL="0">
              <a:buNone/>
            </a:pPr>
            <a:r>
              <a:rPr lang="en-US" sz="975" b="1" dirty="0">
                <a:solidFill>
                  <a:srgbClr val="8A5410"/>
                </a:solidFill>
                <a:latin typeface="IBM Plex Mono" pitchFamily="34" charset="0"/>
                <a:ea typeface="IBM Plex Mono" pitchFamily="34" charset="-122"/>
                <a:cs typeface="IBM Plex Mono" pitchFamily="34" charset="-120"/>
              </a:rPr>
              <a:t>Yes</a:t>
            </a:r>
            <a:endParaRPr lang="en-US" sz="975" dirty="0"/>
          </a:p>
        </p:txBody>
      </p:sp>
      <p:sp>
        <p:nvSpPr>
          <p:cNvPr id="105" name="Text 102"/>
          <p:cNvSpPr/>
          <p:nvPr/>
        </p:nvSpPr>
        <p:spPr>
          <a:xfrm>
            <a:off x="15582829" y="9201080"/>
            <a:ext cx="224853" cy="194982"/>
          </a:xfrm>
          <a:prstGeom prst="rect">
            <a:avLst/>
          </a:prstGeom>
          <a:noFill/>
          <a:ln/>
        </p:spPr>
        <p:txBody>
          <a:bodyPr wrap="square" lIns="25400" tIns="25400" rIns="25400" bIns="25400" rtlCol="0" anchor="t">
            <a:normAutofit/>
          </a:bodyPr>
          <a:lstStyle/>
          <a:p>
            <a:pPr algn="l" indent="0" marL="0">
              <a:buNone/>
            </a:pPr>
            <a:r>
              <a:rPr lang="en-US" sz="975" b="1" dirty="0">
                <a:solidFill>
                  <a:srgbClr val="8A5410"/>
                </a:solidFill>
                <a:latin typeface="IBM Plex Mono" pitchFamily="34" charset="0"/>
                <a:ea typeface="IBM Plex Mono" pitchFamily="34" charset="-122"/>
                <a:cs typeface="IBM Plex Mono" pitchFamily="34" charset="-120"/>
              </a:rPr>
              <a:t>No</a:t>
            </a:r>
            <a:endParaRPr lang="en-US" sz="975" dirty="0"/>
          </a:p>
        </p:txBody>
      </p:sp>
      <p:sp>
        <p:nvSpPr>
          <p:cNvPr id="106" name="Shape 103"/>
          <p:cNvSpPr/>
          <p:nvPr/>
        </p:nvSpPr>
        <p:spPr>
          <a:xfrm>
            <a:off x="9791664" y="5333999"/>
            <a:ext cx="1905000" cy="438080"/>
          </a:xfrm>
          <a:prstGeom prst="roundRect">
            <a:avLst>
              <a:gd name="adj" fmla="val 50000"/>
            </a:avLst>
          </a:prstGeom>
          <a:solidFill>
            <a:srgbClr val="FBF1E3"/>
          </a:solidFill>
          <a:ln w="16809">
            <a:solidFill>
              <a:srgbClr val="C47F1E"/>
            </a:solidFill>
            <a:prstDash val="dash"/>
          </a:ln>
        </p:spPr>
      </p:sp>
      <p:sp>
        <p:nvSpPr>
          <p:cNvPr id="107" name="Shape 104"/>
          <p:cNvSpPr/>
          <p:nvPr/>
        </p:nvSpPr>
        <p:spPr>
          <a:xfrm>
            <a:off x="9922633" y="5410165"/>
            <a:ext cx="285750" cy="285750"/>
          </a:xfrm>
          <a:prstGeom prst="ellipse">
            <a:avLst/>
          </a:prstGeom>
          <a:solidFill>
            <a:srgbClr val="C47F1E"/>
          </a:solidFill>
          <a:ln/>
        </p:spPr>
      </p:sp>
      <p:sp>
        <p:nvSpPr>
          <p:cNvPr id="108" name="Text 105"/>
          <p:cNvSpPr/>
          <p:nvPr/>
        </p:nvSpPr>
        <p:spPr>
          <a:xfrm>
            <a:off x="9884533" y="5410165"/>
            <a:ext cx="361950" cy="323850"/>
          </a:xfrm>
          <a:prstGeom prst="rect">
            <a:avLst/>
          </a:prstGeom>
          <a:noFill/>
          <a:ln/>
        </p:spPr>
        <p:txBody>
          <a:bodyPr wrap="square" lIns="25400" tIns="25400" rIns="25400" bIns="25400" rtlCol="0" anchor="ctr">
            <a:normAutofit/>
          </a:bodyPr>
          <a:lstStyle/>
          <a:p>
            <a:pPr algn="ctr" indent="0" marL="0">
              <a:buNone/>
            </a:pPr>
            <a:r>
              <a:rPr lang="en-US" sz="1350" b="1" dirty="0">
                <a:solidFill>
                  <a:srgbClr val="FFFFFF"/>
                </a:solidFill>
                <a:latin typeface="IBM Plex Mono" pitchFamily="34" charset="0"/>
                <a:ea typeface="IBM Plex Mono" pitchFamily="34" charset="-122"/>
                <a:cs typeface="IBM Plex Mono" pitchFamily="34" charset="-120"/>
              </a:rPr>
              <a:t>↺</a:t>
            </a:r>
            <a:endParaRPr lang="en-US" sz="1350" dirty="0"/>
          </a:p>
        </p:txBody>
      </p:sp>
      <p:sp>
        <p:nvSpPr>
          <p:cNvPr id="109" name="Text 106"/>
          <p:cNvSpPr/>
          <p:nvPr/>
        </p:nvSpPr>
        <p:spPr>
          <a:xfrm>
            <a:off x="10303633" y="5418569"/>
            <a:ext cx="1338262" cy="307041"/>
          </a:xfrm>
          <a:prstGeom prst="rect">
            <a:avLst/>
          </a:prstGeom>
          <a:noFill/>
          <a:ln/>
        </p:spPr>
        <p:txBody>
          <a:bodyPr wrap="square" lIns="25400" tIns="25400" rIns="25400" bIns="25400" rtlCol="0" anchor="t">
            <a:normAutofit/>
          </a:bodyPr>
          <a:lstStyle/>
          <a:p>
            <a:pPr algn="l" indent="0" marL="0">
              <a:lnSpc>
                <a:spcPct val="105896"/>
              </a:lnSpc>
              <a:buNone/>
            </a:pPr>
            <a:r>
              <a:rPr lang="en-US" sz="975" b="1" dirty="0">
                <a:solidFill>
                  <a:srgbClr val="8A5410"/>
                </a:solidFill>
                <a:latin typeface="Public Sans" pitchFamily="34" charset="0"/>
                <a:ea typeface="Public Sans" pitchFamily="34" charset="-122"/>
                <a:cs typeface="Public Sans" pitchFamily="34" charset="-120"/>
              </a:rPr>
              <a:t>Restart → step 4 · new dates</a:t>
            </a:r>
            <a:endParaRPr lang="en-US" sz="975" dirty="0"/>
          </a:p>
        </p:txBody>
      </p:sp>
      <p:sp>
        <p:nvSpPr>
          <p:cNvPr id="110" name="Shape 107"/>
          <p:cNvSpPr/>
          <p:nvPr/>
        </p:nvSpPr>
        <p:spPr>
          <a:xfrm>
            <a:off x="11906249" y="8762999"/>
            <a:ext cx="1847745" cy="418995"/>
          </a:xfrm>
          <a:prstGeom prst="roundRect">
            <a:avLst>
              <a:gd name="adj" fmla="val 50000"/>
            </a:avLst>
          </a:prstGeom>
          <a:solidFill>
            <a:srgbClr val="FBF1E3"/>
          </a:solidFill>
          <a:ln w="16809">
            <a:solidFill>
              <a:srgbClr val="C47F1E"/>
            </a:solidFill>
            <a:prstDash val="dash"/>
          </a:ln>
        </p:spPr>
      </p:sp>
      <p:sp>
        <p:nvSpPr>
          <p:cNvPr id="111" name="Shape 108"/>
          <p:cNvSpPr/>
          <p:nvPr/>
        </p:nvSpPr>
        <p:spPr>
          <a:xfrm>
            <a:off x="12037218" y="8829534"/>
            <a:ext cx="285750" cy="285750"/>
          </a:xfrm>
          <a:prstGeom prst="ellipse">
            <a:avLst/>
          </a:prstGeom>
          <a:solidFill>
            <a:srgbClr val="C47F1E"/>
          </a:solidFill>
          <a:ln/>
        </p:spPr>
      </p:sp>
      <p:sp>
        <p:nvSpPr>
          <p:cNvPr id="112" name="Text 109"/>
          <p:cNvSpPr/>
          <p:nvPr/>
        </p:nvSpPr>
        <p:spPr>
          <a:xfrm>
            <a:off x="11999118" y="8829534"/>
            <a:ext cx="361950" cy="323850"/>
          </a:xfrm>
          <a:prstGeom prst="rect">
            <a:avLst/>
          </a:prstGeom>
          <a:noFill/>
          <a:ln/>
        </p:spPr>
        <p:txBody>
          <a:bodyPr wrap="square" lIns="25400" tIns="25400" rIns="25400" bIns="25400" rtlCol="0" anchor="ctr">
            <a:normAutofit/>
          </a:bodyPr>
          <a:lstStyle/>
          <a:p>
            <a:pPr algn="ctr" indent="0" marL="0">
              <a:buNone/>
            </a:pPr>
            <a:r>
              <a:rPr lang="en-US" sz="1350" b="1" dirty="0">
                <a:solidFill>
                  <a:srgbClr val="FFFFFF"/>
                </a:solidFill>
                <a:latin typeface="IBM Plex Mono" pitchFamily="34" charset="0"/>
                <a:ea typeface="IBM Plex Mono" pitchFamily="34" charset="-122"/>
                <a:cs typeface="IBM Plex Mono" pitchFamily="34" charset="-120"/>
              </a:rPr>
              <a:t>↺</a:t>
            </a:r>
            <a:endParaRPr lang="en-US" sz="1350" dirty="0"/>
          </a:p>
        </p:txBody>
      </p:sp>
      <p:sp>
        <p:nvSpPr>
          <p:cNvPr id="113" name="Text 110"/>
          <p:cNvSpPr/>
          <p:nvPr/>
        </p:nvSpPr>
        <p:spPr>
          <a:xfrm>
            <a:off x="12418218" y="8837939"/>
            <a:ext cx="1281007" cy="307041"/>
          </a:xfrm>
          <a:prstGeom prst="rect">
            <a:avLst/>
          </a:prstGeom>
          <a:noFill/>
          <a:ln/>
        </p:spPr>
        <p:txBody>
          <a:bodyPr wrap="square" lIns="25400" tIns="25400" rIns="25400" bIns="25400" rtlCol="0" anchor="t">
            <a:normAutofit/>
          </a:bodyPr>
          <a:lstStyle/>
          <a:p>
            <a:pPr algn="l" indent="0" marL="0">
              <a:lnSpc>
                <a:spcPct val="105896"/>
              </a:lnSpc>
              <a:buNone/>
            </a:pPr>
            <a:r>
              <a:rPr lang="en-US" sz="975" b="1" dirty="0">
                <a:solidFill>
                  <a:srgbClr val="8A5410"/>
                </a:solidFill>
                <a:latin typeface="Public Sans" pitchFamily="34" charset="0"/>
                <a:ea typeface="Public Sans" pitchFamily="34" charset="-122"/>
                <a:cs typeface="Public Sans" pitchFamily="34" charset="-120"/>
              </a:rPr>
              <a:t>Restart → step 4 · re-provision</a:t>
            </a:r>
            <a:endParaRPr lang="en-US" sz="975" dirty="0"/>
          </a:p>
        </p:txBody>
      </p:sp>
      <p:sp>
        <p:nvSpPr>
          <p:cNvPr id="114" name="Text 111"/>
          <p:cNvSpPr/>
          <p:nvPr/>
        </p:nvSpPr>
        <p:spPr>
          <a:xfrm>
            <a:off x="723830" y="9886914"/>
            <a:ext cx="876720" cy="206188"/>
          </a:xfrm>
          <a:prstGeom prst="rect">
            <a:avLst/>
          </a:prstGeom>
          <a:noFill/>
          <a:ln/>
        </p:spPr>
        <p:txBody>
          <a:bodyPr wrap="square" lIns="25400" tIns="25400" rIns="25400" bIns="25400" rtlCol="0" anchor="t">
            <a:normAutofit/>
          </a:bodyPr>
          <a:lstStyle/>
          <a:p>
            <a:pPr algn="l" indent="0" marL="0">
              <a:buNone/>
            </a:pPr>
            <a:r>
              <a:rPr lang="en-US" sz="1050" dirty="0">
                <a:solidFill>
                  <a:srgbClr val="8996A6"/>
                </a:solidFill>
                <a:latin typeface="IBM Plex Mono" pitchFamily="34" charset="0"/>
                <a:ea typeface="IBM Plex Mono" pitchFamily="34" charset="-122"/>
                <a:cs typeface="IBM Plex Mono" pitchFamily="34" charset="-120"/>
              </a:rPr>
              <a:t>◇ decision</a:t>
            </a:r>
            <a:endParaRPr lang="en-US" sz="1050" dirty="0"/>
          </a:p>
        </p:txBody>
      </p:sp>
      <p:sp>
        <p:nvSpPr>
          <p:cNvPr id="115" name="Text 112"/>
          <p:cNvSpPr/>
          <p:nvPr/>
        </p:nvSpPr>
        <p:spPr>
          <a:xfrm>
            <a:off x="1714850" y="9886914"/>
            <a:ext cx="1320281" cy="206188"/>
          </a:xfrm>
          <a:prstGeom prst="rect">
            <a:avLst/>
          </a:prstGeom>
          <a:noFill/>
          <a:ln/>
        </p:spPr>
        <p:txBody>
          <a:bodyPr wrap="square" lIns="25400" tIns="25400" rIns="25400" bIns="25400" rtlCol="0" anchor="t">
            <a:normAutofit/>
          </a:bodyPr>
          <a:lstStyle/>
          <a:p>
            <a:pPr algn="l" indent="0" marL="0">
              <a:buNone/>
            </a:pPr>
            <a:r>
              <a:rPr lang="en-US" sz="1050" dirty="0">
                <a:solidFill>
                  <a:srgbClr val="C47F1E"/>
                </a:solidFill>
                <a:latin typeface="IBM Plex Mono" pitchFamily="34" charset="0"/>
                <a:ea typeface="IBM Plex Mono" pitchFamily="34" charset="-122"/>
                <a:cs typeface="IBM Plex Mono" pitchFamily="34" charset="-120"/>
              </a:rPr>
              <a:t>— — rework loop</a:t>
            </a:r>
            <a:endParaRPr lang="en-US" sz="1050" dirty="0"/>
          </a:p>
        </p:txBody>
      </p:sp>
      <p:sp>
        <p:nvSpPr>
          <p:cNvPr id="116" name="Text 113"/>
          <p:cNvSpPr/>
          <p:nvPr/>
        </p:nvSpPr>
        <p:spPr>
          <a:xfrm>
            <a:off x="3105605" y="9886914"/>
            <a:ext cx="1408299" cy="206188"/>
          </a:xfrm>
          <a:prstGeom prst="rect">
            <a:avLst/>
          </a:prstGeom>
          <a:noFill/>
          <a:ln/>
        </p:spPr>
        <p:txBody>
          <a:bodyPr wrap="square" lIns="25400" tIns="25400" rIns="25400" bIns="25400" rtlCol="0" anchor="t">
            <a:normAutofit/>
          </a:bodyPr>
          <a:lstStyle/>
          <a:p>
            <a:pPr algn="l" indent="0" marL="0">
              <a:buNone/>
            </a:pPr>
            <a:r>
              <a:rPr lang="en-US" sz="1050" dirty="0">
                <a:solidFill>
                  <a:srgbClr val="B4690E"/>
                </a:solidFill>
                <a:latin typeface="IBM Plex Mono" pitchFamily="34" charset="0"/>
                <a:ea typeface="IBM Plex Mono" pitchFamily="34" charset="-122"/>
                <a:cs typeface="IBM Plex Mono" pitchFamily="34" charset="-120"/>
              </a:rPr>
              <a:t>! exception step</a:t>
            </a:r>
            <a:endParaRPr lang="en-US" sz="1050" dirty="0"/>
          </a:p>
        </p:txBody>
      </p:sp>
      <p:sp>
        <p:nvSpPr>
          <p:cNvPr id="117" name="Text 114"/>
          <p:cNvSpPr/>
          <p:nvPr/>
        </p:nvSpPr>
        <p:spPr>
          <a:xfrm>
            <a:off x="4576377" y="9886914"/>
            <a:ext cx="1672548" cy="206188"/>
          </a:xfrm>
          <a:prstGeom prst="rect">
            <a:avLst/>
          </a:prstGeom>
          <a:noFill/>
          <a:ln/>
        </p:spPr>
        <p:txBody>
          <a:bodyPr wrap="square" lIns="25400" tIns="25400" rIns="25400" bIns="25400" rtlCol="0" anchor="t">
            <a:normAutofit/>
          </a:bodyPr>
          <a:lstStyle/>
          <a:p>
            <a:pPr algn="l" indent="0" marL="0">
              <a:buNone/>
            </a:pPr>
            <a:r>
              <a:rPr lang="en-US" sz="1050" dirty="0">
                <a:solidFill>
                  <a:srgbClr val="8996A6"/>
                </a:solidFill>
                <a:latin typeface="IBM Plex Mono" pitchFamily="34" charset="0"/>
                <a:ea typeface="IBM Plex Mono" pitchFamily="34" charset="-122"/>
                <a:cs typeface="IBM Plex Mono" pitchFamily="34" charset="-120"/>
              </a:rPr>
              <a:t>○ supporting action</a:t>
            </a:r>
            <a:endParaRPr lang="en-US" sz="1050" dirty="0"/>
          </a:p>
        </p:txBody>
      </p:sp>
      <p:sp>
        <p:nvSpPr>
          <p:cNvPr id="118" name="Text 115"/>
          <p:cNvSpPr/>
          <p:nvPr/>
        </p:nvSpPr>
        <p:spPr>
          <a:xfrm>
            <a:off x="6287375" y="9886914"/>
            <a:ext cx="1196788" cy="206188"/>
          </a:xfrm>
          <a:prstGeom prst="rect">
            <a:avLst/>
          </a:prstGeom>
          <a:noFill/>
          <a:ln/>
        </p:spPr>
        <p:txBody>
          <a:bodyPr wrap="square" lIns="25400" tIns="25400" rIns="25400" bIns="25400" rtlCol="0" anchor="t">
            <a:normAutofit/>
          </a:bodyPr>
          <a:lstStyle/>
          <a:p>
            <a:pPr algn="l" indent="0" marL="0">
              <a:buNone/>
            </a:pPr>
            <a:r>
              <a:rPr lang="en-US" sz="1050" dirty="0">
                <a:solidFill>
                  <a:srgbClr val="8996A6"/>
                </a:solidFill>
                <a:latin typeface="IBM Plex Mono" pitchFamily="34" charset="0"/>
                <a:ea typeface="IBM Plex Mono" pitchFamily="34" charset="-122"/>
                <a:cs typeface="IBM Plex Mono" pitchFamily="34" charset="-120"/>
              </a:rPr>
              <a:t>✉ manual email</a:t>
            </a:r>
            <a:endParaRPr lang="en-US" sz="1050" dirty="0"/>
          </a:p>
        </p:txBody>
      </p:sp>
      <p:sp>
        <p:nvSpPr>
          <p:cNvPr id="119" name="Text 116"/>
          <p:cNvSpPr/>
          <p:nvPr/>
        </p:nvSpPr>
        <p:spPr>
          <a:xfrm>
            <a:off x="9751708" y="9905999"/>
            <a:ext cx="7983700" cy="194982"/>
          </a:xfrm>
          <a:prstGeom prst="rect">
            <a:avLst/>
          </a:prstGeom>
          <a:noFill/>
          <a:ln/>
        </p:spPr>
        <p:txBody>
          <a:bodyPr wrap="square" lIns="25400" tIns="25400" rIns="25400" bIns="25400" rtlCol="0" anchor="t">
            <a:normAutofit/>
          </a:bodyPr>
          <a:lstStyle/>
          <a:p>
            <a:pPr algn="r" indent="0" marL="0">
              <a:buNone/>
            </a:pPr>
            <a:r>
              <a:rPr lang="en-US" sz="975" dirty="0">
                <a:solidFill>
                  <a:srgbClr val="8996A6"/>
                </a:solidFill>
                <a:latin typeface="IBM Plex Mono" pitchFamily="34" charset="0"/>
                <a:ea typeface="IBM Plex Mono" pitchFamily="34" charset="-122"/>
                <a:cs typeface="IBM Plex Mono" pitchFamily="34" charset="-120"/>
              </a:rPr>
              <a:t>6–8 emails per booking · 3–5× provisional invites created &amp; mostly deleted</a:t>
            </a:r>
            <a:endParaRPr lang="en-US" sz="975" dirty="0"/>
          </a:p>
        </p:txBody>
      </p:sp>
      <p:sp>
        <p:nvSpPr>
          <p:cNvPr id="120" name="Text 117"/>
          <p:cNvSpPr/>
          <p:nvPr/>
        </p:nvSpPr>
        <p:spPr>
          <a:xfrm>
            <a:off x="723830" y="10125039"/>
            <a:ext cx="18712737" cy="183776"/>
          </a:xfrm>
          <a:prstGeom prst="rect">
            <a:avLst/>
          </a:prstGeom>
          <a:noFill/>
          <a:ln/>
        </p:spPr>
        <p:txBody>
          <a:bodyPr wrap="square" lIns="25400" tIns="25400" rIns="25400" bIns="25400" rtlCol="0" anchor="t">
            <a:normAutofit/>
          </a:bodyPr>
          <a:lstStyle/>
          <a:p>
            <a:pPr algn="l" indent="0" marL="0">
              <a:buNone/>
            </a:pPr>
            <a:r>
              <a:rPr lang="en-US" sz="825" i="1" dirty="0">
                <a:solidFill>
                  <a:srgbClr val="9AA7B3"/>
                </a:solidFill>
                <a:latin typeface="IBM Plex Mono" pitchFamily="34" charset="0"/>
                <a:ea typeface="IBM Plex Mono" pitchFamily="34" charset="-122"/>
                <a:cs typeface="IBM Plex Mono" pitchFamily="34" charset="-120"/>
              </a:rPr>
              <a:t>*Vanilla = customer meeting without a partner; prospect meetings require a partner. RMs/ARMs organise all AR &amp; customer meetings; Team Assistant handles lunches, intermediaries &amp; complex meetings only.</a:t>
            </a:r>
            <a:endParaRPr lang="en-US" sz="825"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A"/>
        </a:solidFill>
      </p:bgPr>
    </p:bg>
    <p:spTree>
      <p:nvGrpSpPr>
        <p:cNvPr id="1" name=""/>
        <p:cNvGrpSpPr/>
        <p:nvPr/>
      </p:nvGrpSpPr>
      <p:grpSpPr>
        <a:xfrm>
          <a:off x="0" y="0"/>
          <a:ext cx="0" cy="0"/>
          <a:chOff x="0" y="0"/>
          <a:chExt cx="0" cy="0"/>
        </a:xfrm>
      </p:grpSpPr>
      <p:sp>
        <p:nvSpPr>
          <p:cNvPr id="2" name="Text 0"/>
          <p:cNvSpPr/>
          <p:nvPr/>
        </p:nvSpPr>
        <p:spPr>
          <a:xfrm>
            <a:off x="723830" y="495160"/>
            <a:ext cx="8400297" cy="307041"/>
          </a:xfrm>
          <a:prstGeom prst="rect">
            <a:avLst/>
          </a:prstGeom>
          <a:noFill/>
          <a:ln/>
        </p:spPr>
        <p:txBody>
          <a:bodyPr wrap="square" lIns="25400" tIns="25400" rIns="25400" bIns="25400" rtlCol="0" anchor="t">
            <a:normAutofit/>
          </a:bodyPr>
          <a:lstStyle/>
          <a:p>
            <a:pPr algn="l" indent="0" marL="0">
              <a:buNone/>
            </a:pPr>
            <a:r>
              <a:rPr lang="en-US" sz="1650" b="1" spc="198" kern="0" dirty="0">
                <a:solidFill>
                  <a:srgbClr val="1C5C43"/>
                </a:solidFill>
                <a:latin typeface="IBM Plex Mono" pitchFamily="34" charset="0"/>
                <a:ea typeface="IBM Plex Mono" pitchFamily="34" charset="-122"/>
                <a:cs typeface="IBM Plex Mono" pitchFamily="34" charset="-120"/>
              </a:rPr>
              <a:t>03 · TARGET STATE — TO-BE</a:t>
            </a:r>
            <a:endParaRPr lang="en-US" sz="1650" dirty="0"/>
          </a:p>
        </p:txBody>
      </p:sp>
      <p:sp>
        <p:nvSpPr>
          <p:cNvPr id="3" name="Text 1"/>
          <p:cNvSpPr/>
          <p:nvPr/>
        </p:nvSpPr>
        <p:spPr>
          <a:xfrm>
            <a:off x="723830" y="859351"/>
            <a:ext cx="8400297" cy="553571"/>
          </a:xfrm>
          <a:prstGeom prst="rect">
            <a:avLst/>
          </a:prstGeom>
          <a:noFill/>
          <a:ln/>
        </p:spPr>
        <p:txBody>
          <a:bodyPr wrap="square" lIns="25400" tIns="25400" rIns="25400" bIns="25400" rtlCol="0" anchor="t">
            <a:normAutofit/>
          </a:bodyPr>
          <a:lstStyle/>
          <a:p>
            <a:pPr algn="l" indent="0" marL="0">
              <a:buNone/>
            </a:pPr>
            <a:r>
              <a:rPr lang="en-US" sz="3450" b="1" spc="-34" kern="0" dirty="0">
                <a:solidFill>
                  <a:srgbClr val="0D2E22"/>
                </a:solidFill>
                <a:latin typeface="Public Sans" pitchFamily="34" charset="0"/>
                <a:ea typeface="Public Sans" pitchFamily="34" charset="-122"/>
                <a:cs typeface="Public Sans" pitchFamily="34" charset="-120"/>
              </a:rPr>
              <a:t>To-be journey — one screen, assisted</a:t>
            </a:r>
            <a:endParaRPr lang="en-US" sz="3450" dirty="0"/>
          </a:p>
        </p:txBody>
      </p:sp>
      <p:sp>
        <p:nvSpPr>
          <p:cNvPr id="4" name="Shape 2"/>
          <p:cNvSpPr/>
          <p:nvPr/>
        </p:nvSpPr>
        <p:spPr>
          <a:xfrm>
            <a:off x="9334149" y="964756"/>
            <a:ext cx="3476099" cy="410065"/>
          </a:xfrm>
          <a:prstGeom prst="roundRect">
            <a:avLst>
              <a:gd name="adj" fmla="val 50000"/>
            </a:avLst>
          </a:prstGeom>
          <a:solidFill>
            <a:srgbClr val="FBF1E3"/>
          </a:solidFill>
          <a:ln w="11206">
            <a:solidFill>
              <a:srgbClr val="ECCFA3"/>
            </a:solidFill>
            <a:prstDash val="solid"/>
          </a:ln>
        </p:spPr>
      </p:sp>
      <p:sp>
        <p:nvSpPr>
          <p:cNvPr id="5" name="Text 3"/>
          <p:cNvSpPr/>
          <p:nvPr/>
        </p:nvSpPr>
        <p:spPr>
          <a:xfrm>
            <a:off x="9497755" y="1052162"/>
            <a:ext cx="3253171" cy="273353"/>
          </a:xfrm>
          <a:prstGeom prst="rect">
            <a:avLst/>
          </a:prstGeom>
          <a:noFill/>
          <a:ln/>
        </p:spPr>
        <p:txBody>
          <a:bodyPr wrap="square" lIns="25400" tIns="25400" rIns="25400" bIns="25400" rtlCol="0" anchor="t">
            <a:normAutofit/>
          </a:bodyPr>
          <a:lstStyle/>
          <a:p>
            <a:pPr algn="l" indent="0" marL="0">
              <a:buNone/>
            </a:pPr>
            <a:r>
              <a:rPr lang="en-US" sz="1425" b="1" dirty="0">
                <a:solidFill>
                  <a:srgbClr val="B4690E"/>
                </a:solidFill>
                <a:latin typeface="IBM Plex Mono" pitchFamily="34" charset="0"/>
                <a:ea typeface="IBM Plex Mono" pitchFamily="34" charset="-122"/>
                <a:cs typeface="IBM Plex Mono" pitchFamily="34" charset="-120"/>
              </a:rPr>
              <a:t>Copilot Studio reads &amp; drafts</a:t>
            </a:r>
            <a:endParaRPr lang="en-US" sz="1425" dirty="0"/>
          </a:p>
        </p:txBody>
      </p:sp>
      <p:sp>
        <p:nvSpPr>
          <p:cNvPr id="6" name="Shape 4"/>
          <p:cNvSpPr/>
          <p:nvPr/>
        </p:nvSpPr>
        <p:spPr>
          <a:xfrm>
            <a:off x="12905498" y="964756"/>
            <a:ext cx="1955952" cy="410065"/>
          </a:xfrm>
          <a:prstGeom prst="roundRect">
            <a:avLst>
              <a:gd name="adj" fmla="val 50000"/>
            </a:avLst>
          </a:prstGeom>
          <a:solidFill>
            <a:srgbClr val="E8F4EC"/>
          </a:solidFill>
          <a:ln w="11206">
            <a:solidFill>
              <a:srgbClr val="B9E0CB"/>
            </a:solidFill>
            <a:prstDash val="solid"/>
          </a:ln>
        </p:spPr>
      </p:sp>
      <p:sp>
        <p:nvSpPr>
          <p:cNvPr id="7" name="Text 5"/>
          <p:cNvSpPr/>
          <p:nvPr/>
        </p:nvSpPr>
        <p:spPr>
          <a:xfrm>
            <a:off x="13069104" y="1052162"/>
            <a:ext cx="1704940" cy="273353"/>
          </a:xfrm>
          <a:prstGeom prst="rect">
            <a:avLst/>
          </a:prstGeom>
          <a:noFill/>
          <a:ln/>
        </p:spPr>
        <p:txBody>
          <a:bodyPr wrap="square" lIns="25400" tIns="25400" rIns="25400" bIns="25400" rtlCol="0" anchor="t">
            <a:normAutofit/>
          </a:bodyPr>
          <a:lstStyle/>
          <a:p>
            <a:pPr algn="l" indent="0" marL="0">
              <a:buNone/>
            </a:pPr>
            <a:r>
              <a:rPr lang="en-US" sz="1425" b="1" dirty="0">
                <a:solidFill>
                  <a:srgbClr val="107C41"/>
                </a:solidFill>
                <a:latin typeface="IBM Plex Mono" pitchFamily="34" charset="0"/>
                <a:ea typeface="IBM Plex Mono" pitchFamily="34" charset="-122"/>
                <a:cs typeface="IBM Plex Mono" pitchFamily="34" charset="-120"/>
              </a:rPr>
              <a:t>0 manual emails</a:t>
            </a:r>
            <a:endParaRPr lang="en-US" sz="1425" dirty="0"/>
          </a:p>
        </p:txBody>
      </p:sp>
      <p:sp>
        <p:nvSpPr>
          <p:cNvPr id="8" name="Shape 6"/>
          <p:cNvSpPr/>
          <p:nvPr/>
        </p:nvSpPr>
        <p:spPr>
          <a:xfrm>
            <a:off x="14956700" y="964756"/>
            <a:ext cx="2607468" cy="410065"/>
          </a:xfrm>
          <a:prstGeom prst="roundRect">
            <a:avLst>
              <a:gd name="adj" fmla="val 50000"/>
            </a:avLst>
          </a:prstGeom>
          <a:solidFill>
            <a:srgbClr val="FDF6EA"/>
          </a:solidFill>
          <a:ln w="11206">
            <a:solidFill>
              <a:srgbClr val="E0C58A"/>
            </a:solidFill>
            <a:prstDash val="solid"/>
          </a:ln>
        </p:spPr>
      </p:sp>
      <p:sp>
        <p:nvSpPr>
          <p:cNvPr id="9" name="Text 7"/>
          <p:cNvSpPr/>
          <p:nvPr/>
        </p:nvSpPr>
        <p:spPr>
          <a:xfrm>
            <a:off x="15120306" y="1052162"/>
            <a:ext cx="2358481" cy="273353"/>
          </a:xfrm>
          <a:prstGeom prst="rect">
            <a:avLst/>
          </a:prstGeom>
          <a:noFill/>
          <a:ln/>
        </p:spPr>
        <p:txBody>
          <a:bodyPr wrap="square" lIns="25400" tIns="25400" rIns="25400" bIns="25400" rtlCol="0" anchor="t">
            <a:normAutofit/>
          </a:bodyPr>
          <a:lstStyle/>
          <a:p>
            <a:pPr algn="l" indent="0" marL="0">
              <a:buNone/>
            </a:pPr>
            <a:r>
              <a:rPr lang="en-US" sz="1425" b="1" dirty="0">
                <a:solidFill>
                  <a:srgbClr val="8A5410"/>
                </a:solidFill>
                <a:latin typeface="IBM Plex Mono" pitchFamily="34" charset="0"/>
                <a:ea typeface="IBM Plex Mono" pitchFamily="34" charset="-122"/>
                <a:cs typeface="IBM Plex Mono" pitchFamily="34" charset="-120"/>
              </a:rPr>
              <a:t>partner auto-included</a:t>
            </a:r>
            <a:endParaRPr lang="en-US" sz="1425" dirty="0"/>
          </a:p>
        </p:txBody>
      </p:sp>
      <p:sp>
        <p:nvSpPr>
          <p:cNvPr id="10" name="Text 8"/>
          <p:cNvSpPr/>
          <p:nvPr/>
        </p:nvSpPr>
        <p:spPr>
          <a:xfrm>
            <a:off x="2570769" y="2038245"/>
            <a:ext cx="1697201" cy="206188"/>
          </a:xfrm>
          <a:prstGeom prst="rect">
            <a:avLst/>
          </a:prstGeom>
          <a:noFill/>
          <a:ln/>
        </p:spPr>
        <p:txBody>
          <a:bodyPr wrap="square" lIns="25400" tIns="25400" rIns="25400" bIns="25400" rtlCol="0" anchor="t">
            <a:normAutofit/>
          </a:bodyPr>
          <a:lstStyle/>
          <a:p>
            <a:pPr algn="ctr" indent="0" marL="0">
              <a:buNone/>
            </a:pPr>
            <a:r>
              <a:rPr lang="en-US" sz="1050" b="1" spc="42" kern="0" dirty="0">
                <a:solidFill>
                  <a:srgbClr val="8996A6"/>
                </a:solidFill>
                <a:latin typeface="IBM Plex Mono" pitchFamily="34" charset="0"/>
                <a:ea typeface="IBM Plex Mono" pitchFamily="34" charset="-122"/>
                <a:cs typeface="IBM Plex Mono" pitchFamily="34" charset="-120"/>
              </a:rPr>
              <a:t>REQUEST</a:t>
            </a:r>
            <a:endParaRPr lang="en-US" sz="1050" dirty="0"/>
          </a:p>
        </p:txBody>
      </p:sp>
      <p:sp>
        <p:nvSpPr>
          <p:cNvPr id="11" name="Text 9"/>
          <p:cNvSpPr/>
          <p:nvPr/>
        </p:nvSpPr>
        <p:spPr>
          <a:xfrm>
            <a:off x="4228014" y="2038245"/>
            <a:ext cx="1697201" cy="206188"/>
          </a:xfrm>
          <a:prstGeom prst="rect">
            <a:avLst/>
          </a:prstGeom>
          <a:noFill/>
          <a:ln/>
        </p:spPr>
        <p:txBody>
          <a:bodyPr wrap="square" lIns="25400" tIns="25400" rIns="25400" bIns="25400" rtlCol="0" anchor="t">
            <a:normAutofit/>
          </a:bodyPr>
          <a:lstStyle/>
          <a:p>
            <a:pPr algn="ctr" indent="0" marL="0">
              <a:buNone/>
            </a:pPr>
            <a:r>
              <a:rPr lang="en-US" sz="1050" b="1" spc="42" kern="0" dirty="0">
                <a:solidFill>
                  <a:srgbClr val="8996A6"/>
                </a:solidFill>
                <a:latin typeface="IBM Plex Mono" pitchFamily="34" charset="0"/>
                <a:ea typeface="IBM Plex Mono" pitchFamily="34" charset="-122"/>
                <a:cs typeface="IBM Plex Mono" pitchFamily="34" charset="-120"/>
              </a:rPr>
              <a:t>CREATE</a:t>
            </a:r>
            <a:endParaRPr lang="en-US" sz="1050" dirty="0"/>
          </a:p>
        </p:txBody>
      </p:sp>
      <p:sp>
        <p:nvSpPr>
          <p:cNvPr id="12" name="Text 10"/>
          <p:cNvSpPr/>
          <p:nvPr/>
        </p:nvSpPr>
        <p:spPr>
          <a:xfrm>
            <a:off x="5885434" y="2038245"/>
            <a:ext cx="1697201" cy="206188"/>
          </a:xfrm>
          <a:prstGeom prst="rect">
            <a:avLst/>
          </a:prstGeom>
          <a:noFill/>
          <a:ln/>
        </p:spPr>
        <p:txBody>
          <a:bodyPr wrap="square" lIns="25400" tIns="25400" rIns="25400" bIns="25400" rtlCol="0" anchor="t">
            <a:normAutofit/>
          </a:bodyPr>
          <a:lstStyle/>
          <a:p>
            <a:pPr algn="ctr" indent="0" marL="0">
              <a:buNone/>
            </a:pPr>
            <a:r>
              <a:rPr lang="en-US" sz="1050" b="1" spc="42" kern="0" dirty="0">
                <a:solidFill>
                  <a:srgbClr val="8996A6"/>
                </a:solidFill>
                <a:latin typeface="IBM Plex Mono" pitchFamily="34" charset="0"/>
                <a:ea typeface="IBM Plex Mono" pitchFamily="34" charset="-122"/>
                <a:cs typeface="IBM Plex Mono" pitchFamily="34" charset="-120"/>
              </a:rPr>
              <a:t>AVAILABILITY</a:t>
            </a:r>
            <a:endParaRPr lang="en-US" sz="1050" dirty="0"/>
          </a:p>
        </p:txBody>
      </p:sp>
      <p:sp>
        <p:nvSpPr>
          <p:cNvPr id="13" name="Text 11"/>
          <p:cNvSpPr/>
          <p:nvPr/>
        </p:nvSpPr>
        <p:spPr>
          <a:xfrm>
            <a:off x="7542854" y="2038245"/>
            <a:ext cx="1697201" cy="206188"/>
          </a:xfrm>
          <a:prstGeom prst="rect">
            <a:avLst/>
          </a:prstGeom>
          <a:noFill/>
          <a:ln/>
        </p:spPr>
        <p:txBody>
          <a:bodyPr wrap="square" lIns="25400" tIns="25400" rIns="25400" bIns="25400" rtlCol="0" anchor="t">
            <a:normAutofit/>
          </a:bodyPr>
          <a:lstStyle/>
          <a:p>
            <a:pPr algn="ctr" indent="0" marL="0">
              <a:buNone/>
            </a:pPr>
            <a:r>
              <a:rPr lang="en-US" sz="1050" b="1" spc="42" kern="0" dirty="0">
                <a:solidFill>
                  <a:srgbClr val="B4690E"/>
                </a:solidFill>
                <a:latin typeface="IBM Plex Mono" pitchFamily="34" charset="0"/>
                <a:ea typeface="IBM Plex Mono" pitchFamily="34" charset="-122"/>
                <a:cs typeface="IBM Plex Mono" pitchFamily="34" charset="-120"/>
              </a:rPr>
              <a:t>COPILOT STUDIO</a:t>
            </a:r>
            <a:endParaRPr lang="en-US" sz="1050" dirty="0"/>
          </a:p>
        </p:txBody>
      </p:sp>
      <p:sp>
        <p:nvSpPr>
          <p:cNvPr id="14" name="Text 12"/>
          <p:cNvSpPr/>
          <p:nvPr/>
        </p:nvSpPr>
        <p:spPr>
          <a:xfrm>
            <a:off x="9200099" y="2038245"/>
            <a:ext cx="1697201" cy="206188"/>
          </a:xfrm>
          <a:prstGeom prst="rect">
            <a:avLst/>
          </a:prstGeom>
          <a:noFill/>
          <a:ln/>
        </p:spPr>
        <p:txBody>
          <a:bodyPr wrap="square" lIns="25400" tIns="25400" rIns="25400" bIns="25400" rtlCol="0" anchor="t">
            <a:normAutofit/>
          </a:bodyPr>
          <a:lstStyle/>
          <a:p>
            <a:pPr algn="ctr" indent="0" marL="0">
              <a:buNone/>
            </a:pPr>
            <a:r>
              <a:rPr lang="en-US" sz="1050" b="1" spc="42" kern="0" dirty="0">
                <a:solidFill>
                  <a:srgbClr val="8996A6"/>
                </a:solidFill>
                <a:latin typeface="IBM Plex Mono" pitchFamily="34" charset="0"/>
                <a:ea typeface="IBM Plex Mono" pitchFamily="34" charset="-122"/>
                <a:cs typeface="IBM Plex Mono" pitchFamily="34" charset="-120"/>
              </a:rPr>
              <a:t>REVIEW</a:t>
            </a:r>
            <a:endParaRPr lang="en-US" sz="1050" dirty="0"/>
          </a:p>
        </p:txBody>
      </p:sp>
      <p:sp>
        <p:nvSpPr>
          <p:cNvPr id="15" name="Text 13"/>
          <p:cNvSpPr/>
          <p:nvPr/>
        </p:nvSpPr>
        <p:spPr>
          <a:xfrm>
            <a:off x="10857518" y="2038245"/>
            <a:ext cx="1697201" cy="206188"/>
          </a:xfrm>
          <a:prstGeom prst="rect">
            <a:avLst/>
          </a:prstGeom>
          <a:noFill/>
          <a:ln/>
        </p:spPr>
        <p:txBody>
          <a:bodyPr wrap="square" lIns="25400" tIns="25400" rIns="25400" bIns="25400" rtlCol="0" anchor="t">
            <a:normAutofit/>
          </a:bodyPr>
          <a:lstStyle/>
          <a:p>
            <a:pPr algn="ctr" indent="0" marL="0">
              <a:buNone/>
            </a:pPr>
            <a:r>
              <a:rPr lang="en-US" sz="1050" b="1" spc="42" kern="0" dirty="0">
                <a:solidFill>
                  <a:srgbClr val="8996A6"/>
                </a:solidFill>
                <a:latin typeface="IBM Plex Mono" pitchFamily="34" charset="0"/>
                <a:ea typeface="IBM Plex Mono" pitchFamily="34" charset="-122"/>
                <a:cs typeface="IBM Plex Mono" pitchFamily="34" charset="-120"/>
              </a:rPr>
              <a:t>SELECT</a:t>
            </a:r>
            <a:endParaRPr lang="en-US" sz="1050" dirty="0"/>
          </a:p>
        </p:txBody>
      </p:sp>
      <p:sp>
        <p:nvSpPr>
          <p:cNvPr id="16" name="Text 14"/>
          <p:cNvSpPr/>
          <p:nvPr/>
        </p:nvSpPr>
        <p:spPr>
          <a:xfrm>
            <a:off x="12514764" y="2038245"/>
            <a:ext cx="1697201" cy="206188"/>
          </a:xfrm>
          <a:prstGeom prst="rect">
            <a:avLst/>
          </a:prstGeom>
          <a:noFill/>
          <a:ln/>
        </p:spPr>
        <p:txBody>
          <a:bodyPr wrap="square" lIns="25400" tIns="25400" rIns="25400" bIns="25400" rtlCol="0" anchor="t">
            <a:normAutofit/>
          </a:bodyPr>
          <a:lstStyle/>
          <a:p>
            <a:pPr algn="ctr" indent="0" marL="0">
              <a:buNone/>
            </a:pPr>
            <a:r>
              <a:rPr lang="en-US" sz="1050" b="1" spc="42" kern="0" dirty="0">
                <a:solidFill>
                  <a:srgbClr val="8996A6"/>
                </a:solidFill>
                <a:latin typeface="IBM Plex Mono" pitchFamily="34" charset="0"/>
                <a:ea typeface="IBM Plex Mono" pitchFamily="34" charset="-122"/>
                <a:cs typeface="IBM Plex Mono" pitchFamily="34" charset="-120"/>
              </a:rPr>
              <a:t>TRIGGER</a:t>
            </a:r>
            <a:endParaRPr lang="en-US" sz="1050" dirty="0"/>
          </a:p>
        </p:txBody>
      </p:sp>
      <p:sp>
        <p:nvSpPr>
          <p:cNvPr id="17" name="Text 15"/>
          <p:cNvSpPr/>
          <p:nvPr/>
        </p:nvSpPr>
        <p:spPr>
          <a:xfrm>
            <a:off x="14172184" y="2038245"/>
            <a:ext cx="1697201" cy="206188"/>
          </a:xfrm>
          <a:prstGeom prst="rect">
            <a:avLst/>
          </a:prstGeom>
          <a:noFill/>
          <a:ln/>
        </p:spPr>
        <p:txBody>
          <a:bodyPr wrap="square" lIns="25400" tIns="25400" rIns="25400" bIns="25400" rtlCol="0" anchor="t">
            <a:normAutofit/>
          </a:bodyPr>
          <a:lstStyle/>
          <a:p>
            <a:pPr algn="ctr" indent="0" marL="0">
              <a:buNone/>
            </a:pPr>
            <a:r>
              <a:rPr lang="en-US" sz="1050" b="1" spc="42" kern="0" dirty="0">
                <a:solidFill>
                  <a:srgbClr val="8996A6"/>
                </a:solidFill>
                <a:latin typeface="IBM Plex Mono" pitchFamily="34" charset="0"/>
                <a:ea typeface="IBM Plex Mono" pitchFamily="34" charset="-122"/>
                <a:cs typeface="IBM Plex Mono" pitchFamily="34" charset="-120"/>
              </a:rPr>
              <a:t>FULFIL</a:t>
            </a:r>
            <a:endParaRPr lang="en-US" sz="1050" dirty="0"/>
          </a:p>
        </p:txBody>
      </p:sp>
      <p:sp>
        <p:nvSpPr>
          <p:cNvPr id="18" name="Text 16"/>
          <p:cNvSpPr/>
          <p:nvPr/>
        </p:nvSpPr>
        <p:spPr>
          <a:xfrm>
            <a:off x="15829603" y="2038245"/>
            <a:ext cx="1697201" cy="206188"/>
          </a:xfrm>
          <a:prstGeom prst="rect">
            <a:avLst/>
          </a:prstGeom>
          <a:noFill/>
          <a:ln/>
        </p:spPr>
        <p:txBody>
          <a:bodyPr wrap="square" lIns="25400" tIns="25400" rIns="25400" bIns="25400" rtlCol="0" anchor="t">
            <a:normAutofit/>
          </a:bodyPr>
          <a:lstStyle/>
          <a:p>
            <a:pPr algn="ctr" indent="0" marL="0">
              <a:buNone/>
            </a:pPr>
            <a:r>
              <a:rPr lang="en-US" sz="1050" b="1" spc="42" kern="0" dirty="0">
                <a:solidFill>
                  <a:srgbClr val="8996A6"/>
                </a:solidFill>
                <a:latin typeface="IBM Plex Mono" pitchFamily="34" charset="0"/>
                <a:ea typeface="IBM Plex Mono" pitchFamily="34" charset="-122"/>
                <a:cs typeface="IBM Plex Mono" pitchFamily="34" charset="-120"/>
              </a:rPr>
              <a:t>CONFIRM</a:t>
            </a:r>
            <a:endParaRPr lang="en-US" sz="1050" dirty="0"/>
          </a:p>
        </p:txBody>
      </p:sp>
      <p:sp>
        <p:nvSpPr>
          <p:cNvPr id="19" name="Shape 17"/>
          <p:cNvSpPr/>
          <p:nvPr/>
        </p:nvSpPr>
        <p:spPr>
          <a:xfrm>
            <a:off x="723830" y="2362165"/>
            <a:ext cx="16840164" cy="1428750"/>
          </a:xfrm>
          <a:prstGeom prst="roundRect">
            <a:avLst>
              <a:gd name="adj" fmla="val 8000"/>
            </a:avLst>
          </a:prstGeom>
          <a:solidFill>
            <a:srgbClr val="FFFFFF"/>
          </a:solidFill>
          <a:ln/>
        </p:spPr>
      </p:sp>
      <p:sp>
        <p:nvSpPr>
          <p:cNvPr id="20" name="Shape 18"/>
          <p:cNvSpPr/>
          <p:nvPr/>
        </p:nvSpPr>
        <p:spPr>
          <a:xfrm>
            <a:off x="837990" y="3028915"/>
            <a:ext cx="95250" cy="95250"/>
          </a:xfrm>
          <a:prstGeom prst="ellipse">
            <a:avLst/>
          </a:prstGeom>
          <a:solidFill>
            <a:srgbClr val="0B7A75"/>
          </a:solidFill>
          <a:ln/>
        </p:spPr>
      </p:sp>
      <p:sp>
        <p:nvSpPr>
          <p:cNvPr id="21" name="Text 19"/>
          <p:cNvSpPr/>
          <p:nvPr/>
        </p:nvSpPr>
        <p:spPr>
          <a:xfrm>
            <a:off x="1018860" y="2992496"/>
            <a:ext cx="747327" cy="206188"/>
          </a:xfrm>
          <a:prstGeom prst="rect">
            <a:avLst/>
          </a:prstGeom>
          <a:noFill/>
          <a:ln/>
        </p:spPr>
        <p:txBody>
          <a:bodyPr wrap="square" lIns="25400" tIns="25400" rIns="25400" bIns="25400" rtlCol="0" anchor="t">
            <a:normAutofit/>
          </a:bodyPr>
          <a:lstStyle/>
          <a:p>
            <a:pPr algn="l" indent="0" marL="0">
              <a:lnSpc>
                <a:spcPct val="106250"/>
              </a:lnSpc>
              <a:buNone/>
            </a:pPr>
            <a:r>
              <a:rPr lang="en-US" sz="1125" b="1" dirty="0">
                <a:solidFill>
                  <a:srgbClr val="0B7A75"/>
                </a:solidFill>
                <a:latin typeface="Public Sans" pitchFamily="34" charset="0"/>
                <a:ea typeface="Public Sans" pitchFamily="34" charset="-122"/>
                <a:cs typeface="Public Sans" pitchFamily="34" charset="-120"/>
              </a:rPr>
              <a:t>Customer</a:t>
            </a:r>
            <a:endParaRPr lang="en-US" sz="1125" dirty="0"/>
          </a:p>
        </p:txBody>
      </p:sp>
      <p:sp>
        <p:nvSpPr>
          <p:cNvPr id="22" name="Shape 20"/>
          <p:cNvSpPr/>
          <p:nvPr/>
        </p:nvSpPr>
        <p:spPr>
          <a:xfrm>
            <a:off x="723830" y="3905250"/>
            <a:ext cx="16840164" cy="1428750"/>
          </a:xfrm>
          <a:prstGeom prst="roundRect">
            <a:avLst>
              <a:gd name="adj" fmla="val 8000"/>
            </a:avLst>
          </a:prstGeom>
          <a:solidFill>
            <a:srgbClr val="FAFBFD"/>
          </a:solidFill>
          <a:ln/>
        </p:spPr>
      </p:sp>
      <p:sp>
        <p:nvSpPr>
          <p:cNvPr id="23" name="Shape 21"/>
          <p:cNvSpPr/>
          <p:nvPr/>
        </p:nvSpPr>
        <p:spPr>
          <a:xfrm>
            <a:off x="837990" y="4572000"/>
            <a:ext cx="95250" cy="95250"/>
          </a:xfrm>
          <a:prstGeom prst="ellipse">
            <a:avLst/>
          </a:prstGeom>
          <a:solidFill>
            <a:srgbClr val="1C5C43"/>
          </a:solidFill>
          <a:ln/>
        </p:spPr>
      </p:sp>
      <p:sp>
        <p:nvSpPr>
          <p:cNvPr id="24" name="Text 22"/>
          <p:cNvSpPr/>
          <p:nvPr/>
        </p:nvSpPr>
        <p:spPr>
          <a:xfrm>
            <a:off x="1018860" y="4451536"/>
            <a:ext cx="1533840" cy="374276"/>
          </a:xfrm>
          <a:prstGeom prst="rect">
            <a:avLst/>
          </a:prstGeom>
          <a:noFill/>
          <a:ln/>
        </p:spPr>
        <p:txBody>
          <a:bodyPr wrap="square" lIns="25400" tIns="25400" rIns="25400" bIns="25400" rtlCol="0" anchor="t">
            <a:normAutofit/>
          </a:bodyPr>
          <a:lstStyle/>
          <a:p>
            <a:pPr algn="l" indent="0" marL="0">
              <a:lnSpc>
                <a:spcPct val="106250"/>
              </a:lnSpc>
              <a:buNone/>
            </a:pPr>
            <a:r>
              <a:rPr lang="en-US" sz="1125" b="1" dirty="0">
                <a:solidFill>
                  <a:srgbClr val="1C5C43"/>
                </a:solidFill>
                <a:latin typeface="Public Sans" pitchFamily="34" charset="0"/>
                <a:ea typeface="Public Sans" pitchFamily="34" charset="-122"/>
                <a:cs typeface="Public Sans" pitchFamily="34" charset="-120"/>
              </a:rPr>
              <a:t>Relationship Mgr · app</a:t>
            </a:r>
            <a:endParaRPr lang="en-US" sz="1125" dirty="0"/>
          </a:p>
        </p:txBody>
      </p:sp>
      <p:sp>
        <p:nvSpPr>
          <p:cNvPr id="25" name="Shape 23"/>
          <p:cNvSpPr/>
          <p:nvPr/>
        </p:nvSpPr>
        <p:spPr>
          <a:xfrm>
            <a:off x="723830" y="5448160"/>
            <a:ext cx="16840164" cy="1428750"/>
          </a:xfrm>
          <a:prstGeom prst="roundRect">
            <a:avLst>
              <a:gd name="adj" fmla="val 8000"/>
            </a:avLst>
          </a:prstGeom>
          <a:solidFill>
            <a:srgbClr val="EEF0F7"/>
          </a:solidFill>
          <a:ln/>
        </p:spPr>
      </p:sp>
      <p:sp>
        <p:nvSpPr>
          <p:cNvPr id="26" name="Shape 24"/>
          <p:cNvSpPr/>
          <p:nvPr/>
        </p:nvSpPr>
        <p:spPr>
          <a:xfrm>
            <a:off x="837990" y="6114909"/>
            <a:ext cx="95250" cy="95250"/>
          </a:xfrm>
          <a:prstGeom prst="ellipse">
            <a:avLst/>
          </a:prstGeom>
          <a:solidFill>
            <a:srgbClr val="14513A"/>
          </a:solidFill>
          <a:ln/>
        </p:spPr>
      </p:sp>
      <p:sp>
        <p:nvSpPr>
          <p:cNvPr id="27" name="Text 25"/>
          <p:cNvSpPr/>
          <p:nvPr/>
        </p:nvSpPr>
        <p:spPr>
          <a:xfrm>
            <a:off x="1018860" y="6016858"/>
            <a:ext cx="1533840" cy="329453"/>
          </a:xfrm>
          <a:prstGeom prst="rect">
            <a:avLst/>
          </a:prstGeom>
          <a:noFill/>
          <a:ln/>
        </p:spPr>
        <p:txBody>
          <a:bodyPr wrap="square" lIns="25400" tIns="25400" rIns="25400" bIns="25400" rtlCol="0" anchor="t">
            <a:normAutofit/>
          </a:bodyPr>
          <a:lstStyle/>
          <a:p>
            <a:pPr algn="l" indent="0" marL="0">
              <a:lnSpc>
                <a:spcPct val="115104"/>
              </a:lnSpc>
              <a:buNone/>
            </a:pPr>
            <a:r>
              <a:rPr lang="en-US" sz="975" b="1" dirty="0">
                <a:solidFill>
                  <a:srgbClr val="14513A"/>
                </a:solidFill>
                <a:latin typeface="Public Sans" pitchFamily="34" charset="0"/>
                <a:ea typeface="Public Sans" pitchFamily="34" charset="-122"/>
                <a:cs typeface="Public Sans" pitchFamily="34" charset="-120"/>
              </a:rPr>
              <a:t>Automation · Power Automate</a:t>
            </a:r>
            <a:endParaRPr lang="en-US" sz="975" dirty="0"/>
          </a:p>
        </p:txBody>
      </p:sp>
      <p:sp>
        <p:nvSpPr>
          <p:cNvPr id="28" name="Shape 26"/>
          <p:cNvSpPr/>
          <p:nvPr/>
        </p:nvSpPr>
        <p:spPr>
          <a:xfrm>
            <a:off x="723830" y="6991245"/>
            <a:ext cx="16840164" cy="1428750"/>
          </a:xfrm>
          <a:prstGeom prst="roundRect">
            <a:avLst>
              <a:gd name="adj" fmla="val 8000"/>
            </a:avLst>
          </a:prstGeom>
          <a:solidFill>
            <a:srgbClr val="EEF0F7"/>
          </a:solidFill>
          <a:ln/>
        </p:spPr>
      </p:sp>
      <p:sp>
        <p:nvSpPr>
          <p:cNvPr id="29" name="Shape 27"/>
          <p:cNvSpPr/>
          <p:nvPr/>
        </p:nvSpPr>
        <p:spPr>
          <a:xfrm>
            <a:off x="837990" y="7657995"/>
            <a:ext cx="95250" cy="95250"/>
          </a:xfrm>
          <a:prstGeom prst="ellipse">
            <a:avLst/>
          </a:prstGeom>
          <a:solidFill>
            <a:srgbClr val="5059C9"/>
          </a:solidFill>
          <a:ln/>
        </p:spPr>
      </p:sp>
      <p:sp>
        <p:nvSpPr>
          <p:cNvPr id="30" name="Text 28"/>
          <p:cNvSpPr/>
          <p:nvPr/>
        </p:nvSpPr>
        <p:spPr>
          <a:xfrm>
            <a:off x="1018860" y="7487105"/>
            <a:ext cx="1533840" cy="475129"/>
          </a:xfrm>
          <a:prstGeom prst="rect">
            <a:avLst/>
          </a:prstGeom>
          <a:noFill/>
          <a:ln/>
        </p:spPr>
        <p:txBody>
          <a:bodyPr wrap="square" lIns="25400" tIns="25400" rIns="25400" bIns="25400" rtlCol="0" anchor="t">
            <a:normAutofit/>
          </a:bodyPr>
          <a:lstStyle/>
          <a:p>
            <a:pPr algn="l" indent="0" marL="0">
              <a:lnSpc>
                <a:spcPct val="115104"/>
              </a:lnSpc>
              <a:buNone/>
            </a:pPr>
            <a:r>
              <a:rPr lang="en-US" sz="975" b="1" dirty="0">
                <a:solidFill>
                  <a:srgbClr val="5059C9"/>
                </a:solidFill>
                <a:latin typeface="Public Sans" pitchFamily="34" charset="0"/>
                <a:ea typeface="Public Sans" pitchFamily="34" charset="-122"/>
                <a:cs typeface="Public Sans" pitchFamily="34" charset="-120"/>
              </a:rPr>
              <a:t>Systems · Graph · Copilot Studio · Dataverse</a:t>
            </a:r>
            <a:endParaRPr lang="en-US" sz="975" dirty="0"/>
          </a:p>
        </p:txBody>
      </p:sp>
      <p:pic>
        <p:nvPicPr>
          <p:cNvPr id="31"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8287999" cy="10286999"/>
          </a:xfrm>
          <a:prstGeom prst="rect">
            <a:avLst/>
          </a:prstGeom>
        </p:spPr>
      </p:pic>
      <p:sp>
        <p:nvSpPr>
          <p:cNvPr id="32" name="Shape 29"/>
          <p:cNvSpPr/>
          <p:nvPr/>
        </p:nvSpPr>
        <p:spPr>
          <a:xfrm>
            <a:off x="13150102" y="5162410"/>
            <a:ext cx="4375897" cy="156882"/>
          </a:xfrm>
          <a:prstGeom prst="rect">
            <a:avLst/>
          </a:prstGeom>
          <a:solidFill>
            <a:srgbClr val="F4F7FA"/>
          </a:solidFill>
          <a:ln/>
        </p:spPr>
      </p:sp>
      <p:sp>
        <p:nvSpPr>
          <p:cNvPr id="33" name="Text 30"/>
          <p:cNvSpPr/>
          <p:nvPr/>
        </p:nvSpPr>
        <p:spPr>
          <a:xfrm>
            <a:off x="13245352" y="5162410"/>
            <a:ext cx="4622987" cy="194982"/>
          </a:xfrm>
          <a:prstGeom prst="rect">
            <a:avLst/>
          </a:prstGeom>
          <a:noFill/>
          <a:ln/>
        </p:spPr>
        <p:txBody>
          <a:bodyPr wrap="square" lIns="25400" tIns="25400" rIns="25400" bIns="25400" rtlCol="0" anchor="t">
            <a:normAutofit/>
          </a:bodyPr>
          <a:lstStyle/>
          <a:p>
            <a:pPr algn="l" indent="0" marL="0">
              <a:buNone/>
            </a:pPr>
            <a:r>
              <a:rPr lang="en-US" sz="975" b="1" spc="49" kern="0" dirty="0">
                <a:solidFill>
                  <a:srgbClr val="B4690E"/>
                </a:solidFill>
                <a:latin typeface="IBM Plex Mono" pitchFamily="34" charset="0"/>
                <a:ea typeface="IBM Plex Mono" pitchFamily="34" charset="-122"/>
                <a:cs typeface="IBM Plex Mono" pitchFamily="34" charset="-120"/>
              </a:rPr>
              <a:t>LINE OF VISIBILITY — customers &amp; RMs never see below</a:t>
            </a:r>
            <a:endParaRPr lang="en-US" sz="975" dirty="0"/>
          </a:p>
        </p:txBody>
      </p:sp>
      <p:sp>
        <p:nvSpPr>
          <p:cNvPr id="34" name="Shape 31"/>
          <p:cNvSpPr/>
          <p:nvPr/>
        </p:nvSpPr>
        <p:spPr>
          <a:xfrm>
            <a:off x="2647915" y="2543035"/>
            <a:ext cx="1542910" cy="1066660"/>
          </a:xfrm>
          <a:prstGeom prst="roundRect">
            <a:avLst>
              <a:gd name="adj" fmla="val 8930"/>
            </a:avLst>
          </a:prstGeom>
          <a:solidFill>
            <a:srgbClr val="EDF1E0"/>
          </a:solidFill>
          <a:ln w="11206">
            <a:solidFill>
              <a:srgbClr val="DBE6CD"/>
            </a:solidFill>
            <a:prstDash val="solid"/>
          </a:ln>
        </p:spPr>
      </p:sp>
      <p:sp>
        <p:nvSpPr>
          <p:cNvPr id="35" name="Shape 32"/>
          <p:cNvSpPr/>
          <p:nvPr/>
        </p:nvSpPr>
        <p:spPr>
          <a:xfrm>
            <a:off x="2544961" y="2440081"/>
            <a:ext cx="266665" cy="266665"/>
          </a:xfrm>
          <a:prstGeom prst="ellipse">
            <a:avLst/>
          </a:prstGeom>
          <a:solidFill>
            <a:srgbClr val="0D2E22"/>
          </a:solidFill>
          <a:ln/>
        </p:spPr>
      </p:sp>
      <p:sp>
        <p:nvSpPr>
          <p:cNvPr id="36" name="Text 33"/>
          <p:cNvSpPr/>
          <p:nvPr/>
        </p:nvSpPr>
        <p:spPr>
          <a:xfrm>
            <a:off x="2506861" y="2440081"/>
            <a:ext cx="342865" cy="304765"/>
          </a:xfrm>
          <a:prstGeom prst="rect">
            <a:avLst/>
          </a:prstGeom>
          <a:noFill/>
          <a:ln/>
        </p:spPr>
        <p:txBody>
          <a:bodyPr wrap="square" lIns="25400" tIns="25400" rIns="25400" bIns="25400" rtlCol="0" anchor="ctr">
            <a:normAutofit/>
          </a:bodyPr>
          <a:lstStyle/>
          <a:p>
            <a:pPr algn="ctr" indent="0" marL="0">
              <a:buNone/>
            </a:pPr>
            <a:r>
              <a:rPr lang="en-US" sz="1125" b="1" dirty="0">
                <a:solidFill>
                  <a:srgbClr val="FFFFFF"/>
                </a:solidFill>
                <a:latin typeface="IBM Plex Mono" pitchFamily="34" charset="0"/>
                <a:ea typeface="IBM Plex Mono" pitchFamily="34" charset="-122"/>
                <a:cs typeface="IBM Plex Mono" pitchFamily="34" charset="-120"/>
              </a:rPr>
              <a:t>1</a:t>
            </a:r>
            <a:endParaRPr lang="en-US" sz="1125" dirty="0"/>
          </a:p>
        </p:txBody>
      </p:sp>
      <p:sp>
        <p:nvSpPr>
          <p:cNvPr id="37" name="Text 34"/>
          <p:cNvSpPr/>
          <p:nvPr/>
        </p:nvSpPr>
        <p:spPr>
          <a:xfrm>
            <a:off x="2959473" y="2992321"/>
            <a:ext cx="919618" cy="206188"/>
          </a:xfrm>
          <a:prstGeom prst="rect">
            <a:avLst/>
          </a:prstGeom>
          <a:noFill/>
          <a:ln/>
        </p:spPr>
        <p:txBody>
          <a:bodyPr wrap="square" lIns="25400" tIns="25400" rIns="25400" bIns="25400" rtlCol="0" anchor="t">
            <a:normAutofit/>
          </a:bodyPr>
          <a:lstStyle/>
          <a:p>
            <a:pPr algn="ctr" indent="0" marL="0">
              <a:lnSpc>
                <a:spcPct val="103700"/>
              </a:lnSpc>
              <a:buNone/>
            </a:pPr>
            <a:r>
              <a:rPr lang="en-US" sz="1125" b="1" dirty="0">
                <a:solidFill>
                  <a:srgbClr val="0D2E22"/>
                </a:solidFill>
                <a:latin typeface="Public Sans" pitchFamily="34" charset="0"/>
                <a:ea typeface="Public Sans" pitchFamily="34" charset="-122"/>
                <a:cs typeface="Public Sans" pitchFamily="34" charset="-120"/>
              </a:rPr>
              <a:t>Asks the RM</a:t>
            </a:r>
            <a:endParaRPr lang="en-US" sz="1125" dirty="0"/>
          </a:p>
        </p:txBody>
      </p:sp>
      <p:sp>
        <p:nvSpPr>
          <p:cNvPr id="38" name="Shape 35"/>
          <p:cNvSpPr/>
          <p:nvPr/>
        </p:nvSpPr>
        <p:spPr>
          <a:xfrm>
            <a:off x="4305160" y="4086120"/>
            <a:ext cx="1542910" cy="1066660"/>
          </a:xfrm>
          <a:prstGeom prst="roundRect">
            <a:avLst>
              <a:gd name="adj" fmla="val 8930"/>
            </a:avLst>
          </a:prstGeom>
          <a:solidFill>
            <a:srgbClr val="EDF1E0"/>
          </a:solidFill>
          <a:ln w="11206">
            <a:solidFill>
              <a:srgbClr val="DBE6CD"/>
            </a:solidFill>
            <a:prstDash val="solid"/>
          </a:ln>
        </p:spPr>
      </p:sp>
      <p:sp>
        <p:nvSpPr>
          <p:cNvPr id="39" name="Shape 36"/>
          <p:cNvSpPr/>
          <p:nvPr/>
        </p:nvSpPr>
        <p:spPr>
          <a:xfrm>
            <a:off x="4202206" y="3983166"/>
            <a:ext cx="266665" cy="266665"/>
          </a:xfrm>
          <a:prstGeom prst="ellipse">
            <a:avLst/>
          </a:prstGeom>
          <a:solidFill>
            <a:srgbClr val="0D2E22"/>
          </a:solidFill>
          <a:ln/>
        </p:spPr>
      </p:sp>
      <p:sp>
        <p:nvSpPr>
          <p:cNvPr id="40" name="Text 37"/>
          <p:cNvSpPr/>
          <p:nvPr/>
        </p:nvSpPr>
        <p:spPr>
          <a:xfrm>
            <a:off x="4164106" y="3983166"/>
            <a:ext cx="342865" cy="304765"/>
          </a:xfrm>
          <a:prstGeom prst="rect">
            <a:avLst/>
          </a:prstGeom>
          <a:noFill/>
          <a:ln/>
        </p:spPr>
        <p:txBody>
          <a:bodyPr wrap="square" lIns="25400" tIns="25400" rIns="25400" bIns="25400" rtlCol="0" anchor="ctr">
            <a:normAutofit/>
          </a:bodyPr>
          <a:lstStyle/>
          <a:p>
            <a:pPr algn="ctr" indent="0" marL="0">
              <a:buNone/>
            </a:pPr>
            <a:r>
              <a:rPr lang="en-US" sz="1125" b="1" dirty="0">
                <a:solidFill>
                  <a:srgbClr val="FFFFFF"/>
                </a:solidFill>
                <a:latin typeface="IBM Plex Mono" pitchFamily="34" charset="0"/>
                <a:ea typeface="IBM Plex Mono" pitchFamily="34" charset="-122"/>
                <a:cs typeface="IBM Plex Mono" pitchFamily="34" charset="-120"/>
              </a:rPr>
              <a:t>2</a:t>
            </a:r>
            <a:endParaRPr lang="en-US" sz="1125" dirty="0"/>
          </a:p>
        </p:txBody>
      </p:sp>
      <p:sp>
        <p:nvSpPr>
          <p:cNvPr id="41" name="Text 38"/>
          <p:cNvSpPr/>
          <p:nvPr/>
        </p:nvSpPr>
        <p:spPr>
          <a:xfrm>
            <a:off x="4354430" y="4335801"/>
            <a:ext cx="1444368" cy="374276"/>
          </a:xfrm>
          <a:prstGeom prst="rect">
            <a:avLst/>
          </a:prstGeom>
          <a:noFill/>
          <a:ln/>
        </p:spPr>
        <p:txBody>
          <a:bodyPr wrap="square" lIns="25400" tIns="25400" rIns="25400" bIns="25400" rtlCol="0" anchor="t">
            <a:normAutofit/>
          </a:bodyPr>
          <a:lstStyle/>
          <a:p>
            <a:pPr algn="ctr" indent="0" marL="0">
              <a:lnSpc>
                <a:spcPct val="103700"/>
              </a:lnSpc>
              <a:buNone/>
            </a:pPr>
            <a:r>
              <a:rPr lang="en-US" sz="1125" b="1" dirty="0">
                <a:solidFill>
                  <a:srgbClr val="0D2E22"/>
                </a:solidFill>
                <a:latin typeface="Public Sans" pitchFamily="34" charset="0"/>
                <a:ea typeface="Public Sans" pitchFamily="34" charset="-122"/>
                <a:cs typeface="Public Sans" pitchFamily="34" charset="-120"/>
              </a:rPr>
              <a:t>Enters details · Create Meeting</a:t>
            </a:r>
            <a:endParaRPr lang="en-US" sz="1125" dirty="0"/>
          </a:p>
        </p:txBody>
      </p:sp>
      <p:sp>
        <p:nvSpPr>
          <p:cNvPr id="42" name="Shape 39"/>
          <p:cNvSpPr/>
          <p:nvPr/>
        </p:nvSpPr>
        <p:spPr>
          <a:xfrm>
            <a:off x="4758473" y="4719602"/>
            <a:ext cx="636109" cy="183496"/>
          </a:xfrm>
          <a:prstGeom prst="roundRect">
            <a:avLst>
              <a:gd name="adj" fmla="val 31145"/>
            </a:avLst>
          </a:prstGeom>
          <a:solidFill>
            <a:srgbClr val="742774"/>
          </a:solidFill>
          <a:ln/>
        </p:spPr>
      </p:sp>
      <p:sp>
        <p:nvSpPr>
          <p:cNvPr id="43" name="Text 40"/>
          <p:cNvSpPr/>
          <p:nvPr/>
        </p:nvSpPr>
        <p:spPr>
          <a:xfrm>
            <a:off x="4787048" y="4738652"/>
            <a:ext cx="578959" cy="183496"/>
          </a:xfrm>
          <a:prstGeom prst="rect">
            <a:avLst/>
          </a:prstGeom>
          <a:noFill/>
          <a:ln/>
        </p:spPr>
        <p:txBody>
          <a:bodyPr wrap="square" lIns="25400" tIns="25400" rIns="25400" bIns="25400" rtlCol="0" anchor="t">
            <a:normAutofit/>
          </a:bodyPr>
          <a:lstStyle/>
          <a:p>
            <a:pPr algn="ctr" indent="0" marL="0">
              <a:buNone/>
            </a:pPr>
            <a:r>
              <a:rPr lang="en-US" sz="825" b="1" dirty="0">
                <a:solidFill>
                  <a:srgbClr val="FFFFFF"/>
                </a:solidFill>
                <a:latin typeface="IBM Plex Mono" pitchFamily="34" charset="0"/>
                <a:ea typeface="IBM Plex Mono" pitchFamily="34" charset="-122"/>
                <a:cs typeface="IBM Plex Mono" pitchFamily="34" charset="-120"/>
              </a:rPr>
              <a:t>Code app</a:t>
            </a:r>
            <a:endParaRPr lang="en-US" sz="825" dirty="0"/>
          </a:p>
        </p:txBody>
      </p:sp>
      <p:sp>
        <p:nvSpPr>
          <p:cNvPr id="44" name="Shape 41"/>
          <p:cNvSpPr/>
          <p:nvPr/>
        </p:nvSpPr>
        <p:spPr>
          <a:xfrm>
            <a:off x="4305160" y="7172290"/>
            <a:ext cx="1542910" cy="1066660"/>
          </a:xfrm>
          <a:prstGeom prst="roundRect">
            <a:avLst>
              <a:gd name="adj" fmla="val 8930"/>
            </a:avLst>
          </a:prstGeom>
          <a:solidFill>
            <a:srgbClr val="EEF0F7"/>
          </a:solidFill>
          <a:ln w="11206">
            <a:solidFill>
              <a:srgbClr val="B7BDF0"/>
            </a:solidFill>
            <a:prstDash val="solid"/>
          </a:ln>
        </p:spPr>
      </p:sp>
      <p:sp>
        <p:nvSpPr>
          <p:cNvPr id="45" name="Shape 42"/>
          <p:cNvSpPr/>
          <p:nvPr/>
        </p:nvSpPr>
        <p:spPr>
          <a:xfrm>
            <a:off x="4221116" y="7069335"/>
            <a:ext cx="384677" cy="183496"/>
          </a:xfrm>
          <a:prstGeom prst="roundRect">
            <a:avLst>
              <a:gd name="adj" fmla="val 31145"/>
            </a:avLst>
          </a:prstGeom>
          <a:solidFill>
            <a:srgbClr val="8A5410"/>
          </a:solidFill>
          <a:ln/>
        </p:spPr>
      </p:sp>
      <p:sp>
        <p:nvSpPr>
          <p:cNvPr id="46" name="Text 43"/>
          <p:cNvSpPr/>
          <p:nvPr/>
        </p:nvSpPr>
        <p:spPr>
          <a:xfrm>
            <a:off x="4249691" y="7088385"/>
            <a:ext cx="327527" cy="183496"/>
          </a:xfrm>
          <a:prstGeom prst="rect">
            <a:avLst/>
          </a:prstGeom>
          <a:noFill/>
          <a:ln/>
        </p:spPr>
        <p:txBody>
          <a:bodyPr wrap="square" lIns="25400" tIns="25400" rIns="25400" bIns="25400" rtlCol="0" anchor="t">
            <a:normAutofit/>
          </a:bodyPr>
          <a:lstStyle/>
          <a:p>
            <a:pPr algn="ctr" indent="0" marL="0">
              <a:buNone/>
            </a:pPr>
            <a:r>
              <a:rPr lang="en-US" sz="825" b="1" dirty="0">
                <a:solidFill>
                  <a:srgbClr val="FFFFFF"/>
                </a:solidFill>
                <a:latin typeface="IBM Plex Mono" pitchFamily="34" charset="0"/>
                <a:ea typeface="IBM Plex Mono" pitchFamily="34" charset="-122"/>
                <a:cs typeface="IBM Plex Mono" pitchFamily="34" charset="-120"/>
              </a:rPr>
              <a:t>AUTO</a:t>
            </a:r>
            <a:endParaRPr lang="en-US" sz="825" dirty="0"/>
          </a:p>
        </p:txBody>
      </p:sp>
      <p:sp>
        <p:nvSpPr>
          <p:cNvPr id="47" name="Text 44"/>
          <p:cNvSpPr/>
          <p:nvPr/>
        </p:nvSpPr>
        <p:spPr>
          <a:xfrm>
            <a:off x="4354430" y="7337927"/>
            <a:ext cx="1444368" cy="542365"/>
          </a:xfrm>
          <a:prstGeom prst="rect">
            <a:avLst/>
          </a:prstGeom>
          <a:noFill/>
          <a:ln/>
        </p:spPr>
        <p:txBody>
          <a:bodyPr wrap="square" lIns="25400" tIns="25400" rIns="25400" bIns="25400" rtlCol="0" anchor="t">
            <a:normAutofit/>
          </a:bodyPr>
          <a:lstStyle/>
          <a:p>
            <a:pPr algn="ctr" indent="0" marL="0">
              <a:lnSpc>
                <a:spcPct val="103700"/>
              </a:lnSpc>
              <a:buNone/>
            </a:pPr>
            <a:r>
              <a:rPr lang="en-US" sz="1125" b="1" dirty="0">
                <a:solidFill>
                  <a:srgbClr val="0D2E22"/>
                </a:solidFill>
                <a:latin typeface="Public Sans" pitchFamily="34" charset="0"/>
                <a:ea typeface="Public Sans" pitchFamily="34" charset="-122"/>
                <a:cs typeface="Public Sans" pitchFamily="34" charset="-120"/>
              </a:rPr>
              <a:t>Checks CRM partner flag · auto-includes partner</a:t>
            </a:r>
            <a:endParaRPr lang="en-US" sz="1125" dirty="0"/>
          </a:p>
        </p:txBody>
      </p:sp>
      <p:sp>
        <p:nvSpPr>
          <p:cNvPr id="48" name="Shape 45"/>
          <p:cNvSpPr/>
          <p:nvPr/>
        </p:nvSpPr>
        <p:spPr>
          <a:xfrm>
            <a:off x="4475699" y="7889816"/>
            <a:ext cx="1201831" cy="183496"/>
          </a:xfrm>
          <a:prstGeom prst="roundRect">
            <a:avLst>
              <a:gd name="adj" fmla="val 31145"/>
            </a:avLst>
          </a:prstGeom>
          <a:solidFill>
            <a:srgbClr val="5059C9"/>
          </a:solidFill>
          <a:ln/>
        </p:spPr>
      </p:sp>
      <p:sp>
        <p:nvSpPr>
          <p:cNvPr id="49" name="Text 46"/>
          <p:cNvSpPr/>
          <p:nvPr/>
        </p:nvSpPr>
        <p:spPr>
          <a:xfrm>
            <a:off x="4504274" y="7908866"/>
            <a:ext cx="1144681" cy="183496"/>
          </a:xfrm>
          <a:prstGeom prst="rect">
            <a:avLst/>
          </a:prstGeom>
          <a:noFill/>
          <a:ln/>
        </p:spPr>
        <p:txBody>
          <a:bodyPr wrap="square" lIns="25400" tIns="25400" rIns="25400" bIns="25400" rtlCol="0" anchor="t">
            <a:normAutofit/>
          </a:bodyPr>
          <a:lstStyle/>
          <a:p>
            <a:pPr algn="ctr" indent="0" marL="0">
              <a:buNone/>
            </a:pPr>
            <a:r>
              <a:rPr lang="en-US" sz="825" b="1" dirty="0">
                <a:solidFill>
                  <a:srgbClr val="FFFFFF"/>
                </a:solidFill>
                <a:latin typeface="IBM Plex Mono" pitchFamily="34" charset="0"/>
                <a:ea typeface="IBM Plex Mono" pitchFamily="34" charset="-122"/>
                <a:cs typeface="IBM Plex Mono" pitchFamily="34" charset="-120"/>
              </a:rPr>
              <a:t>Dataverse · Graph</a:t>
            </a:r>
            <a:endParaRPr lang="en-US" sz="825" dirty="0"/>
          </a:p>
        </p:txBody>
      </p:sp>
      <p:sp>
        <p:nvSpPr>
          <p:cNvPr id="50" name="Shape 47"/>
          <p:cNvSpPr/>
          <p:nvPr/>
        </p:nvSpPr>
        <p:spPr>
          <a:xfrm>
            <a:off x="5962580" y="7172290"/>
            <a:ext cx="1542910" cy="1066660"/>
          </a:xfrm>
          <a:prstGeom prst="roundRect">
            <a:avLst>
              <a:gd name="adj" fmla="val 8930"/>
            </a:avLst>
          </a:prstGeom>
          <a:solidFill>
            <a:srgbClr val="EEF0F7"/>
          </a:solidFill>
          <a:ln w="11206">
            <a:solidFill>
              <a:srgbClr val="C4C8EE"/>
            </a:solidFill>
            <a:prstDash val="solid"/>
          </a:ln>
        </p:spPr>
      </p:sp>
      <p:sp>
        <p:nvSpPr>
          <p:cNvPr id="51" name="Shape 48"/>
          <p:cNvSpPr/>
          <p:nvPr/>
        </p:nvSpPr>
        <p:spPr>
          <a:xfrm>
            <a:off x="5859625" y="7069335"/>
            <a:ext cx="266665" cy="266665"/>
          </a:xfrm>
          <a:prstGeom prst="ellipse">
            <a:avLst/>
          </a:prstGeom>
          <a:solidFill>
            <a:srgbClr val="0D2E22"/>
          </a:solidFill>
          <a:ln/>
        </p:spPr>
      </p:sp>
      <p:sp>
        <p:nvSpPr>
          <p:cNvPr id="52" name="Text 49"/>
          <p:cNvSpPr/>
          <p:nvPr/>
        </p:nvSpPr>
        <p:spPr>
          <a:xfrm>
            <a:off x="5821525" y="7069335"/>
            <a:ext cx="342865" cy="304765"/>
          </a:xfrm>
          <a:prstGeom prst="rect">
            <a:avLst/>
          </a:prstGeom>
          <a:noFill/>
          <a:ln/>
        </p:spPr>
        <p:txBody>
          <a:bodyPr wrap="square" lIns="25400" tIns="25400" rIns="25400" bIns="25400" rtlCol="0" anchor="ctr">
            <a:normAutofit/>
          </a:bodyPr>
          <a:lstStyle/>
          <a:p>
            <a:pPr algn="ctr" indent="0" marL="0">
              <a:buNone/>
            </a:pPr>
            <a:r>
              <a:rPr lang="en-US" sz="1125" b="1" dirty="0">
                <a:solidFill>
                  <a:srgbClr val="FFFFFF"/>
                </a:solidFill>
                <a:latin typeface="IBM Plex Mono" pitchFamily="34" charset="0"/>
                <a:ea typeface="IBM Plex Mono" pitchFamily="34" charset="-122"/>
                <a:cs typeface="IBM Plex Mono" pitchFamily="34" charset="-120"/>
              </a:rPr>
              <a:t>3</a:t>
            </a:r>
            <a:endParaRPr lang="en-US" sz="1125" dirty="0"/>
          </a:p>
        </p:txBody>
      </p:sp>
      <p:sp>
        <p:nvSpPr>
          <p:cNvPr id="53" name="Text 50"/>
          <p:cNvSpPr/>
          <p:nvPr/>
        </p:nvSpPr>
        <p:spPr>
          <a:xfrm>
            <a:off x="6011850" y="7421971"/>
            <a:ext cx="1444368" cy="374276"/>
          </a:xfrm>
          <a:prstGeom prst="rect">
            <a:avLst/>
          </a:prstGeom>
          <a:noFill/>
          <a:ln/>
        </p:spPr>
        <p:txBody>
          <a:bodyPr wrap="square" lIns="25400" tIns="25400" rIns="25400" bIns="25400" rtlCol="0" anchor="t">
            <a:normAutofit/>
          </a:bodyPr>
          <a:lstStyle/>
          <a:p>
            <a:pPr algn="ctr" indent="0" marL="0">
              <a:lnSpc>
                <a:spcPct val="103700"/>
              </a:lnSpc>
              <a:buNone/>
            </a:pPr>
            <a:r>
              <a:rPr lang="en-US" sz="1125" b="1" dirty="0">
                <a:solidFill>
                  <a:srgbClr val="0D2E22"/>
                </a:solidFill>
                <a:latin typeface="Public Sans" pitchFamily="34" charset="0"/>
                <a:ea typeface="Public Sans" pitchFamily="34" charset="-122"/>
                <a:cs typeface="Public Sans" pitchFamily="34" charset="-120"/>
              </a:rPr>
              <a:t>Availability + rooms resolved</a:t>
            </a:r>
            <a:endParaRPr lang="en-US" sz="1125" dirty="0"/>
          </a:p>
        </p:txBody>
      </p:sp>
      <p:sp>
        <p:nvSpPr>
          <p:cNvPr id="54" name="Shape 51"/>
          <p:cNvSpPr/>
          <p:nvPr/>
        </p:nvSpPr>
        <p:spPr>
          <a:xfrm>
            <a:off x="6510267" y="7805772"/>
            <a:ext cx="447535" cy="183496"/>
          </a:xfrm>
          <a:prstGeom prst="roundRect">
            <a:avLst>
              <a:gd name="adj" fmla="val 31145"/>
            </a:avLst>
          </a:prstGeom>
          <a:solidFill>
            <a:srgbClr val="1C5C43"/>
          </a:solidFill>
          <a:ln/>
        </p:spPr>
      </p:sp>
      <p:sp>
        <p:nvSpPr>
          <p:cNvPr id="55" name="Text 52"/>
          <p:cNvSpPr/>
          <p:nvPr/>
        </p:nvSpPr>
        <p:spPr>
          <a:xfrm>
            <a:off x="6538842" y="7824822"/>
            <a:ext cx="390385" cy="183496"/>
          </a:xfrm>
          <a:prstGeom prst="rect">
            <a:avLst/>
          </a:prstGeom>
          <a:noFill/>
          <a:ln/>
        </p:spPr>
        <p:txBody>
          <a:bodyPr wrap="square" lIns="25400" tIns="25400" rIns="25400" bIns="25400" rtlCol="0" anchor="t">
            <a:normAutofit/>
          </a:bodyPr>
          <a:lstStyle/>
          <a:p>
            <a:pPr algn="ctr" indent="0" marL="0">
              <a:buNone/>
            </a:pPr>
            <a:r>
              <a:rPr lang="en-US" sz="825" b="1" dirty="0">
                <a:solidFill>
                  <a:srgbClr val="FFFFFF"/>
                </a:solidFill>
                <a:latin typeface="IBM Plex Mono" pitchFamily="34" charset="0"/>
                <a:ea typeface="IBM Plex Mono" pitchFamily="34" charset="-122"/>
                <a:cs typeface="IBM Plex Mono" pitchFamily="34" charset="-120"/>
              </a:rPr>
              <a:t>Graph</a:t>
            </a:r>
            <a:endParaRPr lang="en-US" sz="825" dirty="0"/>
          </a:p>
        </p:txBody>
      </p:sp>
      <p:sp>
        <p:nvSpPr>
          <p:cNvPr id="56" name="Shape 53"/>
          <p:cNvSpPr/>
          <p:nvPr/>
        </p:nvSpPr>
        <p:spPr>
          <a:xfrm>
            <a:off x="7619999" y="7172290"/>
            <a:ext cx="1542910" cy="1066660"/>
          </a:xfrm>
          <a:prstGeom prst="roundRect">
            <a:avLst>
              <a:gd name="adj" fmla="val 8930"/>
            </a:avLst>
          </a:prstGeom>
          <a:solidFill>
            <a:srgbClr val="FBF8F1"/>
          </a:solidFill>
          <a:ln w="16809">
            <a:solidFill>
              <a:srgbClr val="ECCFA3"/>
            </a:solidFill>
            <a:prstDash val="solid"/>
          </a:ln>
        </p:spPr>
      </p:sp>
      <p:sp>
        <p:nvSpPr>
          <p:cNvPr id="57" name="Shape 54"/>
          <p:cNvSpPr/>
          <p:nvPr/>
        </p:nvSpPr>
        <p:spPr>
          <a:xfrm>
            <a:off x="7522648" y="7074939"/>
            <a:ext cx="266665" cy="266665"/>
          </a:xfrm>
          <a:prstGeom prst="ellipse">
            <a:avLst/>
          </a:prstGeom>
          <a:solidFill>
            <a:srgbClr val="B4690E"/>
          </a:solidFill>
          <a:ln/>
        </p:spPr>
      </p:sp>
      <p:sp>
        <p:nvSpPr>
          <p:cNvPr id="58" name="Text 55"/>
          <p:cNvSpPr/>
          <p:nvPr/>
        </p:nvSpPr>
        <p:spPr>
          <a:xfrm>
            <a:off x="7484548" y="7074939"/>
            <a:ext cx="342865" cy="304765"/>
          </a:xfrm>
          <a:prstGeom prst="rect">
            <a:avLst/>
          </a:prstGeom>
          <a:noFill/>
          <a:ln/>
        </p:spPr>
        <p:txBody>
          <a:bodyPr wrap="square" lIns="25400" tIns="25400" rIns="25400" bIns="25400" rtlCol="0" anchor="ctr">
            <a:normAutofit/>
          </a:bodyPr>
          <a:lstStyle/>
          <a:p>
            <a:pPr algn="ctr" indent="0" marL="0">
              <a:buNone/>
            </a:pPr>
            <a:r>
              <a:rPr lang="en-US" sz="1125" b="1" dirty="0">
                <a:solidFill>
                  <a:srgbClr val="FFFFFF"/>
                </a:solidFill>
                <a:latin typeface="IBM Plex Mono" pitchFamily="34" charset="0"/>
                <a:ea typeface="IBM Plex Mono" pitchFamily="34" charset="-122"/>
                <a:cs typeface="IBM Plex Mono" pitchFamily="34" charset="-120"/>
              </a:rPr>
              <a:t>4</a:t>
            </a:r>
            <a:endParaRPr lang="en-US" sz="1125" dirty="0"/>
          </a:p>
        </p:txBody>
      </p:sp>
      <p:sp>
        <p:nvSpPr>
          <p:cNvPr id="59" name="Text 56"/>
          <p:cNvSpPr/>
          <p:nvPr/>
        </p:nvSpPr>
        <p:spPr>
          <a:xfrm>
            <a:off x="7674873" y="7421971"/>
            <a:ext cx="1433162" cy="374276"/>
          </a:xfrm>
          <a:prstGeom prst="rect">
            <a:avLst/>
          </a:prstGeom>
          <a:noFill/>
          <a:ln/>
        </p:spPr>
        <p:txBody>
          <a:bodyPr wrap="square" lIns="25400" tIns="25400" rIns="25400" bIns="25400" rtlCol="0" anchor="t">
            <a:normAutofit/>
          </a:bodyPr>
          <a:lstStyle/>
          <a:p>
            <a:pPr algn="ctr" indent="0" marL="0">
              <a:lnSpc>
                <a:spcPct val="103700"/>
              </a:lnSpc>
              <a:buNone/>
            </a:pPr>
            <a:r>
              <a:rPr lang="en-US" sz="1125" b="1" dirty="0">
                <a:solidFill>
                  <a:srgbClr val="0D2E22"/>
                </a:solidFill>
                <a:latin typeface="Public Sans" pitchFamily="34" charset="0"/>
                <a:ea typeface="Public Sans" pitchFamily="34" charset="-122"/>
                <a:cs typeface="Public Sans" pitchFamily="34" charset="-120"/>
              </a:rPr>
              <a:t>Reads request · drafts invite</a:t>
            </a:r>
            <a:endParaRPr lang="en-US" sz="1125" dirty="0"/>
          </a:p>
        </p:txBody>
      </p:sp>
      <p:sp>
        <p:nvSpPr>
          <p:cNvPr id="60" name="Shape 57"/>
          <p:cNvSpPr/>
          <p:nvPr/>
        </p:nvSpPr>
        <p:spPr>
          <a:xfrm>
            <a:off x="7884738" y="7805772"/>
            <a:ext cx="1013257" cy="183496"/>
          </a:xfrm>
          <a:prstGeom prst="roundRect">
            <a:avLst>
              <a:gd name="adj" fmla="val 31145"/>
            </a:avLst>
          </a:prstGeom>
          <a:solidFill>
            <a:srgbClr val="B4690E"/>
          </a:solidFill>
          <a:ln/>
        </p:spPr>
      </p:sp>
      <p:sp>
        <p:nvSpPr>
          <p:cNvPr id="61" name="Text 58"/>
          <p:cNvSpPr/>
          <p:nvPr/>
        </p:nvSpPr>
        <p:spPr>
          <a:xfrm>
            <a:off x="7913313" y="7824822"/>
            <a:ext cx="956107" cy="183496"/>
          </a:xfrm>
          <a:prstGeom prst="rect">
            <a:avLst/>
          </a:prstGeom>
          <a:noFill/>
          <a:ln/>
        </p:spPr>
        <p:txBody>
          <a:bodyPr wrap="square" lIns="25400" tIns="25400" rIns="25400" bIns="25400" rtlCol="0" anchor="t">
            <a:normAutofit/>
          </a:bodyPr>
          <a:lstStyle/>
          <a:p>
            <a:pPr algn="ctr" indent="0" marL="0">
              <a:buNone/>
            </a:pPr>
            <a:r>
              <a:rPr lang="en-US" sz="825" b="1" dirty="0">
                <a:solidFill>
                  <a:srgbClr val="FFFFFF"/>
                </a:solidFill>
                <a:latin typeface="IBM Plex Mono" pitchFamily="34" charset="0"/>
                <a:ea typeface="IBM Plex Mono" pitchFamily="34" charset="-122"/>
                <a:cs typeface="IBM Plex Mono" pitchFamily="34" charset="-120"/>
              </a:rPr>
              <a:t>Copilot Studio</a:t>
            </a:r>
            <a:endParaRPr lang="en-US" sz="825" dirty="0"/>
          </a:p>
        </p:txBody>
      </p:sp>
      <p:sp>
        <p:nvSpPr>
          <p:cNvPr id="62" name="Shape 59"/>
          <p:cNvSpPr/>
          <p:nvPr/>
        </p:nvSpPr>
        <p:spPr>
          <a:xfrm>
            <a:off x="9277244" y="4086120"/>
            <a:ext cx="1542910" cy="1066660"/>
          </a:xfrm>
          <a:prstGeom prst="roundRect">
            <a:avLst>
              <a:gd name="adj" fmla="val 8930"/>
            </a:avLst>
          </a:prstGeom>
          <a:solidFill>
            <a:srgbClr val="EDF1E0"/>
          </a:solidFill>
          <a:ln w="11206">
            <a:solidFill>
              <a:srgbClr val="DBE6CD"/>
            </a:solidFill>
            <a:prstDash val="solid"/>
          </a:ln>
        </p:spPr>
      </p:sp>
      <p:sp>
        <p:nvSpPr>
          <p:cNvPr id="63" name="Shape 60"/>
          <p:cNvSpPr/>
          <p:nvPr/>
        </p:nvSpPr>
        <p:spPr>
          <a:xfrm>
            <a:off x="9174291" y="3983166"/>
            <a:ext cx="266665" cy="266665"/>
          </a:xfrm>
          <a:prstGeom prst="ellipse">
            <a:avLst/>
          </a:prstGeom>
          <a:solidFill>
            <a:srgbClr val="0D2E22"/>
          </a:solidFill>
          <a:ln/>
        </p:spPr>
      </p:sp>
      <p:sp>
        <p:nvSpPr>
          <p:cNvPr id="64" name="Text 61"/>
          <p:cNvSpPr/>
          <p:nvPr/>
        </p:nvSpPr>
        <p:spPr>
          <a:xfrm>
            <a:off x="9136191" y="3983166"/>
            <a:ext cx="342865" cy="304765"/>
          </a:xfrm>
          <a:prstGeom prst="rect">
            <a:avLst/>
          </a:prstGeom>
          <a:noFill/>
          <a:ln/>
        </p:spPr>
        <p:txBody>
          <a:bodyPr wrap="square" lIns="25400" tIns="25400" rIns="25400" bIns="25400" rtlCol="0" anchor="ctr">
            <a:normAutofit/>
          </a:bodyPr>
          <a:lstStyle/>
          <a:p>
            <a:pPr algn="ctr" indent="0" marL="0">
              <a:buNone/>
            </a:pPr>
            <a:r>
              <a:rPr lang="en-US" sz="1125" b="1" dirty="0">
                <a:solidFill>
                  <a:srgbClr val="FFFFFF"/>
                </a:solidFill>
                <a:latin typeface="IBM Plex Mono" pitchFamily="34" charset="0"/>
                <a:ea typeface="IBM Plex Mono" pitchFamily="34" charset="-122"/>
                <a:cs typeface="IBM Plex Mono" pitchFamily="34" charset="-120"/>
              </a:rPr>
              <a:t>5</a:t>
            </a:r>
            <a:endParaRPr lang="en-US" sz="1125" dirty="0"/>
          </a:p>
        </p:txBody>
      </p:sp>
      <p:sp>
        <p:nvSpPr>
          <p:cNvPr id="65" name="Text 62"/>
          <p:cNvSpPr/>
          <p:nvPr/>
        </p:nvSpPr>
        <p:spPr>
          <a:xfrm>
            <a:off x="9326515" y="4335801"/>
            <a:ext cx="1444368" cy="374276"/>
          </a:xfrm>
          <a:prstGeom prst="rect">
            <a:avLst/>
          </a:prstGeom>
          <a:noFill/>
          <a:ln/>
        </p:spPr>
        <p:txBody>
          <a:bodyPr wrap="square" lIns="25400" tIns="25400" rIns="25400" bIns="25400" rtlCol="0" anchor="t">
            <a:normAutofit/>
          </a:bodyPr>
          <a:lstStyle/>
          <a:p>
            <a:pPr algn="ctr" indent="0" marL="0">
              <a:lnSpc>
                <a:spcPct val="103700"/>
              </a:lnSpc>
              <a:buNone/>
            </a:pPr>
            <a:r>
              <a:rPr lang="en-US" sz="1125" b="1" dirty="0">
                <a:solidFill>
                  <a:srgbClr val="0D2E22"/>
                </a:solidFill>
                <a:latin typeface="Public Sans" pitchFamily="34" charset="0"/>
                <a:ea typeface="Public Sans" pitchFamily="34" charset="-122"/>
                <a:cs typeface="Public Sans" pitchFamily="34" charset="-120"/>
              </a:rPr>
              <a:t>RM reviews · sends link</a:t>
            </a:r>
            <a:endParaRPr lang="en-US" sz="1125" dirty="0"/>
          </a:p>
        </p:txBody>
      </p:sp>
      <p:sp>
        <p:nvSpPr>
          <p:cNvPr id="66" name="Shape 63"/>
          <p:cNvSpPr/>
          <p:nvPr/>
        </p:nvSpPr>
        <p:spPr>
          <a:xfrm>
            <a:off x="9730557" y="4719602"/>
            <a:ext cx="636109" cy="183496"/>
          </a:xfrm>
          <a:prstGeom prst="roundRect">
            <a:avLst>
              <a:gd name="adj" fmla="val 31145"/>
            </a:avLst>
          </a:prstGeom>
          <a:solidFill>
            <a:srgbClr val="742774"/>
          </a:solidFill>
          <a:ln/>
        </p:spPr>
      </p:sp>
      <p:sp>
        <p:nvSpPr>
          <p:cNvPr id="67" name="Text 64"/>
          <p:cNvSpPr/>
          <p:nvPr/>
        </p:nvSpPr>
        <p:spPr>
          <a:xfrm>
            <a:off x="9759132" y="4738652"/>
            <a:ext cx="578959" cy="183496"/>
          </a:xfrm>
          <a:prstGeom prst="rect">
            <a:avLst/>
          </a:prstGeom>
          <a:noFill/>
          <a:ln/>
        </p:spPr>
        <p:txBody>
          <a:bodyPr wrap="square" lIns="25400" tIns="25400" rIns="25400" bIns="25400" rtlCol="0" anchor="t">
            <a:normAutofit/>
          </a:bodyPr>
          <a:lstStyle/>
          <a:p>
            <a:pPr algn="ctr" indent="0" marL="0">
              <a:buNone/>
            </a:pPr>
            <a:r>
              <a:rPr lang="en-US" sz="825" b="1" dirty="0">
                <a:solidFill>
                  <a:srgbClr val="FFFFFF"/>
                </a:solidFill>
                <a:latin typeface="IBM Plex Mono" pitchFamily="34" charset="0"/>
                <a:ea typeface="IBM Plex Mono" pitchFamily="34" charset="-122"/>
                <a:cs typeface="IBM Plex Mono" pitchFamily="34" charset="-120"/>
              </a:rPr>
              <a:t>Code app</a:t>
            </a:r>
            <a:endParaRPr lang="en-US" sz="825" dirty="0"/>
          </a:p>
        </p:txBody>
      </p:sp>
      <p:sp>
        <p:nvSpPr>
          <p:cNvPr id="68" name="Shape 65"/>
          <p:cNvSpPr/>
          <p:nvPr/>
        </p:nvSpPr>
        <p:spPr>
          <a:xfrm>
            <a:off x="10934664" y="2543035"/>
            <a:ext cx="1542910" cy="1066660"/>
          </a:xfrm>
          <a:prstGeom prst="roundRect">
            <a:avLst>
              <a:gd name="adj" fmla="val 8930"/>
            </a:avLst>
          </a:prstGeom>
          <a:solidFill>
            <a:srgbClr val="EDF1E0"/>
          </a:solidFill>
          <a:ln w="11206">
            <a:solidFill>
              <a:srgbClr val="DBE6CD"/>
            </a:solidFill>
            <a:prstDash val="solid"/>
          </a:ln>
        </p:spPr>
      </p:sp>
      <p:sp>
        <p:nvSpPr>
          <p:cNvPr id="69" name="Shape 66"/>
          <p:cNvSpPr/>
          <p:nvPr/>
        </p:nvSpPr>
        <p:spPr>
          <a:xfrm>
            <a:off x="10831710" y="2440081"/>
            <a:ext cx="266665" cy="266665"/>
          </a:xfrm>
          <a:prstGeom prst="ellipse">
            <a:avLst/>
          </a:prstGeom>
          <a:solidFill>
            <a:srgbClr val="0D2E22"/>
          </a:solidFill>
          <a:ln/>
        </p:spPr>
      </p:sp>
      <p:sp>
        <p:nvSpPr>
          <p:cNvPr id="70" name="Text 67"/>
          <p:cNvSpPr/>
          <p:nvPr/>
        </p:nvSpPr>
        <p:spPr>
          <a:xfrm>
            <a:off x="10793610" y="2440081"/>
            <a:ext cx="342865" cy="304765"/>
          </a:xfrm>
          <a:prstGeom prst="rect">
            <a:avLst/>
          </a:prstGeom>
          <a:noFill/>
          <a:ln/>
        </p:spPr>
        <p:txBody>
          <a:bodyPr wrap="square" lIns="25400" tIns="25400" rIns="25400" bIns="25400" rtlCol="0" anchor="ctr">
            <a:normAutofit/>
          </a:bodyPr>
          <a:lstStyle/>
          <a:p>
            <a:pPr algn="ctr" indent="0" marL="0">
              <a:buNone/>
            </a:pPr>
            <a:r>
              <a:rPr lang="en-US" sz="1125" b="1" dirty="0">
                <a:solidFill>
                  <a:srgbClr val="FFFFFF"/>
                </a:solidFill>
                <a:latin typeface="IBM Plex Mono" pitchFamily="34" charset="0"/>
                <a:ea typeface="IBM Plex Mono" pitchFamily="34" charset="-122"/>
                <a:cs typeface="IBM Plex Mono" pitchFamily="34" charset="-120"/>
              </a:rPr>
              <a:t>6</a:t>
            </a:r>
            <a:endParaRPr lang="en-US" sz="1125" dirty="0"/>
          </a:p>
        </p:txBody>
      </p:sp>
      <p:sp>
        <p:nvSpPr>
          <p:cNvPr id="71" name="Text 68"/>
          <p:cNvSpPr/>
          <p:nvPr/>
        </p:nvSpPr>
        <p:spPr>
          <a:xfrm>
            <a:off x="10983935" y="2792716"/>
            <a:ext cx="1444368" cy="374276"/>
          </a:xfrm>
          <a:prstGeom prst="rect">
            <a:avLst/>
          </a:prstGeom>
          <a:noFill/>
          <a:ln/>
        </p:spPr>
        <p:txBody>
          <a:bodyPr wrap="square" lIns="25400" tIns="25400" rIns="25400" bIns="25400" rtlCol="0" anchor="t">
            <a:normAutofit/>
          </a:bodyPr>
          <a:lstStyle/>
          <a:p>
            <a:pPr algn="ctr" indent="0" marL="0">
              <a:lnSpc>
                <a:spcPct val="103700"/>
              </a:lnSpc>
              <a:buNone/>
            </a:pPr>
            <a:r>
              <a:rPr lang="en-US" sz="1125" b="1" dirty="0">
                <a:solidFill>
                  <a:srgbClr val="0D2E22"/>
                </a:solidFill>
                <a:latin typeface="Public Sans" pitchFamily="34" charset="0"/>
                <a:ea typeface="Public Sans" pitchFamily="34" charset="-122"/>
                <a:cs typeface="Public Sans" pitchFamily="34" charset="-120"/>
              </a:rPr>
              <a:t>Picks a slot — one tap</a:t>
            </a:r>
            <a:endParaRPr lang="en-US" sz="1125" dirty="0"/>
          </a:p>
        </p:txBody>
      </p:sp>
      <p:sp>
        <p:nvSpPr>
          <p:cNvPr id="72" name="Shape 69"/>
          <p:cNvSpPr/>
          <p:nvPr/>
        </p:nvSpPr>
        <p:spPr>
          <a:xfrm>
            <a:off x="11262261" y="3176517"/>
            <a:ext cx="887541" cy="183496"/>
          </a:xfrm>
          <a:prstGeom prst="roundRect">
            <a:avLst>
              <a:gd name="adj" fmla="val 31145"/>
            </a:avLst>
          </a:prstGeom>
          <a:solidFill>
            <a:srgbClr val="0B7A75"/>
          </a:solidFill>
          <a:ln/>
        </p:spPr>
      </p:sp>
      <p:sp>
        <p:nvSpPr>
          <p:cNvPr id="73" name="Text 70"/>
          <p:cNvSpPr/>
          <p:nvPr/>
        </p:nvSpPr>
        <p:spPr>
          <a:xfrm>
            <a:off x="11290836" y="3195567"/>
            <a:ext cx="830391" cy="183496"/>
          </a:xfrm>
          <a:prstGeom prst="rect">
            <a:avLst/>
          </a:prstGeom>
          <a:noFill/>
          <a:ln/>
        </p:spPr>
        <p:txBody>
          <a:bodyPr wrap="square" lIns="25400" tIns="25400" rIns="25400" bIns="25400" rtlCol="0" anchor="t">
            <a:normAutofit/>
          </a:bodyPr>
          <a:lstStyle/>
          <a:p>
            <a:pPr algn="ctr" indent="0" marL="0">
              <a:buNone/>
            </a:pPr>
            <a:r>
              <a:rPr lang="en-US" sz="825" b="1" dirty="0">
                <a:solidFill>
                  <a:srgbClr val="FFFFFF"/>
                </a:solidFill>
                <a:latin typeface="IBM Plex Mono" pitchFamily="34" charset="0"/>
                <a:ea typeface="IBM Plex Mono" pitchFamily="34" charset="-122"/>
                <a:cs typeface="IBM Plex Mono" pitchFamily="34" charset="-120"/>
              </a:rPr>
              <a:t>Booking page</a:t>
            </a:r>
            <a:endParaRPr lang="en-US" sz="825" dirty="0"/>
          </a:p>
        </p:txBody>
      </p:sp>
      <p:sp>
        <p:nvSpPr>
          <p:cNvPr id="74" name="Shape 71"/>
          <p:cNvSpPr/>
          <p:nvPr/>
        </p:nvSpPr>
        <p:spPr>
          <a:xfrm>
            <a:off x="12591909" y="5629205"/>
            <a:ext cx="1542910" cy="1066660"/>
          </a:xfrm>
          <a:prstGeom prst="roundRect">
            <a:avLst>
              <a:gd name="adj" fmla="val 8930"/>
            </a:avLst>
          </a:prstGeom>
          <a:solidFill>
            <a:srgbClr val="E7F0E9"/>
          </a:solidFill>
          <a:ln w="11206">
            <a:solidFill>
              <a:srgbClr val="BCD8C9"/>
            </a:solidFill>
            <a:prstDash val="solid"/>
          </a:ln>
        </p:spPr>
      </p:sp>
      <p:sp>
        <p:nvSpPr>
          <p:cNvPr id="75" name="Shape 72"/>
          <p:cNvSpPr/>
          <p:nvPr/>
        </p:nvSpPr>
        <p:spPr>
          <a:xfrm>
            <a:off x="12488955" y="5526250"/>
            <a:ext cx="266665" cy="266665"/>
          </a:xfrm>
          <a:prstGeom prst="ellipse">
            <a:avLst/>
          </a:prstGeom>
          <a:solidFill>
            <a:srgbClr val="0D2E22"/>
          </a:solidFill>
          <a:ln/>
        </p:spPr>
      </p:sp>
      <p:sp>
        <p:nvSpPr>
          <p:cNvPr id="76" name="Text 73"/>
          <p:cNvSpPr/>
          <p:nvPr/>
        </p:nvSpPr>
        <p:spPr>
          <a:xfrm>
            <a:off x="12450855" y="5526250"/>
            <a:ext cx="342865" cy="304765"/>
          </a:xfrm>
          <a:prstGeom prst="rect">
            <a:avLst/>
          </a:prstGeom>
          <a:noFill/>
          <a:ln/>
        </p:spPr>
        <p:txBody>
          <a:bodyPr wrap="square" lIns="25400" tIns="25400" rIns="25400" bIns="25400" rtlCol="0" anchor="ctr">
            <a:normAutofit/>
          </a:bodyPr>
          <a:lstStyle/>
          <a:p>
            <a:pPr algn="ctr" indent="0" marL="0">
              <a:buNone/>
            </a:pPr>
            <a:r>
              <a:rPr lang="en-US" sz="1125" b="1" dirty="0">
                <a:solidFill>
                  <a:srgbClr val="FFFFFF"/>
                </a:solidFill>
                <a:latin typeface="IBM Plex Mono" pitchFamily="34" charset="0"/>
                <a:ea typeface="IBM Plex Mono" pitchFamily="34" charset="-122"/>
                <a:cs typeface="IBM Plex Mono" pitchFamily="34" charset="-120"/>
              </a:rPr>
              <a:t>7</a:t>
            </a:r>
            <a:endParaRPr lang="en-US" sz="1125" dirty="0"/>
          </a:p>
        </p:txBody>
      </p:sp>
      <p:sp>
        <p:nvSpPr>
          <p:cNvPr id="77" name="Text 74"/>
          <p:cNvSpPr/>
          <p:nvPr/>
        </p:nvSpPr>
        <p:spPr>
          <a:xfrm>
            <a:off x="12641180" y="5878886"/>
            <a:ext cx="1444368" cy="374276"/>
          </a:xfrm>
          <a:prstGeom prst="rect">
            <a:avLst/>
          </a:prstGeom>
          <a:noFill/>
          <a:ln/>
        </p:spPr>
        <p:txBody>
          <a:bodyPr wrap="square" lIns="25400" tIns="25400" rIns="25400" bIns="25400" rtlCol="0" anchor="t">
            <a:normAutofit/>
          </a:bodyPr>
          <a:lstStyle/>
          <a:p>
            <a:pPr algn="ctr" indent="0" marL="0">
              <a:lnSpc>
                <a:spcPct val="103700"/>
              </a:lnSpc>
              <a:buNone/>
            </a:pPr>
            <a:r>
              <a:rPr lang="en-US" sz="1125" b="1" dirty="0">
                <a:solidFill>
                  <a:srgbClr val="0D2E22"/>
                </a:solidFill>
                <a:latin typeface="Public Sans" pitchFamily="34" charset="0"/>
                <a:ea typeface="Public Sans" pitchFamily="34" charset="-122"/>
                <a:cs typeface="Public Sans" pitchFamily="34" charset="-120"/>
              </a:rPr>
              <a:t>Validated trigger fires</a:t>
            </a:r>
            <a:endParaRPr lang="en-US" sz="1125" dirty="0"/>
          </a:p>
        </p:txBody>
      </p:sp>
      <p:sp>
        <p:nvSpPr>
          <p:cNvPr id="78" name="Shape 75"/>
          <p:cNvSpPr/>
          <p:nvPr/>
        </p:nvSpPr>
        <p:spPr>
          <a:xfrm>
            <a:off x="12856648" y="6262687"/>
            <a:ext cx="1013257" cy="183496"/>
          </a:xfrm>
          <a:prstGeom prst="roundRect">
            <a:avLst>
              <a:gd name="adj" fmla="val 31145"/>
            </a:avLst>
          </a:prstGeom>
          <a:solidFill>
            <a:srgbClr val="14513A"/>
          </a:solidFill>
          <a:ln/>
        </p:spPr>
      </p:sp>
      <p:sp>
        <p:nvSpPr>
          <p:cNvPr id="79" name="Text 76"/>
          <p:cNvSpPr/>
          <p:nvPr/>
        </p:nvSpPr>
        <p:spPr>
          <a:xfrm>
            <a:off x="12885223" y="6281737"/>
            <a:ext cx="956107" cy="183496"/>
          </a:xfrm>
          <a:prstGeom prst="rect">
            <a:avLst/>
          </a:prstGeom>
          <a:noFill/>
          <a:ln/>
        </p:spPr>
        <p:txBody>
          <a:bodyPr wrap="square" lIns="25400" tIns="25400" rIns="25400" bIns="25400" rtlCol="0" anchor="t">
            <a:normAutofit/>
          </a:bodyPr>
          <a:lstStyle/>
          <a:p>
            <a:pPr algn="ctr" indent="0" marL="0">
              <a:buNone/>
            </a:pPr>
            <a:r>
              <a:rPr lang="en-US" sz="825" b="1" dirty="0">
                <a:solidFill>
                  <a:srgbClr val="FFFFFF"/>
                </a:solidFill>
                <a:latin typeface="IBM Plex Mono" pitchFamily="34" charset="0"/>
                <a:ea typeface="IBM Plex Mono" pitchFamily="34" charset="-122"/>
                <a:cs typeface="IBM Plex Mono" pitchFamily="34" charset="-120"/>
              </a:rPr>
              <a:t>Power Automate</a:t>
            </a:r>
            <a:endParaRPr lang="en-US" sz="825" dirty="0"/>
          </a:p>
        </p:txBody>
      </p:sp>
      <p:sp>
        <p:nvSpPr>
          <p:cNvPr id="80" name="Shape 77"/>
          <p:cNvSpPr/>
          <p:nvPr/>
        </p:nvSpPr>
        <p:spPr>
          <a:xfrm>
            <a:off x="14249329" y="7172290"/>
            <a:ext cx="1542910" cy="1066660"/>
          </a:xfrm>
          <a:prstGeom prst="roundRect">
            <a:avLst>
              <a:gd name="adj" fmla="val 8930"/>
            </a:avLst>
          </a:prstGeom>
          <a:solidFill>
            <a:srgbClr val="EEF0F7"/>
          </a:solidFill>
          <a:ln w="11206">
            <a:solidFill>
              <a:srgbClr val="C4C8EE"/>
            </a:solidFill>
            <a:prstDash val="solid"/>
          </a:ln>
        </p:spPr>
      </p:sp>
      <p:sp>
        <p:nvSpPr>
          <p:cNvPr id="81" name="Shape 78"/>
          <p:cNvSpPr/>
          <p:nvPr/>
        </p:nvSpPr>
        <p:spPr>
          <a:xfrm>
            <a:off x="14146375" y="7069335"/>
            <a:ext cx="266665" cy="266665"/>
          </a:xfrm>
          <a:prstGeom prst="ellipse">
            <a:avLst/>
          </a:prstGeom>
          <a:solidFill>
            <a:srgbClr val="0D2E22"/>
          </a:solidFill>
          <a:ln/>
        </p:spPr>
      </p:sp>
      <p:sp>
        <p:nvSpPr>
          <p:cNvPr id="82" name="Text 79"/>
          <p:cNvSpPr/>
          <p:nvPr/>
        </p:nvSpPr>
        <p:spPr>
          <a:xfrm>
            <a:off x="14108275" y="7069335"/>
            <a:ext cx="342865" cy="304765"/>
          </a:xfrm>
          <a:prstGeom prst="rect">
            <a:avLst/>
          </a:prstGeom>
          <a:noFill/>
          <a:ln/>
        </p:spPr>
        <p:txBody>
          <a:bodyPr wrap="square" lIns="25400" tIns="25400" rIns="25400" bIns="25400" rtlCol="0" anchor="ctr">
            <a:normAutofit/>
          </a:bodyPr>
          <a:lstStyle/>
          <a:p>
            <a:pPr algn="ctr" indent="0" marL="0">
              <a:buNone/>
            </a:pPr>
            <a:r>
              <a:rPr lang="en-US" sz="1125" b="1" dirty="0">
                <a:solidFill>
                  <a:srgbClr val="FFFFFF"/>
                </a:solidFill>
                <a:latin typeface="IBM Plex Mono" pitchFamily="34" charset="0"/>
                <a:ea typeface="IBM Plex Mono" pitchFamily="34" charset="-122"/>
                <a:cs typeface="IBM Plex Mono" pitchFamily="34" charset="-120"/>
              </a:rPr>
              <a:t>8</a:t>
            </a:r>
            <a:endParaRPr lang="en-US" sz="1125" dirty="0"/>
          </a:p>
        </p:txBody>
      </p:sp>
      <p:sp>
        <p:nvSpPr>
          <p:cNvPr id="83" name="Text 80"/>
          <p:cNvSpPr/>
          <p:nvPr/>
        </p:nvSpPr>
        <p:spPr>
          <a:xfrm>
            <a:off x="14298600" y="7421971"/>
            <a:ext cx="1444368" cy="374276"/>
          </a:xfrm>
          <a:prstGeom prst="rect">
            <a:avLst/>
          </a:prstGeom>
          <a:noFill/>
          <a:ln/>
        </p:spPr>
        <p:txBody>
          <a:bodyPr wrap="square" lIns="25400" tIns="25400" rIns="25400" bIns="25400" rtlCol="0" anchor="t">
            <a:normAutofit/>
          </a:bodyPr>
          <a:lstStyle/>
          <a:p>
            <a:pPr algn="ctr" indent="0" marL="0">
              <a:lnSpc>
                <a:spcPct val="103700"/>
              </a:lnSpc>
              <a:buNone/>
            </a:pPr>
            <a:r>
              <a:rPr lang="en-US" sz="1125" b="1" dirty="0">
                <a:solidFill>
                  <a:srgbClr val="0D2E22"/>
                </a:solidFill>
                <a:latin typeface="Public Sans" pitchFamily="34" charset="0"/>
                <a:ea typeface="Public Sans" pitchFamily="34" charset="-122"/>
                <a:cs typeface="Public Sans" pitchFamily="34" charset="-120"/>
              </a:rPr>
              <a:t>Event + room created</a:t>
            </a:r>
            <a:endParaRPr lang="en-US" sz="1125" dirty="0"/>
          </a:p>
        </p:txBody>
      </p:sp>
      <p:sp>
        <p:nvSpPr>
          <p:cNvPr id="84" name="Shape 81"/>
          <p:cNvSpPr/>
          <p:nvPr/>
        </p:nvSpPr>
        <p:spPr>
          <a:xfrm>
            <a:off x="14482726" y="7805772"/>
            <a:ext cx="1076115" cy="183496"/>
          </a:xfrm>
          <a:prstGeom prst="roundRect">
            <a:avLst>
              <a:gd name="adj" fmla="val 31145"/>
            </a:avLst>
          </a:prstGeom>
          <a:solidFill>
            <a:srgbClr val="0078D4"/>
          </a:solidFill>
          <a:ln/>
        </p:spPr>
      </p:sp>
      <p:sp>
        <p:nvSpPr>
          <p:cNvPr id="85" name="Text 82"/>
          <p:cNvSpPr/>
          <p:nvPr/>
        </p:nvSpPr>
        <p:spPr>
          <a:xfrm>
            <a:off x="14511301" y="7824822"/>
            <a:ext cx="1018965" cy="183496"/>
          </a:xfrm>
          <a:prstGeom prst="rect">
            <a:avLst/>
          </a:prstGeom>
          <a:noFill/>
          <a:ln/>
        </p:spPr>
        <p:txBody>
          <a:bodyPr wrap="square" lIns="25400" tIns="25400" rIns="25400" bIns="25400" rtlCol="0" anchor="t">
            <a:normAutofit/>
          </a:bodyPr>
          <a:lstStyle/>
          <a:p>
            <a:pPr algn="ctr" indent="0" marL="0">
              <a:buNone/>
            </a:pPr>
            <a:r>
              <a:rPr lang="en-US" sz="825" b="1" dirty="0">
                <a:solidFill>
                  <a:srgbClr val="FFFFFF"/>
                </a:solidFill>
                <a:latin typeface="IBM Plex Mono" pitchFamily="34" charset="0"/>
                <a:ea typeface="IBM Plex Mono" pitchFamily="34" charset="-122"/>
                <a:cs typeface="IBM Plex Mono" pitchFamily="34" charset="-120"/>
              </a:rPr>
              <a:t>Graph · Outlook</a:t>
            </a:r>
            <a:endParaRPr lang="en-US" sz="825" dirty="0"/>
          </a:p>
        </p:txBody>
      </p:sp>
      <p:sp>
        <p:nvSpPr>
          <p:cNvPr id="86" name="Shape 83"/>
          <p:cNvSpPr/>
          <p:nvPr/>
        </p:nvSpPr>
        <p:spPr>
          <a:xfrm>
            <a:off x="14249329" y="5629205"/>
            <a:ext cx="1542910" cy="1066660"/>
          </a:xfrm>
          <a:prstGeom prst="roundRect">
            <a:avLst>
              <a:gd name="adj" fmla="val 8930"/>
            </a:avLst>
          </a:prstGeom>
          <a:solidFill>
            <a:srgbClr val="E7F0E9"/>
          </a:solidFill>
          <a:ln w="11206">
            <a:solidFill>
              <a:srgbClr val="BCD8C9"/>
            </a:solidFill>
            <a:prstDash val="solid"/>
          </a:ln>
        </p:spPr>
      </p:sp>
      <p:sp>
        <p:nvSpPr>
          <p:cNvPr id="87" name="Shape 84"/>
          <p:cNvSpPr/>
          <p:nvPr/>
        </p:nvSpPr>
        <p:spPr>
          <a:xfrm>
            <a:off x="14146375" y="5526250"/>
            <a:ext cx="266665" cy="266665"/>
          </a:xfrm>
          <a:prstGeom prst="ellipse">
            <a:avLst/>
          </a:prstGeom>
          <a:solidFill>
            <a:srgbClr val="0D2E22"/>
          </a:solidFill>
          <a:ln/>
        </p:spPr>
      </p:sp>
      <p:sp>
        <p:nvSpPr>
          <p:cNvPr id="88" name="Text 85"/>
          <p:cNvSpPr/>
          <p:nvPr/>
        </p:nvSpPr>
        <p:spPr>
          <a:xfrm>
            <a:off x="14108275" y="5526250"/>
            <a:ext cx="342865" cy="304765"/>
          </a:xfrm>
          <a:prstGeom prst="rect">
            <a:avLst/>
          </a:prstGeom>
          <a:noFill/>
          <a:ln/>
        </p:spPr>
        <p:txBody>
          <a:bodyPr wrap="square" lIns="25400" tIns="25400" rIns="25400" bIns="25400" rtlCol="0" anchor="ctr">
            <a:normAutofit/>
          </a:bodyPr>
          <a:lstStyle/>
          <a:p>
            <a:pPr algn="ctr" indent="0" marL="0">
              <a:buNone/>
            </a:pPr>
            <a:r>
              <a:rPr lang="en-US" sz="1125" b="1" dirty="0">
                <a:solidFill>
                  <a:srgbClr val="FFFFFF"/>
                </a:solidFill>
                <a:latin typeface="IBM Plex Mono" pitchFamily="34" charset="0"/>
                <a:ea typeface="IBM Plex Mono" pitchFamily="34" charset="-122"/>
                <a:cs typeface="IBM Plex Mono" pitchFamily="34" charset="-120"/>
              </a:rPr>
              <a:t>9</a:t>
            </a:r>
            <a:endParaRPr lang="en-US" sz="1125" dirty="0"/>
          </a:p>
        </p:txBody>
      </p:sp>
      <p:sp>
        <p:nvSpPr>
          <p:cNvPr id="89" name="Text 86"/>
          <p:cNvSpPr/>
          <p:nvPr/>
        </p:nvSpPr>
        <p:spPr>
          <a:xfrm>
            <a:off x="14298600" y="5878886"/>
            <a:ext cx="1444368" cy="374276"/>
          </a:xfrm>
          <a:prstGeom prst="rect">
            <a:avLst/>
          </a:prstGeom>
          <a:noFill/>
          <a:ln/>
        </p:spPr>
        <p:txBody>
          <a:bodyPr wrap="square" lIns="25400" tIns="25400" rIns="25400" bIns="25400" rtlCol="0" anchor="t">
            <a:normAutofit/>
          </a:bodyPr>
          <a:lstStyle/>
          <a:p>
            <a:pPr algn="ctr" indent="0" marL="0">
              <a:lnSpc>
                <a:spcPct val="103700"/>
              </a:lnSpc>
              <a:buNone/>
            </a:pPr>
            <a:r>
              <a:rPr lang="en-US" sz="1125" b="1" dirty="0">
                <a:solidFill>
                  <a:srgbClr val="0D2E22"/>
                </a:solidFill>
                <a:latin typeface="Public Sans" pitchFamily="34" charset="0"/>
                <a:ea typeface="Public Sans" pitchFamily="34" charset="-122"/>
                <a:cs typeface="Public Sans" pitchFamily="34" charset="-120"/>
              </a:rPr>
              <a:t>Notify ops · write audit</a:t>
            </a:r>
            <a:endParaRPr lang="en-US" sz="1125" dirty="0"/>
          </a:p>
        </p:txBody>
      </p:sp>
      <p:sp>
        <p:nvSpPr>
          <p:cNvPr id="90" name="Shape 87"/>
          <p:cNvSpPr/>
          <p:nvPr/>
        </p:nvSpPr>
        <p:spPr>
          <a:xfrm>
            <a:off x="14451210" y="6262687"/>
            <a:ext cx="1138973" cy="183496"/>
          </a:xfrm>
          <a:prstGeom prst="roundRect">
            <a:avLst>
              <a:gd name="adj" fmla="val 31145"/>
            </a:avLst>
          </a:prstGeom>
          <a:solidFill>
            <a:srgbClr val="5059C9"/>
          </a:solidFill>
          <a:ln/>
        </p:spPr>
      </p:sp>
      <p:sp>
        <p:nvSpPr>
          <p:cNvPr id="91" name="Text 88"/>
          <p:cNvSpPr/>
          <p:nvPr/>
        </p:nvSpPr>
        <p:spPr>
          <a:xfrm>
            <a:off x="14479785" y="6281737"/>
            <a:ext cx="1081823" cy="183496"/>
          </a:xfrm>
          <a:prstGeom prst="rect">
            <a:avLst/>
          </a:prstGeom>
          <a:noFill/>
          <a:ln/>
        </p:spPr>
        <p:txBody>
          <a:bodyPr wrap="square" lIns="25400" tIns="25400" rIns="25400" bIns="25400" rtlCol="0" anchor="t">
            <a:normAutofit/>
          </a:bodyPr>
          <a:lstStyle/>
          <a:p>
            <a:pPr algn="ctr" indent="0" marL="0">
              <a:buNone/>
            </a:pPr>
            <a:r>
              <a:rPr lang="en-US" sz="825" b="1" dirty="0">
                <a:solidFill>
                  <a:srgbClr val="FFFFFF"/>
                </a:solidFill>
                <a:latin typeface="IBM Plex Mono" pitchFamily="34" charset="0"/>
                <a:ea typeface="IBM Plex Mono" pitchFamily="34" charset="-122"/>
                <a:cs typeface="IBM Plex Mono" pitchFamily="34" charset="-120"/>
              </a:rPr>
              <a:t>Flow · Dataverse</a:t>
            </a:r>
            <a:endParaRPr lang="en-US" sz="825" dirty="0"/>
          </a:p>
        </p:txBody>
      </p:sp>
      <p:sp>
        <p:nvSpPr>
          <p:cNvPr id="92" name="Shape 89"/>
          <p:cNvSpPr/>
          <p:nvPr/>
        </p:nvSpPr>
        <p:spPr>
          <a:xfrm>
            <a:off x="15906749" y="2543035"/>
            <a:ext cx="1542910" cy="1066660"/>
          </a:xfrm>
          <a:prstGeom prst="roundRect">
            <a:avLst>
              <a:gd name="adj" fmla="val 8930"/>
            </a:avLst>
          </a:prstGeom>
          <a:solidFill>
            <a:srgbClr val="EDF1E0"/>
          </a:solidFill>
          <a:ln w="11206">
            <a:solidFill>
              <a:srgbClr val="DBE6CD"/>
            </a:solidFill>
            <a:prstDash val="solid"/>
          </a:ln>
        </p:spPr>
      </p:sp>
      <p:sp>
        <p:nvSpPr>
          <p:cNvPr id="93" name="Shape 90"/>
          <p:cNvSpPr/>
          <p:nvPr/>
        </p:nvSpPr>
        <p:spPr>
          <a:xfrm>
            <a:off x="15803795" y="2440081"/>
            <a:ext cx="266665" cy="266665"/>
          </a:xfrm>
          <a:prstGeom prst="ellipse">
            <a:avLst/>
          </a:prstGeom>
          <a:solidFill>
            <a:srgbClr val="0D2E22"/>
          </a:solidFill>
          <a:ln/>
        </p:spPr>
      </p:sp>
      <p:sp>
        <p:nvSpPr>
          <p:cNvPr id="94" name="Text 91"/>
          <p:cNvSpPr/>
          <p:nvPr/>
        </p:nvSpPr>
        <p:spPr>
          <a:xfrm>
            <a:off x="15765695" y="2440081"/>
            <a:ext cx="342865" cy="304765"/>
          </a:xfrm>
          <a:prstGeom prst="rect">
            <a:avLst/>
          </a:prstGeom>
          <a:noFill/>
          <a:ln/>
        </p:spPr>
        <p:txBody>
          <a:bodyPr wrap="square" lIns="25400" tIns="25400" rIns="25400" bIns="25400" rtlCol="0" anchor="ctr">
            <a:normAutofit/>
          </a:bodyPr>
          <a:lstStyle/>
          <a:p>
            <a:pPr algn="ctr" indent="0" marL="0">
              <a:buNone/>
            </a:pPr>
            <a:r>
              <a:rPr lang="en-US" sz="1125" b="1" dirty="0">
                <a:solidFill>
                  <a:srgbClr val="FFFFFF"/>
                </a:solidFill>
                <a:latin typeface="IBM Plex Mono" pitchFamily="34" charset="0"/>
                <a:ea typeface="IBM Plex Mono" pitchFamily="34" charset="-122"/>
                <a:cs typeface="IBM Plex Mono" pitchFamily="34" charset="-120"/>
              </a:rPr>
              <a:t>10</a:t>
            </a:r>
            <a:endParaRPr lang="en-US" sz="1125" dirty="0"/>
          </a:p>
        </p:txBody>
      </p:sp>
      <p:sp>
        <p:nvSpPr>
          <p:cNvPr id="95" name="Text 92"/>
          <p:cNvSpPr/>
          <p:nvPr/>
        </p:nvSpPr>
        <p:spPr>
          <a:xfrm>
            <a:off x="15928995" y="2992321"/>
            <a:ext cx="1498244" cy="206188"/>
          </a:xfrm>
          <a:prstGeom prst="rect">
            <a:avLst/>
          </a:prstGeom>
          <a:noFill/>
          <a:ln/>
        </p:spPr>
        <p:txBody>
          <a:bodyPr wrap="square" lIns="25400" tIns="25400" rIns="25400" bIns="25400" rtlCol="0" anchor="t">
            <a:normAutofit/>
          </a:bodyPr>
          <a:lstStyle/>
          <a:p>
            <a:pPr algn="ctr" indent="0" marL="0">
              <a:lnSpc>
                <a:spcPct val="103700"/>
              </a:lnSpc>
              <a:buNone/>
            </a:pPr>
            <a:r>
              <a:rPr lang="en-US" sz="1125" b="1" dirty="0">
                <a:solidFill>
                  <a:srgbClr val="0D2E22"/>
                </a:solidFill>
                <a:latin typeface="Public Sans" pitchFamily="34" charset="0"/>
                <a:ea typeface="Public Sans" pitchFamily="34" charset="-122"/>
                <a:cs typeface="Public Sans" pitchFamily="34" charset="-120"/>
              </a:rPr>
              <a:t>Instant confirmation</a:t>
            </a:r>
            <a:endParaRPr lang="en-US" sz="1125" dirty="0"/>
          </a:p>
        </p:txBody>
      </p:sp>
      <p:sp>
        <p:nvSpPr>
          <p:cNvPr id="96" name="Text 93"/>
          <p:cNvSpPr/>
          <p:nvPr/>
        </p:nvSpPr>
        <p:spPr>
          <a:xfrm>
            <a:off x="723830" y="9867829"/>
            <a:ext cx="9712680" cy="228600"/>
          </a:xfrm>
          <a:prstGeom prst="rect">
            <a:avLst/>
          </a:prstGeom>
          <a:noFill/>
          <a:ln/>
        </p:spPr>
        <p:txBody>
          <a:bodyPr wrap="square" lIns="25400" tIns="25400" rIns="25400" bIns="25400" rtlCol="0" anchor="t">
            <a:normAutofit/>
          </a:bodyPr>
          <a:lstStyle/>
          <a:p>
            <a:pPr algn="l" indent="0" marL="0">
              <a:buNone/>
            </a:pPr>
            <a:r>
              <a:rPr lang="en-US" sz="1125" dirty="0">
                <a:solidFill>
                  <a:srgbClr val="8996A6"/>
                </a:solidFill>
                <a:latin typeface="IBM Plex Mono" pitchFamily="34" charset="0"/>
                <a:ea typeface="IBM Plex Mono" pitchFamily="34" charset="-122"/>
                <a:cs typeface="IBM Plex Mono" pitchFamily="34" charset="-120"/>
              </a:rPr>
              <a:t>numbered path — one booking, end to end · chip = component doing the work · dashed — line of visibility</a:t>
            </a:r>
            <a:endParaRPr lang="en-US" sz="1125"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9"/>
        </a:solidFill>
      </p:bgPr>
    </p:bg>
    <p:spTree>
      <p:nvGrpSpPr>
        <p:cNvPr id="1" name=""/>
        <p:cNvGrpSpPr/>
        <p:nvPr/>
      </p:nvGrpSpPr>
      <p:grpSpPr>
        <a:xfrm>
          <a:off x="0" y="0"/>
          <a:ext cx="0" cy="0"/>
          <a:chOff x="0" y="0"/>
          <a:chExt cx="0" cy="0"/>
        </a:xfrm>
      </p:grpSpPr>
      <p:sp>
        <p:nvSpPr>
          <p:cNvPr id="2" name="Text 0"/>
          <p:cNvSpPr/>
          <p:nvPr/>
        </p:nvSpPr>
        <p:spPr>
          <a:xfrm>
            <a:off x="762000" y="628580"/>
            <a:ext cx="8278380" cy="307041"/>
          </a:xfrm>
          <a:prstGeom prst="rect">
            <a:avLst/>
          </a:prstGeom>
          <a:noFill/>
          <a:ln/>
        </p:spPr>
        <p:txBody>
          <a:bodyPr wrap="square" lIns="25400" tIns="25400" rIns="25400" bIns="25400" rtlCol="0" anchor="t">
            <a:normAutofit/>
          </a:bodyPr>
          <a:lstStyle/>
          <a:p>
            <a:pPr algn="l" indent="0" marL="0">
              <a:buNone/>
            </a:pPr>
            <a:r>
              <a:rPr lang="en-US" sz="1650" b="1" spc="198" kern="0" dirty="0">
                <a:solidFill>
                  <a:srgbClr val="1C5C43"/>
                </a:solidFill>
                <a:latin typeface="IBM Plex Mono" pitchFamily="34" charset="0"/>
                <a:ea typeface="IBM Plex Mono" pitchFamily="34" charset="-122"/>
                <a:cs typeface="IBM Plex Mono" pitchFamily="34" charset="-120"/>
              </a:rPr>
              <a:t>03 · THE TECHNOLOGY CHOICE</a:t>
            </a:r>
            <a:endParaRPr lang="en-US" sz="1650" dirty="0"/>
          </a:p>
        </p:txBody>
      </p:sp>
      <p:sp>
        <p:nvSpPr>
          <p:cNvPr id="3" name="Text 1"/>
          <p:cNvSpPr/>
          <p:nvPr/>
        </p:nvSpPr>
        <p:spPr>
          <a:xfrm>
            <a:off x="762000" y="1011681"/>
            <a:ext cx="8278380" cy="643218"/>
          </a:xfrm>
          <a:prstGeom prst="rect">
            <a:avLst/>
          </a:prstGeom>
          <a:noFill/>
          <a:ln/>
        </p:spPr>
        <p:txBody>
          <a:bodyPr wrap="square" lIns="25400" tIns="25400" rIns="25400" bIns="25400" rtlCol="0" anchor="t">
            <a:normAutofit/>
          </a:bodyPr>
          <a:lstStyle/>
          <a:p>
            <a:pPr algn="l" indent="0" marL="0">
              <a:buNone/>
            </a:pPr>
            <a:r>
              <a:rPr lang="en-US" sz="4050" b="1" spc="-61" kern="0" dirty="0">
                <a:solidFill>
                  <a:srgbClr val="0D2E22"/>
                </a:solidFill>
                <a:latin typeface="Public Sans" pitchFamily="34" charset="0"/>
                <a:ea typeface="Public Sans" pitchFamily="34" charset="-122"/>
                <a:cs typeface="Public Sans" pitchFamily="34" charset="-120"/>
              </a:rPr>
              <a:t>We looked at doing nothing first</a:t>
            </a:r>
            <a:endParaRPr lang="en-US" sz="4050" dirty="0"/>
          </a:p>
        </p:txBody>
      </p:sp>
      <p:sp>
        <p:nvSpPr>
          <p:cNvPr id="4" name="Shape 2"/>
          <p:cNvSpPr/>
          <p:nvPr/>
        </p:nvSpPr>
        <p:spPr>
          <a:xfrm>
            <a:off x="13402060" y="1127242"/>
            <a:ext cx="4123940" cy="489557"/>
          </a:xfrm>
          <a:prstGeom prst="roundRect">
            <a:avLst>
              <a:gd name="adj" fmla="val 50000"/>
            </a:avLst>
          </a:prstGeom>
          <a:solidFill>
            <a:srgbClr val="FFFFFF"/>
          </a:solidFill>
          <a:ln w="11206">
            <a:solidFill>
              <a:srgbClr val="DBE2EA"/>
            </a:solidFill>
            <a:prstDash val="solid"/>
          </a:ln>
        </p:spPr>
      </p:sp>
      <p:sp>
        <p:nvSpPr>
          <p:cNvPr id="5" name="Text 3"/>
          <p:cNvSpPr/>
          <p:nvPr/>
        </p:nvSpPr>
        <p:spPr>
          <a:xfrm>
            <a:off x="13603766" y="1243223"/>
            <a:ext cx="3844246" cy="295695"/>
          </a:xfrm>
          <a:prstGeom prst="rect">
            <a:avLst/>
          </a:prstGeom>
          <a:noFill/>
          <a:ln/>
        </p:spPr>
        <p:txBody>
          <a:bodyPr wrap="none" lIns="25400" tIns="25400" rIns="25400" bIns="25400" rtlCol="0" anchor="t">
            <a:normAutofit/>
          </a:bodyPr>
          <a:lstStyle/>
          <a:p>
            <a:pPr algn="l" indent="0" marL="0">
              <a:buNone/>
            </a:pPr>
            <a:r>
              <a:rPr lang="en-US" sz="1575" b="1" dirty="0">
                <a:solidFill>
                  <a:srgbClr val="1C5C43"/>
                </a:solidFill>
                <a:latin typeface="IBM Plex Mono" pitchFamily="34" charset="0"/>
                <a:ea typeface="IBM Plex Mono" pitchFamily="34" charset="-122"/>
                <a:cs typeface="IBM Plex Mono" pitchFamily="34" charset="-120"/>
              </a:rPr>
              <a:t>Same platform · same governance</a:t>
            </a:r>
            <a:endParaRPr lang="en-US" sz="1575" dirty="0"/>
          </a:p>
        </p:txBody>
      </p:sp>
      <p:sp>
        <p:nvSpPr>
          <p:cNvPr id="6" name="Shape 4"/>
          <p:cNvSpPr/>
          <p:nvPr/>
        </p:nvSpPr>
        <p:spPr>
          <a:xfrm>
            <a:off x="762000" y="1902549"/>
            <a:ext cx="16763999" cy="7342479"/>
          </a:xfrm>
          <a:prstGeom prst="roundRect">
            <a:avLst>
              <a:gd name="adj" fmla="val 2076"/>
            </a:avLst>
          </a:prstGeom>
          <a:solidFill>
            <a:srgbClr val="FFFFFF"/>
          </a:solidFill>
          <a:ln w="11206">
            <a:solidFill>
              <a:srgbClr val="E4E9EF"/>
            </a:solidFill>
            <a:prstDash val="solid"/>
          </a:ln>
        </p:spPr>
      </p:sp>
      <p:sp>
        <p:nvSpPr>
          <p:cNvPr id="7" name="Shape 5"/>
          <p:cNvSpPr/>
          <p:nvPr/>
        </p:nvSpPr>
        <p:spPr>
          <a:xfrm>
            <a:off x="773206" y="1913755"/>
            <a:ext cx="16741587" cy="627529"/>
          </a:xfrm>
          <a:prstGeom prst="rect">
            <a:avLst/>
          </a:prstGeom>
          <a:solidFill>
            <a:srgbClr val="FBFCFD"/>
          </a:solidFill>
          <a:ln/>
        </p:spPr>
      </p:sp>
      <p:sp>
        <p:nvSpPr>
          <p:cNvPr id="8" name="Shape 6"/>
          <p:cNvSpPr/>
          <p:nvPr/>
        </p:nvSpPr>
        <p:spPr>
          <a:xfrm>
            <a:off x="773206" y="2530078"/>
            <a:ext cx="16741587" cy="11206"/>
          </a:xfrm>
          <a:prstGeom prst="rect">
            <a:avLst/>
          </a:prstGeom>
          <a:solidFill>
            <a:srgbClr val="E4E9EF"/>
          </a:solidFill>
          <a:ln/>
        </p:spPr>
      </p:sp>
      <p:sp>
        <p:nvSpPr>
          <p:cNvPr id="9" name="Text 7"/>
          <p:cNvSpPr/>
          <p:nvPr/>
        </p:nvSpPr>
        <p:spPr>
          <a:xfrm>
            <a:off x="1058956" y="2104254"/>
            <a:ext cx="4243387" cy="273424"/>
          </a:xfrm>
          <a:prstGeom prst="rect">
            <a:avLst/>
          </a:prstGeom>
          <a:noFill/>
          <a:ln/>
        </p:spPr>
        <p:txBody>
          <a:bodyPr wrap="square" lIns="25400" tIns="25400" rIns="25400" bIns="25400" rtlCol="0" anchor="t">
            <a:normAutofit/>
          </a:bodyPr>
          <a:lstStyle/>
          <a:p>
            <a:pPr algn="l" indent="0" marL="0">
              <a:buNone/>
            </a:pPr>
            <a:r>
              <a:rPr lang="en-US" sz="1425" b="1" spc="114" kern="0" dirty="0">
                <a:solidFill>
                  <a:srgbClr val="8996A6"/>
                </a:solidFill>
                <a:latin typeface="IBM Plex Mono" pitchFamily="34" charset="0"/>
                <a:ea typeface="IBM Plex Mono" pitchFamily="34" charset="-122"/>
                <a:cs typeface="IBM Plex Mono" pitchFamily="34" charset="-120"/>
              </a:rPr>
              <a:t>OPTION</a:t>
            </a:r>
            <a:endParaRPr lang="en-US" sz="1425" dirty="0"/>
          </a:p>
        </p:txBody>
      </p:sp>
      <p:sp>
        <p:nvSpPr>
          <p:cNvPr id="10" name="Text 8"/>
          <p:cNvSpPr/>
          <p:nvPr/>
        </p:nvSpPr>
        <p:spPr>
          <a:xfrm>
            <a:off x="5107081" y="2104254"/>
            <a:ext cx="5534970" cy="273424"/>
          </a:xfrm>
          <a:prstGeom prst="rect">
            <a:avLst/>
          </a:prstGeom>
          <a:noFill/>
          <a:ln/>
        </p:spPr>
        <p:txBody>
          <a:bodyPr wrap="square" lIns="25400" tIns="25400" rIns="25400" bIns="25400" rtlCol="0" anchor="t">
            <a:normAutofit/>
          </a:bodyPr>
          <a:lstStyle/>
          <a:p>
            <a:pPr algn="l" indent="0" marL="0">
              <a:buNone/>
            </a:pPr>
            <a:r>
              <a:rPr lang="en-US" sz="1425" b="1" spc="114" kern="0" dirty="0">
                <a:solidFill>
                  <a:srgbClr val="8996A6"/>
                </a:solidFill>
                <a:latin typeface="IBM Plex Mono" pitchFamily="34" charset="0"/>
                <a:ea typeface="IBM Plex Mono" pitchFamily="34" charset="-122"/>
                <a:cs typeface="IBM Plex Mono" pitchFamily="34" charset="-120"/>
              </a:rPr>
              <a:t>WHAT HAPPENS TO THE RM JOURNEY</a:t>
            </a:r>
            <a:endParaRPr lang="en-US" sz="1425" dirty="0"/>
          </a:p>
        </p:txBody>
      </p:sp>
      <p:sp>
        <p:nvSpPr>
          <p:cNvPr id="11" name="Text 9"/>
          <p:cNvSpPr/>
          <p:nvPr/>
        </p:nvSpPr>
        <p:spPr>
          <a:xfrm>
            <a:off x="10329372" y="2104254"/>
            <a:ext cx="3690044" cy="273424"/>
          </a:xfrm>
          <a:prstGeom prst="rect">
            <a:avLst/>
          </a:prstGeom>
          <a:noFill/>
          <a:ln/>
        </p:spPr>
        <p:txBody>
          <a:bodyPr wrap="square" lIns="25400" tIns="25400" rIns="25400" bIns="25400" rtlCol="0" anchor="t">
            <a:normAutofit/>
          </a:bodyPr>
          <a:lstStyle/>
          <a:p>
            <a:pPr algn="l" indent="0" marL="0">
              <a:buNone/>
            </a:pPr>
            <a:r>
              <a:rPr lang="en-US" sz="1425" b="1" spc="114" kern="0" dirty="0">
                <a:solidFill>
                  <a:srgbClr val="8996A6"/>
                </a:solidFill>
                <a:latin typeface="IBM Plex Mono" pitchFamily="34" charset="0"/>
                <a:ea typeface="IBM Plex Mono" pitchFamily="34" charset="-122"/>
                <a:cs typeface="IBM Plex Mono" pitchFamily="34" charset="-120"/>
              </a:rPr>
              <a:t>SPEED TO CHANGE</a:t>
            </a:r>
            <a:endParaRPr lang="en-US" sz="1425" dirty="0"/>
          </a:p>
        </p:txBody>
      </p:sp>
      <p:sp>
        <p:nvSpPr>
          <p:cNvPr id="12" name="Text 10"/>
          <p:cNvSpPr/>
          <p:nvPr/>
        </p:nvSpPr>
        <p:spPr>
          <a:xfrm>
            <a:off x="13874458" y="2104254"/>
            <a:ext cx="3689852" cy="273424"/>
          </a:xfrm>
          <a:prstGeom prst="rect">
            <a:avLst/>
          </a:prstGeom>
          <a:noFill/>
          <a:ln/>
        </p:spPr>
        <p:txBody>
          <a:bodyPr wrap="square" lIns="25400" tIns="25400" rIns="25400" bIns="25400" rtlCol="0" anchor="t">
            <a:normAutofit/>
          </a:bodyPr>
          <a:lstStyle/>
          <a:p>
            <a:pPr algn="l" indent="0" marL="0">
              <a:buNone/>
            </a:pPr>
            <a:r>
              <a:rPr lang="en-US" sz="1425" b="1" spc="114" kern="0" dirty="0">
                <a:solidFill>
                  <a:srgbClr val="8996A6"/>
                </a:solidFill>
                <a:latin typeface="IBM Plex Mono" pitchFamily="34" charset="0"/>
                <a:ea typeface="IBM Plex Mono" pitchFamily="34" charset="-122"/>
                <a:cs typeface="IBM Plex Mono" pitchFamily="34" charset="-120"/>
              </a:rPr>
              <a:t>REUSE ELSEWHERE</a:t>
            </a:r>
            <a:endParaRPr lang="en-US" sz="1425" dirty="0"/>
          </a:p>
        </p:txBody>
      </p:sp>
      <p:sp>
        <p:nvSpPr>
          <p:cNvPr id="13" name="Shape 11"/>
          <p:cNvSpPr/>
          <p:nvPr/>
        </p:nvSpPr>
        <p:spPr>
          <a:xfrm>
            <a:off x="773206" y="4168238"/>
            <a:ext cx="16741587" cy="11206"/>
          </a:xfrm>
          <a:prstGeom prst="rect">
            <a:avLst/>
          </a:prstGeom>
          <a:solidFill>
            <a:srgbClr val="EEF1F5"/>
          </a:solidFill>
          <a:ln/>
        </p:spPr>
      </p:sp>
      <p:sp>
        <p:nvSpPr>
          <p:cNvPr id="14" name="Text 12"/>
          <p:cNvSpPr/>
          <p:nvPr/>
        </p:nvSpPr>
        <p:spPr>
          <a:xfrm>
            <a:off x="1058956" y="3077941"/>
            <a:ext cx="4243387" cy="329453"/>
          </a:xfrm>
          <a:prstGeom prst="rect">
            <a:avLst/>
          </a:prstGeom>
          <a:noFill/>
          <a:ln/>
        </p:spPr>
        <p:txBody>
          <a:bodyPr wrap="square" lIns="25400" tIns="25400" rIns="25400" bIns="25400" rtlCol="0" anchor="t">
            <a:normAutofit/>
          </a:bodyPr>
          <a:lstStyle/>
          <a:p>
            <a:pPr algn="l" indent="0" marL="0">
              <a:buNone/>
            </a:pPr>
            <a:r>
              <a:rPr lang="en-US" sz="1950" b="1" dirty="0">
                <a:solidFill>
                  <a:srgbClr val="0D2E22"/>
                </a:solidFill>
                <a:latin typeface="Public Sans" pitchFamily="34" charset="0"/>
                <a:ea typeface="Public Sans" pitchFamily="34" charset="-122"/>
                <a:cs typeface="Public Sans" pitchFamily="34" charset="-120"/>
              </a:rPr>
              <a:t>Do nothing</a:t>
            </a:r>
            <a:endParaRPr lang="en-US" sz="1950" dirty="0"/>
          </a:p>
        </p:txBody>
      </p:sp>
      <p:sp>
        <p:nvSpPr>
          <p:cNvPr id="15" name="Text 13"/>
          <p:cNvSpPr/>
          <p:nvPr/>
        </p:nvSpPr>
        <p:spPr>
          <a:xfrm>
            <a:off x="1058956" y="3407289"/>
            <a:ext cx="4243387" cy="262218"/>
          </a:xfrm>
          <a:prstGeom prst="rect">
            <a:avLst/>
          </a:prstGeom>
          <a:noFill/>
          <a:ln/>
        </p:spPr>
        <p:txBody>
          <a:bodyPr wrap="square" lIns="25400" tIns="25400" rIns="25400" bIns="25400" rtlCol="0" anchor="t">
            <a:normAutofit/>
          </a:bodyPr>
          <a:lstStyle/>
          <a:p>
            <a:pPr algn="l" indent="0" marL="0">
              <a:buNone/>
            </a:pPr>
            <a:r>
              <a:rPr lang="en-US" sz="1500" dirty="0">
                <a:solidFill>
                  <a:srgbClr val="8996A6"/>
                </a:solidFill>
                <a:latin typeface="Public Sans" pitchFamily="34" charset="0"/>
                <a:ea typeface="Public Sans" pitchFamily="34" charset="-122"/>
                <a:cs typeface="Public Sans" pitchFamily="34" charset="-120"/>
              </a:rPr>
              <a:t>Bookings · findMeetingTimes</a:t>
            </a:r>
            <a:endParaRPr lang="en-US" sz="1500" dirty="0"/>
          </a:p>
        </p:txBody>
      </p:sp>
      <p:sp>
        <p:nvSpPr>
          <p:cNvPr id="16" name="Text 14"/>
          <p:cNvSpPr/>
          <p:nvPr/>
        </p:nvSpPr>
        <p:spPr>
          <a:xfrm>
            <a:off x="5107081" y="2884114"/>
            <a:ext cx="5182745" cy="979394"/>
          </a:xfrm>
          <a:prstGeom prst="rect">
            <a:avLst/>
          </a:prstGeom>
          <a:noFill/>
          <a:ln/>
        </p:spPr>
        <p:txBody>
          <a:bodyPr wrap="square" lIns="25400" tIns="25400" rIns="25400" bIns="25400" rtlCol="0" anchor="t">
            <a:normAutofit/>
          </a:bodyPr>
          <a:lstStyle/>
          <a:p>
            <a:pPr algn="l" indent="0" marL="0">
              <a:lnSpc>
                <a:spcPct val="123250"/>
              </a:lnSpc>
              <a:buNone/>
            </a:pPr>
            <a:r>
              <a:rPr lang="en-US" sz="1725" dirty="0">
                <a:solidFill>
                  <a:srgbClr val="5B6675"/>
                </a:solidFill>
                <a:latin typeface="Public Sans" pitchFamily="34" charset="0"/>
                <a:ea typeface="Public Sans" pitchFamily="34" charset="-122"/>
                <a:cs typeface="Public Sans" pitchFamily="34" charset="-120"/>
              </a:rPr>
              <a:t>Finds a time, but knows nothing about the client, the partner or provisional holds. The RM still joins it up.</a:t>
            </a:r>
            <a:endParaRPr lang="en-US" sz="1725" dirty="0"/>
          </a:p>
        </p:txBody>
      </p:sp>
      <p:sp>
        <p:nvSpPr>
          <p:cNvPr id="17" name="Text 15"/>
          <p:cNvSpPr/>
          <p:nvPr/>
        </p:nvSpPr>
        <p:spPr>
          <a:xfrm>
            <a:off x="10329372" y="3225893"/>
            <a:ext cx="3690044" cy="295835"/>
          </a:xfrm>
          <a:prstGeom prst="rect">
            <a:avLst/>
          </a:prstGeom>
          <a:noFill/>
          <a:ln/>
        </p:spPr>
        <p:txBody>
          <a:bodyPr wrap="square" lIns="25400" tIns="25400" rIns="25400" bIns="25400" rtlCol="0" anchor="t">
            <a:normAutofit/>
          </a:bodyPr>
          <a:lstStyle/>
          <a:p>
            <a:pPr algn="l" indent="0" marL="0">
              <a:buNone/>
            </a:pPr>
            <a:r>
              <a:rPr lang="en-US" sz="1725" dirty="0">
                <a:solidFill>
                  <a:srgbClr val="5B6675"/>
                </a:solidFill>
                <a:latin typeface="Public Sans" pitchFamily="34" charset="0"/>
                <a:ea typeface="Public Sans" pitchFamily="34" charset="-122"/>
                <a:cs typeface="Public Sans" pitchFamily="34" charset="-120"/>
              </a:rPr>
              <a:t>n/a</a:t>
            </a:r>
            <a:endParaRPr lang="en-US" sz="1725" dirty="0"/>
          </a:p>
        </p:txBody>
      </p:sp>
      <p:sp>
        <p:nvSpPr>
          <p:cNvPr id="18" name="Text 16"/>
          <p:cNvSpPr/>
          <p:nvPr/>
        </p:nvSpPr>
        <p:spPr>
          <a:xfrm>
            <a:off x="13874458" y="3225893"/>
            <a:ext cx="3689852" cy="295835"/>
          </a:xfrm>
          <a:prstGeom prst="rect">
            <a:avLst/>
          </a:prstGeom>
          <a:noFill/>
          <a:ln/>
        </p:spPr>
        <p:txBody>
          <a:bodyPr wrap="square" lIns="25400" tIns="25400" rIns="25400" bIns="25400" rtlCol="0" anchor="t">
            <a:normAutofit/>
          </a:bodyPr>
          <a:lstStyle/>
          <a:p>
            <a:pPr algn="l" indent="0" marL="0">
              <a:buNone/>
            </a:pPr>
            <a:r>
              <a:rPr lang="en-US" sz="1725" dirty="0">
                <a:solidFill>
                  <a:srgbClr val="5B6675"/>
                </a:solidFill>
                <a:latin typeface="Public Sans" pitchFamily="34" charset="0"/>
                <a:ea typeface="Public Sans" pitchFamily="34" charset="-122"/>
                <a:cs typeface="Public Sans" pitchFamily="34" charset="-120"/>
              </a:rPr>
              <a:t>None to build on</a:t>
            </a:r>
            <a:endParaRPr lang="en-US" sz="1725" dirty="0"/>
          </a:p>
        </p:txBody>
      </p:sp>
      <p:sp>
        <p:nvSpPr>
          <p:cNvPr id="19" name="Shape 17"/>
          <p:cNvSpPr/>
          <p:nvPr/>
        </p:nvSpPr>
        <p:spPr>
          <a:xfrm>
            <a:off x="773206" y="5806398"/>
            <a:ext cx="16741587" cy="11206"/>
          </a:xfrm>
          <a:prstGeom prst="rect">
            <a:avLst/>
          </a:prstGeom>
          <a:solidFill>
            <a:srgbClr val="EEF1F5"/>
          </a:solidFill>
          <a:ln/>
        </p:spPr>
      </p:sp>
      <p:sp>
        <p:nvSpPr>
          <p:cNvPr id="20" name="Text 18"/>
          <p:cNvSpPr/>
          <p:nvPr/>
        </p:nvSpPr>
        <p:spPr>
          <a:xfrm>
            <a:off x="1058956" y="4716101"/>
            <a:ext cx="4243387" cy="329453"/>
          </a:xfrm>
          <a:prstGeom prst="rect">
            <a:avLst/>
          </a:prstGeom>
          <a:noFill/>
          <a:ln/>
        </p:spPr>
        <p:txBody>
          <a:bodyPr wrap="square" lIns="25400" tIns="25400" rIns="25400" bIns="25400" rtlCol="0" anchor="t">
            <a:normAutofit/>
          </a:bodyPr>
          <a:lstStyle/>
          <a:p>
            <a:pPr algn="l" indent="0" marL="0">
              <a:buNone/>
            </a:pPr>
            <a:r>
              <a:rPr lang="en-US" sz="1950" b="1" dirty="0">
                <a:solidFill>
                  <a:srgbClr val="0D2E22"/>
                </a:solidFill>
                <a:latin typeface="Public Sans" pitchFamily="34" charset="0"/>
                <a:ea typeface="Public Sans" pitchFamily="34" charset="-122"/>
                <a:cs typeface="Public Sans" pitchFamily="34" charset="-120"/>
              </a:rPr>
              <a:t>Canvas app</a:t>
            </a:r>
            <a:endParaRPr lang="en-US" sz="1950" dirty="0"/>
          </a:p>
        </p:txBody>
      </p:sp>
      <p:sp>
        <p:nvSpPr>
          <p:cNvPr id="21" name="Text 19"/>
          <p:cNvSpPr/>
          <p:nvPr/>
        </p:nvSpPr>
        <p:spPr>
          <a:xfrm>
            <a:off x="1058956" y="5045448"/>
            <a:ext cx="4243387" cy="262218"/>
          </a:xfrm>
          <a:prstGeom prst="rect">
            <a:avLst/>
          </a:prstGeom>
          <a:noFill/>
          <a:ln/>
        </p:spPr>
        <p:txBody>
          <a:bodyPr wrap="square" lIns="25400" tIns="25400" rIns="25400" bIns="25400" rtlCol="0" anchor="t">
            <a:normAutofit/>
          </a:bodyPr>
          <a:lstStyle/>
          <a:p>
            <a:pPr algn="l" indent="0" marL="0">
              <a:buNone/>
            </a:pPr>
            <a:r>
              <a:rPr lang="en-US" sz="1500" dirty="0">
                <a:solidFill>
                  <a:srgbClr val="8996A6"/>
                </a:solidFill>
                <a:latin typeface="Public Sans" pitchFamily="34" charset="0"/>
                <a:ea typeface="Public Sans" pitchFamily="34" charset="-122"/>
                <a:cs typeface="Public Sans" pitchFamily="34" charset="-120"/>
              </a:rPr>
              <a:t>Low-code, drag and drop</a:t>
            </a:r>
            <a:endParaRPr lang="en-US" sz="1500" dirty="0"/>
          </a:p>
        </p:txBody>
      </p:sp>
      <p:sp>
        <p:nvSpPr>
          <p:cNvPr id="22" name="Text 20"/>
          <p:cNvSpPr/>
          <p:nvPr/>
        </p:nvSpPr>
        <p:spPr>
          <a:xfrm>
            <a:off x="5107081" y="4522274"/>
            <a:ext cx="5182745" cy="979394"/>
          </a:xfrm>
          <a:prstGeom prst="rect">
            <a:avLst/>
          </a:prstGeom>
          <a:noFill/>
          <a:ln/>
        </p:spPr>
        <p:txBody>
          <a:bodyPr wrap="square" lIns="25400" tIns="25400" rIns="25400" bIns="25400" rtlCol="0" anchor="t">
            <a:normAutofit/>
          </a:bodyPr>
          <a:lstStyle/>
          <a:p>
            <a:pPr algn="l" indent="0" marL="0">
              <a:lnSpc>
                <a:spcPct val="123250"/>
              </a:lnSpc>
              <a:buNone/>
            </a:pPr>
            <a:r>
              <a:rPr lang="en-US" sz="1725" dirty="0">
                <a:solidFill>
                  <a:srgbClr val="5B6675"/>
                </a:solidFill>
                <a:latin typeface="Public Sans" pitchFamily="34" charset="0"/>
                <a:ea typeface="Public Sans" pitchFamily="34" charset="-122"/>
                <a:cs typeface="Public Sans" pitchFamily="34" charset="-120"/>
              </a:rPr>
              <a:t>Fine for a form. This flow has multi-step state, drafts and review gates — the part where canvas becomes hard to hold together.</a:t>
            </a:r>
            <a:endParaRPr lang="en-US" sz="1725" dirty="0"/>
          </a:p>
        </p:txBody>
      </p:sp>
      <p:sp>
        <p:nvSpPr>
          <p:cNvPr id="23" name="Text 21"/>
          <p:cNvSpPr/>
          <p:nvPr/>
        </p:nvSpPr>
        <p:spPr>
          <a:xfrm>
            <a:off x="10329372" y="4864053"/>
            <a:ext cx="3690044" cy="295835"/>
          </a:xfrm>
          <a:prstGeom prst="rect">
            <a:avLst/>
          </a:prstGeom>
          <a:noFill/>
          <a:ln/>
        </p:spPr>
        <p:txBody>
          <a:bodyPr wrap="square" lIns="25400" tIns="25400" rIns="25400" bIns="25400" rtlCol="0" anchor="t">
            <a:normAutofit/>
          </a:bodyPr>
          <a:lstStyle/>
          <a:p>
            <a:pPr algn="l" indent="0" marL="0">
              <a:buNone/>
            </a:pPr>
            <a:r>
              <a:rPr lang="en-US" sz="1725" dirty="0">
                <a:solidFill>
                  <a:srgbClr val="5B6675"/>
                </a:solidFill>
                <a:latin typeface="Public Sans" pitchFamily="34" charset="0"/>
                <a:ea typeface="Public Sans" pitchFamily="34" charset="-122"/>
                <a:cs typeface="Public Sans" pitchFamily="34" charset="-120"/>
              </a:rPr>
              <a:t>Fast at first, slow later</a:t>
            </a:r>
            <a:endParaRPr lang="en-US" sz="1725" dirty="0"/>
          </a:p>
        </p:txBody>
      </p:sp>
      <p:sp>
        <p:nvSpPr>
          <p:cNvPr id="24" name="Text 22"/>
          <p:cNvSpPr/>
          <p:nvPr/>
        </p:nvSpPr>
        <p:spPr>
          <a:xfrm>
            <a:off x="13874458" y="4864053"/>
            <a:ext cx="3689852" cy="295835"/>
          </a:xfrm>
          <a:prstGeom prst="rect">
            <a:avLst/>
          </a:prstGeom>
          <a:noFill/>
          <a:ln/>
        </p:spPr>
        <p:txBody>
          <a:bodyPr wrap="square" lIns="25400" tIns="25400" rIns="25400" bIns="25400" rtlCol="0" anchor="t">
            <a:normAutofit/>
          </a:bodyPr>
          <a:lstStyle/>
          <a:p>
            <a:pPr algn="l" indent="0" marL="0">
              <a:buNone/>
            </a:pPr>
            <a:r>
              <a:rPr lang="en-US" sz="1725" dirty="0">
                <a:solidFill>
                  <a:srgbClr val="5B6675"/>
                </a:solidFill>
                <a:latin typeface="Public Sans" pitchFamily="34" charset="0"/>
                <a:ea typeface="Public Sans" pitchFamily="34" charset="-122"/>
                <a:cs typeface="Public Sans" pitchFamily="34" charset="-120"/>
              </a:rPr>
              <a:t>Copy and paste screens</a:t>
            </a:r>
            <a:endParaRPr lang="en-US" sz="1725" dirty="0"/>
          </a:p>
        </p:txBody>
      </p:sp>
      <p:sp>
        <p:nvSpPr>
          <p:cNvPr id="25" name="Shape 23"/>
          <p:cNvSpPr/>
          <p:nvPr/>
        </p:nvSpPr>
        <p:spPr>
          <a:xfrm>
            <a:off x="773206" y="7444558"/>
            <a:ext cx="16741587" cy="11206"/>
          </a:xfrm>
          <a:prstGeom prst="rect">
            <a:avLst/>
          </a:prstGeom>
          <a:solidFill>
            <a:srgbClr val="EEF1F5"/>
          </a:solidFill>
          <a:ln/>
        </p:spPr>
      </p:sp>
      <p:sp>
        <p:nvSpPr>
          <p:cNvPr id="26" name="Text 24"/>
          <p:cNvSpPr/>
          <p:nvPr/>
        </p:nvSpPr>
        <p:spPr>
          <a:xfrm>
            <a:off x="1058956" y="6354260"/>
            <a:ext cx="4243387" cy="329453"/>
          </a:xfrm>
          <a:prstGeom prst="rect">
            <a:avLst/>
          </a:prstGeom>
          <a:noFill/>
          <a:ln/>
        </p:spPr>
        <p:txBody>
          <a:bodyPr wrap="square" lIns="25400" tIns="25400" rIns="25400" bIns="25400" rtlCol="0" anchor="t">
            <a:normAutofit/>
          </a:bodyPr>
          <a:lstStyle/>
          <a:p>
            <a:pPr algn="l" indent="0" marL="0">
              <a:buNone/>
            </a:pPr>
            <a:r>
              <a:rPr lang="en-US" sz="1950" b="1" dirty="0">
                <a:solidFill>
                  <a:srgbClr val="0D2E22"/>
                </a:solidFill>
                <a:latin typeface="Public Sans" pitchFamily="34" charset="0"/>
                <a:ea typeface="Public Sans" pitchFamily="34" charset="-122"/>
                <a:cs typeface="Public Sans" pitchFamily="34" charset="-120"/>
              </a:rPr>
              <a:t>Model-driven app</a:t>
            </a:r>
            <a:endParaRPr lang="en-US" sz="1950" dirty="0"/>
          </a:p>
        </p:txBody>
      </p:sp>
      <p:sp>
        <p:nvSpPr>
          <p:cNvPr id="27" name="Text 25"/>
          <p:cNvSpPr/>
          <p:nvPr/>
        </p:nvSpPr>
        <p:spPr>
          <a:xfrm>
            <a:off x="1058956" y="6683608"/>
            <a:ext cx="4243387" cy="262218"/>
          </a:xfrm>
          <a:prstGeom prst="rect">
            <a:avLst/>
          </a:prstGeom>
          <a:noFill/>
          <a:ln/>
        </p:spPr>
        <p:txBody>
          <a:bodyPr wrap="square" lIns="25400" tIns="25400" rIns="25400" bIns="25400" rtlCol="0" anchor="t">
            <a:normAutofit/>
          </a:bodyPr>
          <a:lstStyle/>
          <a:p>
            <a:pPr algn="l" indent="0" marL="0">
              <a:buNone/>
            </a:pPr>
            <a:r>
              <a:rPr lang="en-US" sz="1500" dirty="0">
                <a:solidFill>
                  <a:srgbClr val="8996A6"/>
                </a:solidFill>
                <a:latin typeface="Public Sans" pitchFamily="34" charset="0"/>
                <a:ea typeface="Public Sans" pitchFamily="34" charset="-122"/>
                <a:cs typeface="Public Sans" pitchFamily="34" charset="-120"/>
              </a:rPr>
              <a:t>Dataverse-first</a:t>
            </a:r>
            <a:endParaRPr lang="en-US" sz="1500" dirty="0"/>
          </a:p>
        </p:txBody>
      </p:sp>
      <p:sp>
        <p:nvSpPr>
          <p:cNvPr id="28" name="Text 26"/>
          <p:cNvSpPr/>
          <p:nvPr/>
        </p:nvSpPr>
        <p:spPr>
          <a:xfrm>
            <a:off x="5107081" y="6317316"/>
            <a:ext cx="5182745" cy="665629"/>
          </a:xfrm>
          <a:prstGeom prst="rect">
            <a:avLst/>
          </a:prstGeom>
          <a:noFill/>
          <a:ln/>
        </p:spPr>
        <p:txBody>
          <a:bodyPr wrap="square" lIns="25400" tIns="25400" rIns="25400" bIns="25400" rtlCol="0" anchor="t">
            <a:normAutofit/>
          </a:bodyPr>
          <a:lstStyle/>
          <a:p>
            <a:pPr algn="l" indent="0" marL="0">
              <a:lnSpc>
                <a:spcPct val="123250"/>
              </a:lnSpc>
              <a:buNone/>
            </a:pPr>
            <a:r>
              <a:rPr lang="en-US" sz="1725" dirty="0">
                <a:solidFill>
                  <a:srgbClr val="5B6675"/>
                </a:solidFill>
                <a:latin typeface="Public Sans" pitchFamily="34" charset="0"/>
                <a:ea typeface="Public Sans" pitchFamily="34" charset="-122"/>
                <a:cs typeface="Public Sans" pitchFamily="34" charset="-120"/>
              </a:rPr>
              <a:t>Strong for caseworking on records. The RM journey is a guided flow, not a form over a table.</a:t>
            </a:r>
            <a:endParaRPr lang="en-US" sz="1725" dirty="0"/>
          </a:p>
        </p:txBody>
      </p:sp>
      <p:sp>
        <p:nvSpPr>
          <p:cNvPr id="29" name="Text 27"/>
          <p:cNvSpPr/>
          <p:nvPr/>
        </p:nvSpPr>
        <p:spPr>
          <a:xfrm>
            <a:off x="10329372" y="6502213"/>
            <a:ext cx="3690044" cy="295835"/>
          </a:xfrm>
          <a:prstGeom prst="rect">
            <a:avLst/>
          </a:prstGeom>
          <a:noFill/>
          <a:ln/>
        </p:spPr>
        <p:txBody>
          <a:bodyPr wrap="square" lIns="25400" tIns="25400" rIns="25400" bIns="25400" rtlCol="0" anchor="t">
            <a:normAutofit/>
          </a:bodyPr>
          <a:lstStyle/>
          <a:p>
            <a:pPr algn="l" indent="0" marL="0">
              <a:buNone/>
            </a:pPr>
            <a:r>
              <a:rPr lang="en-US" sz="1725" dirty="0">
                <a:solidFill>
                  <a:srgbClr val="5B6675"/>
                </a:solidFill>
                <a:latin typeface="Public Sans" pitchFamily="34" charset="0"/>
                <a:ea typeface="Public Sans" pitchFamily="34" charset="-122"/>
                <a:cs typeface="Public Sans" pitchFamily="34" charset="-120"/>
              </a:rPr>
              <a:t>Config-led</a:t>
            </a:r>
            <a:endParaRPr lang="en-US" sz="1725" dirty="0"/>
          </a:p>
        </p:txBody>
      </p:sp>
      <p:sp>
        <p:nvSpPr>
          <p:cNvPr id="30" name="Text 28"/>
          <p:cNvSpPr/>
          <p:nvPr/>
        </p:nvSpPr>
        <p:spPr>
          <a:xfrm>
            <a:off x="13874458" y="6502213"/>
            <a:ext cx="3689852" cy="295835"/>
          </a:xfrm>
          <a:prstGeom prst="rect">
            <a:avLst/>
          </a:prstGeom>
          <a:noFill/>
          <a:ln/>
        </p:spPr>
        <p:txBody>
          <a:bodyPr wrap="square" lIns="25400" tIns="25400" rIns="25400" bIns="25400" rtlCol="0" anchor="t">
            <a:normAutofit/>
          </a:bodyPr>
          <a:lstStyle/>
          <a:p>
            <a:pPr algn="l" indent="0" marL="0">
              <a:buNone/>
            </a:pPr>
            <a:r>
              <a:rPr lang="en-US" sz="1725" dirty="0">
                <a:solidFill>
                  <a:srgbClr val="5B6675"/>
                </a:solidFill>
                <a:latin typeface="Public Sans" pitchFamily="34" charset="0"/>
                <a:ea typeface="Public Sans" pitchFamily="34" charset="-122"/>
                <a:cs typeface="Public Sans" pitchFamily="34" charset="-120"/>
              </a:rPr>
              <a:t>Tied to its tables</a:t>
            </a:r>
            <a:endParaRPr lang="en-US" sz="1725" dirty="0"/>
          </a:p>
        </p:txBody>
      </p:sp>
      <p:sp>
        <p:nvSpPr>
          <p:cNvPr id="31" name="Shape 29"/>
          <p:cNvSpPr/>
          <p:nvPr/>
        </p:nvSpPr>
        <p:spPr>
          <a:xfrm>
            <a:off x="773206" y="7455764"/>
            <a:ext cx="16741587" cy="1778233"/>
          </a:xfrm>
          <a:prstGeom prst="rect">
            <a:avLst/>
          </a:prstGeom>
          <a:solidFill>
            <a:srgbClr val="F5F8F4"/>
          </a:solidFill>
          <a:ln/>
        </p:spPr>
      </p:sp>
      <p:sp>
        <p:nvSpPr>
          <p:cNvPr id="32" name="Shape 30"/>
          <p:cNvSpPr/>
          <p:nvPr/>
        </p:nvSpPr>
        <p:spPr>
          <a:xfrm>
            <a:off x="773206" y="7455764"/>
            <a:ext cx="44824" cy="1778233"/>
          </a:xfrm>
          <a:prstGeom prst="rect">
            <a:avLst/>
          </a:prstGeom>
          <a:solidFill>
            <a:srgbClr val="1C5C43"/>
          </a:solidFill>
          <a:ln/>
        </p:spPr>
      </p:sp>
      <p:sp>
        <p:nvSpPr>
          <p:cNvPr id="33" name="Text 31"/>
          <p:cNvSpPr/>
          <p:nvPr/>
        </p:nvSpPr>
        <p:spPr>
          <a:xfrm>
            <a:off x="1103779" y="8062457"/>
            <a:ext cx="1239511" cy="340659"/>
          </a:xfrm>
          <a:prstGeom prst="rect">
            <a:avLst/>
          </a:prstGeom>
          <a:noFill/>
          <a:ln/>
        </p:spPr>
        <p:txBody>
          <a:bodyPr wrap="square" lIns="25400" tIns="25400" rIns="25400" bIns="25400" rtlCol="0" anchor="t">
            <a:normAutofit/>
          </a:bodyPr>
          <a:lstStyle/>
          <a:p>
            <a:pPr algn="l" indent="0" marL="0">
              <a:buNone/>
            </a:pPr>
            <a:r>
              <a:rPr lang="en-US" sz="2025" b="1" dirty="0">
                <a:solidFill>
                  <a:srgbClr val="1C5C43"/>
                </a:solidFill>
                <a:latin typeface="Public Sans" pitchFamily="34" charset="0"/>
                <a:ea typeface="Public Sans" pitchFamily="34" charset="-122"/>
                <a:cs typeface="Public Sans" pitchFamily="34" charset="-120"/>
              </a:rPr>
              <a:t>Code app</a:t>
            </a:r>
            <a:endParaRPr lang="en-US" sz="2025" dirty="0"/>
          </a:p>
        </p:txBody>
      </p:sp>
      <p:sp>
        <p:nvSpPr>
          <p:cNvPr id="34" name="Shape 32"/>
          <p:cNvSpPr/>
          <p:nvPr/>
        </p:nvSpPr>
        <p:spPr>
          <a:xfrm>
            <a:off x="2381250" y="8070861"/>
            <a:ext cx="742740" cy="285750"/>
          </a:xfrm>
          <a:prstGeom prst="roundRect">
            <a:avLst>
              <a:gd name="adj" fmla="val 50000"/>
            </a:avLst>
          </a:prstGeom>
          <a:solidFill>
            <a:srgbClr val="1C5C43"/>
          </a:solidFill>
          <a:ln/>
        </p:spPr>
      </p:sp>
      <p:sp>
        <p:nvSpPr>
          <p:cNvPr id="35" name="Text 33"/>
          <p:cNvSpPr/>
          <p:nvPr/>
        </p:nvSpPr>
        <p:spPr>
          <a:xfrm>
            <a:off x="2495550" y="8118486"/>
            <a:ext cx="590340" cy="228600"/>
          </a:xfrm>
          <a:prstGeom prst="rect">
            <a:avLst/>
          </a:prstGeom>
          <a:noFill/>
          <a:ln/>
        </p:spPr>
        <p:txBody>
          <a:bodyPr wrap="square" lIns="25400" tIns="25400" rIns="25400" bIns="25400" rtlCol="0" anchor="t">
            <a:normAutofit/>
          </a:bodyPr>
          <a:lstStyle/>
          <a:p>
            <a:pPr algn="l" indent="0" marL="0">
              <a:buNone/>
            </a:pPr>
            <a:r>
              <a:rPr lang="en-US" sz="1125" b="1" dirty="0">
                <a:solidFill>
                  <a:srgbClr val="FFFFFF"/>
                </a:solidFill>
                <a:latin typeface="IBM Plex Mono" pitchFamily="34" charset="0"/>
                <a:ea typeface="IBM Plex Mono" pitchFamily="34" charset="-122"/>
                <a:cs typeface="IBM Plex Mono" pitchFamily="34" charset="-120"/>
              </a:rPr>
              <a:t>CHOSEN</a:t>
            </a:r>
            <a:endParaRPr lang="en-US" sz="1125" dirty="0"/>
          </a:p>
        </p:txBody>
      </p:sp>
      <p:sp>
        <p:nvSpPr>
          <p:cNvPr id="36" name="Text 34"/>
          <p:cNvSpPr/>
          <p:nvPr/>
        </p:nvSpPr>
        <p:spPr>
          <a:xfrm>
            <a:off x="1103779" y="8403010"/>
            <a:ext cx="4231253" cy="262218"/>
          </a:xfrm>
          <a:prstGeom prst="rect">
            <a:avLst/>
          </a:prstGeom>
          <a:noFill/>
          <a:ln/>
        </p:spPr>
        <p:txBody>
          <a:bodyPr wrap="square" lIns="25400" tIns="25400" rIns="25400" bIns="25400" rtlCol="0" anchor="t">
            <a:normAutofit/>
          </a:bodyPr>
          <a:lstStyle/>
          <a:p>
            <a:pPr algn="l" indent="0" marL="0">
              <a:buNone/>
            </a:pPr>
            <a:r>
              <a:rPr lang="en-US" sz="1500" dirty="0">
                <a:solidFill>
                  <a:srgbClr val="5B6675"/>
                </a:solidFill>
                <a:latin typeface="Public Sans" pitchFamily="34" charset="0"/>
                <a:ea typeface="Public Sans" pitchFamily="34" charset="-122"/>
                <a:cs typeface="Public Sans" pitchFamily="34" charset="-120"/>
              </a:rPr>
              <a:t>React in Power Platform</a:t>
            </a:r>
            <a:endParaRPr lang="en-US" sz="1500" dirty="0"/>
          </a:p>
        </p:txBody>
      </p:sp>
      <p:sp>
        <p:nvSpPr>
          <p:cNvPr id="37" name="Text 35"/>
          <p:cNvSpPr/>
          <p:nvPr/>
        </p:nvSpPr>
        <p:spPr>
          <a:xfrm>
            <a:off x="5140873" y="7874233"/>
            <a:ext cx="5167776" cy="979394"/>
          </a:xfrm>
          <a:prstGeom prst="rect">
            <a:avLst/>
          </a:prstGeom>
          <a:noFill/>
          <a:ln/>
        </p:spPr>
        <p:txBody>
          <a:bodyPr wrap="square" lIns="25400" tIns="25400" rIns="25400" bIns="25400" rtlCol="0" anchor="t">
            <a:normAutofit/>
          </a:bodyPr>
          <a:lstStyle/>
          <a:p>
            <a:pPr algn="l" indent="0" marL="0">
              <a:lnSpc>
                <a:spcPct val="123250"/>
              </a:lnSpc>
              <a:buNone/>
            </a:pPr>
            <a:r>
              <a:rPr lang="en-US" sz="1725" dirty="0">
                <a:solidFill>
                  <a:srgbClr val="33404F"/>
                </a:solidFill>
                <a:latin typeface="Public Sans" pitchFamily="34" charset="0"/>
                <a:ea typeface="Public Sans" pitchFamily="34" charset="-122"/>
                <a:cs typeface="Public Sans" pitchFamily="34" charset="-120"/>
              </a:rPr>
              <a:t>The journey is designed once, in full: real interaction, real state, one screen the RM never leaves.</a:t>
            </a:r>
            <a:endParaRPr lang="en-US" sz="1725" dirty="0"/>
          </a:p>
        </p:txBody>
      </p:sp>
      <p:sp>
        <p:nvSpPr>
          <p:cNvPr id="38" name="Text 36"/>
          <p:cNvSpPr/>
          <p:nvPr/>
        </p:nvSpPr>
        <p:spPr>
          <a:xfrm>
            <a:off x="10348632" y="8216012"/>
            <a:ext cx="3679451" cy="295835"/>
          </a:xfrm>
          <a:prstGeom prst="rect">
            <a:avLst/>
          </a:prstGeom>
          <a:noFill/>
          <a:ln/>
        </p:spPr>
        <p:txBody>
          <a:bodyPr wrap="square" lIns="25400" tIns="25400" rIns="25400" bIns="25400" rtlCol="0" anchor="t">
            <a:normAutofit/>
          </a:bodyPr>
          <a:lstStyle/>
          <a:p>
            <a:pPr algn="l" indent="0" marL="0">
              <a:buNone/>
            </a:pPr>
            <a:r>
              <a:rPr lang="en-US" sz="1725" b="1" dirty="0">
                <a:solidFill>
                  <a:srgbClr val="33404F"/>
                </a:solidFill>
                <a:latin typeface="Public Sans" pitchFamily="34" charset="0"/>
                <a:ea typeface="Public Sans" pitchFamily="34" charset="-122"/>
                <a:cs typeface="Public Sans" pitchFamily="34" charset="-120"/>
              </a:rPr>
              <a:t>Same-day change</a:t>
            </a:r>
            <a:endParaRPr lang="en-US" sz="1725" dirty="0"/>
          </a:p>
        </p:txBody>
      </p:sp>
      <p:sp>
        <p:nvSpPr>
          <p:cNvPr id="39" name="Text 37"/>
          <p:cNvSpPr/>
          <p:nvPr/>
        </p:nvSpPr>
        <p:spPr>
          <a:xfrm>
            <a:off x="13884087" y="8216012"/>
            <a:ext cx="3679451" cy="295835"/>
          </a:xfrm>
          <a:prstGeom prst="rect">
            <a:avLst/>
          </a:prstGeom>
          <a:noFill/>
          <a:ln/>
        </p:spPr>
        <p:txBody>
          <a:bodyPr wrap="square" lIns="25400" tIns="25400" rIns="25400" bIns="25400" rtlCol="0" anchor="t">
            <a:normAutofit/>
          </a:bodyPr>
          <a:lstStyle/>
          <a:p>
            <a:pPr algn="l" indent="0" marL="0">
              <a:buNone/>
            </a:pPr>
            <a:r>
              <a:rPr lang="en-US" sz="1725" b="1" dirty="0">
                <a:solidFill>
                  <a:srgbClr val="33404F"/>
                </a:solidFill>
                <a:latin typeface="Public Sans" pitchFamily="34" charset="0"/>
                <a:ea typeface="Public Sans" pitchFamily="34" charset="-122"/>
                <a:cs typeface="Public Sans" pitchFamily="34" charset="-120"/>
              </a:rPr>
              <a:t>Shell reusable by other journeys</a:t>
            </a:r>
            <a:endParaRPr lang="en-US" sz="1725" dirty="0"/>
          </a:p>
        </p:txBody>
      </p:sp>
      <p:sp>
        <p:nvSpPr>
          <p:cNvPr id="40" name="Text 38"/>
          <p:cNvSpPr/>
          <p:nvPr/>
        </p:nvSpPr>
        <p:spPr>
          <a:xfrm>
            <a:off x="762000" y="9473522"/>
            <a:ext cx="18440399" cy="318247"/>
          </a:xfrm>
          <a:prstGeom prst="rect">
            <a:avLst/>
          </a:prstGeom>
          <a:noFill/>
          <a:ln/>
        </p:spPr>
        <p:txBody>
          <a:bodyPr wrap="square" lIns="25400" tIns="25400" rIns="25400" bIns="25400" rtlCol="0" anchor="t">
            <a:normAutofit/>
          </a:bodyPr>
          <a:lstStyle/>
          <a:p>
            <a:pPr algn="l" indent="0" marL="0">
              <a:buNone/>
            </a:pPr>
            <a:r>
              <a:rPr lang="en-US" sz="1875" dirty="0">
                <a:solidFill>
                  <a:srgbClr val="5B6675"/>
                </a:solidFill>
                <a:latin typeface="Public Sans" pitchFamily="34" charset="0"/>
                <a:ea typeface="Public Sans" pitchFamily="34" charset="-122"/>
                <a:cs typeface="Public Sans" pitchFamily="34" charset="-120"/>
              </a:rPr>
              <a:t>Nothing leaves the platform: same tenancy, same connectors, same DLP and audit as any Power Platform app.</a:t>
            </a:r>
            <a:endParaRPr lang="en-US" sz="1875"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9"/>
        </a:solidFill>
      </p:bgPr>
    </p:bg>
    <p:spTree>
      <p:nvGrpSpPr>
        <p:cNvPr id="1" name=""/>
        <p:cNvGrpSpPr/>
        <p:nvPr/>
      </p:nvGrpSpPr>
      <p:grpSpPr>
        <a:xfrm>
          <a:off x="0" y="0"/>
          <a:ext cx="0" cy="0"/>
          <a:chOff x="0" y="0"/>
          <a:chExt cx="0" cy="0"/>
        </a:xfrm>
      </p:grpSpPr>
      <p:sp>
        <p:nvSpPr>
          <p:cNvPr id="2" name="Text 0"/>
          <p:cNvSpPr/>
          <p:nvPr/>
        </p:nvSpPr>
        <p:spPr>
          <a:xfrm>
            <a:off x="838165" y="628580"/>
            <a:ext cx="10317641" cy="307041"/>
          </a:xfrm>
          <a:prstGeom prst="rect">
            <a:avLst/>
          </a:prstGeom>
          <a:noFill/>
          <a:ln/>
        </p:spPr>
        <p:txBody>
          <a:bodyPr wrap="square" lIns="25400" tIns="25400" rIns="25400" bIns="25400" rtlCol="0" anchor="t">
            <a:normAutofit/>
          </a:bodyPr>
          <a:lstStyle/>
          <a:p>
            <a:pPr algn="l" indent="0" marL="0">
              <a:buNone/>
            </a:pPr>
            <a:r>
              <a:rPr lang="en-US" sz="1650" b="1" spc="198" kern="0" dirty="0">
                <a:solidFill>
                  <a:srgbClr val="B4690E"/>
                </a:solidFill>
                <a:latin typeface="IBM Plex Mono" pitchFamily="34" charset="0"/>
                <a:ea typeface="IBM Plex Mono" pitchFamily="34" charset="-122"/>
                <a:cs typeface="IBM Plex Mono" pitchFamily="34" charset="-120"/>
              </a:rPr>
              <a:t>04 · ONE CORRECTION</a:t>
            </a:r>
            <a:endParaRPr lang="en-US" sz="1650" dirty="0"/>
          </a:p>
        </p:txBody>
      </p:sp>
      <p:sp>
        <p:nvSpPr>
          <p:cNvPr id="3" name="Text 1"/>
          <p:cNvSpPr/>
          <p:nvPr/>
        </p:nvSpPr>
        <p:spPr>
          <a:xfrm>
            <a:off x="838165" y="1011681"/>
            <a:ext cx="10317641" cy="643218"/>
          </a:xfrm>
          <a:prstGeom prst="rect">
            <a:avLst/>
          </a:prstGeom>
          <a:noFill/>
          <a:ln/>
        </p:spPr>
        <p:txBody>
          <a:bodyPr wrap="square" lIns="25400" tIns="25400" rIns="25400" bIns="25400" rtlCol="0" anchor="t">
            <a:normAutofit/>
          </a:bodyPr>
          <a:lstStyle/>
          <a:p>
            <a:pPr algn="l" indent="0" marL="0">
              <a:buNone/>
            </a:pPr>
            <a:r>
              <a:rPr lang="en-US" sz="4050" b="1" spc="-61" kern="0" dirty="0">
                <a:solidFill>
                  <a:srgbClr val="0D2E22"/>
                </a:solidFill>
                <a:latin typeface="Public Sans" pitchFamily="34" charset="0"/>
                <a:ea typeface="Public Sans" pitchFamily="34" charset="-122"/>
                <a:cs typeface="Public Sans" pitchFamily="34" charset="-120"/>
              </a:rPr>
              <a:t>Copilot Studio, not a bespoke AI service</a:t>
            </a:r>
            <a:endParaRPr lang="en-US" sz="4050" dirty="0"/>
          </a:p>
        </p:txBody>
      </p:sp>
      <p:sp>
        <p:nvSpPr>
          <p:cNvPr id="4" name="Shape 2"/>
          <p:cNvSpPr/>
          <p:nvPr/>
        </p:nvSpPr>
        <p:spPr>
          <a:xfrm>
            <a:off x="14165985" y="1127242"/>
            <a:ext cx="3283849" cy="489557"/>
          </a:xfrm>
          <a:prstGeom prst="roundRect">
            <a:avLst>
              <a:gd name="adj" fmla="val 50000"/>
            </a:avLst>
          </a:prstGeom>
          <a:solidFill>
            <a:srgbClr val="FDF6EA"/>
          </a:solidFill>
          <a:ln w="11206">
            <a:solidFill>
              <a:srgbClr val="E0C58A"/>
            </a:solidFill>
            <a:prstDash val="solid"/>
          </a:ln>
        </p:spPr>
      </p:sp>
      <p:sp>
        <p:nvSpPr>
          <p:cNvPr id="5" name="Text 3"/>
          <p:cNvSpPr/>
          <p:nvPr/>
        </p:nvSpPr>
        <p:spPr>
          <a:xfrm>
            <a:off x="14367691" y="1243223"/>
            <a:ext cx="2978952" cy="295695"/>
          </a:xfrm>
          <a:prstGeom prst="rect">
            <a:avLst/>
          </a:prstGeom>
          <a:noFill/>
          <a:ln/>
        </p:spPr>
        <p:txBody>
          <a:bodyPr wrap="none" lIns="25400" tIns="25400" rIns="25400" bIns="25400" rtlCol="0" anchor="t">
            <a:normAutofit/>
          </a:bodyPr>
          <a:lstStyle/>
          <a:p>
            <a:pPr algn="l" indent="0" marL="0">
              <a:buNone/>
            </a:pPr>
            <a:r>
              <a:rPr lang="en-US" sz="1575" b="1" dirty="0">
                <a:solidFill>
                  <a:srgbClr val="8A5410"/>
                </a:solidFill>
                <a:latin typeface="IBM Plex Mono" pitchFamily="34" charset="0"/>
                <a:ea typeface="IBM Plex Mono" pitchFamily="34" charset="-122"/>
                <a:cs typeface="IBM Plex Mono" pitchFamily="34" charset="-120"/>
              </a:rPr>
              <a:t>Was: Azure OpenAI direct</a:t>
            </a:r>
            <a:endParaRPr lang="en-US" sz="1575" dirty="0"/>
          </a:p>
        </p:txBody>
      </p:sp>
      <p:sp>
        <p:nvSpPr>
          <p:cNvPr id="6" name="Shape 4"/>
          <p:cNvSpPr/>
          <p:nvPr/>
        </p:nvSpPr>
        <p:spPr>
          <a:xfrm>
            <a:off x="838165" y="2964306"/>
            <a:ext cx="16611669" cy="3819280"/>
          </a:xfrm>
          <a:prstGeom prst="roundRect">
            <a:avLst>
              <a:gd name="adj" fmla="val 3990"/>
            </a:avLst>
          </a:prstGeom>
          <a:solidFill>
            <a:srgbClr val="FFFFFF"/>
          </a:solidFill>
          <a:ln w="11206">
            <a:solidFill>
              <a:srgbClr val="E4E9EF"/>
            </a:solidFill>
            <a:prstDash val="solid"/>
          </a:ln>
        </p:spPr>
      </p:sp>
      <p:sp>
        <p:nvSpPr>
          <p:cNvPr id="7" name="Shape 5"/>
          <p:cNvSpPr/>
          <p:nvPr/>
        </p:nvSpPr>
        <p:spPr>
          <a:xfrm>
            <a:off x="1230371" y="3517771"/>
            <a:ext cx="4661647" cy="1150704"/>
          </a:xfrm>
          <a:prstGeom prst="roundRect">
            <a:avLst>
              <a:gd name="adj" fmla="val 11589"/>
            </a:avLst>
          </a:prstGeom>
          <a:solidFill>
            <a:srgbClr val="E6F4F2"/>
          </a:solidFill>
          <a:ln w="11206">
            <a:solidFill>
              <a:srgbClr val="BFE0DC"/>
            </a:solidFill>
            <a:prstDash val="solid"/>
          </a:ln>
        </p:spPr>
      </p:sp>
      <p:sp>
        <p:nvSpPr>
          <p:cNvPr id="8" name="Text 6"/>
          <p:cNvSpPr/>
          <p:nvPr/>
        </p:nvSpPr>
        <p:spPr>
          <a:xfrm>
            <a:off x="1470072" y="3776557"/>
            <a:ext cx="4600470" cy="262218"/>
          </a:xfrm>
          <a:prstGeom prst="rect">
            <a:avLst/>
          </a:prstGeom>
          <a:noFill/>
          <a:ln/>
        </p:spPr>
        <p:txBody>
          <a:bodyPr wrap="square" lIns="25400" tIns="25400" rIns="25400" bIns="25400" rtlCol="0" anchor="t">
            <a:normAutofit/>
          </a:bodyPr>
          <a:lstStyle/>
          <a:p>
            <a:pPr algn="l" indent="0" marL="0">
              <a:buNone/>
            </a:pPr>
            <a:r>
              <a:rPr lang="en-US" sz="1350" b="1" spc="81" kern="0" dirty="0">
                <a:solidFill>
                  <a:srgbClr val="0B7A75"/>
                </a:solidFill>
                <a:latin typeface="IBM Plex Mono" pitchFamily="34" charset="0"/>
                <a:ea typeface="IBM Plex Mono" pitchFamily="34" charset="-122"/>
                <a:cs typeface="IBM Plex Mono" pitchFamily="34" charset="-120"/>
              </a:rPr>
              <a:t>CLIENT</a:t>
            </a:r>
            <a:endParaRPr lang="en-US" sz="1350" dirty="0"/>
          </a:p>
        </p:txBody>
      </p:sp>
      <p:sp>
        <p:nvSpPr>
          <p:cNvPr id="9" name="Text 7"/>
          <p:cNvSpPr/>
          <p:nvPr/>
        </p:nvSpPr>
        <p:spPr>
          <a:xfrm>
            <a:off x="1470072" y="4095925"/>
            <a:ext cx="4600470" cy="351865"/>
          </a:xfrm>
          <a:prstGeom prst="rect">
            <a:avLst/>
          </a:prstGeom>
          <a:noFill/>
          <a:ln/>
        </p:spPr>
        <p:txBody>
          <a:bodyPr wrap="square" lIns="25400" tIns="25400" rIns="25400" bIns="25400" rtlCol="0" anchor="t">
            <a:normAutofit/>
          </a:bodyPr>
          <a:lstStyle/>
          <a:p>
            <a:pPr algn="l" indent="0" marL="0">
              <a:lnSpc>
                <a:spcPct val="110500"/>
              </a:lnSpc>
              <a:buNone/>
            </a:pPr>
            <a:r>
              <a:rPr lang="en-US" sz="1950" b="1" dirty="0">
                <a:solidFill>
                  <a:srgbClr val="0D2E22"/>
                </a:solidFill>
                <a:latin typeface="Public Sans" pitchFamily="34" charset="0"/>
                <a:ea typeface="Public Sans" pitchFamily="34" charset="-122"/>
                <a:cs typeface="Public Sans" pitchFamily="34" charset="-120"/>
              </a:rPr>
              <a:t>The email asking to meet</a:t>
            </a:r>
            <a:endParaRPr lang="en-US" sz="1950" dirty="0"/>
          </a:p>
        </p:txBody>
      </p:sp>
      <p:sp>
        <p:nvSpPr>
          <p:cNvPr id="10" name="Text 8"/>
          <p:cNvSpPr/>
          <p:nvPr/>
        </p:nvSpPr>
        <p:spPr>
          <a:xfrm>
            <a:off x="5853918" y="3897021"/>
            <a:ext cx="647700" cy="430306"/>
          </a:xfrm>
          <a:prstGeom prst="rect">
            <a:avLst/>
          </a:prstGeom>
          <a:noFill/>
          <a:ln/>
        </p:spPr>
        <p:txBody>
          <a:bodyPr wrap="square" lIns="25400" tIns="25400" rIns="25400" bIns="25400" rtlCol="0" anchor="ctr">
            <a:normAutofit/>
          </a:bodyPr>
          <a:lstStyle/>
          <a:p>
            <a:pPr algn="ctr" indent="0" marL="0">
              <a:buNone/>
            </a:pPr>
            <a:r>
              <a:rPr lang="en-US" sz="2550" dirty="0">
                <a:solidFill>
                  <a:srgbClr val="8996A6"/>
                </a:solidFill>
                <a:latin typeface="Public Sans" pitchFamily="34" charset="0"/>
                <a:ea typeface="Public Sans" pitchFamily="34" charset="-122"/>
                <a:cs typeface="Public Sans" pitchFamily="34" charset="-120"/>
              </a:rPr>
              <a:t>→</a:t>
            </a:r>
            <a:endParaRPr lang="en-US" sz="2550" dirty="0"/>
          </a:p>
        </p:txBody>
      </p:sp>
      <p:sp>
        <p:nvSpPr>
          <p:cNvPr id="11" name="Shape 9"/>
          <p:cNvSpPr/>
          <p:nvPr/>
        </p:nvSpPr>
        <p:spPr>
          <a:xfrm>
            <a:off x="6463518" y="3356512"/>
            <a:ext cx="5360788" cy="1473398"/>
          </a:xfrm>
          <a:prstGeom prst="roundRect">
            <a:avLst>
              <a:gd name="adj" fmla="val 9051"/>
            </a:avLst>
          </a:prstGeom>
          <a:solidFill>
            <a:srgbClr val="F9F4F9"/>
          </a:solidFill>
          <a:ln w="16809">
            <a:solidFill>
              <a:srgbClr val="742774"/>
            </a:solidFill>
            <a:prstDash val="solid"/>
          </a:ln>
        </p:spPr>
      </p:sp>
      <p:sp>
        <p:nvSpPr>
          <p:cNvPr id="12" name="Text 10"/>
          <p:cNvSpPr/>
          <p:nvPr/>
        </p:nvSpPr>
        <p:spPr>
          <a:xfrm>
            <a:off x="6708821" y="3620900"/>
            <a:ext cx="5357199" cy="262218"/>
          </a:xfrm>
          <a:prstGeom prst="rect">
            <a:avLst/>
          </a:prstGeom>
          <a:noFill/>
          <a:ln/>
        </p:spPr>
        <p:txBody>
          <a:bodyPr wrap="square" lIns="25400" tIns="25400" rIns="25400" bIns="25400" rtlCol="0" anchor="t">
            <a:normAutofit/>
          </a:bodyPr>
          <a:lstStyle/>
          <a:p>
            <a:pPr algn="l" indent="0" marL="0">
              <a:buNone/>
            </a:pPr>
            <a:r>
              <a:rPr lang="en-US" sz="1350" b="1" spc="81" kern="0" dirty="0">
                <a:solidFill>
                  <a:srgbClr val="742774"/>
                </a:solidFill>
                <a:latin typeface="IBM Plex Mono" pitchFamily="34" charset="0"/>
                <a:ea typeface="IBM Plex Mono" pitchFamily="34" charset="-122"/>
                <a:cs typeface="IBM Plex Mono" pitchFamily="34" charset="-120"/>
              </a:rPr>
              <a:t>CODE APP</a:t>
            </a:r>
            <a:endParaRPr lang="en-US" sz="1350" dirty="0"/>
          </a:p>
        </p:txBody>
      </p:sp>
      <p:sp>
        <p:nvSpPr>
          <p:cNvPr id="13" name="Text 11"/>
          <p:cNvSpPr/>
          <p:nvPr/>
        </p:nvSpPr>
        <p:spPr>
          <a:xfrm>
            <a:off x="6708821" y="3940268"/>
            <a:ext cx="5357199" cy="351865"/>
          </a:xfrm>
          <a:prstGeom prst="rect">
            <a:avLst/>
          </a:prstGeom>
          <a:noFill/>
          <a:ln/>
        </p:spPr>
        <p:txBody>
          <a:bodyPr wrap="square" lIns="25400" tIns="25400" rIns="25400" bIns="25400" rtlCol="0" anchor="t">
            <a:normAutofit/>
          </a:bodyPr>
          <a:lstStyle/>
          <a:p>
            <a:pPr algn="l" indent="0" marL="0">
              <a:lnSpc>
                <a:spcPct val="110500"/>
              </a:lnSpc>
              <a:buNone/>
            </a:pPr>
            <a:r>
              <a:rPr lang="en-US" sz="1950" b="1" dirty="0">
                <a:solidFill>
                  <a:srgbClr val="0D2E22"/>
                </a:solidFill>
                <a:latin typeface="Public Sans" pitchFamily="34" charset="0"/>
                <a:ea typeface="Public Sans" pitchFamily="34" charset="-122"/>
                <a:cs typeface="Public Sans" pitchFamily="34" charset="-120"/>
              </a:rPr>
              <a:t>The RM's one screen</a:t>
            </a:r>
            <a:endParaRPr lang="en-US" sz="1950" dirty="0"/>
          </a:p>
        </p:txBody>
      </p:sp>
      <p:sp>
        <p:nvSpPr>
          <p:cNvPr id="14" name="Text 12"/>
          <p:cNvSpPr/>
          <p:nvPr/>
        </p:nvSpPr>
        <p:spPr>
          <a:xfrm>
            <a:off x="6708821" y="4330198"/>
            <a:ext cx="5357199" cy="273424"/>
          </a:xfrm>
          <a:prstGeom prst="rect">
            <a:avLst/>
          </a:prstGeom>
          <a:noFill/>
          <a:ln/>
        </p:spPr>
        <p:txBody>
          <a:bodyPr wrap="square" lIns="25400" tIns="25400" rIns="25400" bIns="25400" rtlCol="0" anchor="t">
            <a:normAutofit/>
          </a:bodyPr>
          <a:lstStyle/>
          <a:p>
            <a:pPr algn="l" indent="0" marL="0">
              <a:buNone/>
            </a:pPr>
            <a:r>
              <a:rPr lang="en-US" sz="1575" dirty="0">
                <a:solidFill>
                  <a:srgbClr val="5B6675"/>
                </a:solidFill>
                <a:latin typeface="Public Sans" pitchFamily="34" charset="0"/>
                <a:ea typeface="Public Sans" pitchFamily="34" charset="-122"/>
                <a:cs typeface="Public Sans" pitchFamily="34" charset="-120"/>
              </a:rPr>
              <a:t>Holds the flow, the review gates and the send.</a:t>
            </a:r>
            <a:endParaRPr lang="en-US" sz="1575" dirty="0"/>
          </a:p>
        </p:txBody>
      </p:sp>
      <p:sp>
        <p:nvSpPr>
          <p:cNvPr id="15" name="Text 13"/>
          <p:cNvSpPr/>
          <p:nvPr/>
        </p:nvSpPr>
        <p:spPr>
          <a:xfrm>
            <a:off x="11786206" y="3897021"/>
            <a:ext cx="647700" cy="430306"/>
          </a:xfrm>
          <a:prstGeom prst="rect">
            <a:avLst/>
          </a:prstGeom>
          <a:noFill/>
          <a:ln/>
        </p:spPr>
        <p:txBody>
          <a:bodyPr wrap="square" lIns="25400" tIns="25400" rIns="25400" bIns="25400" rtlCol="0" anchor="ctr">
            <a:normAutofit/>
          </a:bodyPr>
          <a:lstStyle/>
          <a:p>
            <a:pPr algn="ctr" indent="0" marL="0">
              <a:buNone/>
            </a:pPr>
            <a:r>
              <a:rPr lang="en-US" sz="2550" dirty="0">
                <a:solidFill>
                  <a:srgbClr val="B4690E"/>
                </a:solidFill>
                <a:latin typeface="Public Sans" pitchFamily="34" charset="0"/>
                <a:ea typeface="Public Sans" pitchFamily="34" charset="-122"/>
                <a:cs typeface="Public Sans" pitchFamily="34" charset="-120"/>
              </a:rPr>
              <a:t>⇄</a:t>
            </a:r>
            <a:endParaRPr lang="en-US" sz="2550" dirty="0"/>
          </a:p>
        </p:txBody>
      </p:sp>
      <p:sp>
        <p:nvSpPr>
          <p:cNvPr id="16" name="Shape 14"/>
          <p:cNvSpPr/>
          <p:nvPr/>
        </p:nvSpPr>
        <p:spPr>
          <a:xfrm>
            <a:off x="12395806" y="3356512"/>
            <a:ext cx="4661822" cy="1473398"/>
          </a:xfrm>
          <a:prstGeom prst="roundRect">
            <a:avLst>
              <a:gd name="adj" fmla="val 9051"/>
            </a:avLst>
          </a:prstGeom>
          <a:solidFill>
            <a:srgbClr val="FDF6EA"/>
          </a:solidFill>
          <a:ln w="16809">
            <a:solidFill>
              <a:srgbClr val="ECCFA3"/>
            </a:solidFill>
            <a:prstDash val="solid"/>
          </a:ln>
        </p:spPr>
      </p:sp>
      <p:sp>
        <p:nvSpPr>
          <p:cNvPr id="17" name="Text 15"/>
          <p:cNvSpPr/>
          <p:nvPr/>
        </p:nvSpPr>
        <p:spPr>
          <a:xfrm>
            <a:off x="12641110" y="3620900"/>
            <a:ext cx="4588336" cy="262218"/>
          </a:xfrm>
          <a:prstGeom prst="rect">
            <a:avLst/>
          </a:prstGeom>
          <a:noFill/>
          <a:ln/>
        </p:spPr>
        <p:txBody>
          <a:bodyPr wrap="square" lIns="25400" tIns="25400" rIns="25400" bIns="25400" rtlCol="0" anchor="t">
            <a:normAutofit/>
          </a:bodyPr>
          <a:lstStyle/>
          <a:p>
            <a:pPr algn="l" indent="0" marL="0">
              <a:buNone/>
            </a:pPr>
            <a:r>
              <a:rPr lang="en-US" sz="1350" b="1" spc="81" kern="0" dirty="0">
                <a:solidFill>
                  <a:srgbClr val="B4690E"/>
                </a:solidFill>
                <a:latin typeface="IBM Plex Mono" pitchFamily="34" charset="0"/>
                <a:ea typeface="IBM Plex Mono" pitchFamily="34" charset="-122"/>
                <a:cs typeface="IBM Plex Mono" pitchFamily="34" charset="-120"/>
              </a:rPr>
              <a:t>COPILOT STUDIO AGENT</a:t>
            </a:r>
            <a:endParaRPr lang="en-US" sz="1350" dirty="0"/>
          </a:p>
        </p:txBody>
      </p:sp>
      <p:sp>
        <p:nvSpPr>
          <p:cNvPr id="18" name="Text 16"/>
          <p:cNvSpPr/>
          <p:nvPr/>
        </p:nvSpPr>
        <p:spPr>
          <a:xfrm>
            <a:off x="12641110" y="3940268"/>
            <a:ext cx="4588336" cy="351865"/>
          </a:xfrm>
          <a:prstGeom prst="rect">
            <a:avLst/>
          </a:prstGeom>
          <a:noFill/>
          <a:ln/>
        </p:spPr>
        <p:txBody>
          <a:bodyPr wrap="square" lIns="25400" tIns="25400" rIns="25400" bIns="25400" rtlCol="0" anchor="t">
            <a:normAutofit/>
          </a:bodyPr>
          <a:lstStyle/>
          <a:p>
            <a:pPr algn="l" indent="0" marL="0">
              <a:lnSpc>
                <a:spcPct val="110500"/>
              </a:lnSpc>
              <a:buNone/>
            </a:pPr>
            <a:r>
              <a:rPr lang="en-US" sz="1950" b="1" dirty="0">
                <a:solidFill>
                  <a:srgbClr val="0D2E22"/>
                </a:solidFill>
                <a:latin typeface="Public Sans" pitchFamily="34" charset="0"/>
                <a:ea typeface="Public Sans" pitchFamily="34" charset="-122"/>
                <a:cs typeface="Public Sans" pitchFamily="34" charset="-120"/>
              </a:rPr>
              <a:t>Reads the email · drafts the invite</a:t>
            </a:r>
            <a:endParaRPr lang="en-US" sz="1950" dirty="0"/>
          </a:p>
        </p:txBody>
      </p:sp>
      <p:sp>
        <p:nvSpPr>
          <p:cNvPr id="19" name="Text 17"/>
          <p:cNvSpPr/>
          <p:nvPr/>
        </p:nvSpPr>
        <p:spPr>
          <a:xfrm>
            <a:off x="12641110" y="4330198"/>
            <a:ext cx="4588336" cy="273424"/>
          </a:xfrm>
          <a:prstGeom prst="rect">
            <a:avLst/>
          </a:prstGeom>
          <a:noFill/>
          <a:ln/>
        </p:spPr>
        <p:txBody>
          <a:bodyPr wrap="square" lIns="25400" tIns="25400" rIns="25400" bIns="25400" rtlCol="0" anchor="t">
            <a:normAutofit/>
          </a:bodyPr>
          <a:lstStyle/>
          <a:p>
            <a:pPr algn="l" indent="0" marL="0">
              <a:buNone/>
            </a:pPr>
            <a:r>
              <a:rPr lang="en-US" sz="1575" dirty="0">
                <a:solidFill>
                  <a:srgbClr val="5B6675"/>
                </a:solidFill>
                <a:latin typeface="Public Sans" pitchFamily="34" charset="0"/>
                <a:ea typeface="Public Sans" pitchFamily="34" charset="-122"/>
                <a:cs typeface="Public Sans" pitchFamily="34" charset="-120"/>
              </a:rPr>
              <a:t>Two jobs. No decisions, no sends.</a:t>
            </a:r>
            <a:endParaRPr lang="en-US" sz="1575" dirty="0"/>
          </a:p>
        </p:txBody>
      </p:sp>
      <p:sp>
        <p:nvSpPr>
          <p:cNvPr id="20" name="Shape 18"/>
          <p:cNvSpPr/>
          <p:nvPr/>
        </p:nvSpPr>
        <p:spPr>
          <a:xfrm>
            <a:off x="1230371" y="5077490"/>
            <a:ext cx="15827257" cy="11206"/>
          </a:xfrm>
          <a:prstGeom prst="rect">
            <a:avLst/>
          </a:prstGeom>
          <a:solidFill>
            <a:srgbClr val="EEF1F5"/>
          </a:solidFill>
          <a:ln/>
        </p:spPr>
      </p:sp>
      <p:sp>
        <p:nvSpPr>
          <p:cNvPr id="21" name="Text 19"/>
          <p:cNvSpPr/>
          <p:nvPr/>
        </p:nvSpPr>
        <p:spPr>
          <a:xfrm>
            <a:off x="1230371" y="5444308"/>
            <a:ext cx="2496495" cy="273424"/>
          </a:xfrm>
          <a:prstGeom prst="rect">
            <a:avLst/>
          </a:prstGeom>
          <a:noFill/>
          <a:ln/>
        </p:spPr>
        <p:txBody>
          <a:bodyPr wrap="square" lIns="25400" tIns="25400" rIns="25400" bIns="25400" rtlCol="0" anchor="t">
            <a:normAutofit/>
          </a:bodyPr>
          <a:lstStyle/>
          <a:p>
            <a:pPr algn="l" indent="0" marL="0">
              <a:buNone/>
            </a:pPr>
            <a:r>
              <a:rPr lang="en-US" sz="1425" b="1" spc="86" kern="0" dirty="0">
                <a:solidFill>
                  <a:srgbClr val="8996A6"/>
                </a:solidFill>
                <a:latin typeface="IBM Plex Mono" pitchFamily="34" charset="0"/>
                <a:ea typeface="IBM Plex Mono" pitchFamily="34" charset="-122"/>
                <a:cs typeface="IBM Plex Mono" pitchFamily="34" charset="-120"/>
              </a:rPr>
              <a:t>UNCHANGED AROUND IT</a:t>
            </a:r>
            <a:endParaRPr lang="en-US" sz="1425" dirty="0"/>
          </a:p>
        </p:txBody>
      </p:sp>
      <p:sp>
        <p:nvSpPr>
          <p:cNvPr id="22" name="Shape 20"/>
          <p:cNvSpPr/>
          <p:nvPr/>
        </p:nvSpPr>
        <p:spPr>
          <a:xfrm>
            <a:off x="3652242" y="5336276"/>
            <a:ext cx="3725780" cy="451387"/>
          </a:xfrm>
          <a:prstGeom prst="roundRect">
            <a:avLst>
              <a:gd name="adj" fmla="val 50000"/>
            </a:avLst>
          </a:prstGeom>
          <a:solidFill>
            <a:srgbClr val="EDF1E0"/>
          </a:solidFill>
          <a:ln w="11206">
            <a:solidFill>
              <a:srgbClr val="DBE6CD"/>
            </a:solidFill>
            <a:prstDash val="solid"/>
          </a:ln>
        </p:spPr>
      </p:sp>
      <p:sp>
        <p:nvSpPr>
          <p:cNvPr id="23" name="Text 21"/>
          <p:cNvSpPr/>
          <p:nvPr/>
        </p:nvSpPr>
        <p:spPr>
          <a:xfrm>
            <a:off x="3834898" y="5433207"/>
            <a:ext cx="3472242" cy="295625"/>
          </a:xfrm>
          <a:prstGeom prst="rect">
            <a:avLst/>
          </a:prstGeom>
          <a:noFill/>
          <a:ln/>
        </p:spPr>
        <p:txBody>
          <a:bodyPr wrap="square" lIns="25400" tIns="25400" rIns="25400" bIns="25400" rtlCol="0" anchor="t">
            <a:normAutofit/>
          </a:bodyPr>
          <a:lstStyle/>
          <a:p>
            <a:pPr algn="l" indent="0" marL="0">
              <a:buNone/>
            </a:pPr>
            <a:r>
              <a:rPr lang="en-US" sz="1575" b="1" dirty="0">
                <a:solidFill>
                  <a:srgbClr val="1C5C43"/>
                </a:solidFill>
                <a:latin typeface="IBM Plex Mono" pitchFamily="34" charset="0"/>
                <a:ea typeface="IBM Plex Mono" pitchFamily="34" charset="-122"/>
                <a:cs typeface="IBM Plex Mono" pitchFamily="34" charset="-120"/>
              </a:rPr>
              <a:t>Graph — availability &amp; rooms</a:t>
            </a:r>
            <a:endParaRPr lang="en-US" sz="1575" dirty="0"/>
          </a:p>
        </p:txBody>
      </p:sp>
      <p:sp>
        <p:nvSpPr>
          <p:cNvPr id="24" name="Shape 22"/>
          <p:cNvSpPr/>
          <p:nvPr/>
        </p:nvSpPr>
        <p:spPr>
          <a:xfrm>
            <a:off x="7530353" y="5336276"/>
            <a:ext cx="3605667" cy="451387"/>
          </a:xfrm>
          <a:prstGeom prst="roundRect">
            <a:avLst>
              <a:gd name="adj" fmla="val 50000"/>
            </a:avLst>
          </a:prstGeom>
          <a:solidFill>
            <a:srgbClr val="E7F0E9"/>
          </a:solidFill>
          <a:ln w="11206">
            <a:solidFill>
              <a:srgbClr val="BCD8C9"/>
            </a:solidFill>
            <a:prstDash val="solid"/>
          </a:ln>
        </p:spPr>
      </p:sp>
      <p:sp>
        <p:nvSpPr>
          <p:cNvPr id="25" name="Text 23"/>
          <p:cNvSpPr/>
          <p:nvPr/>
        </p:nvSpPr>
        <p:spPr>
          <a:xfrm>
            <a:off x="7713008" y="5433207"/>
            <a:ext cx="3348526" cy="295625"/>
          </a:xfrm>
          <a:prstGeom prst="rect">
            <a:avLst/>
          </a:prstGeom>
          <a:noFill/>
          <a:ln/>
        </p:spPr>
        <p:txBody>
          <a:bodyPr wrap="square" lIns="25400" tIns="25400" rIns="25400" bIns="25400" rtlCol="0" anchor="t">
            <a:normAutofit/>
          </a:bodyPr>
          <a:lstStyle/>
          <a:p>
            <a:pPr algn="l" indent="0" marL="0">
              <a:buNone/>
            </a:pPr>
            <a:r>
              <a:rPr lang="en-US" sz="1575" b="1" dirty="0">
                <a:solidFill>
                  <a:srgbClr val="14513A"/>
                </a:solidFill>
                <a:latin typeface="IBM Plex Mono" pitchFamily="34" charset="0"/>
                <a:ea typeface="IBM Plex Mono" pitchFamily="34" charset="-122"/>
                <a:cs typeface="IBM Plex Mono" pitchFamily="34" charset="-120"/>
              </a:rPr>
              <a:t>Power Automate — fulfilment</a:t>
            </a:r>
            <a:endParaRPr lang="en-US" sz="1575" dirty="0"/>
          </a:p>
        </p:txBody>
      </p:sp>
      <p:sp>
        <p:nvSpPr>
          <p:cNvPr id="26" name="Shape 24"/>
          <p:cNvSpPr/>
          <p:nvPr/>
        </p:nvSpPr>
        <p:spPr>
          <a:xfrm>
            <a:off x="11288351" y="5336276"/>
            <a:ext cx="3365792" cy="451387"/>
          </a:xfrm>
          <a:prstGeom prst="roundRect">
            <a:avLst>
              <a:gd name="adj" fmla="val 50000"/>
            </a:avLst>
          </a:prstGeom>
          <a:solidFill>
            <a:srgbClr val="EEF0F7"/>
          </a:solidFill>
          <a:ln w="11206">
            <a:solidFill>
              <a:srgbClr val="C4C8EE"/>
            </a:solidFill>
            <a:prstDash val="solid"/>
          </a:ln>
        </p:spPr>
      </p:sp>
      <p:sp>
        <p:nvSpPr>
          <p:cNvPr id="27" name="Text 25"/>
          <p:cNvSpPr/>
          <p:nvPr/>
        </p:nvSpPr>
        <p:spPr>
          <a:xfrm>
            <a:off x="11471006" y="5433207"/>
            <a:ext cx="3101454" cy="295625"/>
          </a:xfrm>
          <a:prstGeom prst="rect">
            <a:avLst/>
          </a:prstGeom>
          <a:noFill/>
          <a:ln/>
        </p:spPr>
        <p:txBody>
          <a:bodyPr wrap="square" lIns="25400" tIns="25400" rIns="25400" bIns="25400" rtlCol="0" anchor="t">
            <a:normAutofit/>
          </a:bodyPr>
          <a:lstStyle/>
          <a:p>
            <a:pPr algn="l" indent="0" marL="0">
              <a:buNone/>
            </a:pPr>
            <a:r>
              <a:rPr lang="en-US" sz="1575" b="1" dirty="0">
                <a:solidFill>
                  <a:srgbClr val="5059C9"/>
                </a:solidFill>
                <a:latin typeface="IBM Plex Mono" pitchFamily="34" charset="0"/>
                <a:ea typeface="IBM Plex Mono" pitchFamily="34" charset="-122"/>
                <a:cs typeface="IBM Plex Mono" pitchFamily="34" charset="-120"/>
              </a:rPr>
              <a:t>Dataverse — state &amp; audit</a:t>
            </a:r>
            <a:endParaRPr lang="en-US" sz="1575" dirty="0"/>
          </a:p>
        </p:txBody>
      </p:sp>
      <p:sp>
        <p:nvSpPr>
          <p:cNvPr id="28" name="Shape 26"/>
          <p:cNvSpPr/>
          <p:nvPr/>
        </p:nvSpPr>
        <p:spPr>
          <a:xfrm>
            <a:off x="1230371" y="5939993"/>
            <a:ext cx="2285650" cy="451387"/>
          </a:xfrm>
          <a:prstGeom prst="roundRect">
            <a:avLst>
              <a:gd name="adj" fmla="val 50000"/>
            </a:avLst>
          </a:prstGeom>
          <a:solidFill>
            <a:srgbClr val="F4F6F9"/>
          </a:solidFill>
          <a:ln w="11206">
            <a:solidFill>
              <a:srgbClr val="DBE2EA"/>
            </a:solidFill>
            <a:prstDash val="solid"/>
          </a:ln>
        </p:spPr>
      </p:sp>
      <p:sp>
        <p:nvSpPr>
          <p:cNvPr id="29" name="Text 27"/>
          <p:cNvSpPr/>
          <p:nvPr/>
        </p:nvSpPr>
        <p:spPr>
          <a:xfrm>
            <a:off x="1413027" y="6036924"/>
            <a:ext cx="1996538" cy="295625"/>
          </a:xfrm>
          <a:prstGeom prst="rect">
            <a:avLst/>
          </a:prstGeom>
          <a:noFill/>
          <a:ln/>
        </p:spPr>
        <p:txBody>
          <a:bodyPr wrap="square" lIns="25400" tIns="25400" rIns="25400" bIns="25400" rtlCol="0" anchor="t">
            <a:normAutofit/>
          </a:bodyPr>
          <a:lstStyle/>
          <a:p>
            <a:pPr algn="l" indent="0" marL="0">
              <a:buNone/>
            </a:pPr>
            <a:r>
              <a:rPr lang="en-US" sz="1575" b="1" dirty="0">
                <a:solidFill>
                  <a:srgbClr val="5B6675"/>
                </a:solidFill>
                <a:latin typeface="IBM Plex Mono" pitchFamily="34" charset="0"/>
                <a:ea typeface="IBM Plex Mono" pitchFamily="34" charset="-122"/>
                <a:cs typeface="IBM Plex Mono" pitchFamily="34" charset="-120"/>
              </a:rPr>
              <a:t>Entra — identity</a:t>
            </a:r>
            <a:endParaRPr lang="en-US" sz="1575" dirty="0"/>
          </a:p>
        </p:txBody>
      </p:sp>
      <p:sp>
        <p:nvSpPr>
          <p:cNvPr id="30" name="Shape 28"/>
          <p:cNvSpPr/>
          <p:nvPr/>
        </p:nvSpPr>
        <p:spPr>
          <a:xfrm>
            <a:off x="838165" y="8074013"/>
            <a:ext cx="5397558" cy="1679481"/>
          </a:xfrm>
          <a:prstGeom prst="roundRect">
            <a:avLst>
              <a:gd name="adj" fmla="val 7940"/>
            </a:avLst>
          </a:prstGeom>
          <a:solidFill>
            <a:srgbClr val="FFFFFF"/>
          </a:solidFill>
          <a:ln w="11206">
            <a:solidFill>
              <a:srgbClr val="E4E9EF"/>
            </a:solidFill>
            <a:prstDash val="solid"/>
          </a:ln>
        </p:spPr>
      </p:sp>
      <p:sp>
        <p:nvSpPr>
          <p:cNvPr id="31" name="Text 29"/>
          <p:cNvSpPr/>
          <p:nvPr/>
        </p:nvSpPr>
        <p:spPr>
          <a:xfrm>
            <a:off x="1135121" y="8389879"/>
            <a:ext cx="5284011" cy="340659"/>
          </a:xfrm>
          <a:prstGeom prst="rect">
            <a:avLst/>
          </a:prstGeom>
          <a:noFill/>
          <a:ln/>
        </p:spPr>
        <p:txBody>
          <a:bodyPr wrap="square" lIns="25400" tIns="25400" rIns="25400" bIns="25400" rtlCol="0" anchor="t">
            <a:normAutofit/>
          </a:bodyPr>
          <a:lstStyle/>
          <a:p>
            <a:pPr algn="l" indent="0" marL="0">
              <a:buNone/>
            </a:pPr>
            <a:r>
              <a:rPr lang="en-US" sz="2025" b="1" dirty="0">
                <a:solidFill>
                  <a:srgbClr val="0D2E22"/>
                </a:solidFill>
                <a:latin typeface="Public Sans" pitchFamily="34" charset="0"/>
                <a:ea typeface="Public Sans" pitchFamily="34" charset="-122"/>
                <a:cs typeface="Public Sans" pitchFamily="34" charset="-120"/>
              </a:rPr>
              <a:t>Nothing new to stand up</a:t>
            </a:r>
            <a:endParaRPr lang="en-US" sz="2025" dirty="0"/>
          </a:p>
        </p:txBody>
      </p:sp>
      <p:sp>
        <p:nvSpPr>
          <p:cNvPr id="32" name="Text 30"/>
          <p:cNvSpPr/>
          <p:nvPr/>
        </p:nvSpPr>
        <p:spPr>
          <a:xfrm>
            <a:off x="1135121" y="8787687"/>
            <a:ext cx="4947756" cy="688041"/>
          </a:xfrm>
          <a:prstGeom prst="rect">
            <a:avLst/>
          </a:prstGeom>
          <a:noFill/>
          <a:ln/>
        </p:spPr>
        <p:txBody>
          <a:bodyPr wrap="square" lIns="25400" tIns="25400" rIns="25400" bIns="25400" rtlCol="0" anchor="t">
            <a:normAutofit/>
          </a:bodyPr>
          <a:lstStyle/>
          <a:p>
            <a:pPr algn="l" indent="0" marL="0">
              <a:lnSpc>
                <a:spcPct val="127500"/>
              </a:lnSpc>
              <a:buNone/>
            </a:pPr>
            <a:r>
              <a:rPr lang="en-US" sz="1725" dirty="0">
                <a:solidFill>
                  <a:srgbClr val="5B6675"/>
                </a:solidFill>
                <a:latin typeface="Public Sans" pitchFamily="34" charset="0"/>
                <a:ea typeface="Public Sans" pitchFamily="34" charset="-122"/>
                <a:cs typeface="Public Sans" pitchFamily="34" charset="-120"/>
              </a:rPr>
              <a:t>No AI service to provision, key-manage or bill separately. One connector call from the app.</a:t>
            </a:r>
            <a:endParaRPr lang="en-US" sz="1725" dirty="0"/>
          </a:p>
        </p:txBody>
      </p:sp>
      <p:sp>
        <p:nvSpPr>
          <p:cNvPr id="33" name="Shape 31"/>
          <p:cNvSpPr/>
          <p:nvPr/>
        </p:nvSpPr>
        <p:spPr>
          <a:xfrm>
            <a:off x="6445133" y="8074013"/>
            <a:ext cx="5397558" cy="1679481"/>
          </a:xfrm>
          <a:prstGeom prst="roundRect">
            <a:avLst>
              <a:gd name="adj" fmla="val 7940"/>
            </a:avLst>
          </a:prstGeom>
          <a:solidFill>
            <a:srgbClr val="FFFFFF"/>
          </a:solidFill>
          <a:ln w="11206">
            <a:solidFill>
              <a:srgbClr val="E4E9EF"/>
            </a:solidFill>
            <a:prstDash val="solid"/>
          </a:ln>
        </p:spPr>
      </p:sp>
      <p:sp>
        <p:nvSpPr>
          <p:cNvPr id="34" name="Text 32"/>
          <p:cNvSpPr/>
          <p:nvPr/>
        </p:nvSpPr>
        <p:spPr>
          <a:xfrm>
            <a:off x="6742088" y="8351884"/>
            <a:ext cx="5284011" cy="340659"/>
          </a:xfrm>
          <a:prstGeom prst="rect">
            <a:avLst/>
          </a:prstGeom>
          <a:noFill/>
          <a:ln/>
        </p:spPr>
        <p:txBody>
          <a:bodyPr wrap="square" lIns="25400" tIns="25400" rIns="25400" bIns="25400" rtlCol="0" anchor="t">
            <a:normAutofit/>
          </a:bodyPr>
          <a:lstStyle/>
          <a:p>
            <a:pPr algn="l" indent="0" marL="0">
              <a:buNone/>
            </a:pPr>
            <a:r>
              <a:rPr lang="en-US" sz="2025" b="1" dirty="0">
                <a:solidFill>
                  <a:srgbClr val="0D2E22"/>
                </a:solidFill>
                <a:latin typeface="Public Sans" pitchFamily="34" charset="0"/>
                <a:ea typeface="Public Sans" pitchFamily="34" charset="-122"/>
                <a:cs typeface="Public Sans" pitchFamily="34" charset="-120"/>
              </a:rPr>
              <a:t>Inside existing governance</a:t>
            </a:r>
            <a:endParaRPr lang="en-US" sz="2025" dirty="0"/>
          </a:p>
        </p:txBody>
      </p:sp>
      <p:sp>
        <p:nvSpPr>
          <p:cNvPr id="35" name="Text 33"/>
          <p:cNvSpPr/>
          <p:nvPr/>
        </p:nvSpPr>
        <p:spPr>
          <a:xfrm>
            <a:off x="6742088" y="8749693"/>
            <a:ext cx="4947756" cy="688041"/>
          </a:xfrm>
          <a:prstGeom prst="rect">
            <a:avLst/>
          </a:prstGeom>
          <a:noFill/>
          <a:ln/>
        </p:spPr>
        <p:txBody>
          <a:bodyPr wrap="square" lIns="25400" tIns="25400" rIns="25400" bIns="25400" rtlCol="0" anchor="t">
            <a:normAutofit/>
          </a:bodyPr>
          <a:lstStyle/>
          <a:p>
            <a:pPr algn="l" indent="0" marL="0">
              <a:lnSpc>
                <a:spcPct val="127500"/>
              </a:lnSpc>
              <a:buNone/>
            </a:pPr>
            <a:r>
              <a:rPr lang="en-US" sz="1725" dirty="0">
                <a:solidFill>
                  <a:srgbClr val="5B6675"/>
                </a:solidFill>
                <a:latin typeface="Public Sans" pitchFamily="34" charset="0"/>
                <a:ea typeface="Public Sans" pitchFamily="34" charset="-122"/>
                <a:cs typeface="Public Sans" pitchFamily="34" charset="-120"/>
              </a:rPr>
              <a:t>Same tenancy, DLP and audit trail the bank already approved for Power Platform.</a:t>
            </a:r>
            <a:endParaRPr lang="en-US" sz="1725" dirty="0"/>
          </a:p>
        </p:txBody>
      </p:sp>
      <p:sp>
        <p:nvSpPr>
          <p:cNvPr id="36" name="Shape 34"/>
          <p:cNvSpPr/>
          <p:nvPr/>
        </p:nvSpPr>
        <p:spPr>
          <a:xfrm>
            <a:off x="12052100" y="8074013"/>
            <a:ext cx="5397558" cy="1679481"/>
          </a:xfrm>
          <a:prstGeom prst="roundRect">
            <a:avLst>
              <a:gd name="adj" fmla="val 7940"/>
            </a:avLst>
          </a:prstGeom>
          <a:solidFill>
            <a:srgbClr val="FFFFFF"/>
          </a:solidFill>
          <a:ln w="11206">
            <a:solidFill>
              <a:srgbClr val="E4E9EF"/>
            </a:solidFill>
            <a:prstDash val="solid"/>
          </a:ln>
        </p:spPr>
      </p:sp>
      <p:sp>
        <p:nvSpPr>
          <p:cNvPr id="37" name="Text 35"/>
          <p:cNvSpPr/>
          <p:nvPr/>
        </p:nvSpPr>
        <p:spPr>
          <a:xfrm>
            <a:off x="12349057" y="8351884"/>
            <a:ext cx="5284011" cy="340659"/>
          </a:xfrm>
          <a:prstGeom prst="rect">
            <a:avLst/>
          </a:prstGeom>
          <a:noFill/>
          <a:ln/>
        </p:spPr>
        <p:txBody>
          <a:bodyPr wrap="square" lIns="25400" tIns="25400" rIns="25400" bIns="25400" rtlCol="0" anchor="t">
            <a:normAutofit/>
          </a:bodyPr>
          <a:lstStyle/>
          <a:p>
            <a:pPr algn="l" indent="0" marL="0">
              <a:buNone/>
            </a:pPr>
            <a:r>
              <a:rPr lang="en-US" sz="2025" b="1" dirty="0">
                <a:solidFill>
                  <a:srgbClr val="0D2E22"/>
                </a:solidFill>
                <a:latin typeface="Public Sans" pitchFamily="34" charset="0"/>
                <a:ea typeface="Public Sans" pitchFamily="34" charset="-122"/>
                <a:cs typeface="Public Sans" pitchFamily="34" charset="-120"/>
              </a:rPr>
              <a:t>Changed without a release</a:t>
            </a:r>
            <a:endParaRPr lang="en-US" sz="2025" dirty="0"/>
          </a:p>
        </p:txBody>
      </p:sp>
      <p:sp>
        <p:nvSpPr>
          <p:cNvPr id="38" name="Text 36"/>
          <p:cNvSpPr/>
          <p:nvPr/>
        </p:nvSpPr>
        <p:spPr>
          <a:xfrm>
            <a:off x="12349057" y="8749693"/>
            <a:ext cx="4947756" cy="688041"/>
          </a:xfrm>
          <a:prstGeom prst="rect">
            <a:avLst/>
          </a:prstGeom>
          <a:noFill/>
          <a:ln/>
        </p:spPr>
        <p:txBody>
          <a:bodyPr wrap="square" lIns="25400" tIns="25400" rIns="25400" bIns="25400" rtlCol="0" anchor="t">
            <a:normAutofit/>
          </a:bodyPr>
          <a:lstStyle/>
          <a:p>
            <a:pPr algn="l" indent="0" marL="0">
              <a:lnSpc>
                <a:spcPct val="127500"/>
              </a:lnSpc>
              <a:buNone/>
            </a:pPr>
            <a:r>
              <a:rPr lang="en-US" sz="1725" dirty="0">
                <a:solidFill>
                  <a:srgbClr val="5B6675"/>
                </a:solidFill>
                <a:latin typeface="Public Sans" pitchFamily="34" charset="0"/>
                <a:ea typeface="Public Sans" pitchFamily="34" charset="-122"/>
                <a:cs typeface="Public Sans" pitchFamily="34" charset="-120"/>
              </a:rPr>
              <a:t>Tone, topics and guardrails are maintained in Copilot Studio, not shipped as code.</a:t>
            </a:r>
            <a:endParaRPr lang="en-US" sz="1725"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9"/>
        </a:solidFill>
      </p:bgPr>
    </p:bg>
    <p:spTree>
      <p:nvGrpSpPr>
        <p:cNvPr id="1" name=""/>
        <p:cNvGrpSpPr/>
        <p:nvPr/>
      </p:nvGrpSpPr>
      <p:grpSpPr>
        <a:xfrm>
          <a:off x="0" y="0"/>
          <a:ext cx="0" cy="0"/>
          <a:chOff x="0" y="0"/>
          <a:chExt cx="0" cy="0"/>
        </a:xfrm>
      </p:grpSpPr>
      <p:sp>
        <p:nvSpPr>
          <p:cNvPr id="2" name="Text 0"/>
          <p:cNvSpPr/>
          <p:nvPr/>
        </p:nvSpPr>
        <p:spPr>
          <a:xfrm>
            <a:off x="838165" y="628580"/>
            <a:ext cx="18272835" cy="307041"/>
          </a:xfrm>
          <a:prstGeom prst="rect">
            <a:avLst/>
          </a:prstGeom>
          <a:noFill/>
          <a:ln/>
        </p:spPr>
        <p:txBody>
          <a:bodyPr wrap="square" lIns="25400" tIns="25400" rIns="25400" bIns="25400" rtlCol="0" anchor="t">
            <a:normAutofit/>
          </a:bodyPr>
          <a:lstStyle/>
          <a:p>
            <a:pPr algn="l" indent="0" marL="0">
              <a:buNone/>
            </a:pPr>
            <a:r>
              <a:rPr lang="en-US" sz="1650" b="1" spc="198" kern="0" dirty="0">
                <a:solidFill>
                  <a:srgbClr val="1C5C43"/>
                </a:solidFill>
                <a:latin typeface="IBM Plex Mono" pitchFamily="34" charset="0"/>
                <a:ea typeface="IBM Plex Mono" pitchFamily="34" charset="-122"/>
                <a:cs typeface="IBM Plex Mono" pitchFamily="34" charset="-120"/>
              </a:rPr>
              <a:t>05 · SPEED TO ITERATE</a:t>
            </a:r>
            <a:endParaRPr lang="en-US" sz="1650" dirty="0"/>
          </a:p>
        </p:txBody>
      </p:sp>
      <p:sp>
        <p:nvSpPr>
          <p:cNvPr id="3" name="Text 1"/>
          <p:cNvSpPr/>
          <p:nvPr/>
        </p:nvSpPr>
        <p:spPr>
          <a:xfrm>
            <a:off x="838165" y="1689987"/>
            <a:ext cx="18272835" cy="643218"/>
          </a:xfrm>
          <a:prstGeom prst="rect">
            <a:avLst/>
          </a:prstGeom>
          <a:noFill/>
          <a:ln/>
        </p:spPr>
        <p:txBody>
          <a:bodyPr wrap="square" lIns="25400" tIns="25400" rIns="25400" bIns="25400" rtlCol="0" anchor="t">
            <a:normAutofit/>
          </a:bodyPr>
          <a:lstStyle/>
          <a:p>
            <a:pPr algn="l" indent="0" marL="0">
              <a:buNone/>
            </a:pPr>
            <a:r>
              <a:rPr lang="en-US" sz="4050" b="1" spc="-61" kern="0" dirty="0">
                <a:solidFill>
                  <a:srgbClr val="0D2E22"/>
                </a:solidFill>
                <a:latin typeface="Public Sans" pitchFamily="34" charset="0"/>
                <a:ea typeface="Public Sans" pitchFamily="34" charset="-122"/>
                <a:cs typeface="Public Sans" pitchFamily="34" charset="-120"/>
              </a:rPr>
              <a:t>Wireframes to a clickable app in two weeks</a:t>
            </a:r>
            <a:endParaRPr lang="en-US" sz="4050" dirty="0"/>
          </a:p>
        </p:txBody>
      </p:sp>
      <p:sp>
        <p:nvSpPr>
          <p:cNvPr id="4" name="Text 2"/>
          <p:cNvSpPr/>
          <p:nvPr/>
        </p:nvSpPr>
        <p:spPr>
          <a:xfrm>
            <a:off x="838165" y="3087571"/>
            <a:ext cx="14668499" cy="407894"/>
          </a:xfrm>
          <a:prstGeom prst="rect">
            <a:avLst/>
          </a:prstGeom>
          <a:noFill/>
          <a:ln/>
        </p:spPr>
        <p:txBody>
          <a:bodyPr wrap="square" lIns="25400" tIns="25400" rIns="25400" bIns="25400" rtlCol="0" anchor="t">
            <a:normAutofit/>
          </a:bodyPr>
          <a:lstStyle/>
          <a:p>
            <a:pPr algn="l" indent="0" marL="0">
              <a:lnSpc>
                <a:spcPct val="123250"/>
              </a:lnSpc>
              <a:buNone/>
            </a:pPr>
            <a:r>
              <a:rPr lang="en-US" sz="2025" dirty="0">
                <a:solidFill>
                  <a:srgbClr val="5B6675"/>
                </a:solidFill>
                <a:latin typeface="Public Sans" pitchFamily="34" charset="0"/>
                <a:ea typeface="Public Sans" pitchFamily="34" charset="-122"/>
                <a:cs typeface="Public Sans" pitchFamily="34" charset="-120"/>
              </a:rPr>
              <a:t>Not a projection — this is where we already are. A code app is ordinary engineering, so the loop is short.</a:t>
            </a:r>
            <a:endParaRPr lang="en-US" sz="2025" dirty="0"/>
          </a:p>
        </p:txBody>
      </p:sp>
      <p:sp>
        <p:nvSpPr>
          <p:cNvPr id="5" name="Shape 3"/>
          <p:cNvSpPr/>
          <p:nvPr/>
        </p:nvSpPr>
        <p:spPr>
          <a:xfrm>
            <a:off x="1180995" y="4669001"/>
            <a:ext cx="15926009" cy="37995"/>
          </a:xfrm>
          <a:prstGeom prst="roundRect">
            <a:avLst>
              <a:gd name="adj" fmla="val 50000"/>
            </a:avLst>
          </a:prstGeom>
          <a:solidFill>
            <a:srgbClr val="DBE2EA"/>
          </a:solidFill>
          <a:ln/>
        </p:spPr>
      </p:sp>
      <p:sp>
        <p:nvSpPr>
          <p:cNvPr id="6" name="Shape 4"/>
          <p:cNvSpPr/>
          <p:nvPr/>
        </p:nvSpPr>
        <p:spPr>
          <a:xfrm>
            <a:off x="1180995" y="4669001"/>
            <a:ext cx="10204706" cy="37995"/>
          </a:xfrm>
          <a:prstGeom prst="roundRect">
            <a:avLst>
              <a:gd name="adj" fmla="val 50000"/>
            </a:avLst>
          </a:prstGeom>
          <a:solidFill>
            <a:srgbClr val="1C5C43"/>
          </a:solidFill>
          <a:ln/>
        </p:spPr>
      </p:sp>
      <p:sp>
        <p:nvSpPr>
          <p:cNvPr id="7" name="Shape 5"/>
          <p:cNvSpPr/>
          <p:nvPr/>
        </p:nvSpPr>
        <p:spPr>
          <a:xfrm>
            <a:off x="914330" y="4421421"/>
            <a:ext cx="533330" cy="533330"/>
          </a:xfrm>
          <a:prstGeom prst="ellipse">
            <a:avLst/>
          </a:prstGeom>
          <a:solidFill>
            <a:srgbClr val="1C5C43"/>
          </a:solidFill>
          <a:ln/>
        </p:spPr>
      </p:sp>
      <p:sp>
        <p:nvSpPr>
          <p:cNvPr id="8" name="Text 6"/>
          <p:cNvSpPr/>
          <p:nvPr/>
        </p:nvSpPr>
        <p:spPr>
          <a:xfrm>
            <a:off x="876230" y="4421421"/>
            <a:ext cx="609530" cy="571430"/>
          </a:xfrm>
          <a:prstGeom prst="rect">
            <a:avLst/>
          </a:prstGeom>
          <a:noFill/>
          <a:ln/>
        </p:spPr>
        <p:txBody>
          <a:bodyPr wrap="square" lIns="25400" tIns="25400" rIns="25400" bIns="25400" rtlCol="0" anchor="ctr">
            <a:normAutofit/>
          </a:bodyPr>
          <a:lstStyle/>
          <a:p>
            <a:pPr algn="ctr" indent="0" marL="0">
              <a:buNone/>
            </a:pPr>
            <a:r>
              <a:rPr lang="en-US" sz="1800" b="1" dirty="0">
                <a:solidFill>
                  <a:srgbClr val="FFFFFF"/>
                </a:solidFill>
                <a:latin typeface="IBM Plex Mono" pitchFamily="34" charset="0"/>
                <a:ea typeface="IBM Plex Mono" pitchFamily="34" charset="-122"/>
                <a:cs typeface="IBM Plex Mono" pitchFamily="34" charset="-120"/>
              </a:rPr>
              <a:t>✓</a:t>
            </a:r>
            <a:endParaRPr lang="en-US" sz="1800" dirty="0"/>
          </a:p>
        </p:txBody>
      </p:sp>
      <p:sp>
        <p:nvSpPr>
          <p:cNvPr id="9" name="Shape 7"/>
          <p:cNvSpPr/>
          <p:nvPr/>
        </p:nvSpPr>
        <p:spPr>
          <a:xfrm>
            <a:off x="5095699" y="4421421"/>
            <a:ext cx="533330" cy="533330"/>
          </a:xfrm>
          <a:prstGeom prst="ellipse">
            <a:avLst/>
          </a:prstGeom>
          <a:solidFill>
            <a:srgbClr val="1C5C43"/>
          </a:solidFill>
          <a:ln/>
        </p:spPr>
      </p:sp>
      <p:sp>
        <p:nvSpPr>
          <p:cNvPr id="10" name="Text 8"/>
          <p:cNvSpPr/>
          <p:nvPr/>
        </p:nvSpPr>
        <p:spPr>
          <a:xfrm>
            <a:off x="5057599" y="4421421"/>
            <a:ext cx="609530" cy="571430"/>
          </a:xfrm>
          <a:prstGeom prst="rect">
            <a:avLst/>
          </a:prstGeom>
          <a:noFill/>
          <a:ln/>
        </p:spPr>
        <p:txBody>
          <a:bodyPr wrap="square" lIns="25400" tIns="25400" rIns="25400" bIns="25400" rtlCol="0" anchor="ctr">
            <a:normAutofit/>
          </a:bodyPr>
          <a:lstStyle/>
          <a:p>
            <a:pPr algn="ctr" indent="0" marL="0">
              <a:buNone/>
            </a:pPr>
            <a:r>
              <a:rPr lang="en-US" sz="1800" b="1" dirty="0">
                <a:solidFill>
                  <a:srgbClr val="FFFFFF"/>
                </a:solidFill>
                <a:latin typeface="IBM Plex Mono" pitchFamily="34" charset="0"/>
                <a:ea typeface="IBM Plex Mono" pitchFamily="34" charset="-122"/>
                <a:cs typeface="IBM Plex Mono" pitchFamily="34" charset="-120"/>
              </a:rPr>
              <a:t>✓</a:t>
            </a:r>
            <a:endParaRPr lang="en-US" sz="1800" dirty="0"/>
          </a:p>
        </p:txBody>
      </p:sp>
      <p:sp>
        <p:nvSpPr>
          <p:cNvPr id="11" name="Shape 9"/>
          <p:cNvSpPr/>
          <p:nvPr/>
        </p:nvSpPr>
        <p:spPr>
          <a:xfrm>
            <a:off x="9277244" y="4421421"/>
            <a:ext cx="533330" cy="533330"/>
          </a:xfrm>
          <a:prstGeom prst="ellipse">
            <a:avLst/>
          </a:prstGeom>
          <a:solidFill>
            <a:srgbClr val="C8A45C"/>
          </a:solidFill>
          <a:ln/>
        </p:spPr>
      </p:sp>
      <p:sp>
        <p:nvSpPr>
          <p:cNvPr id="12" name="Text 10"/>
          <p:cNvSpPr/>
          <p:nvPr/>
        </p:nvSpPr>
        <p:spPr>
          <a:xfrm>
            <a:off x="9239144" y="4421421"/>
            <a:ext cx="609530" cy="571430"/>
          </a:xfrm>
          <a:prstGeom prst="rect">
            <a:avLst/>
          </a:prstGeom>
          <a:noFill/>
          <a:ln/>
        </p:spPr>
        <p:txBody>
          <a:bodyPr wrap="square" lIns="25400" tIns="25400" rIns="25400" bIns="25400" rtlCol="0" anchor="ctr">
            <a:normAutofit/>
          </a:bodyPr>
          <a:lstStyle/>
          <a:p>
            <a:pPr algn="ctr" indent="0" marL="0">
              <a:buNone/>
            </a:pPr>
            <a:r>
              <a:rPr lang="en-US" sz="1650" b="1" dirty="0">
                <a:solidFill>
                  <a:srgbClr val="3A2A10"/>
                </a:solidFill>
                <a:latin typeface="IBM Plex Mono" pitchFamily="34" charset="0"/>
                <a:ea typeface="IBM Plex Mono" pitchFamily="34" charset="-122"/>
                <a:cs typeface="IBM Plex Mono" pitchFamily="34" charset="-120"/>
              </a:rPr>
              <a:t>▸</a:t>
            </a:r>
            <a:endParaRPr lang="en-US" sz="1650" dirty="0"/>
          </a:p>
        </p:txBody>
      </p:sp>
      <p:sp>
        <p:nvSpPr>
          <p:cNvPr id="13" name="Shape 11"/>
          <p:cNvSpPr/>
          <p:nvPr/>
        </p:nvSpPr>
        <p:spPr>
          <a:xfrm>
            <a:off x="13458789" y="4421421"/>
            <a:ext cx="533330" cy="533330"/>
          </a:xfrm>
          <a:prstGeom prst="ellipse">
            <a:avLst/>
          </a:prstGeom>
          <a:solidFill>
            <a:srgbClr val="FFFFFF"/>
          </a:solidFill>
          <a:ln w="28015">
            <a:solidFill>
              <a:srgbClr val="CFD6E0"/>
            </a:solidFill>
            <a:prstDash val="solid"/>
          </a:ln>
        </p:spPr>
      </p:sp>
      <p:sp>
        <p:nvSpPr>
          <p:cNvPr id="14" name="Text 12"/>
          <p:cNvSpPr/>
          <p:nvPr/>
        </p:nvSpPr>
        <p:spPr>
          <a:xfrm>
            <a:off x="13448704" y="4449436"/>
            <a:ext cx="553501" cy="515401"/>
          </a:xfrm>
          <a:prstGeom prst="rect">
            <a:avLst/>
          </a:prstGeom>
          <a:noFill/>
          <a:ln/>
        </p:spPr>
        <p:txBody>
          <a:bodyPr wrap="square" lIns="25400" tIns="25400" rIns="25400" bIns="25400" rtlCol="0" anchor="ctr">
            <a:normAutofit/>
          </a:bodyPr>
          <a:lstStyle/>
          <a:p>
            <a:pPr algn="ctr" indent="0" marL="0">
              <a:buNone/>
            </a:pPr>
            <a:r>
              <a:rPr lang="en-US" sz="1650" b="1" dirty="0">
                <a:solidFill>
                  <a:srgbClr val="8996A6"/>
                </a:solidFill>
                <a:latin typeface="IBM Plex Mono" pitchFamily="34" charset="0"/>
                <a:ea typeface="IBM Plex Mono" pitchFamily="34" charset="-122"/>
                <a:cs typeface="IBM Plex Mono" pitchFamily="34" charset="-120"/>
              </a:rPr>
              <a:t>○</a:t>
            </a:r>
            <a:endParaRPr lang="en-US" sz="1650" dirty="0"/>
          </a:p>
        </p:txBody>
      </p:sp>
      <p:sp>
        <p:nvSpPr>
          <p:cNvPr id="15" name="Text 13"/>
          <p:cNvSpPr/>
          <p:nvPr/>
        </p:nvSpPr>
        <p:spPr>
          <a:xfrm>
            <a:off x="914330" y="5145250"/>
            <a:ext cx="4306175" cy="284629"/>
          </a:xfrm>
          <a:prstGeom prst="rect">
            <a:avLst/>
          </a:prstGeom>
          <a:noFill/>
          <a:ln/>
        </p:spPr>
        <p:txBody>
          <a:bodyPr wrap="square" lIns="25400" tIns="25400" rIns="25400" bIns="25400" rtlCol="0" anchor="t">
            <a:normAutofit/>
          </a:bodyPr>
          <a:lstStyle/>
          <a:p>
            <a:pPr algn="l" indent="0" marL="0">
              <a:buNone/>
            </a:pPr>
            <a:r>
              <a:rPr lang="en-US" sz="1500" b="1" spc="90" kern="0" dirty="0">
                <a:solidFill>
                  <a:srgbClr val="8996A6"/>
                </a:solidFill>
                <a:latin typeface="IBM Plex Mono" pitchFamily="34" charset="0"/>
                <a:ea typeface="IBM Plex Mono" pitchFamily="34" charset="-122"/>
                <a:cs typeface="IBM Plex Mono" pitchFamily="34" charset="-120"/>
              </a:rPr>
              <a:t>WEEK 0</a:t>
            </a:r>
            <a:endParaRPr lang="en-US" sz="1500" dirty="0"/>
          </a:p>
        </p:txBody>
      </p:sp>
      <p:sp>
        <p:nvSpPr>
          <p:cNvPr id="16" name="Text 14"/>
          <p:cNvSpPr/>
          <p:nvPr/>
        </p:nvSpPr>
        <p:spPr>
          <a:xfrm>
            <a:off x="914330" y="5448860"/>
            <a:ext cx="4306175" cy="374276"/>
          </a:xfrm>
          <a:prstGeom prst="rect">
            <a:avLst/>
          </a:prstGeom>
          <a:noFill/>
          <a:ln/>
        </p:spPr>
        <p:txBody>
          <a:bodyPr wrap="square" lIns="25400" tIns="25400" rIns="25400" bIns="25400" rtlCol="0" anchor="t">
            <a:normAutofit/>
          </a:bodyPr>
          <a:lstStyle/>
          <a:p>
            <a:pPr algn="l" indent="0" marL="0">
              <a:buNone/>
            </a:pPr>
            <a:r>
              <a:rPr lang="en-US" sz="2250" b="1" dirty="0">
                <a:solidFill>
                  <a:srgbClr val="0D2E22"/>
                </a:solidFill>
                <a:latin typeface="Public Sans" pitchFamily="34" charset="0"/>
                <a:ea typeface="Public Sans" pitchFamily="34" charset="-122"/>
                <a:cs typeface="Public Sans" pitchFamily="34" charset="-120"/>
              </a:rPr>
              <a:t>As-is mapped, wireframed</a:t>
            </a:r>
            <a:endParaRPr lang="en-US" sz="2250" dirty="0"/>
          </a:p>
        </p:txBody>
      </p:sp>
      <p:sp>
        <p:nvSpPr>
          <p:cNvPr id="17" name="Text 15"/>
          <p:cNvSpPr/>
          <p:nvPr/>
        </p:nvSpPr>
        <p:spPr>
          <a:xfrm>
            <a:off x="914330" y="5842117"/>
            <a:ext cx="4032146" cy="665629"/>
          </a:xfrm>
          <a:prstGeom prst="rect">
            <a:avLst/>
          </a:prstGeom>
          <a:noFill/>
          <a:ln/>
        </p:spPr>
        <p:txBody>
          <a:bodyPr wrap="square" lIns="25400" tIns="25400" rIns="25400" bIns="25400" rtlCol="0" anchor="t">
            <a:normAutofit/>
          </a:bodyPr>
          <a:lstStyle/>
          <a:p>
            <a:pPr algn="l" indent="0" marL="0">
              <a:lnSpc>
                <a:spcPct val="123250"/>
              </a:lnSpc>
              <a:buNone/>
            </a:pPr>
            <a:r>
              <a:rPr lang="en-US" sz="1725" dirty="0">
                <a:solidFill>
                  <a:srgbClr val="5B6675"/>
                </a:solidFill>
                <a:latin typeface="Public Sans" pitchFamily="34" charset="0"/>
                <a:ea typeface="Public Sans" pitchFamily="34" charset="-122"/>
                <a:cs typeface="Public Sans" pitchFamily="34" charset="-120"/>
              </a:rPr>
              <a:t>Sat with RMs, drew the journey, agreed the seven steps.</a:t>
            </a:r>
            <a:endParaRPr lang="en-US" sz="1725" dirty="0"/>
          </a:p>
        </p:txBody>
      </p:sp>
      <p:sp>
        <p:nvSpPr>
          <p:cNvPr id="18" name="Text 16"/>
          <p:cNvSpPr/>
          <p:nvPr/>
        </p:nvSpPr>
        <p:spPr>
          <a:xfrm>
            <a:off x="5095699" y="5145250"/>
            <a:ext cx="4306368" cy="284629"/>
          </a:xfrm>
          <a:prstGeom prst="rect">
            <a:avLst/>
          </a:prstGeom>
          <a:noFill/>
          <a:ln/>
        </p:spPr>
        <p:txBody>
          <a:bodyPr wrap="square" lIns="25400" tIns="25400" rIns="25400" bIns="25400" rtlCol="0" anchor="t">
            <a:normAutofit/>
          </a:bodyPr>
          <a:lstStyle/>
          <a:p>
            <a:pPr algn="l" indent="0" marL="0">
              <a:buNone/>
            </a:pPr>
            <a:r>
              <a:rPr lang="en-US" sz="1500" b="1" spc="90" kern="0" dirty="0">
                <a:solidFill>
                  <a:srgbClr val="8996A6"/>
                </a:solidFill>
                <a:latin typeface="IBM Plex Mono" pitchFamily="34" charset="0"/>
                <a:ea typeface="IBM Plex Mono" pitchFamily="34" charset="-122"/>
                <a:cs typeface="IBM Plex Mono" pitchFamily="34" charset="-120"/>
              </a:rPr>
              <a:t>WEEK 2</a:t>
            </a:r>
            <a:endParaRPr lang="en-US" sz="1500" dirty="0"/>
          </a:p>
        </p:txBody>
      </p:sp>
      <p:sp>
        <p:nvSpPr>
          <p:cNvPr id="19" name="Text 17"/>
          <p:cNvSpPr/>
          <p:nvPr/>
        </p:nvSpPr>
        <p:spPr>
          <a:xfrm>
            <a:off x="5095699" y="5448860"/>
            <a:ext cx="4306368" cy="374276"/>
          </a:xfrm>
          <a:prstGeom prst="rect">
            <a:avLst/>
          </a:prstGeom>
          <a:noFill/>
          <a:ln/>
        </p:spPr>
        <p:txBody>
          <a:bodyPr wrap="square" lIns="25400" tIns="25400" rIns="25400" bIns="25400" rtlCol="0" anchor="t">
            <a:normAutofit/>
          </a:bodyPr>
          <a:lstStyle/>
          <a:p>
            <a:pPr algn="l" indent="0" marL="0">
              <a:buNone/>
            </a:pPr>
            <a:r>
              <a:rPr lang="en-US" sz="2250" b="1" dirty="0">
                <a:solidFill>
                  <a:srgbClr val="0D2E22"/>
                </a:solidFill>
                <a:latin typeface="Public Sans" pitchFamily="34" charset="0"/>
                <a:ea typeface="Public Sans" pitchFamily="34" charset="-122"/>
                <a:cs typeface="Public Sans" pitchFamily="34" charset="-120"/>
              </a:rPr>
              <a:t>Clickable app</a:t>
            </a:r>
            <a:endParaRPr lang="en-US" sz="2250" dirty="0"/>
          </a:p>
        </p:txBody>
      </p:sp>
      <p:sp>
        <p:nvSpPr>
          <p:cNvPr id="20" name="Text 18"/>
          <p:cNvSpPr/>
          <p:nvPr/>
        </p:nvSpPr>
        <p:spPr>
          <a:xfrm>
            <a:off x="5095699" y="5842117"/>
            <a:ext cx="4032326" cy="665629"/>
          </a:xfrm>
          <a:prstGeom prst="rect">
            <a:avLst/>
          </a:prstGeom>
          <a:noFill/>
          <a:ln/>
        </p:spPr>
        <p:txBody>
          <a:bodyPr wrap="square" lIns="25400" tIns="25400" rIns="25400" bIns="25400" rtlCol="0" anchor="t">
            <a:normAutofit/>
          </a:bodyPr>
          <a:lstStyle/>
          <a:p>
            <a:pPr algn="l" indent="0" marL="0">
              <a:lnSpc>
                <a:spcPct val="123250"/>
              </a:lnSpc>
              <a:buNone/>
            </a:pPr>
            <a:r>
              <a:rPr lang="en-US" sz="1725" dirty="0">
                <a:solidFill>
                  <a:srgbClr val="5B6675"/>
                </a:solidFill>
                <a:latin typeface="Public Sans" pitchFamily="34" charset="0"/>
                <a:ea typeface="Public Sans" pitchFamily="34" charset="-122"/>
                <a:cs typeface="Public Sans" pitchFamily="34" charset="-120"/>
              </a:rPr>
              <a:t>The whole flow, end to end, in the browser — what you will see today.</a:t>
            </a:r>
            <a:endParaRPr lang="en-US" sz="1725" dirty="0"/>
          </a:p>
        </p:txBody>
      </p:sp>
      <p:sp>
        <p:nvSpPr>
          <p:cNvPr id="21" name="Text 19"/>
          <p:cNvSpPr/>
          <p:nvPr/>
        </p:nvSpPr>
        <p:spPr>
          <a:xfrm>
            <a:off x="9277244" y="5145250"/>
            <a:ext cx="4306368" cy="284629"/>
          </a:xfrm>
          <a:prstGeom prst="rect">
            <a:avLst/>
          </a:prstGeom>
          <a:noFill/>
          <a:ln/>
        </p:spPr>
        <p:txBody>
          <a:bodyPr wrap="square" lIns="25400" tIns="25400" rIns="25400" bIns="25400" rtlCol="0" anchor="t">
            <a:normAutofit/>
          </a:bodyPr>
          <a:lstStyle/>
          <a:p>
            <a:pPr algn="l" indent="0" marL="0">
              <a:buNone/>
            </a:pPr>
            <a:r>
              <a:rPr lang="en-US" sz="1500" b="1" spc="90" kern="0" dirty="0">
                <a:solidFill>
                  <a:srgbClr val="8A5410"/>
                </a:solidFill>
                <a:latin typeface="IBM Plex Mono" pitchFamily="34" charset="0"/>
                <a:ea typeface="IBM Plex Mono" pitchFamily="34" charset="-122"/>
                <a:cs typeface="IBM Plex Mono" pitchFamily="34" charset="-120"/>
              </a:rPr>
              <a:t>NEXT · 4 WEEKS</a:t>
            </a:r>
            <a:endParaRPr lang="en-US" sz="1500" dirty="0"/>
          </a:p>
        </p:txBody>
      </p:sp>
      <p:sp>
        <p:nvSpPr>
          <p:cNvPr id="22" name="Text 20"/>
          <p:cNvSpPr/>
          <p:nvPr/>
        </p:nvSpPr>
        <p:spPr>
          <a:xfrm>
            <a:off x="9277244" y="5448860"/>
            <a:ext cx="4306368" cy="374276"/>
          </a:xfrm>
          <a:prstGeom prst="rect">
            <a:avLst/>
          </a:prstGeom>
          <a:noFill/>
          <a:ln/>
        </p:spPr>
        <p:txBody>
          <a:bodyPr wrap="square" lIns="25400" tIns="25400" rIns="25400" bIns="25400" rtlCol="0" anchor="t">
            <a:normAutofit/>
          </a:bodyPr>
          <a:lstStyle/>
          <a:p>
            <a:pPr algn="l" indent="0" marL="0">
              <a:buNone/>
            </a:pPr>
            <a:r>
              <a:rPr lang="en-US" sz="2250" b="1" dirty="0">
                <a:solidFill>
                  <a:srgbClr val="0D2E22"/>
                </a:solidFill>
                <a:latin typeface="Public Sans" pitchFamily="34" charset="0"/>
                <a:ea typeface="Public Sans" pitchFamily="34" charset="-122"/>
                <a:cs typeface="Public Sans" pitchFamily="34" charset="-120"/>
              </a:rPr>
              <a:t>In the tenant, wired up</a:t>
            </a:r>
            <a:endParaRPr lang="en-US" sz="2250" dirty="0"/>
          </a:p>
        </p:txBody>
      </p:sp>
      <p:sp>
        <p:nvSpPr>
          <p:cNvPr id="23" name="Text 21"/>
          <p:cNvSpPr/>
          <p:nvPr/>
        </p:nvSpPr>
        <p:spPr>
          <a:xfrm>
            <a:off x="9277244" y="5842117"/>
            <a:ext cx="4032326" cy="979394"/>
          </a:xfrm>
          <a:prstGeom prst="rect">
            <a:avLst/>
          </a:prstGeom>
          <a:noFill/>
          <a:ln/>
        </p:spPr>
        <p:txBody>
          <a:bodyPr wrap="square" lIns="25400" tIns="25400" rIns="25400" bIns="25400" rtlCol="0" anchor="t">
            <a:normAutofit/>
          </a:bodyPr>
          <a:lstStyle/>
          <a:p>
            <a:pPr algn="l" indent="0" marL="0">
              <a:lnSpc>
                <a:spcPct val="123250"/>
              </a:lnSpc>
              <a:buNone/>
            </a:pPr>
            <a:r>
              <a:rPr lang="en-US" sz="1725" dirty="0">
                <a:solidFill>
                  <a:srgbClr val="5B6675"/>
                </a:solidFill>
                <a:latin typeface="Public Sans" pitchFamily="34" charset="0"/>
                <a:ea typeface="Public Sans" pitchFamily="34" charset="-122"/>
                <a:cs typeface="Public Sans" pitchFamily="34" charset="-120"/>
              </a:rPr>
              <a:t>Graph, Copilot Studio and the flow connected, deployed through existing ALM.</a:t>
            </a:r>
            <a:endParaRPr lang="en-US" sz="1725" dirty="0"/>
          </a:p>
        </p:txBody>
      </p:sp>
      <p:sp>
        <p:nvSpPr>
          <p:cNvPr id="24" name="Text 22"/>
          <p:cNvSpPr/>
          <p:nvPr/>
        </p:nvSpPr>
        <p:spPr>
          <a:xfrm>
            <a:off x="13458789" y="5145250"/>
            <a:ext cx="4306368" cy="284629"/>
          </a:xfrm>
          <a:prstGeom prst="rect">
            <a:avLst/>
          </a:prstGeom>
          <a:noFill/>
          <a:ln/>
        </p:spPr>
        <p:txBody>
          <a:bodyPr wrap="square" lIns="25400" tIns="25400" rIns="25400" bIns="25400" rtlCol="0" anchor="t">
            <a:normAutofit/>
          </a:bodyPr>
          <a:lstStyle/>
          <a:p>
            <a:pPr algn="l" indent="0" marL="0">
              <a:buNone/>
            </a:pPr>
            <a:r>
              <a:rPr lang="en-US" sz="1500" b="1" spc="90" kern="0" dirty="0">
                <a:solidFill>
                  <a:srgbClr val="8996A6"/>
                </a:solidFill>
                <a:latin typeface="IBM Plex Mono" pitchFamily="34" charset="0"/>
                <a:ea typeface="IBM Plex Mono" pitchFamily="34" charset="-122"/>
                <a:cs typeface="IBM Plex Mono" pitchFamily="34" charset="-120"/>
              </a:rPr>
              <a:t>THEN</a:t>
            </a:r>
            <a:endParaRPr lang="en-US" sz="1500" dirty="0"/>
          </a:p>
        </p:txBody>
      </p:sp>
      <p:sp>
        <p:nvSpPr>
          <p:cNvPr id="25" name="Text 23"/>
          <p:cNvSpPr/>
          <p:nvPr/>
        </p:nvSpPr>
        <p:spPr>
          <a:xfrm>
            <a:off x="13458789" y="5448860"/>
            <a:ext cx="4306368" cy="374276"/>
          </a:xfrm>
          <a:prstGeom prst="rect">
            <a:avLst/>
          </a:prstGeom>
          <a:noFill/>
          <a:ln/>
        </p:spPr>
        <p:txBody>
          <a:bodyPr wrap="square" lIns="25400" tIns="25400" rIns="25400" bIns="25400" rtlCol="0" anchor="t">
            <a:normAutofit/>
          </a:bodyPr>
          <a:lstStyle/>
          <a:p>
            <a:pPr algn="l" indent="0" marL="0">
              <a:buNone/>
            </a:pPr>
            <a:r>
              <a:rPr lang="en-US" sz="2250" b="1" dirty="0">
                <a:solidFill>
                  <a:srgbClr val="0D2E22"/>
                </a:solidFill>
                <a:latin typeface="Public Sans" pitchFamily="34" charset="0"/>
                <a:ea typeface="Public Sans" pitchFamily="34" charset="-122"/>
                <a:cs typeface="Public Sans" pitchFamily="34" charset="-120"/>
              </a:rPr>
              <a:t>Pilot with a handful of RMs</a:t>
            </a:r>
            <a:endParaRPr lang="en-US" sz="2250" dirty="0"/>
          </a:p>
        </p:txBody>
      </p:sp>
      <p:sp>
        <p:nvSpPr>
          <p:cNvPr id="26" name="Text 24"/>
          <p:cNvSpPr/>
          <p:nvPr/>
        </p:nvSpPr>
        <p:spPr>
          <a:xfrm>
            <a:off x="13458789" y="5842117"/>
            <a:ext cx="4032326" cy="665629"/>
          </a:xfrm>
          <a:prstGeom prst="rect">
            <a:avLst/>
          </a:prstGeom>
          <a:noFill/>
          <a:ln/>
        </p:spPr>
        <p:txBody>
          <a:bodyPr wrap="square" lIns="25400" tIns="25400" rIns="25400" bIns="25400" rtlCol="0" anchor="t">
            <a:normAutofit/>
          </a:bodyPr>
          <a:lstStyle/>
          <a:p>
            <a:pPr algn="l" indent="0" marL="0">
              <a:lnSpc>
                <a:spcPct val="123250"/>
              </a:lnSpc>
              <a:buNone/>
            </a:pPr>
            <a:r>
              <a:rPr lang="en-US" sz="1725" dirty="0">
                <a:solidFill>
                  <a:srgbClr val="5B6675"/>
                </a:solidFill>
                <a:latin typeface="Public Sans" pitchFamily="34" charset="0"/>
                <a:ea typeface="Public Sans" pitchFamily="34" charset="-122"/>
                <a:cs typeface="Public Sans" pitchFamily="34" charset="-120"/>
              </a:rPr>
              <a:t>Real bookings, weekly changes, measured against the baseline.</a:t>
            </a:r>
            <a:endParaRPr lang="en-US" sz="1725" dirty="0"/>
          </a:p>
        </p:txBody>
      </p:sp>
      <p:sp>
        <p:nvSpPr>
          <p:cNvPr id="27" name="Shape 25"/>
          <p:cNvSpPr/>
          <p:nvPr/>
        </p:nvSpPr>
        <p:spPr>
          <a:xfrm>
            <a:off x="838165" y="7652217"/>
            <a:ext cx="9042096" cy="2100928"/>
          </a:xfrm>
          <a:prstGeom prst="roundRect">
            <a:avLst>
              <a:gd name="adj" fmla="val 6347"/>
            </a:avLst>
          </a:prstGeom>
          <a:solidFill>
            <a:srgbClr val="FFFFFF"/>
          </a:solidFill>
          <a:ln w="11206">
            <a:solidFill>
              <a:srgbClr val="E4E9EF"/>
            </a:solidFill>
            <a:prstDash val="solid"/>
          </a:ln>
        </p:spPr>
      </p:sp>
      <p:sp>
        <p:nvSpPr>
          <p:cNvPr id="28" name="Text 26"/>
          <p:cNvSpPr/>
          <p:nvPr/>
        </p:nvSpPr>
        <p:spPr>
          <a:xfrm>
            <a:off x="1154031" y="7949172"/>
            <a:ext cx="9251401" cy="273424"/>
          </a:xfrm>
          <a:prstGeom prst="rect">
            <a:avLst/>
          </a:prstGeom>
          <a:noFill/>
          <a:ln/>
        </p:spPr>
        <p:txBody>
          <a:bodyPr wrap="square" lIns="25400" tIns="25400" rIns="25400" bIns="25400" rtlCol="0" anchor="t">
            <a:normAutofit/>
          </a:bodyPr>
          <a:lstStyle/>
          <a:p>
            <a:pPr algn="l" indent="0" marL="0">
              <a:buNone/>
            </a:pPr>
            <a:r>
              <a:rPr lang="en-US" sz="1425" b="1" spc="114" kern="0" dirty="0">
                <a:solidFill>
                  <a:srgbClr val="8996A6"/>
                </a:solidFill>
                <a:latin typeface="IBM Plex Mono" pitchFamily="34" charset="0"/>
                <a:ea typeface="IBM Plex Mono" pitchFamily="34" charset="-122"/>
                <a:cs typeface="IBM Plex Mono" pitchFamily="34" charset="-120"/>
              </a:rPr>
              <a:t>THE WEEKLY LOOP</a:t>
            </a:r>
            <a:endParaRPr lang="en-US" sz="1425" dirty="0"/>
          </a:p>
        </p:txBody>
      </p:sp>
      <p:sp>
        <p:nvSpPr>
          <p:cNvPr id="29" name="Shape 27"/>
          <p:cNvSpPr/>
          <p:nvPr/>
        </p:nvSpPr>
        <p:spPr>
          <a:xfrm>
            <a:off x="1154031" y="8336826"/>
            <a:ext cx="2794642" cy="493059"/>
          </a:xfrm>
          <a:prstGeom prst="roundRect">
            <a:avLst>
              <a:gd name="adj" fmla="val 50000"/>
            </a:avLst>
          </a:prstGeom>
          <a:solidFill>
            <a:srgbClr val="EDF1E0"/>
          </a:solidFill>
          <a:ln w="11206">
            <a:solidFill>
              <a:srgbClr val="DBE6CD"/>
            </a:solidFill>
            <a:prstDash val="solid"/>
          </a:ln>
        </p:spPr>
      </p:sp>
      <p:sp>
        <p:nvSpPr>
          <p:cNvPr id="30" name="Text 28"/>
          <p:cNvSpPr/>
          <p:nvPr/>
        </p:nvSpPr>
        <p:spPr>
          <a:xfrm>
            <a:off x="1355737" y="8443282"/>
            <a:ext cx="2475069" cy="318247"/>
          </a:xfrm>
          <a:prstGeom prst="rect">
            <a:avLst/>
          </a:prstGeom>
          <a:noFill/>
          <a:ln/>
        </p:spPr>
        <p:txBody>
          <a:bodyPr wrap="square" lIns="25400" tIns="25400" rIns="25400" bIns="25400" rtlCol="0" anchor="t">
            <a:normAutofit/>
          </a:bodyPr>
          <a:lstStyle/>
          <a:p>
            <a:pPr algn="l" indent="0" marL="0">
              <a:buNone/>
            </a:pPr>
            <a:r>
              <a:rPr lang="en-US" sz="1875" b="1" dirty="0">
                <a:solidFill>
                  <a:srgbClr val="0D2E22"/>
                </a:solidFill>
                <a:latin typeface="Public Sans" pitchFamily="34" charset="0"/>
                <a:ea typeface="Public Sans" pitchFamily="34" charset="-122"/>
                <a:cs typeface="Public Sans" pitchFamily="34" charset="-120"/>
              </a:rPr>
              <a:t>RM asks for a change</a:t>
            </a:r>
            <a:endParaRPr lang="en-US" sz="1875" dirty="0"/>
          </a:p>
        </p:txBody>
      </p:sp>
      <p:sp>
        <p:nvSpPr>
          <p:cNvPr id="31" name="Text 29"/>
          <p:cNvSpPr/>
          <p:nvPr/>
        </p:nvSpPr>
        <p:spPr>
          <a:xfrm>
            <a:off x="4081917" y="8437679"/>
            <a:ext cx="294189" cy="329453"/>
          </a:xfrm>
          <a:prstGeom prst="rect">
            <a:avLst/>
          </a:prstGeom>
          <a:noFill/>
          <a:ln/>
        </p:spPr>
        <p:txBody>
          <a:bodyPr wrap="square" lIns="25400" tIns="25400" rIns="25400" bIns="25400" rtlCol="0" anchor="t">
            <a:normAutofit/>
          </a:bodyPr>
          <a:lstStyle/>
          <a:p>
            <a:pPr algn="l" indent="0" marL="0">
              <a:buNone/>
            </a:pPr>
            <a:r>
              <a:rPr lang="en-US" sz="1875" b="1" dirty="0">
                <a:solidFill>
                  <a:srgbClr val="8996A6"/>
                </a:solidFill>
                <a:latin typeface="Public Sans" pitchFamily="34" charset="0"/>
                <a:ea typeface="Public Sans" pitchFamily="34" charset="-122"/>
                <a:cs typeface="Public Sans" pitchFamily="34" charset="-120"/>
              </a:rPr>
              <a:t>→</a:t>
            </a:r>
            <a:endParaRPr lang="en-US" sz="1875" dirty="0"/>
          </a:p>
        </p:txBody>
      </p:sp>
      <p:sp>
        <p:nvSpPr>
          <p:cNvPr id="32" name="Shape 30"/>
          <p:cNvSpPr/>
          <p:nvPr/>
        </p:nvSpPr>
        <p:spPr>
          <a:xfrm>
            <a:off x="4433152" y="8336826"/>
            <a:ext cx="2622527" cy="493059"/>
          </a:xfrm>
          <a:prstGeom prst="roundRect">
            <a:avLst>
              <a:gd name="adj" fmla="val 50000"/>
            </a:avLst>
          </a:prstGeom>
          <a:solidFill>
            <a:srgbClr val="EDF1E0"/>
          </a:solidFill>
          <a:ln w="11206">
            <a:solidFill>
              <a:srgbClr val="DBE6CD"/>
            </a:solidFill>
            <a:prstDash val="solid"/>
          </a:ln>
        </p:spPr>
      </p:sp>
      <p:sp>
        <p:nvSpPr>
          <p:cNvPr id="33" name="Text 31"/>
          <p:cNvSpPr/>
          <p:nvPr/>
        </p:nvSpPr>
        <p:spPr>
          <a:xfrm>
            <a:off x="4634858" y="8443282"/>
            <a:ext cx="2297791" cy="318247"/>
          </a:xfrm>
          <a:prstGeom prst="rect">
            <a:avLst/>
          </a:prstGeom>
          <a:noFill/>
          <a:ln/>
        </p:spPr>
        <p:txBody>
          <a:bodyPr wrap="square" lIns="25400" tIns="25400" rIns="25400" bIns="25400" rtlCol="0" anchor="t">
            <a:normAutofit/>
          </a:bodyPr>
          <a:lstStyle/>
          <a:p>
            <a:pPr algn="l" indent="0" marL="0">
              <a:buNone/>
            </a:pPr>
            <a:r>
              <a:rPr lang="en-US" sz="1875" b="1" dirty="0">
                <a:solidFill>
                  <a:srgbClr val="0D2E22"/>
                </a:solidFill>
                <a:latin typeface="Public Sans" pitchFamily="34" charset="0"/>
                <a:ea typeface="Public Sans" pitchFamily="34" charset="-122"/>
                <a:cs typeface="Public Sans" pitchFamily="34" charset="-120"/>
              </a:rPr>
              <a:t>code, review, merge</a:t>
            </a:r>
            <a:endParaRPr lang="en-US" sz="1875" dirty="0"/>
          </a:p>
        </p:txBody>
      </p:sp>
      <p:sp>
        <p:nvSpPr>
          <p:cNvPr id="34" name="Text 32"/>
          <p:cNvSpPr/>
          <p:nvPr/>
        </p:nvSpPr>
        <p:spPr>
          <a:xfrm>
            <a:off x="7188923" y="8437679"/>
            <a:ext cx="294189" cy="329453"/>
          </a:xfrm>
          <a:prstGeom prst="rect">
            <a:avLst/>
          </a:prstGeom>
          <a:noFill/>
          <a:ln/>
        </p:spPr>
        <p:txBody>
          <a:bodyPr wrap="square" lIns="25400" tIns="25400" rIns="25400" bIns="25400" rtlCol="0" anchor="t">
            <a:normAutofit/>
          </a:bodyPr>
          <a:lstStyle/>
          <a:p>
            <a:pPr algn="l" indent="0" marL="0">
              <a:buNone/>
            </a:pPr>
            <a:r>
              <a:rPr lang="en-US" sz="1875" b="1" dirty="0">
                <a:solidFill>
                  <a:srgbClr val="8996A6"/>
                </a:solidFill>
                <a:latin typeface="Public Sans" pitchFamily="34" charset="0"/>
                <a:ea typeface="Public Sans" pitchFamily="34" charset="-122"/>
                <a:cs typeface="Public Sans" pitchFamily="34" charset="-120"/>
              </a:rPr>
              <a:t>→</a:t>
            </a:r>
            <a:endParaRPr lang="en-US" sz="1875" dirty="0"/>
          </a:p>
        </p:txBody>
      </p:sp>
      <p:sp>
        <p:nvSpPr>
          <p:cNvPr id="35" name="Shape 33"/>
          <p:cNvSpPr/>
          <p:nvPr/>
        </p:nvSpPr>
        <p:spPr>
          <a:xfrm>
            <a:off x="1154031" y="8963130"/>
            <a:ext cx="2553890" cy="493059"/>
          </a:xfrm>
          <a:prstGeom prst="roundRect">
            <a:avLst>
              <a:gd name="adj" fmla="val 50000"/>
            </a:avLst>
          </a:prstGeom>
          <a:solidFill>
            <a:srgbClr val="EDF1E0"/>
          </a:solidFill>
          <a:ln w="11206">
            <a:solidFill>
              <a:srgbClr val="DBE6CD"/>
            </a:solidFill>
            <a:prstDash val="solid"/>
          </a:ln>
        </p:spPr>
      </p:sp>
      <p:sp>
        <p:nvSpPr>
          <p:cNvPr id="36" name="Text 34"/>
          <p:cNvSpPr/>
          <p:nvPr/>
        </p:nvSpPr>
        <p:spPr>
          <a:xfrm>
            <a:off x="1355737" y="9069586"/>
            <a:ext cx="2227095" cy="318247"/>
          </a:xfrm>
          <a:prstGeom prst="rect">
            <a:avLst/>
          </a:prstGeom>
          <a:noFill/>
          <a:ln/>
        </p:spPr>
        <p:txBody>
          <a:bodyPr wrap="square" lIns="25400" tIns="25400" rIns="25400" bIns="25400" rtlCol="0" anchor="t">
            <a:normAutofit/>
          </a:bodyPr>
          <a:lstStyle/>
          <a:p>
            <a:pPr algn="l" indent="0" marL="0">
              <a:buNone/>
            </a:pPr>
            <a:r>
              <a:rPr lang="en-US" sz="1875" b="1" dirty="0">
                <a:solidFill>
                  <a:srgbClr val="0D2E22"/>
                </a:solidFill>
                <a:latin typeface="Public Sans" pitchFamily="34" charset="0"/>
                <a:ea typeface="Public Sans" pitchFamily="34" charset="-122"/>
                <a:cs typeface="Public Sans" pitchFamily="34" charset="-120"/>
              </a:rPr>
              <a:t>deployed same day</a:t>
            </a:r>
            <a:endParaRPr lang="en-US" sz="1875" dirty="0"/>
          </a:p>
        </p:txBody>
      </p:sp>
      <p:sp>
        <p:nvSpPr>
          <p:cNvPr id="37" name="Shape 35"/>
          <p:cNvSpPr/>
          <p:nvPr/>
        </p:nvSpPr>
        <p:spPr>
          <a:xfrm>
            <a:off x="10089671" y="7652217"/>
            <a:ext cx="7360163" cy="2100928"/>
          </a:xfrm>
          <a:prstGeom prst="roundRect">
            <a:avLst>
              <a:gd name="adj" fmla="val 6347"/>
            </a:avLst>
          </a:prstGeom>
          <a:solidFill>
            <a:srgbClr val="FFFFFF"/>
          </a:solidFill>
          <a:ln w="11206">
            <a:solidFill>
              <a:srgbClr val="E4E9EF"/>
            </a:solidFill>
            <a:prstDash val="solid"/>
          </a:ln>
        </p:spPr>
      </p:sp>
      <p:sp>
        <p:nvSpPr>
          <p:cNvPr id="38" name="Text 36"/>
          <p:cNvSpPr/>
          <p:nvPr/>
        </p:nvSpPr>
        <p:spPr>
          <a:xfrm>
            <a:off x="10405537" y="7949172"/>
            <a:ext cx="7401275" cy="273424"/>
          </a:xfrm>
          <a:prstGeom prst="rect">
            <a:avLst/>
          </a:prstGeom>
          <a:noFill/>
          <a:ln/>
        </p:spPr>
        <p:txBody>
          <a:bodyPr wrap="square" lIns="25400" tIns="25400" rIns="25400" bIns="25400" rtlCol="0" anchor="t">
            <a:normAutofit/>
          </a:bodyPr>
          <a:lstStyle/>
          <a:p>
            <a:pPr algn="l" indent="0" marL="0">
              <a:buNone/>
            </a:pPr>
            <a:r>
              <a:rPr lang="en-US" sz="1425" b="1" spc="114" kern="0" dirty="0">
                <a:solidFill>
                  <a:srgbClr val="8996A6"/>
                </a:solidFill>
                <a:latin typeface="IBM Plex Mono" pitchFamily="34" charset="0"/>
                <a:ea typeface="IBM Plex Mono" pitchFamily="34" charset="-122"/>
                <a:cs typeface="IBM Plex Mono" pitchFamily="34" charset="-120"/>
              </a:rPr>
              <a:t>WHY IT HOLDS UP</a:t>
            </a:r>
            <a:endParaRPr lang="en-US" sz="1425" dirty="0"/>
          </a:p>
        </p:txBody>
      </p:sp>
      <p:sp>
        <p:nvSpPr>
          <p:cNvPr id="39" name="Text 37"/>
          <p:cNvSpPr/>
          <p:nvPr/>
        </p:nvSpPr>
        <p:spPr>
          <a:xfrm>
            <a:off x="10405537" y="8317741"/>
            <a:ext cx="6930285" cy="1046629"/>
          </a:xfrm>
          <a:prstGeom prst="rect">
            <a:avLst/>
          </a:prstGeom>
          <a:noFill/>
          <a:ln/>
        </p:spPr>
        <p:txBody>
          <a:bodyPr wrap="square" lIns="25400" tIns="25400" rIns="25400" bIns="25400" rtlCol="0" anchor="t">
            <a:normAutofit/>
          </a:bodyPr>
          <a:lstStyle/>
          <a:p>
            <a:pPr algn="l" indent="0" marL="0">
              <a:lnSpc>
                <a:spcPct val="127500"/>
              </a:lnSpc>
              <a:buNone/>
            </a:pPr>
            <a:r>
              <a:rPr lang="en-US" sz="1800" dirty="0">
                <a:solidFill>
                  <a:srgbClr val="5B6675"/>
                </a:solidFill>
                <a:latin typeface="Public Sans" pitchFamily="34" charset="0"/>
                <a:ea typeface="Public Sans" pitchFamily="34" charset="-122"/>
                <a:cs typeface="Public Sans" pitchFamily="34" charset="-120"/>
              </a:rPr>
              <a:t>Source control, code review and automated deployment — the same discipline as any other bank system, on the platform we already run.</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9"/>
        </a:solidFill>
      </p:bgPr>
    </p:bg>
    <p:spTree>
      <p:nvGrpSpPr>
        <p:cNvPr id="1" name=""/>
        <p:cNvGrpSpPr/>
        <p:nvPr/>
      </p:nvGrpSpPr>
      <p:grpSpPr>
        <a:xfrm>
          <a:off x="0" y="0"/>
          <a:ext cx="0" cy="0"/>
          <a:chOff x="0" y="0"/>
          <a:chExt cx="0" cy="0"/>
        </a:xfrm>
      </p:grpSpPr>
      <p:sp>
        <p:nvSpPr>
          <p:cNvPr id="2" name="Text 0"/>
          <p:cNvSpPr/>
          <p:nvPr/>
        </p:nvSpPr>
        <p:spPr>
          <a:xfrm>
            <a:off x="762000" y="571500"/>
            <a:ext cx="7873340" cy="307041"/>
          </a:xfrm>
          <a:prstGeom prst="rect">
            <a:avLst/>
          </a:prstGeom>
          <a:noFill/>
          <a:ln/>
        </p:spPr>
        <p:txBody>
          <a:bodyPr wrap="square" lIns="25400" tIns="25400" rIns="25400" bIns="25400" rtlCol="0" anchor="t">
            <a:normAutofit/>
          </a:bodyPr>
          <a:lstStyle/>
          <a:p>
            <a:pPr algn="l" indent="0" marL="0">
              <a:buNone/>
            </a:pPr>
            <a:r>
              <a:rPr lang="en-US" sz="1650" b="1" spc="198" kern="0" dirty="0">
                <a:solidFill>
                  <a:srgbClr val="1C5C43"/>
                </a:solidFill>
                <a:latin typeface="IBM Plex Mono" pitchFamily="34" charset="0"/>
                <a:ea typeface="IBM Plex Mono" pitchFamily="34" charset="-122"/>
                <a:cs typeface="IBM Plex Mono" pitchFamily="34" charset="-120"/>
              </a:rPr>
              <a:t>06 · THE VISION</a:t>
            </a:r>
            <a:endParaRPr lang="en-US" sz="1650" dirty="0"/>
          </a:p>
        </p:txBody>
      </p:sp>
      <p:sp>
        <p:nvSpPr>
          <p:cNvPr id="3" name="Text 1"/>
          <p:cNvSpPr/>
          <p:nvPr/>
        </p:nvSpPr>
        <p:spPr>
          <a:xfrm>
            <a:off x="762000" y="954601"/>
            <a:ext cx="7873340" cy="643218"/>
          </a:xfrm>
          <a:prstGeom prst="rect">
            <a:avLst/>
          </a:prstGeom>
          <a:noFill/>
          <a:ln/>
        </p:spPr>
        <p:txBody>
          <a:bodyPr wrap="square" lIns="25400" tIns="25400" rIns="25400" bIns="25400" rtlCol="0" anchor="t">
            <a:normAutofit/>
          </a:bodyPr>
          <a:lstStyle/>
          <a:p>
            <a:pPr algn="l" indent="0" marL="0">
              <a:buNone/>
            </a:pPr>
            <a:r>
              <a:rPr lang="en-US" sz="4050" b="1" spc="-61" kern="0" dirty="0">
                <a:solidFill>
                  <a:srgbClr val="0D2E22"/>
                </a:solidFill>
                <a:latin typeface="Public Sans" pitchFamily="34" charset="0"/>
                <a:ea typeface="Public Sans" pitchFamily="34" charset="-122"/>
                <a:cs typeface="Public Sans" pitchFamily="34" charset="-120"/>
              </a:rPr>
              <a:t>Where we take the experience</a:t>
            </a:r>
            <a:endParaRPr lang="en-US" sz="4050" dirty="0"/>
          </a:p>
        </p:txBody>
      </p:sp>
      <p:sp>
        <p:nvSpPr>
          <p:cNvPr id="4" name="Shape 2"/>
          <p:cNvSpPr/>
          <p:nvPr/>
        </p:nvSpPr>
        <p:spPr>
          <a:xfrm>
            <a:off x="12550587" y="1081368"/>
            <a:ext cx="4975411" cy="478351"/>
          </a:xfrm>
          <a:prstGeom prst="roundRect">
            <a:avLst>
              <a:gd name="adj" fmla="val 50000"/>
            </a:avLst>
          </a:prstGeom>
          <a:solidFill>
            <a:srgbClr val="FDF6EA"/>
          </a:solidFill>
          <a:ln w="11206">
            <a:solidFill>
              <a:srgbClr val="E0C58A"/>
            </a:solidFill>
            <a:prstDash val="solid"/>
          </a:ln>
        </p:spPr>
      </p:sp>
      <p:sp>
        <p:nvSpPr>
          <p:cNvPr id="5" name="Text 3"/>
          <p:cNvSpPr/>
          <p:nvPr/>
        </p:nvSpPr>
        <p:spPr>
          <a:xfrm>
            <a:off x="12752293" y="1197348"/>
            <a:ext cx="4721262" cy="284489"/>
          </a:xfrm>
          <a:prstGeom prst="rect">
            <a:avLst/>
          </a:prstGeom>
          <a:noFill/>
          <a:ln/>
        </p:spPr>
        <p:txBody>
          <a:bodyPr wrap="none" lIns="25400" tIns="25400" rIns="25400" bIns="25400" rtlCol="0" anchor="t">
            <a:normAutofit/>
          </a:bodyPr>
          <a:lstStyle/>
          <a:p>
            <a:pPr algn="l" indent="0" marL="0">
              <a:buNone/>
            </a:pPr>
            <a:r>
              <a:rPr lang="en-US" sz="1500" b="1" dirty="0">
                <a:solidFill>
                  <a:srgbClr val="8A5410"/>
                </a:solidFill>
                <a:latin typeface="IBM Plex Mono" pitchFamily="34" charset="0"/>
                <a:ea typeface="IBM Plex Mono" pitchFamily="34" charset="-122"/>
                <a:cs typeface="IBM Plex Mono" pitchFamily="34" charset="-120"/>
              </a:rPr>
              <a:t>Today's demo UI is functional, not final</a:t>
            </a:r>
            <a:endParaRPr lang="en-US" sz="1500" dirty="0"/>
          </a:p>
        </p:txBody>
      </p:sp>
      <p:sp>
        <p:nvSpPr>
          <p:cNvPr id="6" name="Shape 4"/>
          <p:cNvSpPr/>
          <p:nvPr/>
        </p:nvSpPr>
        <p:spPr>
          <a:xfrm>
            <a:off x="762000" y="1807299"/>
            <a:ext cx="5435553" cy="5385127"/>
          </a:xfrm>
          <a:prstGeom prst="roundRect">
            <a:avLst>
              <a:gd name="adj" fmla="val 2476"/>
            </a:avLst>
          </a:prstGeom>
          <a:solidFill>
            <a:srgbClr val="FFFFFF"/>
          </a:solidFill>
          <a:ln w="11206">
            <a:solidFill>
              <a:srgbClr val="E4E9EF"/>
            </a:solidFill>
            <a:prstDash val="solid"/>
          </a:ln>
        </p:spPr>
      </p:sp>
      <p:sp>
        <p:nvSpPr>
          <p:cNvPr id="7" name="Shape 5"/>
          <p:cNvSpPr/>
          <p:nvPr/>
        </p:nvSpPr>
        <p:spPr>
          <a:xfrm>
            <a:off x="944621" y="1989920"/>
            <a:ext cx="609495" cy="5019885"/>
          </a:xfrm>
          <a:prstGeom prst="roundRect">
            <a:avLst>
              <a:gd name="adj" fmla="val 15628"/>
            </a:avLst>
          </a:prstGeom>
          <a:solidFill>
            <a:srgbClr val="FBFCFD"/>
          </a:solidFill>
          <a:ln w="11206">
            <a:solidFill>
              <a:srgbClr val="EEF1F5"/>
            </a:solidFill>
            <a:prstDash val="solid"/>
          </a:ln>
        </p:spPr>
      </p:sp>
      <p:sp>
        <p:nvSpPr>
          <p:cNvPr id="8" name="Shape 6"/>
          <p:cNvSpPr/>
          <p:nvPr/>
        </p:nvSpPr>
        <p:spPr>
          <a:xfrm>
            <a:off x="1096951" y="2115285"/>
            <a:ext cx="304660" cy="304660"/>
          </a:xfrm>
          <a:prstGeom prst="roundRect">
            <a:avLst>
              <a:gd name="adj" fmla="val 25011"/>
            </a:avLst>
          </a:prstGeom>
          <a:solidFill>
            <a:srgbClr val="742774"/>
          </a:solidFill>
          <a:ln/>
        </p:spPr>
      </p:sp>
      <p:sp>
        <p:nvSpPr>
          <p:cNvPr id="9" name="Shape 7"/>
          <p:cNvSpPr/>
          <p:nvPr/>
        </p:nvSpPr>
        <p:spPr>
          <a:xfrm>
            <a:off x="1096951" y="2515195"/>
            <a:ext cx="304660" cy="95250"/>
          </a:xfrm>
          <a:prstGeom prst="roundRect">
            <a:avLst>
              <a:gd name="adj" fmla="val 40000"/>
            </a:avLst>
          </a:prstGeom>
          <a:solidFill>
            <a:srgbClr val="E4E9EF"/>
          </a:solidFill>
          <a:ln/>
        </p:spPr>
      </p:sp>
      <p:sp>
        <p:nvSpPr>
          <p:cNvPr id="10" name="Shape 8"/>
          <p:cNvSpPr/>
          <p:nvPr/>
        </p:nvSpPr>
        <p:spPr>
          <a:xfrm>
            <a:off x="1096951" y="2705695"/>
            <a:ext cx="304660" cy="95250"/>
          </a:xfrm>
          <a:prstGeom prst="roundRect">
            <a:avLst>
              <a:gd name="adj" fmla="val 40000"/>
            </a:avLst>
          </a:prstGeom>
          <a:solidFill>
            <a:srgbClr val="EDF1E0"/>
          </a:solidFill>
          <a:ln/>
        </p:spPr>
      </p:sp>
      <p:sp>
        <p:nvSpPr>
          <p:cNvPr id="11" name="Text 9"/>
          <p:cNvSpPr/>
          <p:nvPr/>
        </p:nvSpPr>
        <p:spPr>
          <a:xfrm>
            <a:off x="1687361" y="1990445"/>
            <a:ext cx="2449886" cy="284629"/>
          </a:xfrm>
          <a:prstGeom prst="rect">
            <a:avLst/>
          </a:prstGeom>
          <a:noFill/>
          <a:ln/>
        </p:spPr>
        <p:txBody>
          <a:bodyPr wrap="square" lIns="25400" tIns="25400" rIns="25400" bIns="25400" rtlCol="0" anchor="t">
            <a:normAutofit/>
          </a:bodyPr>
          <a:lstStyle/>
          <a:p>
            <a:pPr algn="l" indent="0" marL="0">
              <a:buNone/>
            </a:pPr>
            <a:r>
              <a:rPr lang="en-US" sz="1650" b="1" dirty="0">
                <a:solidFill>
                  <a:srgbClr val="0D2E22"/>
                </a:solidFill>
                <a:latin typeface="Public Sans" pitchFamily="34" charset="0"/>
                <a:ea typeface="Public Sans" pitchFamily="34" charset="-122"/>
                <a:cs typeface="Public Sans" pitchFamily="34" charset="-120"/>
              </a:rPr>
              <a:t>Good morning, Rachel</a:t>
            </a:r>
            <a:endParaRPr lang="en-US" sz="1650" dirty="0"/>
          </a:p>
        </p:txBody>
      </p:sp>
      <p:sp>
        <p:nvSpPr>
          <p:cNvPr id="12" name="Shape 10"/>
          <p:cNvSpPr/>
          <p:nvPr/>
        </p:nvSpPr>
        <p:spPr>
          <a:xfrm>
            <a:off x="5100602" y="1989920"/>
            <a:ext cx="914330" cy="247580"/>
          </a:xfrm>
          <a:prstGeom prst="roundRect">
            <a:avLst>
              <a:gd name="adj" fmla="val 26931"/>
            </a:avLst>
          </a:prstGeom>
          <a:solidFill>
            <a:srgbClr val="1C5C43"/>
          </a:solidFill>
          <a:ln/>
        </p:spPr>
      </p:sp>
      <p:sp>
        <p:nvSpPr>
          <p:cNvPr id="13" name="Text 11"/>
          <p:cNvSpPr/>
          <p:nvPr/>
        </p:nvSpPr>
        <p:spPr>
          <a:xfrm>
            <a:off x="1687361" y="2351659"/>
            <a:ext cx="4760328" cy="228600"/>
          </a:xfrm>
          <a:prstGeom prst="rect">
            <a:avLst/>
          </a:prstGeom>
          <a:noFill/>
          <a:ln/>
        </p:spPr>
        <p:txBody>
          <a:bodyPr wrap="square" lIns="25400" tIns="25400" rIns="25400" bIns="25400" rtlCol="0" anchor="t">
            <a:normAutofit/>
          </a:bodyPr>
          <a:lstStyle/>
          <a:p>
            <a:pPr algn="l" indent="0" marL="0">
              <a:buNone/>
            </a:pPr>
            <a:r>
              <a:rPr lang="en-US" sz="1125" b="1" spc="90" kern="0" dirty="0">
                <a:solidFill>
                  <a:srgbClr val="8996A6"/>
                </a:solidFill>
                <a:latin typeface="IBM Plex Mono" pitchFamily="34" charset="0"/>
                <a:ea typeface="IBM Plex Mono" pitchFamily="34" charset="-122"/>
                <a:cs typeface="IBM Plex Mono" pitchFamily="34" charset="-120"/>
              </a:rPr>
              <a:t>NEEDS ATTENTION</a:t>
            </a:r>
            <a:endParaRPr lang="en-US" sz="1125" dirty="0"/>
          </a:p>
        </p:txBody>
      </p:sp>
      <p:sp>
        <p:nvSpPr>
          <p:cNvPr id="14" name="Shape 12"/>
          <p:cNvSpPr/>
          <p:nvPr/>
        </p:nvSpPr>
        <p:spPr>
          <a:xfrm>
            <a:off x="1687361" y="2656319"/>
            <a:ext cx="4327571" cy="507591"/>
          </a:xfrm>
          <a:prstGeom prst="roundRect">
            <a:avLst>
              <a:gd name="adj" fmla="val 16889"/>
            </a:avLst>
          </a:prstGeom>
          <a:solidFill>
            <a:srgbClr val="FFFFFF"/>
          </a:solidFill>
          <a:ln/>
        </p:spPr>
      </p:sp>
      <p:sp>
        <p:nvSpPr>
          <p:cNvPr id="15" name="Shape 13"/>
          <p:cNvSpPr/>
          <p:nvPr/>
        </p:nvSpPr>
        <p:spPr>
          <a:xfrm>
            <a:off x="1687361" y="3152705"/>
            <a:ext cx="4327571" cy="11206"/>
          </a:xfrm>
          <a:prstGeom prst="rect">
            <a:avLst/>
          </a:prstGeom>
          <a:solidFill>
            <a:srgbClr val="E4E9EF"/>
          </a:solidFill>
          <a:ln/>
        </p:spPr>
      </p:sp>
      <p:sp>
        <p:nvSpPr>
          <p:cNvPr id="16" name="Shape 14"/>
          <p:cNvSpPr/>
          <p:nvPr/>
        </p:nvSpPr>
        <p:spPr>
          <a:xfrm>
            <a:off x="1687361" y="2656319"/>
            <a:ext cx="4327571" cy="11206"/>
          </a:xfrm>
          <a:prstGeom prst="rect">
            <a:avLst/>
          </a:prstGeom>
          <a:solidFill>
            <a:srgbClr val="E4E9EF"/>
          </a:solidFill>
          <a:ln/>
        </p:spPr>
      </p:sp>
      <p:sp>
        <p:nvSpPr>
          <p:cNvPr id="17" name="Shape 15"/>
          <p:cNvSpPr/>
          <p:nvPr/>
        </p:nvSpPr>
        <p:spPr>
          <a:xfrm>
            <a:off x="1687361" y="2656319"/>
            <a:ext cx="33618" cy="507591"/>
          </a:xfrm>
          <a:prstGeom prst="rect">
            <a:avLst/>
          </a:prstGeom>
          <a:solidFill>
            <a:srgbClr val="B4690E"/>
          </a:solidFill>
          <a:ln/>
        </p:spPr>
      </p:sp>
      <p:sp>
        <p:nvSpPr>
          <p:cNvPr id="18" name="Shape 16"/>
          <p:cNvSpPr/>
          <p:nvPr/>
        </p:nvSpPr>
        <p:spPr>
          <a:xfrm>
            <a:off x="6003726" y="2656319"/>
            <a:ext cx="11206" cy="507591"/>
          </a:xfrm>
          <a:prstGeom prst="rect">
            <a:avLst/>
          </a:prstGeom>
          <a:solidFill>
            <a:srgbClr val="E4E9EF"/>
          </a:solidFill>
          <a:ln/>
        </p:spPr>
      </p:sp>
      <p:sp>
        <p:nvSpPr>
          <p:cNvPr id="19" name="Shape 17"/>
          <p:cNvSpPr/>
          <p:nvPr/>
        </p:nvSpPr>
        <p:spPr>
          <a:xfrm>
            <a:off x="1854223" y="2781685"/>
            <a:ext cx="2811275" cy="104705"/>
          </a:xfrm>
          <a:prstGeom prst="roundRect">
            <a:avLst>
              <a:gd name="adj" fmla="val 36388"/>
            </a:avLst>
          </a:prstGeom>
          <a:solidFill>
            <a:srgbClr val="DFE5EC"/>
          </a:solidFill>
          <a:ln/>
        </p:spPr>
      </p:sp>
      <p:sp>
        <p:nvSpPr>
          <p:cNvPr id="20" name="Shape 18"/>
          <p:cNvSpPr/>
          <p:nvPr/>
        </p:nvSpPr>
        <p:spPr>
          <a:xfrm>
            <a:off x="1854223" y="2952925"/>
            <a:ext cx="1807299" cy="85620"/>
          </a:xfrm>
          <a:prstGeom prst="roundRect">
            <a:avLst>
              <a:gd name="adj" fmla="val 44499"/>
            </a:avLst>
          </a:prstGeom>
          <a:solidFill>
            <a:srgbClr val="EEF1F5"/>
          </a:solidFill>
          <a:ln/>
        </p:spPr>
      </p:sp>
      <p:sp>
        <p:nvSpPr>
          <p:cNvPr id="21" name="Shape 19"/>
          <p:cNvSpPr/>
          <p:nvPr/>
        </p:nvSpPr>
        <p:spPr>
          <a:xfrm>
            <a:off x="1687361" y="3278071"/>
            <a:ext cx="1379024" cy="533330"/>
          </a:xfrm>
          <a:prstGeom prst="roundRect">
            <a:avLst>
              <a:gd name="adj" fmla="val 16074"/>
            </a:avLst>
          </a:prstGeom>
          <a:solidFill>
            <a:srgbClr val="F4F6F9"/>
          </a:solidFill>
          <a:ln/>
        </p:spPr>
      </p:sp>
      <p:sp>
        <p:nvSpPr>
          <p:cNvPr id="22" name="Shape 20"/>
          <p:cNvSpPr/>
          <p:nvPr/>
        </p:nvSpPr>
        <p:spPr>
          <a:xfrm>
            <a:off x="3161634" y="3278071"/>
            <a:ext cx="1379024" cy="533330"/>
          </a:xfrm>
          <a:prstGeom prst="roundRect">
            <a:avLst>
              <a:gd name="adj" fmla="val 16074"/>
            </a:avLst>
          </a:prstGeom>
          <a:solidFill>
            <a:srgbClr val="F4F6F9"/>
          </a:solidFill>
          <a:ln/>
        </p:spPr>
      </p:sp>
      <p:sp>
        <p:nvSpPr>
          <p:cNvPr id="23" name="Shape 21"/>
          <p:cNvSpPr/>
          <p:nvPr/>
        </p:nvSpPr>
        <p:spPr>
          <a:xfrm>
            <a:off x="4635908" y="3278071"/>
            <a:ext cx="1379024" cy="533330"/>
          </a:xfrm>
          <a:prstGeom prst="roundRect">
            <a:avLst>
              <a:gd name="adj" fmla="val 16074"/>
            </a:avLst>
          </a:prstGeom>
          <a:solidFill>
            <a:srgbClr val="F4F6F9"/>
          </a:solidFill>
          <a:ln/>
        </p:spPr>
      </p:sp>
      <p:sp>
        <p:nvSpPr>
          <p:cNvPr id="24" name="Shape 22"/>
          <p:cNvSpPr/>
          <p:nvPr/>
        </p:nvSpPr>
        <p:spPr>
          <a:xfrm>
            <a:off x="1687361" y="6571724"/>
            <a:ext cx="4327571" cy="95250"/>
          </a:xfrm>
          <a:prstGeom prst="roundRect">
            <a:avLst>
              <a:gd name="adj" fmla="val 40000"/>
            </a:avLst>
          </a:prstGeom>
          <a:solidFill>
            <a:srgbClr val="EEF1F5"/>
          </a:solidFill>
          <a:ln/>
        </p:spPr>
      </p:sp>
      <p:sp>
        <p:nvSpPr>
          <p:cNvPr id="25" name="Shape 23"/>
          <p:cNvSpPr/>
          <p:nvPr/>
        </p:nvSpPr>
        <p:spPr>
          <a:xfrm>
            <a:off x="1687361" y="6743140"/>
            <a:ext cx="3808249" cy="95250"/>
          </a:xfrm>
          <a:prstGeom prst="roundRect">
            <a:avLst>
              <a:gd name="adj" fmla="val 40000"/>
            </a:avLst>
          </a:prstGeom>
          <a:solidFill>
            <a:srgbClr val="EEF1F5"/>
          </a:solidFill>
          <a:ln/>
        </p:spPr>
      </p:sp>
      <p:sp>
        <p:nvSpPr>
          <p:cNvPr id="26" name="Shape 24"/>
          <p:cNvSpPr/>
          <p:nvPr/>
        </p:nvSpPr>
        <p:spPr>
          <a:xfrm>
            <a:off x="1687361" y="6914554"/>
            <a:ext cx="4067910" cy="95250"/>
          </a:xfrm>
          <a:prstGeom prst="roundRect">
            <a:avLst>
              <a:gd name="adj" fmla="val 40000"/>
            </a:avLst>
          </a:prstGeom>
          <a:solidFill>
            <a:srgbClr val="EEF1F5"/>
          </a:solidFill>
          <a:ln/>
        </p:spPr>
      </p:sp>
      <p:sp>
        <p:nvSpPr>
          <p:cNvPr id="27" name="Text 25"/>
          <p:cNvSpPr/>
          <p:nvPr/>
        </p:nvSpPr>
        <p:spPr>
          <a:xfrm>
            <a:off x="762000" y="7363840"/>
            <a:ext cx="5979108" cy="363071"/>
          </a:xfrm>
          <a:prstGeom prst="rect">
            <a:avLst/>
          </a:prstGeom>
          <a:noFill/>
          <a:ln/>
        </p:spPr>
        <p:txBody>
          <a:bodyPr wrap="square" lIns="25400" tIns="25400" rIns="25400" bIns="25400" rtlCol="0" anchor="t">
            <a:normAutofit/>
          </a:bodyPr>
          <a:lstStyle/>
          <a:p>
            <a:pPr algn="l" indent="0" marL="0">
              <a:buNone/>
            </a:pPr>
            <a:r>
              <a:rPr lang="en-US" sz="2175" b="1" dirty="0">
                <a:solidFill>
                  <a:srgbClr val="0D2E22"/>
                </a:solidFill>
                <a:latin typeface="Public Sans" pitchFamily="34" charset="0"/>
                <a:ea typeface="Public Sans" pitchFamily="34" charset="-122"/>
                <a:cs typeface="Public Sans" pitchFamily="34" charset="-120"/>
              </a:rPr>
              <a:t>Open on what needs you</a:t>
            </a:r>
            <a:endParaRPr lang="en-US" sz="2175" dirty="0"/>
          </a:p>
        </p:txBody>
      </p:sp>
      <p:sp>
        <p:nvSpPr>
          <p:cNvPr id="28" name="Text 26"/>
          <p:cNvSpPr/>
          <p:nvPr/>
        </p:nvSpPr>
        <p:spPr>
          <a:xfrm>
            <a:off x="762000" y="7764975"/>
            <a:ext cx="5598620" cy="665629"/>
          </a:xfrm>
          <a:prstGeom prst="rect">
            <a:avLst/>
          </a:prstGeom>
          <a:noFill/>
          <a:ln/>
        </p:spPr>
        <p:txBody>
          <a:bodyPr wrap="square" lIns="25400" tIns="25400" rIns="25400" bIns="25400" rtlCol="0" anchor="t">
            <a:normAutofit/>
          </a:bodyPr>
          <a:lstStyle/>
          <a:p>
            <a:pPr algn="l" indent="0" marL="0">
              <a:lnSpc>
                <a:spcPct val="123250"/>
              </a:lnSpc>
              <a:buNone/>
            </a:pPr>
            <a:r>
              <a:rPr lang="en-US" sz="1725" dirty="0">
                <a:solidFill>
                  <a:srgbClr val="5B6675"/>
                </a:solidFill>
                <a:latin typeface="Public Sans" pitchFamily="34" charset="0"/>
                <a:ea typeface="Public Sans" pitchFamily="34" charset="-122"/>
                <a:cs typeface="Public Sans" pitchFamily="34" charset="-120"/>
              </a:rPr>
              <a:t>Not a blank form. The book, sorted by what is waiting on the RM.</a:t>
            </a:r>
            <a:endParaRPr lang="en-US" sz="1725" dirty="0"/>
          </a:p>
        </p:txBody>
      </p:sp>
      <p:sp>
        <p:nvSpPr>
          <p:cNvPr id="29" name="Shape 27"/>
          <p:cNvSpPr/>
          <p:nvPr/>
        </p:nvSpPr>
        <p:spPr>
          <a:xfrm>
            <a:off x="6426048" y="1807299"/>
            <a:ext cx="5435728" cy="5385127"/>
          </a:xfrm>
          <a:prstGeom prst="roundRect">
            <a:avLst>
              <a:gd name="adj" fmla="val 2476"/>
            </a:avLst>
          </a:prstGeom>
          <a:solidFill>
            <a:srgbClr val="FFFFFF"/>
          </a:solidFill>
          <a:ln w="11206">
            <a:solidFill>
              <a:srgbClr val="E4E9EF"/>
            </a:solidFill>
            <a:prstDash val="solid"/>
          </a:ln>
        </p:spPr>
      </p:sp>
      <p:sp>
        <p:nvSpPr>
          <p:cNvPr id="30" name="Text 28"/>
          <p:cNvSpPr/>
          <p:nvPr/>
        </p:nvSpPr>
        <p:spPr>
          <a:xfrm>
            <a:off x="6608669" y="1989920"/>
            <a:ext cx="5577535" cy="228600"/>
          </a:xfrm>
          <a:prstGeom prst="rect">
            <a:avLst/>
          </a:prstGeom>
          <a:noFill/>
          <a:ln/>
        </p:spPr>
        <p:txBody>
          <a:bodyPr wrap="square" lIns="25400" tIns="25400" rIns="25400" bIns="25400" rtlCol="0" anchor="t">
            <a:normAutofit/>
          </a:bodyPr>
          <a:lstStyle/>
          <a:p>
            <a:pPr algn="l" indent="0" marL="0">
              <a:buNone/>
            </a:pPr>
            <a:r>
              <a:rPr lang="en-US" sz="1125" b="1" spc="90" kern="0" dirty="0">
                <a:solidFill>
                  <a:srgbClr val="8996A6"/>
                </a:solidFill>
                <a:latin typeface="IBM Plex Mono" pitchFamily="34" charset="0"/>
                <a:ea typeface="IBM Plex Mono" pitchFamily="34" charset="-122"/>
                <a:cs typeface="IBM Plex Mono" pitchFamily="34" charset="-120"/>
              </a:rPr>
              <a:t>THREE TIMES THAT WORK</a:t>
            </a:r>
            <a:endParaRPr lang="en-US" sz="1125" dirty="0"/>
          </a:p>
        </p:txBody>
      </p:sp>
      <p:sp>
        <p:nvSpPr>
          <p:cNvPr id="31" name="Shape 29"/>
          <p:cNvSpPr/>
          <p:nvPr/>
        </p:nvSpPr>
        <p:spPr>
          <a:xfrm>
            <a:off x="6608669" y="2294579"/>
            <a:ext cx="5070486" cy="835714"/>
          </a:xfrm>
          <a:prstGeom prst="roundRect">
            <a:avLst>
              <a:gd name="adj" fmla="val 11397"/>
            </a:avLst>
          </a:prstGeom>
          <a:solidFill>
            <a:srgbClr val="F5F8F4"/>
          </a:solidFill>
          <a:ln w="16809">
            <a:solidFill>
              <a:srgbClr val="1C5C43"/>
            </a:solidFill>
            <a:prstDash val="solid"/>
          </a:ln>
        </p:spPr>
      </p:sp>
      <p:sp>
        <p:nvSpPr>
          <p:cNvPr id="32" name="Text 30"/>
          <p:cNvSpPr/>
          <p:nvPr/>
        </p:nvSpPr>
        <p:spPr>
          <a:xfrm>
            <a:off x="6758722" y="2444633"/>
            <a:ext cx="1835103" cy="273424"/>
          </a:xfrm>
          <a:prstGeom prst="rect">
            <a:avLst/>
          </a:prstGeom>
          <a:noFill/>
          <a:ln/>
        </p:spPr>
        <p:txBody>
          <a:bodyPr wrap="square" lIns="25400" tIns="25400" rIns="25400" bIns="25400" rtlCol="0" anchor="t">
            <a:normAutofit/>
          </a:bodyPr>
          <a:lstStyle/>
          <a:p>
            <a:pPr algn="l" indent="0" marL="0">
              <a:buNone/>
            </a:pPr>
            <a:r>
              <a:rPr lang="en-US" sz="1575" b="1" dirty="0">
                <a:solidFill>
                  <a:srgbClr val="0D2E22"/>
                </a:solidFill>
                <a:latin typeface="Public Sans" pitchFamily="34" charset="0"/>
                <a:ea typeface="Public Sans" pitchFamily="34" charset="-122"/>
                <a:cs typeface="Public Sans" pitchFamily="34" charset="-120"/>
              </a:rPr>
              <a:t>Tue 14 Apr · 10:00</a:t>
            </a:r>
            <a:endParaRPr lang="en-US" sz="1575" dirty="0"/>
          </a:p>
        </p:txBody>
      </p:sp>
      <p:sp>
        <p:nvSpPr>
          <p:cNvPr id="33" name="Shape 31"/>
          <p:cNvSpPr/>
          <p:nvPr/>
        </p:nvSpPr>
        <p:spPr>
          <a:xfrm>
            <a:off x="11041296" y="2445859"/>
            <a:ext cx="487806" cy="232872"/>
          </a:xfrm>
          <a:prstGeom prst="roundRect">
            <a:avLst>
              <a:gd name="adj" fmla="val 50000"/>
            </a:avLst>
          </a:prstGeom>
          <a:solidFill>
            <a:srgbClr val="1C5C43"/>
          </a:solidFill>
          <a:ln/>
        </p:spPr>
      </p:sp>
      <p:sp>
        <p:nvSpPr>
          <p:cNvPr id="34" name="Text 32"/>
          <p:cNvSpPr/>
          <p:nvPr/>
        </p:nvSpPr>
        <p:spPr>
          <a:xfrm>
            <a:off x="11136546" y="2483959"/>
            <a:ext cx="373506" cy="194772"/>
          </a:xfrm>
          <a:prstGeom prst="rect">
            <a:avLst/>
          </a:prstGeom>
          <a:noFill/>
          <a:ln/>
        </p:spPr>
        <p:txBody>
          <a:bodyPr wrap="square" lIns="25400" tIns="25400" rIns="25400" bIns="25400" rtlCol="0" anchor="t">
            <a:normAutofit/>
          </a:bodyPr>
          <a:lstStyle/>
          <a:p>
            <a:pPr algn="l" indent="0" marL="0">
              <a:buNone/>
            </a:pPr>
            <a:r>
              <a:rPr lang="en-US" sz="975" b="1" dirty="0">
                <a:solidFill>
                  <a:srgbClr val="FFFFFF"/>
                </a:solidFill>
                <a:latin typeface="IBM Plex Mono" pitchFamily="34" charset="0"/>
                <a:ea typeface="IBM Plex Mono" pitchFamily="34" charset="-122"/>
                <a:cs typeface="IBM Plex Mono" pitchFamily="34" charset="-120"/>
              </a:rPr>
              <a:t>BEST</a:t>
            </a:r>
            <a:endParaRPr lang="en-US" sz="975" dirty="0"/>
          </a:p>
        </p:txBody>
      </p:sp>
      <p:sp>
        <p:nvSpPr>
          <p:cNvPr id="35" name="Text 33"/>
          <p:cNvSpPr/>
          <p:nvPr/>
        </p:nvSpPr>
        <p:spPr>
          <a:xfrm>
            <a:off x="6758722" y="2756122"/>
            <a:ext cx="5247417" cy="262218"/>
          </a:xfrm>
          <a:prstGeom prst="rect">
            <a:avLst/>
          </a:prstGeom>
          <a:noFill/>
          <a:ln/>
        </p:spPr>
        <p:txBody>
          <a:bodyPr wrap="square" lIns="25400" tIns="25400" rIns="25400" bIns="25400" rtlCol="0" anchor="t">
            <a:normAutofit/>
          </a:bodyPr>
          <a:lstStyle/>
          <a:p>
            <a:pPr algn="l" indent="0" marL="0">
              <a:lnSpc>
                <a:spcPct val="119000"/>
              </a:lnSpc>
              <a:buNone/>
            </a:pPr>
            <a:r>
              <a:rPr lang="en-US" sz="1275" dirty="0">
                <a:solidFill>
                  <a:srgbClr val="5B6675"/>
                </a:solidFill>
                <a:latin typeface="Public Sans" pitchFamily="34" charset="0"/>
                <a:ea typeface="Public Sans" pitchFamily="34" charset="-122"/>
                <a:cs typeface="Public Sans" pitchFamily="34" charset="-120"/>
              </a:rPr>
              <a:t>Everyone free · Sir Evelyn room · no travel for the client</a:t>
            </a:r>
            <a:endParaRPr lang="en-US" sz="1275" dirty="0"/>
          </a:p>
        </p:txBody>
      </p:sp>
      <p:sp>
        <p:nvSpPr>
          <p:cNvPr id="36" name="Shape 34"/>
          <p:cNvSpPr/>
          <p:nvPr/>
        </p:nvSpPr>
        <p:spPr>
          <a:xfrm>
            <a:off x="6608669" y="3244453"/>
            <a:ext cx="5070486" cy="686010"/>
          </a:xfrm>
          <a:prstGeom prst="roundRect">
            <a:avLst>
              <a:gd name="adj" fmla="val 13885"/>
            </a:avLst>
          </a:prstGeom>
          <a:ln w="11206">
            <a:solidFill>
              <a:srgbClr val="E4E9EF"/>
            </a:solidFill>
            <a:prstDash val="solid"/>
          </a:ln>
        </p:spPr>
      </p:sp>
      <p:sp>
        <p:nvSpPr>
          <p:cNvPr id="37" name="Text 35"/>
          <p:cNvSpPr/>
          <p:nvPr/>
        </p:nvSpPr>
        <p:spPr>
          <a:xfrm>
            <a:off x="6753120" y="3388904"/>
            <a:ext cx="5259743" cy="273424"/>
          </a:xfrm>
          <a:prstGeom prst="rect">
            <a:avLst/>
          </a:prstGeom>
          <a:noFill/>
          <a:ln/>
        </p:spPr>
        <p:txBody>
          <a:bodyPr wrap="square" lIns="25400" tIns="25400" rIns="25400" bIns="25400" rtlCol="0" anchor="t">
            <a:normAutofit/>
          </a:bodyPr>
          <a:lstStyle/>
          <a:p>
            <a:pPr algn="l" indent="0" marL="0">
              <a:buNone/>
            </a:pPr>
            <a:r>
              <a:rPr lang="en-US" sz="1575" b="1" dirty="0">
                <a:solidFill>
                  <a:srgbClr val="0D2E22"/>
                </a:solidFill>
                <a:latin typeface="Public Sans" pitchFamily="34" charset="0"/>
                <a:ea typeface="Public Sans" pitchFamily="34" charset="-122"/>
                <a:cs typeface="Public Sans" pitchFamily="34" charset="-120"/>
              </a:rPr>
              <a:t>Wed 15 Apr · 15:30</a:t>
            </a:r>
            <a:endParaRPr lang="en-US" sz="1575" dirty="0"/>
          </a:p>
        </p:txBody>
      </p:sp>
      <p:sp>
        <p:nvSpPr>
          <p:cNvPr id="38" name="Shape 36"/>
          <p:cNvSpPr/>
          <p:nvPr/>
        </p:nvSpPr>
        <p:spPr>
          <a:xfrm>
            <a:off x="6753120" y="3700392"/>
            <a:ext cx="3825233" cy="85620"/>
          </a:xfrm>
          <a:prstGeom prst="roundRect">
            <a:avLst>
              <a:gd name="adj" fmla="val 44499"/>
            </a:avLst>
          </a:prstGeom>
          <a:solidFill>
            <a:srgbClr val="EEF1F5"/>
          </a:solidFill>
          <a:ln/>
        </p:spPr>
      </p:sp>
      <p:sp>
        <p:nvSpPr>
          <p:cNvPr id="39" name="Shape 37"/>
          <p:cNvSpPr/>
          <p:nvPr/>
        </p:nvSpPr>
        <p:spPr>
          <a:xfrm>
            <a:off x="6608669" y="4044623"/>
            <a:ext cx="5070486" cy="686010"/>
          </a:xfrm>
          <a:prstGeom prst="roundRect">
            <a:avLst>
              <a:gd name="adj" fmla="val 13885"/>
            </a:avLst>
          </a:prstGeom>
          <a:ln w="11206">
            <a:solidFill>
              <a:srgbClr val="E4E9EF"/>
            </a:solidFill>
            <a:prstDash val="solid"/>
          </a:ln>
        </p:spPr>
      </p:sp>
      <p:sp>
        <p:nvSpPr>
          <p:cNvPr id="40" name="Text 38"/>
          <p:cNvSpPr/>
          <p:nvPr/>
        </p:nvSpPr>
        <p:spPr>
          <a:xfrm>
            <a:off x="6753120" y="4189074"/>
            <a:ext cx="5259743" cy="273424"/>
          </a:xfrm>
          <a:prstGeom prst="rect">
            <a:avLst/>
          </a:prstGeom>
          <a:noFill/>
          <a:ln/>
        </p:spPr>
        <p:txBody>
          <a:bodyPr wrap="square" lIns="25400" tIns="25400" rIns="25400" bIns="25400" rtlCol="0" anchor="t">
            <a:normAutofit/>
          </a:bodyPr>
          <a:lstStyle/>
          <a:p>
            <a:pPr algn="l" indent="0" marL="0">
              <a:buNone/>
            </a:pPr>
            <a:r>
              <a:rPr lang="en-US" sz="1575" b="1" dirty="0">
                <a:solidFill>
                  <a:srgbClr val="0D2E22"/>
                </a:solidFill>
                <a:latin typeface="Public Sans" pitchFamily="34" charset="0"/>
                <a:ea typeface="Public Sans" pitchFamily="34" charset="-122"/>
                <a:cs typeface="Public Sans" pitchFamily="34" charset="-120"/>
              </a:rPr>
              <a:t>Thu 16 Apr · 09:00</a:t>
            </a:r>
            <a:endParaRPr lang="en-US" sz="1575" dirty="0"/>
          </a:p>
        </p:txBody>
      </p:sp>
      <p:sp>
        <p:nvSpPr>
          <p:cNvPr id="41" name="Shape 39"/>
          <p:cNvSpPr/>
          <p:nvPr/>
        </p:nvSpPr>
        <p:spPr>
          <a:xfrm>
            <a:off x="6753120" y="4500562"/>
            <a:ext cx="3155681" cy="85620"/>
          </a:xfrm>
          <a:prstGeom prst="roundRect">
            <a:avLst>
              <a:gd name="adj" fmla="val 44499"/>
            </a:avLst>
          </a:prstGeom>
          <a:solidFill>
            <a:srgbClr val="EEF1F5"/>
          </a:solidFill>
          <a:ln/>
        </p:spPr>
      </p:sp>
      <p:sp>
        <p:nvSpPr>
          <p:cNvPr id="42" name="Shape 40"/>
          <p:cNvSpPr/>
          <p:nvPr/>
        </p:nvSpPr>
        <p:spPr>
          <a:xfrm>
            <a:off x="9107405" y="6686059"/>
            <a:ext cx="1047750" cy="323745"/>
          </a:xfrm>
          <a:prstGeom prst="roundRect">
            <a:avLst>
              <a:gd name="adj" fmla="val 23537"/>
            </a:avLst>
          </a:prstGeom>
          <a:ln w="11206">
            <a:solidFill>
              <a:srgbClr val="DBE2EA"/>
            </a:solidFill>
            <a:prstDash val="solid"/>
          </a:ln>
        </p:spPr>
      </p:sp>
      <p:sp>
        <p:nvSpPr>
          <p:cNvPr id="43" name="Shape 41"/>
          <p:cNvSpPr/>
          <p:nvPr/>
        </p:nvSpPr>
        <p:spPr>
          <a:xfrm>
            <a:off x="10250406" y="6686059"/>
            <a:ext cx="1428750" cy="323745"/>
          </a:xfrm>
          <a:prstGeom prst="roundRect">
            <a:avLst>
              <a:gd name="adj" fmla="val 23537"/>
            </a:avLst>
          </a:prstGeom>
          <a:solidFill>
            <a:srgbClr val="1C5C43"/>
          </a:solidFill>
          <a:ln/>
        </p:spPr>
      </p:sp>
      <p:sp>
        <p:nvSpPr>
          <p:cNvPr id="44" name="Text 42"/>
          <p:cNvSpPr/>
          <p:nvPr/>
        </p:nvSpPr>
        <p:spPr>
          <a:xfrm>
            <a:off x="6426048" y="7363840"/>
            <a:ext cx="5979301" cy="363071"/>
          </a:xfrm>
          <a:prstGeom prst="rect">
            <a:avLst/>
          </a:prstGeom>
          <a:noFill/>
          <a:ln/>
        </p:spPr>
        <p:txBody>
          <a:bodyPr wrap="square" lIns="25400" tIns="25400" rIns="25400" bIns="25400" rtlCol="0" anchor="t">
            <a:normAutofit/>
          </a:bodyPr>
          <a:lstStyle/>
          <a:p>
            <a:pPr algn="l" indent="0" marL="0">
              <a:buNone/>
            </a:pPr>
            <a:r>
              <a:rPr lang="en-US" sz="2175" b="1" dirty="0">
                <a:solidFill>
                  <a:srgbClr val="0D2E22"/>
                </a:solidFill>
                <a:latin typeface="Public Sans" pitchFamily="34" charset="0"/>
                <a:ea typeface="Public Sans" pitchFamily="34" charset="-122"/>
                <a:cs typeface="Public Sans" pitchFamily="34" charset="-120"/>
              </a:rPr>
              <a:t>Show the reasoning</a:t>
            </a:r>
            <a:endParaRPr lang="en-US" sz="2175" dirty="0"/>
          </a:p>
        </p:txBody>
      </p:sp>
      <p:sp>
        <p:nvSpPr>
          <p:cNvPr id="45" name="Text 43"/>
          <p:cNvSpPr/>
          <p:nvPr/>
        </p:nvSpPr>
        <p:spPr>
          <a:xfrm>
            <a:off x="6426048" y="7764975"/>
            <a:ext cx="5598800" cy="665629"/>
          </a:xfrm>
          <a:prstGeom prst="rect">
            <a:avLst/>
          </a:prstGeom>
          <a:noFill/>
          <a:ln/>
        </p:spPr>
        <p:txBody>
          <a:bodyPr wrap="square" lIns="25400" tIns="25400" rIns="25400" bIns="25400" rtlCol="0" anchor="t">
            <a:normAutofit/>
          </a:bodyPr>
          <a:lstStyle/>
          <a:p>
            <a:pPr algn="l" indent="0" marL="0">
              <a:lnSpc>
                <a:spcPct val="123250"/>
              </a:lnSpc>
              <a:buNone/>
            </a:pPr>
            <a:r>
              <a:rPr lang="en-US" sz="1725" dirty="0">
                <a:solidFill>
                  <a:srgbClr val="5B6675"/>
                </a:solidFill>
                <a:latin typeface="Public Sans" pitchFamily="34" charset="0"/>
                <a:ea typeface="Public Sans" pitchFamily="34" charset="-122"/>
                <a:cs typeface="Public Sans" pitchFamily="34" charset="-120"/>
              </a:rPr>
              <a:t>Options come with why. The RM decides what the client sees.</a:t>
            </a:r>
            <a:endParaRPr lang="en-US" sz="1725" dirty="0"/>
          </a:p>
        </p:txBody>
      </p:sp>
      <p:sp>
        <p:nvSpPr>
          <p:cNvPr id="46" name="Shape 44"/>
          <p:cNvSpPr/>
          <p:nvPr/>
        </p:nvSpPr>
        <p:spPr>
          <a:xfrm>
            <a:off x="12090271" y="1807299"/>
            <a:ext cx="5435728" cy="5385127"/>
          </a:xfrm>
          <a:prstGeom prst="roundRect">
            <a:avLst>
              <a:gd name="adj" fmla="val 2476"/>
            </a:avLst>
          </a:prstGeom>
          <a:solidFill>
            <a:srgbClr val="FFFFFF"/>
          </a:solidFill>
          <a:ln w="11206">
            <a:solidFill>
              <a:srgbClr val="E4E9EF"/>
            </a:solidFill>
            <a:prstDash val="solid"/>
          </a:ln>
        </p:spPr>
      </p:sp>
      <p:sp>
        <p:nvSpPr>
          <p:cNvPr id="47" name="Text 45"/>
          <p:cNvSpPr/>
          <p:nvPr/>
        </p:nvSpPr>
        <p:spPr>
          <a:xfrm>
            <a:off x="12272892" y="2022311"/>
            <a:ext cx="2030593" cy="228600"/>
          </a:xfrm>
          <a:prstGeom prst="rect">
            <a:avLst/>
          </a:prstGeom>
          <a:noFill/>
          <a:ln/>
        </p:spPr>
        <p:txBody>
          <a:bodyPr wrap="square" lIns="25400" tIns="25400" rIns="25400" bIns="25400" rtlCol="0" anchor="t">
            <a:normAutofit/>
          </a:bodyPr>
          <a:lstStyle/>
          <a:p>
            <a:pPr algn="l" indent="0" marL="0">
              <a:buNone/>
            </a:pPr>
            <a:r>
              <a:rPr lang="en-US" sz="1125" b="1" spc="90" kern="0" dirty="0">
                <a:solidFill>
                  <a:srgbClr val="8996A6"/>
                </a:solidFill>
                <a:latin typeface="IBM Plex Mono" pitchFamily="34" charset="0"/>
                <a:ea typeface="IBM Plex Mono" pitchFamily="34" charset="-122"/>
                <a:cs typeface="IBM Plex Mono" pitchFamily="34" charset="-120"/>
              </a:rPr>
              <a:t>DRAFT TO THE CLIENT</a:t>
            </a:r>
            <a:endParaRPr lang="en-US" sz="1125" dirty="0"/>
          </a:p>
        </p:txBody>
      </p:sp>
      <p:sp>
        <p:nvSpPr>
          <p:cNvPr id="48" name="Shape 46"/>
          <p:cNvSpPr/>
          <p:nvPr/>
        </p:nvSpPr>
        <p:spPr>
          <a:xfrm>
            <a:off x="16536029" y="1989920"/>
            <a:ext cx="807349" cy="255284"/>
          </a:xfrm>
          <a:prstGeom prst="roundRect">
            <a:avLst>
              <a:gd name="adj" fmla="val 50000"/>
            </a:avLst>
          </a:prstGeom>
          <a:solidFill>
            <a:srgbClr val="FDF6EA"/>
          </a:solidFill>
          <a:ln w="11206">
            <a:solidFill>
              <a:srgbClr val="E0C58A"/>
            </a:solidFill>
            <a:prstDash val="solid"/>
          </a:ln>
        </p:spPr>
      </p:sp>
      <p:sp>
        <p:nvSpPr>
          <p:cNvPr id="49" name="Text 47"/>
          <p:cNvSpPr/>
          <p:nvPr/>
        </p:nvSpPr>
        <p:spPr>
          <a:xfrm>
            <a:off x="16642485" y="2039225"/>
            <a:ext cx="670637" cy="194772"/>
          </a:xfrm>
          <a:prstGeom prst="rect">
            <a:avLst/>
          </a:prstGeom>
          <a:noFill/>
          <a:ln/>
        </p:spPr>
        <p:txBody>
          <a:bodyPr wrap="square" lIns="25400" tIns="25400" rIns="25400" bIns="25400" rtlCol="0" anchor="t">
            <a:normAutofit/>
          </a:bodyPr>
          <a:lstStyle/>
          <a:p>
            <a:pPr algn="l" indent="0" marL="0">
              <a:buNone/>
            </a:pPr>
            <a:r>
              <a:rPr lang="en-US" sz="975" b="1" dirty="0">
                <a:solidFill>
                  <a:srgbClr val="8A5410"/>
                </a:solidFill>
                <a:latin typeface="IBM Plex Mono" pitchFamily="34" charset="0"/>
                <a:ea typeface="IBM Plex Mono" pitchFamily="34" charset="-122"/>
                <a:cs typeface="IBM Plex Mono" pitchFamily="34" charset="-120"/>
              </a:rPr>
              <a:t>EDITABLE</a:t>
            </a:r>
            <a:endParaRPr lang="en-US" sz="975" dirty="0"/>
          </a:p>
        </p:txBody>
      </p:sp>
      <p:sp>
        <p:nvSpPr>
          <p:cNvPr id="50" name="Shape 48"/>
          <p:cNvSpPr/>
          <p:nvPr/>
        </p:nvSpPr>
        <p:spPr>
          <a:xfrm>
            <a:off x="12272892" y="2359363"/>
            <a:ext cx="5070486" cy="4212536"/>
          </a:xfrm>
          <a:prstGeom prst="roundRect">
            <a:avLst>
              <a:gd name="adj" fmla="val 2261"/>
            </a:avLst>
          </a:prstGeom>
          <a:ln w="11206">
            <a:solidFill>
              <a:srgbClr val="E4E9EF"/>
            </a:solidFill>
            <a:prstDash val="solid"/>
          </a:ln>
        </p:spPr>
      </p:sp>
      <p:sp>
        <p:nvSpPr>
          <p:cNvPr id="51" name="Text 49"/>
          <p:cNvSpPr/>
          <p:nvPr/>
        </p:nvSpPr>
        <p:spPr>
          <a:xfrm>
            <a:off x="12417342" y="2503814"/>
            <a:ext cx="5259743" cy="251012"/>
          </a:xfrm>
          <a:prstGeom prst="rect">
            <a:avLst/>
          </a:prstGeom>
          <a:noFill/>
          <a:ln/>
        </p:spPr>
        <p:txBody>
          <a:bodyPr wrap="square" lIns="25400" tIns="25400" rIns="25400" bIns="25400" rtlCol="0" anchor="t">
            <a:normAutofit/>
          </a:bodyPr>
          <a:lstStyle/>
          <a:p>
            <a:pPr algn="l" indent="0" marL="0">
              <a:buNone/>
            </a:pPr>
            <a:r>
              <a:rPr lang="en-US" sz="1425" b="1" dirty="0">
                <a:solidFill>
                  <a:srgbClr val="0D2E22"/>
                </a:solidFill>
                <a:latin typeface="Public Sans" pitchFamily="34" charset="0"/>
                <a:ea typeface="Public Sans" pitchFamily="34" charset="-122"/>
                <a:cs typeface="Public Sans" pitchFamily="34" charset="-120"/>
              </a:rPr>
              <a:t>Dear Mr Bianchi,</a:t>
            </a:r>
            <a:endParaRPr lang="en-US" sz="1425" dirty="0"/>
          </a:p>
        </p:txBody>
      </p:sp>
      <p:sp>
        <p:nvSpPr>
          <p:cNvPr id="52" name="Shape 50"/>
          <p:cNvSpPr/>
          <p:nvPr/>
        </p:nvSpPr>
        <p:spPr>
          <a:xfrm>
            <a:off x="12417342" y="2802346"/>
            <a:ext cx="4781585" cy="95250"/>
          </a:xfrm>
          <a:prstGeom prst="roundRect">
            <a:avLst>
              <a:gd name="adj" fmla="val 40000"/>
            </a:avLst>
          </a:prstGeom>
          <a:solidFill>
            <a:srgbClr val="EEF1F5"/>
          </a:solidFill>
          <a:ln/>
        </p:spPr>
      </p:sp>
      <p:sp>
        <p:nvSpPr>
          <p:cNvPr id="53" name="Shape 51"/>
          <p:cNvSpPr/>
          <p:nvPr/>
        </p:nvSpPr>
        <p:spPr>
          <a:xfrm>
            <a:off x="12417342" y="2983216"/>
            <a:ext cx="4590209" cy="95250"/>
          </a:xfrm>
          <a:prstGeom prst="roundRect">
            <a:avLst>
              <a:gd name="adj" fmla="val 40000"/>
            </a:avLst>
          </a:prstGeom>
          <a:solidFill>
            <a:srgbClr val="EEF1F5"/>
          </a:solidFill>
          <a:ln/>
        </p:spPr>
      </p:sp>
      <p:sp>
        <p:nvSpPr>
          <p:cNvPr id="54" name="Shape 52"/>
          <p:cNvSpPr/>
          <p:nvPr/>
        </p:nvSpPr>
        <p:spPr>
          <a:xfrm>
            <a:off x="12417342" y="3164086"/>
            <a:ext cx="3442657" cy="95250"/>
          </a:xfrm>
          <a:prstGeom prst="roundRect">
            <a:avLst>
              <a:gd name="adj" fmla="val 40000"/>
            </a:avLst>
          </a:prstGeom>
          <a:solidFill>
            <a:srgbClr val="EEF1F5"/>
          </a:solidFill>
          <a:ln/>
        </p:spPr>
      </p:sp>
      <p:sp>
        <p:nvSpPr>
          <p:cNvPr id="55" name="Shape 53"/>
          <p:cNvSpPr/>
          <p:nvPr/>
        </p:nvSpPr>
        <p:spPr>
          <a:xfrm>
            <a:off x="12417342" y="3402036"/>
            <a:ext cx="4781585" cy="95250"/>
          </a:xfrm>
          <a:prstGeom prst="roundRect">
            <a:avLst>
              <a:gd name="adj" fmla="val 40000"/>
            </a:avLst>
          </a:prstGeom>
          <a:solidFill>
            <a:srgbClr val="EEF1F5"/>
          </a:solidFill>
          <a:ln/>
        </p:spPr>
      </p:sp>
      <p:sp>
        <p:nvSpPr>
          <p:cNvPr id="56" name="Shape 54"/>
          <p:cNvSpPr/>
          <p:nvPr/>
        </p:nvSpPr>
        <p:spPr>
          <a:xfrm>
            <a:off x="12417342" y="3582906"/>
            <a:ext cx="4016433" cy="95250"/>
          </a:xfrm>
          <a:prstGeom prst="roundRect">
            <a:avLst>
              <a:gd name="adj" fmla="val 40000"/>
            </a:avLst>
          </a:prstGeom>
          <a:solidFill>
            <a:srgbClr val="EEF1F5"/>
          </a:solidFill>
          <a:ln/>
        </p:spPr>
      </p:sp>
      <p:sp>
        <p:nvSpPr>
          <p:cNvPr id="57" name="Text 55"/>
          <p:cNvSpPr/>
          <p:nvPr/>
        </p:nvSpPr>
        <p:spPr>
          <a:xfrm>
            <a:off x="12272892" y="6752594"/>
            <a:ext cx="419205" cy="228600"/>
          </a:xfrm>
          <a:prstGeom prst="rect">
            <a:avLst/>
          </a:prstGeom>
          <a:noFill/>
          <a:ln/>
        </p:spPr>
        <p:txBody>
          <a:bodyPr wrap="square" lIns="25400" tIns="25400" rIns="25400" bIns="25400" rtlCol="0" anchor="t">
            <a:normAutofit/>
          </a:bodyPr>
          <a:lstStyle/>
          <a:p>
            <a:pPr algn="l" indent="0" marL="0">
              <a:buNone/>
            </a:pPr>
            <a:r>
              <a:rPr lang="en-US" sz="1125" b="1" dirty="0">
                <a:solidFill>
                  <a:srgbClr val="8996A6"/>
                </a:solidFill>
                <a:latin typeface="IBM Plex Mono" pitchFamily="34" charset="0"/>
                <a:ea typeface="IBM Plex Mono" pitchFamily="34" charset="-122"/>
                <a:cs typeface="IBM Plex Mono" pitchFamily="34" charset="-120"/>
              </a:rPr>
              <a:t>TONE</a:t>
            </a:r>
            <a:endParaRPr lang="en-US" sz="1125" dirty="0"/>
          </a:p>
        </p:txBody>
      </p:sp>
      <p:sp>
        <p:nvSpPr>
          <p:cNvPr id="58" name="Shape 56"/>
          <p:cNvSpPr/>
          <p:nvPr/>
        </p:nvSpPr>
        <p:spPr>
          <a:xfrm>
            <a:off x="12711146" y="6699366"/>
            <a:ext cx="756222" cy="296956"/>
          </a:xfrm>
          <a:prstGeom prst="roundRect">
            <a:avLst>
              <a:gd name="adj" fmla="val 50000"/>
            </a:avLst>
          </a:prstGeom>
          <a:ln w="11206">
            <a:solidFill>
              <a:srgbClr val="1C5C43"/>
            </a:solidFill>
            <a:prstDash val="solid"/>
          </a:ln>
        </p:spPr>
      </p:sp>
      <p:sp>
        <p:nvSpPr>
          <p:cNvPr id="59" name="Text 57"/>
          <p:cNvSpPr/>
          <p:nvPr/>
        </p:nvSpPr>
        <p:spPr>
          <a:xfrm>
            <a:off x="12836652" y="6758197"/>
            <a:ext cx="581410" cy="217394"/>
          </a:xfrm>
          <a:prstGeom prst="rect">
            <a:avLst/>
          </a:prstGeom>
          <a:noFill/>
          <a:ln/>
        </p:spPr>
        <p:txBody>
          <a:bodyPr wrap="square" lIns="25400" tIns="25400" rIns="25400" bIns="25400" rtlCol="0" anchor="t">
            <a:normAutofit/>
          </a:bodyPr>
          <a:lstStyle/>
          <a:p>
            <a:pPr algn="l" indent="0" marL="0">
              <a:buNone/>
            </a:pPr>
            <a:r>
              <a:rPr lang="en-US" sz="1200" b="1" dirty="0">
                <a:solidFill>
                  <a:srgbClr val="1C5C43"/>
                </a:solidFill>
                <a:latin typeface="Public Sans" pitchFamily="34" charset="0"/>
                <a:ea typeface="Public Sans" pitchFamily="34" charset="-122"/>
                <a:cs typeface="Public Sans" pitchFamily="34" charset="-120"/>
              </a:rPr>
              <a:t>Formal</a:t>
            </a:r>
            <a:endParaRPr lang="en-US" sz="1200" dirty="0"/>
          </a:p>
        </p:txBody>
      </p:sp>
      <p:sp>
        <p:nvSpPr>
          <p:cNvPr id="60" name="Shape 58"/>
          <p:cNvSpPr/>
          <p:nvPr/>
        </p:nvSpPr>
        <p:spPr>
          <a:xfrm>
            <a:off x="13562619" y="6699366"/>
            <a:ext cx="665174" cy="296956"/>
          </a:xfrm>
          <a:prstGeom prst="roundRect">
            <a:avLst>
              <a:gd name="adj" fmla="val 50000"/>
            </a:avLst>
          </a:prstGeom>
          <a:ln w="11206">
            <a:solidFill>
              <a:srgbClr val="E4E9EF"/>
            </a:solidFill>
            <a:prstDash val="solid"/>
          </a:ln>
        </p:spPr>
      </p:sp>
      <p:sp>
        <p:nvSpPr>
          <p:cNvPr id="61" name="Text 59"/>
          <p:cNvSpPr/>
          <p:nvPr/>
        </p:nvSpPr>
        <p:spPr>
          <a:xfrm>
            <a:off x="13688125" y="6758197"/>
            <a:ext cx="490362" cy="217394"/>
          </a:xfrm>
          <a:prstGeom prst="rect">
            <a:avLst/>
          </a:prstGeom>
          <a:noFill/>
          <a:ln/>
        </p:spPr>
        <p:txBody>
          <a:bodyPr wrap="square" lIns="25400" tIns="25400" rIns="25400" bIns="25400" rtlCol="0" anchor="t">
            <a:normAutofit/>
          </a:bodyPr>
          <a:lstStyle/>
          <a:p>
            <a:pPr algn="l" indent="0" marL="0">
              <a:buNone/>
            </a:pPr>
            <a:r>
              <a:rPr lang="en-US" sz="1200" dirty="0">
                <a:solidFill>
                  <a:srgbClr val="8996A6"/>
                </a:solidFill>
                <a:latin typeface="Public Sans" pitchFamily="34" charset="0"/>
                <a:ea typeface="Public Sans" pitchFamily="34" charset="-122"/>
                <a:cs typeface="Public Sans" pitchFamily="34" charset="-120"/>
              </a:rPr>
              <a:t>Warm</a:t>
            </a:r>
            <a:endParaRPr lang="en-US" sz="1200" dirty="0"/>
          </a:p>
        </p:txBody>
      </p:sp>
      <p:sp>
        <p:nvSpPr>
          <p:cNvPr id="62" name="Shape 60"/>
          <p:cNvSpPr/>
          <p:nvPr/>
        </p:nvSpPr>
        <p:spPr>
          <a:xfrm>
            <a:off x="16200379" y="6686059"/>
            <a:ext cx="1143000" cy="323745"/>
          </a:xfrm>
          <a:prstGeom prst="roundRect">
            <a:avLst>
              <a:gd name="adj" fmla="val 23537"/>
            </a:avLst>
          </a:prstGeom>
          <a:solidFill>
            <a:srgbClr val="1C5C43"/>
          </a:solidFill>
          <a:ln/>
        </p:spPr>
      </p:sp>
      <p:sp>
        <p:nvSpPr>
          <p:cNvPr id="63" name="Text 61"/>
          <p:cNvSpPr/>
          <p:nvPr/>
        </p:nvSpPr>
        <p:spPr>
          <a:xfrm>
            <a:off x="12090271" y="7363840"/>
            <a:ext cx="5979301" cy="363071"/>
          </a:xfrm>
          <a:prstGeom prst="rect">
            <a:avLst/>
          </a:prstGeom>
          <a:noFill/>
          <a:ln/>
        </p:spPr>
        <p:txBody>
          <a:bodyPr wrap="square" lIns="25400" tIns="25400" rIns="25400" bIns="25400" rtlCol="0" anchor="t">
            <a:normAutofit/>
          </a:bodyPr>
          <a:lstStyle/>
          <a:p>
            <a:pPr algn="l" indent="0" marL="0">
              <a:buNone/>
            </a:pPr>
            <a:r>
              <a:rPr lang="en-US" sz="2175" b="1" dirty="0">
                <a:solidFill>
                  <a:srgbClr val="0D2E22"/>
                </a:solidFill>
                <a:latin typeface="Public Sans" pitchFamily="34" charset="0"/>
                <a:ea typeface="Public Sans" pitchFamily="34" charset="-122"/>
                <a:cs typeface="Public Sans" pitchFamily="34" charset="-120"/>
              </a:rPr>
              <a:t>Nothing sends itself</a:t>
            </a:r>
            <a:endParaRPr lang="en-US" sz="2175" dirty="0"/>
          </a:p>
        </p:txBody>
      </p:sp>
      <p:sp>
        <p:nvSpPr>
          <p:cNvPr id="64" name="Text 62"/>
          <p:cNvSpPr/>
          <p:nvPr/>
        </p:nvSpPr>
        <p:spPr>
          <a:xfrm>
            <a:off x="12090271" y="7764975"/>
            <a:ext cx="5598800" cy="665629"/>
          </a:xfrm>
          <a:prstGeom prst="rect">
            <a:avLst/>
          </a:prstGeom>
          <a:noFill/>
          <a:ln/>
        </p:spPr>
        <p:txBody>
          <a:bodyPr wrap="square" lIns="25400" tIns="25400" rIns="25400" bIns="25400" rtlCol="0" anchor="t">
            <a:normAutofit/>
          </a:bodyPr>
          <a:lstStyle/>
          <a:p>
            <a:pPr algn="l" indent="0" marL="0">
              <a:lnSpc>
                <a:spcPct val="123250"/>
              </a:lnSpc>
              <a:buNone/>
            </a:pPr>
            <a:r>
              <a:rPr lang="en-US" sz="1725" dirty="0">
                <a:solidFill>
                  <a:srgbClr val="5B6675"/>
                </a:solidFill>
                <a:latin typeface="Public Sans" pitchFamily="34" charset="0"/>
                <a:ea typeface="Public Sans" pitchFamily="34" charset="-122"/>
                <a:cs typeface="Public Sans" pitchFamily="34" charset="-120"/>
              </a:rPr>
              <a:t>Every word is the RM's to change before it leaves the bank.</a:t>
            </a:r>
            <a:endParaRPr lang="en-US" sz="1725" dirty="0"/>
          </a:p>
        </p:txBody>
      </p:sp>
      <p:sp>
        <p:nvSpPr>
          <p:cNvPr id="65" name="Shape 63"/>
          <p:cNvSpPr/>
          <p:nvPr/>
        </p:nvSpPr>
        <p:spPr>
          <a:xfrm>
            <a:off x="762000" y="8640085"/>
            <a:ext cx="16763999" cy="1151755"/>
          </a:xfrm>
          <a:prstGeom prst="roundRect">
            <a:avLst>
              <a:gd name="adj" fmla="val 11578"/>
            </a:avLst>
          </a:prstGeom>
          <a:solidFill>
            <a:srgbClr val="FFFFFF"/>
          </a:solidFill>
          <a:ln/>
        </p:spPr>
      </p:sp>
      <p:sp>
        <p:nvSpPr>
          <p:cNvPr id="66" name="Shape 64"/>
          <p:cNvSpPr/>
          <p:nvPr/>
        </p:nvSpPr>
        <p:spPr>
          <a:xfrm>
            <a:off x="762000" y="9780633"/>
            <a:ext cx="16763999" cy="11206"/>
          </a:xfrm>
          <a:prstGeom prst="rect">
            <a:avLst/>
          </a:prstGeom>
          <a:solidFill>
            <a:srgbClr val="E4E9EF"/>
          </a:solidFill>
          <a:ln/>
        </p:spPr>
      </p:sp>
      <p:sp>
        <p:nvSpPr>
          <p:cNvPr id="67" name="Shape 65"/>
          <p:cNvSpPr/>
          <p:nvPr/>
        </p:nvSpPr>
        <p:spPr>
          <a:xfrm>
            <a:off x="762000" y="8640085"/>
            <a:ext cx="16763999" cy="11206"/>
          </a:xfrm>
          <a:prstGeom prst="rect">
            <a:avLst/>
          </a:prstGeom>
          <a:solidFill>
            <a:srgbClr val="E4E9EF"/>
          </a:solidFill>
          <a:ln/>
        </p:spPr>
      </p:sp>
      <p:sp>
        <p:nvSpPr>
          <p:cNvPr id="68" name="Shape 66"/>
          <p:cNvSpPr/>
          <p:nvPr/>
        </p:nvSpPr>
        <p:spPr>
          <a:xfrm>
            <a:off x="762000" y="8640085"/>
            <a:ext cx="44824" cy="1151755"/>
          </a:xfrm>
          <a:prstGeom prst="rect">
            <a:avLst/>
          </a:prstGeom>
          <a:solidFill>
            <a:srgbClr val="742774"/>
          </a:solidFill>
          <a:ln/>
        </p:spPr>
      </p:sp>
      <p:sp>
        <p:nvSpPr>
          <p:cNvPr id="69" name="Shape 67"/>
          <p:cNvSpPr/>
          <p:nvPr/>
        </p:nvSpPr>
        <p:spPr>
          <a:xfrm>
            <a:off x="17514793" y="8640085"/>
            <a:ext cx="11206" cy="1151755"/>
          </a:xfrm>
          <a:prstGeom prst="rect">
            <a:avLst/>
          </a:prstGeom>
          <a:solidFill>
            <a:srgbClr val="E4E9EF"/>
          </a:solidFill>
          <a:ln/>
        </p:spPr>
      </p:sp>
      <p:sp>
        <p:nvSpPr>
          <p:cNvPr id="70" name="Text 68"/>
          <p:cNvSpPr/>
          <p:nvPr/>
        </p:nvSpPr>
        <p:spPr>
          <a:xfrm>
            <a:off x="1092573" y="9098300"/>
            <a:ext cx="2165992" cy="273424"/>
          </a:xfrm>
          <a:prstGeom prst="rect">
            <a:avLst/>
          </a:prstGeom>
          <a:noFill/>
          <a:ln/>
        </p:spPr>
        <p:txBody>
          <a:bodyPr wrap="none" lIns="25400" tIns="25400" rIns="25400" bIns="25400" rtlCol="0" anchor="t">
            <a:normAutofit/>
          </a:bodyPr>
          <a:lstStyle/>
          <a:p>
            <a:pPr algn="l" indent="0" marL="0">
              <a:buNone/>
            </a:pPr>
            <a:r>
              <a:rPr lang="en-US" sz="1425" b="1" spc="114" kern="0" dirty="0">
                <a:solidFill>
                  <a:srgbClr val="742774"/>
                </a:solidFill>
                <a:latin typeface="IBM Plex Mono" pitchFamily="34" charset="0"/>
                <a:ea typeface="IBM Plex Mono" pitchFamily="34" charset="-122"/>
                <a:cs typeface="IBM Plex Mono" pitchFamily="34" charset="-120"/>
              </a:rPr>
              <a:t>THE SECOND PRIZE</a:t>
            </a:r>
            <a:endParaRPr lang="en-US" sz="1425" dirty="0"/>
          </a:p>
        </p:txBody>
      </p:sp>
      <p:sp>
        <p:nvSpPr>
          <p:cNvPr id="71" name="Text 69"/>
          <p:cNvSpPr/>
          <p:nvPr/>
        </p:nvSpPr>
        <p:spPr>
          <a:xfrm>
            <a:off x="3309237" y="8879786"/>
            <a:ext cx="14337400" cy="710453"/>
          </a:xfrm>
          <a:prstGeom prst="rect">
            <a:avLst/>
          </a:prstGeom>
          <a:noFill/>
          <a:ln/>
        </p:spPr>
        <p:txBody>
          <a:bodyPr wrap="square" lIns="25400" tIns="25400" rIns="25400" bIns="25400" rtlCol="0" anchor="t">
            <a:normAutofit/>
          </a:bodyPr>
          <a:lstStyle/>
          <a:p>
            <a:pPr algn="l" indent="0" marL="0">
              <a:lnSpc>
                <a:spcPct val="123250"/>
              </a:lnSpc>
              <a:buNone/>
            </a:pPr>
            <a:r>
              <a:rPr lang="en-US" sz="1875" dirty="0">
                <a:solidFill>
                  <a:srgbClr val="33404F"/>
                </a:solidFill>
                <a:latin typeface="Public Sans" pitchFamily="34" charset="0"/>
                <a:ea typeface="Public Sans" pitchFamily="34" charset="-122"/>
                <a:cs typeface="Public Sans" pitchFamily="34" charset="-120"/>
              </a:rPr>
              <a:t>If the technology team agrees on this shell, the frame, sign-in, CRM plumbing and review-gate pattern are reusable — the next journey starts at week two, not week zero.</a:t>
            </a:r>
            <a:endParaRPr lang="en-US" sz="1875"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6F9"/>
        </a:solidFill>
      </p:bgPr>
    </p:bg>
    <p:spTree>
      <p:nvGrpSpPr>
        <p:cNvPr id="1" name=""/>
        <p:cNvGrpSpPr/>
        <p:nvPr/>
      </p:nvGrpSpPr>
      <p:grpSpPr>
        <a:xfrm>
          <a:off x="0" y="0"/>
          <a:ext cx="0" cy="0"/>
          <a:chOff x="0" y="0"/>
          <a:chExt cx="0" cy="0"/>
        </a:xfrm>
      </p:grpSpPr>
      <p:sp>
        <p:nvSpPr>
          <p:cNvPr id="2" name="Text 0"/>
          <p:cNvSpPr/>
          <p:nvPr/>
        </p:nvSpPr>
        <p:spPr>
          <a:xfrm>
            <a:off x="838165" y="666750"/>
            <a:ext cx="18272835" cy="307041"/>
          </a:xfrm>
          <a:prstGeom prst="rect">
            <a:avLst/>
          </a:prstGeom>
          <a:noFill/>
          <a:ln/>
        </p:spPr>
        <p:txBody>
          <a:bodyPr wrap="square" lIns="25400" tIns="25400" rIns="25400" bIns="25400" rtlCol="0" anchor="t">
            <a:normAutofit/>
          </a:bodyPr>
          <a:lstStyle/>
          <a:p>
            <a:pPr algn="l" indent="0" marL="0">
              <a:buNone/>
            </a:pPr>
            <a:r>
              <a:rPr lang="en-US" sz="1650" b="1" spc="198" kern="0" dirty="0">
                <a:solidFill>
                  <a:srgbClr val="1C5C43"/>
                </a:solidFill>
                <a:latin typeface="IBM Plex Mono" pitchFamily="34" charset="0"/>
                <a:ea typeface="IBM Plex Mono" pitchFamily="34" charset="-122"/>
                <a:cs typeface="IBM Plex Mono" pitchFamily="34" charset="-120"/>
              </a:rPr>
              <a:t>07 · WHAT CHANGES</a:t>
            </a:r>
            <a:endParaRPr lang="en-US" sz="1650" dirty="0"/>
          </a:p>
        </p:txBody>
      </p:sp>
      <p:sp>
        <p:nvSpPr>
          <p:cNvPr id="3" name="Text 1"/>
          <p:cNvSpPr/>
          <p:nvPr/>
        </p:nvSpPr>
        <p:spPr>
          <a:xfrm>
            <a:off x="838165" y="1049851"/>
            <a:ext cx="18272835" cy="643218"/>
          </a:xfrm>
          <a:prstGeom prst="rect">
            <a:avLst/>
          </a:prstGeom>
          <a:noFill/>
          <a:ln/>
        </p:spPr>
        <p:txBody>
          <a:bodyPr wrap="square" lIns="25400" tIns="25400" rIns="25400" bIns="25400" rtlCol="0" anchor="t">
            <a:normAutofit/>
          </a:bodyPr>
          <a:lstStyle/>
          <a:p>
            <a:pPr algn="l" indent="0" marL="0">
              <a:buNone/>
            </a:pPr>
            <a:r>
              <a:rPr lang="en-US" sz="4050" b="1" spc="-61" kern="0" dirty="0">
                <a:solidFill>
                  <a:srgbClr val="0D2E22"/>
                </a:solidFill>
                <a:latin typeface="Public Sans" pitchFamily="34" charset="0"/>
                <a:ea typeface="Public Sans" pitchFamily="34" charset="-122"/>
                <a:cs typeface="Public Sans" pitchFamily="34" charset="-120"/>
              </a:rPr>
              <a:t>What the bank gets out of it</a:t>
            </a:r>
            <a:endParaRPr lang="en-US" sz="4050" dirty="0"/>
          </a:p>
        </p:txBody>
      </p:sp>
      <p:sp>
        <p:nvSpPr>
          <p:cNvPr id="4" name="Shape 2"/>
          <p:cNvSpPr/>
          <p:nvPr/>
        </p:nvSpPr>
        <p:spPr>
          <a:xfrm>
            <a:off x="838165" y="2035969"/>
            <a:ext cx="9356736" cy="1629230"/>
          </a:xfrm>
          <a:prstGeom prst="roundRect">
            <a:avLst>
              <a:gd name="adj" fmla="val 8185"/>
            </a:avLst>
          </a:prstGeom>
          <a:solidFill>
            <a:srgbClr val="FFFFFF"/>
          </a:solidFill>
          <a:ln w="11206">
            <a:solidFill>
              <a:srgbClr val="E4E9EF"/>
            </a:solidFill>
            <a:prstDash val="solid"/>
          </a:ln>
        </p:spPr>
      </p:sp>
      <p:sp>
        <p:nvSpPr>
          <p:cNvPr id="5" name="Text 3"/>
          <p:cNvSpPr/>
          <p:nvPr/>
        </p:nvSpPr>
        <p:spPr>
          <a:xfrm>
            <a:off x="1154031" y="2313839"/>
            <a:ext cx="350569" cy="340659"/>
          </a:xfrm>
          <a:prstGeom prst="rect">
            <a:avLst/>
          </a:prstGeom>
          <a:noFill/>
          <a:ln/>
        </p:spPr>
        <p:txBody>
          <a:bodyPr wrap="square" lIns="25400" tIns="25400" rIns="25400" bIns="25400" rtlCol="0" anchor="t">
            <a:normAutofit/>
          </a:bodyPr>
          <a:lstStyle/>
          <a:p>
            <a:pPr algn="l" indent="0" marL="0">
              <a:buNone/>
            </a:pPr>
            <a:r>
              <a:rPr lang="en-US" sz="1800" b="1" dirty="0">
                <a:solidFill>
                  <a:srgbClr val="C8A45C"/>
                </a:solidFill>
                <a:latin typeface="IBM Plex Mono" pitchFamily="34" charset="0"/>
                <a:ea typeface="IBM Plex Mono" pitchFamily="34" charset="-122"/>
                <a:cs typeface="IBM Plex Mono" pitchFamily="34" charset="-120"/>
              </a:rPr>
              <a:t>01</a:t>
            </a:r>
            <a:endParaRPr lang="en-US" sz="1800" dirty="0"/>
          </a:p>
        </p:txBody>
      </p:sp>
      <p:sp>
        <p:nvSpPr>
          <p:cNvPr id="6" name="Text 4"/>
          <p:cNvSpPr/>
          <p:nvPr/>
        </p:nvSpPr>
        <p:spPr>
          <a:xfrm>
            <a:off x="1637810" y="2313839"/>
            <a:ext cx="9065348" cy="363071"/>
          </a:xfrm>
          <a:prstGeom prst="rect">
            <a:avLst/>
          </a:prstGeom>
          <a:noFill/>
          <a:ln/>
        </p:spPr>
        <p:txBody>
          <a:bodyPr wrap="square" lIns="25400" tIns="25400" rIns="25400" bIns="25400" rtlCol="0" anchor="t">
            <a:normAutofit/>
          </a:bodyPr>
          <a:lstStyle/>
          <a:p>
            <a:pPr algn="l" indent="0" marL="0">
              <a:buNone/>
            </a:pPr>
            <a:r>
              <a:rPr lang="en-US" sz="2175" b="1" dirty="0">
                <a:solidFill>
                  <a:srgbClr val="0D2E22"/>
                </a:solidFill>
                <a:latin typeface="Public Sans" pitchFamily="34" charset="0"/>
                <a:ea typeface="Public Sans" pitchFamily="34" charset="-122"/>
                <a:cs typeface="Public Sans" pitchFamily="34" charset="-120"/>
              </a:rPr>
              <a:t>The RM stops being the integration layer</a:t>
            </a:r>
            <a:endParaRPr lang="en-US" sz="2175" dirty="0"/>
          </a:p>
        </p:txBody>
      </p:sp>
      <p:sp>
        <p:nvSpPr>
          <p:cNvPr id="7" name="Text 5"/>
          <p:cNvSpPr/>
          <p:nvPr/>
        </p:nvSpPr>
        <p:spPr>
          <a:xfrm>
            <a:off x="1637810" y="2714975"/>
            <a:ext cx="8488462" cy="710453"/>
          </a:xfrm>
          <a:prstGeom prst="rect">
            <a:avLst/>
          </a:prstGeom>
          <a:noFill/>
          <a:ln/>
        </p:spPr>
        <p:txBody>
          <a:bodyPr wrap="square" lIns="25400" tIns="25400" rIns="25400" bIns="25400" rtlCol="0" anchor="t">
            <a:normAutofit/>
          </a:bodyPr>
          <a:lstStyle/>
          <a:p>
            <a:pPr algn="l" indent="0" marL="0">
              <a:lnSpc>
                <a:spcPct val="127500"/>
              </a:lnSpc>
              <a:buNone/>
            </a:pPr>
            <a:r>
              <a:rPr lang="en-US" sz="1800" dirty="0">
                <a:solidFill>
                  <a:srgbClr val="5B6675"/>
                </a:solidFill>
                <a:latin typeface="Public Sans" pitchFamily="34" charset="0"/>
                <a:ea typeface="Public Sans" pitchFamily="34" charset="-122"/>
                <a:cs typeface="Public Sans" pitchFamily="34" charset="-120"/>
              </a:rPr>
              <a:t>One screen instead of four systems and a mail thread. Time back for client conversations, not diary admin.</a:t>
            </a:r>
            <a:endParaRPr lang="en-US" sz="1800" dirty="0"/>
          </a:p>
        </p:txBody>
      </p:sp>
      <p:sp>
        <p:nvSpPr>
          <p:cNvPr id="8" name="Shape 6"/>
          <p:cNvSpPr/>
          <p:nvPr/>
        </p:nvSpPr>
        <p:spPr>
          <a:xfrm>
            <a:off x="838165" y="3855699"/>
            <a:ext cx="9356736" cy="1629230"/>
          </a:xfrm>
          <a:prstGeom prst="roundRect">
            <a:avLst>
              <a:gd name="adj" fmla="val 8185"/>
            </a:avLst>
          </a:prstGeom>
          <a:solidFill>
            <a:srgbClr val="FFFFFF"/>
          </a:solidFill>
          <a:ln w="11206">
            <a:solidFill>
              <a:srgbClr val="E4E9EF"/>
            </a:solidFill>
            <a:prstDash val="solid"/>
          </a:ln>
        </p:spPr>
      </p:sp>
      <p:sp>
        <p:nvSpPr>
          <p:cNvPr id="9" name="Text 7"/>
          <p:cNvSpPr/>
          <p:nvPr/>
        </p:nvSpPr>
        <p:spPr>
          <a:xfrm>
            <a:off x="1154031" y="4133569"/>
            <a:ext cx="350569" cy="340659"/>
          </a:xfrm>
          <a:prstGeom prst="rect">
            <a:avLst/>
          </a:prstGeom>
          <a:noFill/>
          <a:ln/>
        </p:spPr>
        <p:txBody>
          <a:bodyPr wrap="square" lIns="25400" tIns="25400" rIns="25400" bIns="25400" rtlCol="0" anchor="t">
            <a:normAutofit/>
          </a:bodyPr>
          <a:lstStyle/>
          <a:p>
            <a:pPr algn="l" indent="0" marL="0">
              <a:buNone/>
            </a:pPr>
            <a:r>
              <a:rPr lang="en-US" sz="1800" b="1" dirty="0">
                <a:solidFill>
                  <a:srgbClr val="C8A45C"/>
                </a:solidFill>
                <a:latin typeface="IBM Plex Mono" pitchFamily="34" charset="0"/>
                <a:ea typeface="IBM Plex Mono" pitchFamily="34" charset="-122"/>
                <a:cs typeface="IBM Plex Mono" pitchFamily="34" charset="-120"/>
              </a:rPr>
              <a:t>02</a:t>
            </a:r>
            <a:endParaRPr lang="en-US" sz="1800" dirty="0"/>
          </a:p>
        </p:txBody>
      </p:sp>
      <p:sp>
        <p:nvSpPr>
          <p:cNvPr id="10" name="Text 8"/>
          <p:cNvSpPr/>
          <p:nvPr/>
        </p:nvSpPr>
        <p:spPr>
          <a:xfrm>
            <a:off x="1637810" y="4133569"/>
            <a:ext cx="9065348" cy="363071"/>
          </a:xfrm>
          <a:prstGeom prst="rect">
            <a:avLst/>
          </a:prstGeom>
          <a:noFill/>
          <a:ln/>
        </p:spPr>
        <p:txBody>
          <a:bodyPr wrap="square" lIns="25400" tIns="25400" rIns="25400" bIns="25400" rtlCol="0" anchor="t">
            <a:normAutofit/>
          </a:bodyPr>
          <a:lstStyle/>
          <a:p>
            <a:pPr algn="l" indent="0" marL="0">
              <a:buNone/>
            </a:pPr>
            <a:r>
              <a:rPr lang="en-US" sz="2175" b="1" dirty="0">
                <a:solidFill>
                  <a:srgbClr val="0D2E22"/>
                </a:solidFill>
                <a:latin typeface="Public Sans" pitchFamily="34" charset="0"/>
                <a:ea typeface="Public Sans" pitchFamily="34" charset="-122"/>
                <a:cs typeface="Public Sans" pitchFamily="34" charset="-120"/>
              </a:rPr>
              <a:t>The client experience stops depending on who they bank with</a:t>
            </a:r>
            <a:endParaRPr lang="en-US" sz="2175" dirty="0"/>
          </a:p>
        </p:txBody>
      </p:sp>
      <p:sp>
        <p:nvSpPr>
          <p:cNvPr id="11" name="Text 9"/>
          <p:cNvSpPr/>
          <p:nvPr/>
        </p:nvSpPr>
        <p:spPr>
          <a:xfrm>
            <a:off x="1637810" y="4534705"/>
            <a:ext cx="8488462" cy="710453"/>
          </a:xfrm>
          <a:prstGeom prst="rect">
            <a:avLst/>
          </a:prstGeom>
          <a:noFill/>
          <a:ln/>
        </p:spPr>
        <p:txBody>
          <a:bodyPr wrap="square" lIns="25400" tIns="25400" rIns="25400" bIns="25400" rtlCol="0" anchor="t">
            <a:normAutofit/>
          </a:bodyPr>
          <a:lstStyle/>
          <a:p>
            <a:pPr algn="l" indent="0" marL="0">
              <a:lnSpc>
                <a:spcPct val="127500"/>
              </a:lnSpc>
              <a:buNone/>
            </a:pPr>
            <a:r>
              <a:rPr lang="en-US" sz="1800" dirty="0">
                <a:solidFill>
                  <a:srgbClr val="5B6675"/>
                </a:solidFill>
                <a:latin typeface="Public Sans" pitchFamily="34" charset="0"/>
                <a:ea typeface="Public Sans" pitchFamily="34" charset="-122"/>
                <a:cs typeface="Public Sans" pitchFamily="34" charset="-120"/>
              </a:rPr>
              <a:t>One clear message, times they can pick in a tap, and an instant confirmation — every time.</a:t>
            </a:r>
            <a:endParaRPr lang="en-US" sz="1800" dirty="0"/>
          </a:p>
        </p:txBody>
      </p:sp>
      <p:sp>
        <p:nvSpPr>
          <p:cNvPr id="12" name="Shape 10"/>
          <p:cNvSpPr/>
          <p:nvPr/>
        </p:nvSpPr>
        <p:spPr>
          <a:xfrm>
            <a:off x="838165" y="5675429"/>
            <a:ext cx="9356736" cy="1629230"/>
          </a:xfrm>
          <a:prstGeom prst="roundRect">
            <a:avLst>
              <a:gd name="adj" fmla="val 8185"/>
            </a:avLst>
          </a:prstGeom>
          <a:solidFill>
            <a:srgbClr val="FFFFFF"/>
          </a:solidFill>
          <a:ln w="11206">
            <a:solidFill>
              <a:srgbClr val="E4E9EF"/>
            </a:solidFill>
            <a:prstDash val="solid"/>
          </a:ln>
        </p:spPr>
      </p:sp>
      <p:sp>
        <p:nvSpPr>
          <p:cNvPr id="13" name="Text 11"/>
          <p:cNvSpPr/>
          <p:nvPr/>
        </p:nvSpPr>
        <p:spPr>
          <a:xfrm>
            <a:off x="1154031" y="5953300"/>
            <a:ext cx="350569" cy="340659"/>
          </a:xfrm>
          <a:prstGeom prst="rect">
            <a:avLst/>
          </a:prstGeom>
          <a:noFill/>
          <a:ln/>
        </p:spPr>
        <p:txBody>
          <a:bodyPr wrap="square" lIns="25400" tIns="25400" rIns="25400" bIns="25400" rtlCol="0" anchor="t">
            <a:normAutofit/>
          </a:bodyPr>
          <a:lstStyle/>
          <a:p>
            <a:pPr algn="l" indent="0" marL="0">
              <a:buNone/>
            </a:pPr>
            <a:r>
              <a:rPr lang="en-US" sz="1800" b="1" dirty="0">
                <a:solidFill>
                  <a:srgbClr val="C8A45C"/>
                </a:solidFill>
                <a:latin typeface="IBM Plex Mono" pitchFamily="34" charset="0"/>
                <a:ea typeface="IBM Plex Mono" pitchFamily="34" charset="-122"/>
                <a:cs typeface="IBM Plex Mono" pitchFamily="34" charset="-120"/>
              </a:rPr>
              <a:t>03</a:t>
            </a:r>
            <a:endParaRPr lang="en-US" sz="1800" dirty="0"/>
          </a:p>
        </p:txBody>
      </p:sp>
      <p:sp>
        <p:nvSpPr>
          <p:cNvPr id="14" name="Text 12"/>
          <p:cNvSpPr/>
          <p:nvPr/>
        </p:nvSpPr>
        <p:spPr>
          <a:xfrm>
            <a:off x="1637810" y="5953300"/>
            <a:ext cx="9065348" cy="363071"/>
          </a:xfrm>
          <a:prstGeom prst="rect">
            <a:avLst/>
          </a:prstGeom>
          <a:noFill/>
          <a:ln/>
        </p:spPr>
        <p:txBody>
          <a:bodyPr wrap="square" lIns="25400" tIns="25400" rIns="25400" bIns="25400" rtlCol="0" anchor="t">
            <a:normAutofit/>
          </a:bodyPr>
          <a:lstStyle/>
          <a:p>
            <a:pPr algn="l" indent="0" marL="0">
              <a:buNone/>
            </a:pPr>
            <a:r>
              <a:rPr lang="en-US" sz="2175" b="1" dirty="0">
                <a:solidFill>
                  <a:srgbClr val="0D2E22"/>
                </a:solidFill>
                <a:latin typeface="Public Sans" pitchFamily="34" charset="0"/>
                <a:ea typeface="Public Sans" pitchFamily="34" charset="-122"/>
                <a:cs typeface="Public Sans" pitchFamily="34" charset="-120"/>
              </a:rPr>
              <a:t>Consistency you can see</a:t>
            </a:r>
            <a:endParaRPr lang="en-US" sz="2175" dirty="0"/>
          </a:p>
        </p:txBody>
      </p:sp>
      <p:sp>
        <p:nvSpPr>
          <p:cNvPr id="15" name="Text 13"/>
          <p:cNvSpPr/>
          <p:nvPr/>
        </p:nvSpPr>
        <p:spPr>
          <a:xfrm>
            <a:off x="1637810" y="6354435"/>
            <a:ext cx="8488462" cy="710453"/>
          </a:xfrm>
          <a:prstGeom prst="rect">
            <a:avLst/>
          </a:prstGeom>
          <a:noFill/>
          <a:ln/>
        </p:spPr>
        <p:txBody>
          <a:bodyPr wrap="square" lIns="25400" tIns="25400" rIns="25400" bIns="25400" rtlCol="0" anchor="t">
            <a:normAutofit/>
          </a:bodyPr>
          <a:lstStyle/>
          <a:p>
            <a:pPr algn="l" indent="0" marL="0">
              <a:lnSpc>
                <a:spcPct val="127500"/>
              </a:lnSpc>
              <a:buNone/>
            </a:pPr>
            <a:r>
              <a:rPr lang="en-US" sz="1800" dirty="0">
                <a:solidFill>
                  <a:srgbClr val="5B6675"/>
                </a:solidFill>
                <a:latin typeface="Public Sans" pitchFamily="34" charset="0"/>
                <a:ea typeface="Public Sans" pitchFamily="34" charset="-122"/>
                <a:cs typeface="Public Sans" pitchFamily="34" charset="-120"/>
              </a:rPr>
              <a:t>An unwritten process becomes a visible one, with a record of what was proposed, chosen and confirmed.</a:t>
            </a:r>
            <a:endParaRPr lang="en-US" sz="1800" dirty="0"/>
          </a:p>
        </p:txBody>
      </p:sp>
      <p:sp>
        <p:nvSpPr>
          <p:cNvPr id="16" name="Shape 14"/>
          <p:cNvSpPr/>
          <p:nvPr/>
        </p:nvSpPr>
        <p:spPr>
          <a:xfrm>
            <a:off x="838165" y="7495159"/>
            <a:ext cx="9356736" cy="1629230"/>
          </a:xfrm>
          <a:prstGeom prst="roundRect">
            <a:avLst>
              <a:gd name="adj" fmla="val 8185"/>
            </a:avLst>
          </a:prstGeom>
          <a:solidFill>
            <a:srgbClr val="FFFFFF"/>
          </a:solidFill>
          <a:ln w="11206">
            <a:solidFill>
              <a:srgbClr val="E4E9EF"/>
            </a:solidFill>
            <a:prstDash val="solid"/>
          </a:ln>
        </p:spPr>
      </p:sp>
      <p:sp>
        <p:nvSpPr>
          <p:cNvPr id="17" name="Text 15"/>
          <p:cNvSpPr/>
          <p:nvPr/>
        </p:nvSpPr>
        <p:spPr>
          <a:xfrm>
            <a:off x="1154031" y="7773030"/>
            <a:ext cx="350569" cy="340659"/>
          </a:xfrm>
          <a:prstGeom prst="rect">
            <a:avLst/>
          </a:prstGeom>
          <a:noFill/>
          <a:ln/>
        </p:spPr>
        <p:txBody>
          <a:bodyPr wrap="square" lIns="25400" tIns="25400" rIns="25400" bIns="25400" rtlCol="0" anchor="t">
            <a:normAutofit/>
          </a:bodyPr>
          <a:lstStyle/>
          <a:p>
            <a:pPr algn="l" indent="0" marL="0">
              <a:buNone/>
            </a:pPr>
            <a:r>
              <a:rPr lang="en-US" sz="1800" b="1" dirty="0">
                <a:solidFill>
                  <a:srgbClr val="C8A45C"/>
                </a:solidFill>
                <a:latin typeface="IBM Plex Mono" pitchFamily="34" charset="0"/>
                <a:ea typeface="IBM Plex Mono" pitchFamily="34" charset="-122"/>
                <a:cs typeface="IBM Plex Mono" pitchFamily="34" charset="-120"/>
              </a:rPr>
              <a:t>04</a:t>
            </a:r>
            <a:endParaRPr lang="en-US" sz="1800" dirty="0"/>
          </a:p>
        </p:txBody>
      </p:sp>
      <p:sp>
        <p:nvSpPr>
          <p:cNvPr id="18" name="Text 16"/>
          <p:cNvSpPr/>
          <p:nvPr/>
        </p:nvSpPr>
        <p:spPr>
          <a:xfrm>
            <a:off x="1637810" y="7773030"/>
            <a:ext cx="9065348" cy="363071"/>
          </a:xfrm>
          <a:prstGeom prst="rect">
            <a:avLst/>
          </a:prstGeom>
          <a:noFill/>
          <a:ln/>
        </p:spPr>
        <p:txBody>
          <a:bodyPr wrap="square" lIns="25400" tIns="25400" rIns="25400" bIns="25400" rtlCol="0" anchor="t">
            <a:normAutofit/>
          </a:bodyPr>
          <a:lstStyle/>
          <a:p>
            <a:pPr algn="l" indent="0" marL="0">
              <a:buNone/>
            </a:pPr>
            <a:r>
              <a:rPr lang="en-US" sz="2175" b="1" dirty="0">
                <a:solidFill>
                  <a:srgbClr val="0D2E22"/>
                </a:solidFill>
                <a:latin typeface="Public Sans" pitchFamily="34" charset="0"/>
                <a:ea typeface="Public Sans" pitchFamily="34" charset="-122"/>
                <a:cs typeface="Public Sans" pitchFamily="34" charset="-120"/>
              </a:rPr>
              <a:t>Assistants get their judgement work back</a:t>
            </a:r>
            <a:endParaRPr lang="en-US" sz="2175" dirty="0"/>
          </a:p>
        </p:txBody>
      </p:sp>
      <p:sp>
        <p:nvSpPr>
          <p:cNvPr id="19" name="Text 17"/>
          <p:cNvSpPr/>
          <p:nvPr/>
        </p:nvSpPr>
        <p:spPr>
          <a:xfrm>
            <a:off x="1637810" y="8174166"/>
            <a:ext cx="8488462" cy="710453"/>
          </a:xfrm>
          <a:prstGeom prst="rect">
            <a:avLst/>
          </a:prstGeom>
          <a:noFill/>
          <a:ln/>
        </p:spPr>
        <p:txBody>
          <a:bodyPr wrap="square" lIns="25400" tIns="25400" rIns="25400" bIns="25400" rtlCol="0" anchor="t">
            <a:normAutofit/>
          </a:bodyPr>
          <a:lstStyle/>
          <a:p>
            <a:pPr algn="l" indent="0" marL="0">
              <a:lnSpc>
                <a:spcPct val="127500"/>
              </a:lnSpc>
              <a:buNone/>
            </a:pPr>
            <a:r>
              <a:rPr lang="en-US" sz="1800" dirty="0">
                <a:solidFill>
                  <a:srgbClr val="5B6675"/>
                </a:solidFill>
                <a:latin typeface="Public Sans" pitchFamily="34" charset="0"/>
                <a:ea typeface="Public Sans" pitchFamily="34" charset="-122"/>
                <a:cs typeface="Public Sans" pitchFamily="34" charset="-120"/>
              </a:rPr>
              <a:t>The provisioning and chasing goes; the exceptions that genuinely need a person stay with them.</a:t>
            </a:r>
            <a:endParaRPr lang="en-US" sz="1800" dirty="0"/>
          </a:p>
        </p:txBody>
      </p:sp>
      <p:sp>
        <p:nvSpPr>
          <p:cNvPr id="20" name="Shape 18"/>
          <p:cNvSpPr/>
          <p:nvPr/>
        </p:nvSpPr>
        <p:spPr>
          <a:xfrm>
            <a:off x="10518646" y="2035969"/>
            <a:ext cx="6931188" cy="3073388"/>
          </a:xfrm>
          <a:prstGeom prst="roundRect">
            <a:avLst>
              <a:gd name="adj" fmla="val 4339"/>
            </a:avLst>
          </a:prstGeom>
          <a:solidFill>
            <a:srgbClr val="0D2E22"/>
          </a:solidFill>
          <a:ln/>
        </p:spPr>
      </p:sp>
      <p:sp>
        <p:nvSpPr>
          <p:cNvPr id="21" name="Text 19"/>
          <p:cNvSpPr/>
          <p:nvPr/>
        </p:nvSpPr>
        <p:spPr>
          <a:xfrm>
            <a:off x="10823306" y="2825283"/>
            <a:ext cx="6954055" cy="273424"/>
          </a:xfrm>
          <a:prstGeom prst="rect">
            <a:avLst/>
          </a:prstGeom>
          <a:noFill/>
          <a:ln/>
        </p:spPr>
        <p:txBody>
          <a:bodyPr wrap="square" lIns="25400" tIns="25400" rIns="25400" bIns="25400" rtlCol="0" anchor="t">
            <a:normAutofit/>
          </a:bodyPr>
          <a:lstStyle/>
          <a:p>
            <a:pPr algn="l" indent="0" marL="0">
              <a:buNone/>
            </a:pPr>
            <a:r>
              <a:rPr lang="en-US" sz="1425" b="1" spc="114" kern="0" dirty="0">
                <a:solidFill>
                  <a:srgbClr val="C8A45C"/>
                </a:solidFill>
                <a:latin typeface="IBM Plex Mono" pitchFamily="34" charset="0"/>
                <a:ea typeface="IBM Plex Mono" pitchFamily="34" charset="-122"/>
                <a:cs typeface="IBM Plex Mono" pitchFamily="34" charset="-120"/>
              </a:rPr>
              <a:t>MEASURE 1</a:t>
            </a:r>
            <a:endParaRPr lang="en-US" sz="1425" dirty="0"/>
          </a:p>
        </p:txBody>
      </p:sp>
      <p:sp>
        <p:nvSpPr>
          <p:cNvPr id="22" name="Text 20"/>
          <p:cNvSpPr/>
          <p:nvPr/>
        </p:nvSpPr>
        <p:spPr>
          <a:xfrm>
            <a:off x="10823306" y="3174766"/>
            <a:ext cx="6954055" cy="419100"/>
          </a:xfrm>
          <a:prstGeom prst="rect">
            <a:avLst/>
          </a:prstGeom>
          <a:noFill/>
          <a:ln/>
        </p:spPr>
        <p:txBody>
          <a:bodyPr wrap="square" lIns="25400" tIns="25400" rIns="25400" bIns="25400" rtlCol="0" anchor="t">
            <a:normAutofit/>
          </a:bodyPr>
          <a:lstStyle/>
          <a:p>
            <a:pPr algn="l" indent="0" marL="0">
              <a:lnSpc>
                <a:spcPct val="102000"/>
              </a:lnSpc>
              <a:buNone/>
            </a:pPr>
            <a:r>
              <a:rPr lang="en-US" sz="2550" b="1" dirty="0">
                <a:solidFill>
                  <a:srgbClr val="EFF2E4"/>
                </a:solidFill>
                <a:latin typeface="Public Sans" pitchFamily="34" charset="0"/>
                <a:ea typeface="Public Sans" pitchFamily="34" charset="-122"/>
                <a:cs typeface="Public Sans" pitchFamily="34" charset="-120"/>
              </a:rPr>
              <a:t>Minutes to book one meeting</a:t>
            </a:r>
            <a:endParaRPr lang="en-US" sz="2550" dirty="0"/>
          </a:p>
        </p:txBody>
      </p:sp>
      <p:sp>
        <p:nvSpPr>
          <p:cNvPr id="23" name="Text 21"/>
          <p:cNvSpPr/>
          <p:nvPr/>
        </p:nvSpPr>
        <p:spPr>
          <a:xfrm>
            <a:off x="10823306" y="3669926"/>
            <a:ext cx="6511524" cy="688041"/>
          </a:xfrm>
          <a:prstGeom prst="rect">
            <a:avLst/>
          </a:prstGeom>
          <a:noFill/>
          <a:ln/>
        </p:spPr>
        <p:txBody>
          <a:bodyPr wrap="square" lIns="25400" tIns="25400" rIns="25400" bIns="25400" rtlCol="0" anchor="t">
            <a:normAutofit/>
          </a:bodyPr>
          <a:lstStyle/>
          <a:p>
            <a:pPr algn="l" indent="0" marL="0">
              <a:lnSpc>
                <a:spcPct val="127500"/>
              </a:lnSpc>
              <a:buNone/>
            </a:pPr>
            <a:r>
              <a:rPr lang="en-US" sz="1725" dirty="0">
                <a:solidFill>
                  <a:srgbClr val="B9C9AC"/>
                </a:solidFill>
                <a:latin typeface="Public Sans" pitchFamily="34" charset="0"/>
                <a:ea typeface="Public Sans" pitchFamily="34" charset="-122"/>
                <a:cs typeface="Public Sans" pitchFamily="34" charset="-120"/>
              </a:rPr>
              <a:t>Baselined with the RM teams before the pilot, measured the same way after. The honest number, not a modelled one.</a:t>
            </a:r>
            <a:endParaRPr lang="en-US" sz="1725" dirty="0"/>
          </a:p>
        </p:txBody>
      </p:sp>
      <p:sp>
        <p:nvSpPr>
          <p:cNvPr id="24" name="Shape 22"/>
          <p:cNvSpPr/>
          <p:nvPr/>
        </p:nvSpPr>
        <p:spPr>
          <a:xfrm>
            <a:off x="10518646" y="5299857"/>
            <a:ext cx="6931188" cy="3095800"/>
          </a:xfrm>
          <a:prstGeom prst="roundRect">
            <a:avLst>
              <a:gd name="adj" fmla="val 4307"/>
            </a:avLst>
          </a:prstGeom>
          <a:solidFill>
            <a:srgbClr val="FFFFFF"/>
          </a:solidFill>
          <a:ln w="11206">
            <a:solidFill>
              <a:srgbClr val="E4E9EF"/>
            </a:solidFill>
            <a:prstDash val="solid"/>
          </a:ln>
        </p:spPr>
      </p:sp>
      <p:sp>
        <p:nvSpPr>
          <p:cNvPr id="25" name="Text 23"/>
          <p:cNvSpPr/>
          <p:nvPr/>
        </p:nvSpPr>
        <p:spPr>
          <a:xfrm>
            <a:off x="10834512" y="6100377"/>
            <a:ext cx="6929402" cy="273424"/>
          </a:xfrm>
          <a:prstGeom prst="rect">
            <a:avLst/>
          </a:prstGeom>
          <a:noFill/>
          <a:ln/>
        </p:spPr>
        <p:txBody>
          <a:bodyPr wrap="square" lIns="25400" tIns="25400" rIns="25400" bIns="25400" rtlCol="0" anchor="t">
            <a:normAutofit/>
          </a:bodyPr>
          <a:lstStyle/>
          <a:p>
            <a:pPr algn="l" indent="0" marL="0">
              <a:buNone/>
            </a:pPr>
            <a:r>
              <a:rPr lang="en-US" sz="1425" b="1" spc="114" kern="0" dirty="0">
                <a:solidFill>
                  <a:srgbClr val="8A5410"/>
                </a:solidFill>
                <a:latin typeface="IBM Plex Mono" pitchFamily="34" charset="0"/>
                <a:ea typeface="IBM Plex Mono" pitchFamily="34" charset="-122"/>
                <a:cs typeface="IBM Plex Mono" pitchFamily="34" charset="-120"/>
              </a:rPr>
              <a:t>MEASURE 2</a:t>
            </a:r>
            <a:endParaRPr lang="en-US" sz="1425" dirty="0"/>
          </a:p>
        </p:txBody>
      </p:sp>
      <p:sp>
        <p:nvSpPr>
          <p:cNvPr id="26" name="Text 24"/>
          <p:cNvSpPr/>
          <p:nvPr/>
        </p:nvSpPr>
        <p:spPr>
          <a:xfrm>
            <a:off x="10834512" y="6449860"/>
            <a:ext cx="6929402" cy="419100"/>
          </a:xfrm>
          <a:prstGeom prst="rect">
            <a:avLst/>
          </a:prstGeom>
          <a:noFill/>
          <a:ln/>
        </p:spPr>
        <p:txBody>
          <a:bodyPr wrap="square" lIns="25400" tIns="25400" rIns="25400" bIns="25400" rtlCol="0" anchor="t">
            <a:normAutofit/>
          </a:bodyPr>
          <a:lstStyle/>
          <a:p>
            <a:pPr algn="l" indent="0" marL="0">
              <a:lnSpc>
                <a:spcPct val="102000"/>
              </a:lnSpc>
              <a:buNone/>
            </a:pPr>
            <a:r>
              <a:rPr lang="en-US" sz="2550" b="1" dirty="0">
                <a:solidFill>
                  <a:srgbClr val="0D2E22"/>
                </a:solidFill>
                <a:latin typeface="Public Sans" pitchFamily="34" charset="0"/>
                <a:ea typeface="Public Sans" pitchFamily="34" charset="-122"/>
                <a:cs typeface="Public Sans" pitchFamily="34" charset="-120"/>
              </a:rPr>
              <a:t>Client meetings booked per year</a:t>
            </a:r>
            <a:endParaRPr lang="en-US" sz="2550" dirty="0"/>
          </a:p>
        </p:txBody>
      </p:sp>
      <p:sp>
        <p:nvSpPr>
          <p:cNvPr id="27" name="Text 25"/>
          <p:cNvSpPr/>
          <p:nvPr/>
        </p:nvSpPr>
        <p:spPr>
          <a:xfrm>
            <a:off x="10834512" y="6945020"/>
            <a:ext cx="6488440" cy="688041"/>
          </a:xfrm>
          <a:prstGeom prst="rect">
            <a:avLst/>
          </a:prstGeom>
          <a:noFill/>
          <a:ln/>
        </p:spPr>
        <p:txBody>
          <a:bodyPr wrap="square" lIns="25400" tIns="25400" rIns="25400" bIns="25400" rtlCol="0" anchor="t">
            <a:normAutofit/>
          </a:bodyPr>
          <a:lstStyle/>
          <a:p>
            <a:pPr algn="l" indent="0" marL="0">
              <a:lnSpc>
                <a:spcPct val="127500"/>
              </a:lnSpc>
              <a:buNone/>
            </a:pPr>
            <a:r>
              <a:rPr lang="en-US" sz="1725" dirty="0">
                <a:solidFill>
                  <a:srgbClr val="5B6675"/>
                </a:solidFill>
                <a:latin typeface="Public Sans" pitchFamily="34" charset="0"/>
                <a:ea typeface="Public Sans" pitchFamily="34" charset="-122"/>
                <a:cs typeface="Public Sans" pitchFamily="34" charset="-120"/>
              </a:rPr>
              <a:t>The multiplier. We need this figure from you — it is what turns minutes saved into a number worth acting on.</a:t>
            </a:r>
            <a:endParaRPr lang="en-US" sz="1725" dirty="0"/>
          </a:p>
        </p:txBody>
      </p:sp>
      <p:sp>
        <p:nvSpPr>
          <p:cNvPr id="28" name="Shape 26"/>
          <p:cNvSpPr/>
          <p:nvPr/>
        </p:nvSpPr>
        <p:spPr>
          <a:xfrm>
            <a:off x="10518646" y="8586157"/>
            <a:ext cx="6931188" cy="1129343"/>
          </a:xfrm>
          <a:prstGeom prst="roundRect">
            <a:avLst>
              <a:gd name="adj" fmla="val 11808"/>
            </a:avLst>
          </a:prstGeom>
          <a:solidFill>
            <a:srgbClr val="FFFFFF"/>
          </a:solidFill>
          <a:ln w="11206">
            <a:solidFill>
              <a:srgbClr val="CFD6E0"/>
            </a:solidFill>
            <a:prstDash val="dash"/>
          </a:ln>
        </p:spPr>
      </p:sp>
      <p:sp>
        <p:nvSpPr>
          <p:cNvPr id="29" name="Text 27"/>
          <p:cNvSpPr/>
          <p:nvPr/>
        </p:nvSpPr>
        <p:spPr>
          <a:xfrm>
            <a:off x="10815601" y="8825857"/>
            <a:ext cx="6527395" cy="688041"/>
          </a:xfrm>
          <a:prstGeom prst="rect">
            <a:avLst/>
          </a:prstGeom>
          <a:noFill/>
          <a:ln/>
        </p:spPr>
        <p:txBody>
          <a:bodyPr wrap="square" lIns="25400" tIns="25400" rIns="25400" bIns="25400" rtlCol="0" anchor="t">
            <a:normAutofit/>
          </a:bodyPr>
          <a:lstStyle/>
          <a:p>
            <a:pPr algn="l" indent="0" marL="0">
              <a:lnSpc>
                <a:spcPct val="127500"/>
              </a:lnSpc>
              <a:buNone/>
            </a:pPr>
            <a:r>
              <a:rPr lang="en-US" sz="1725" dirty="0">
                <a:solidFill>
                  <a:srgbClr val="5B6675"/>
                </a:solidFill>
                <a:latin typeface="Public Sans" pitchFamily="34" charset="0"/>
                <a:ea typeface="Public Sans" pitchFamily="34" charset="-122"/>
                <a:cs typeface="Public Sans" pitchFamily="34" charset="-120"/>
              </a:rPr>
              <a:t>We would rather commit to measuring these two than present a business case built on assumptions.</a:t>
            </a:r>
            <a:endParaRPr lang="en-US" sz="1725"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6F9"/>
        </a:solidFill>
      </p:bgPr>
    </p:bg>
    <p:spTree>
      <p:nvGrpSpPr>
        <p:cNvPr id="1" name=""/>
        <p:cNvGrpSpPr/>
        <p:nvPr/>
      </p:nvGrpSpPr>
      <p:grpSpPr>
        <a:xfrm>
          <a:off x="0" y="0"/>
          <a:ext cx="0" cy="0"/>
          <a:chOff x="0" y="0"/>
          <a:chExt cx="0" cy="0"/>
        </a:xfrm>
      </p:grpSpPr>
      <p:sp>
        <p:nvSpPr>
          <p:cNvPr id="2" name="Text 0"/>
          <p:cNvSpPr/>
          <p:nvPr/>
        </p:nvSpPr>
        <p:spPr>
          <a:xfrm>
            <a:off x="762000" y="590410"/>
            <a:ext cx="7806892" cy="307041"/>
          </a:xfrm>
          <a:prstGeom prst="rect">
            <a:avLst/>
          </a:prstGeom>
          <a:noFill/>
          <a:ln/>
        </p:spPr>
        <p:txBody>
          <a:bodyPr wrap="square" lIns="25400" tIns="25400" rIns="25400" bIns="25400" rtlCol="0" anchor="t">
            <a:normAutofit/>
          </a:bodyPr>
          <a:lstStyle/>
          <a:p>
            <a:pPr algn="l" indent="0" marL="0">
              <a:buNone/>
            </a:pPr>
            <a:r>
              <a:rPr lang="en-US" sz="1650" b="1" spc="198" kern="0" dirty="0">
                <a:solidFill>
                  <a:srgbClr val="1C5C43"/>
                </a:solidFill>
                <a:latin typeface="IBM Plex Mono" pitchFamily="34" charset="0"/>
                <a:ea typeface="IBM Plex Mono" pitchFamily="34" charset="-122"/>
                <a:cs typeface="IBM Plex Mono" pitchFamily="34" charset="-120"/>
              </a:rPr>
              <a:t>08 · THE ASK</a:t>
            </a:r>
            <a:endParaRPr lang="en-US" sz="1650" dirty="0"/>
          </a:p>
        </p:txBody>
      </p:sp>
      <p:sp>
        <p:nvSpPr>
          <p:cNvPr id="3" name="Text 1"/>
          <p:cNvSpPr/>
          <p:nvPr/>
        </p:nvSpPr>
        <p:spPr>
          <a:xfrm>
            <a:off x="762000" y="973511"/>
            <a:ext cx="7806892" cy="643218"/>
          </a:xfrm>
          <a:prstGeom prst="rect">
            <a:avLst/>
          </a:prstGeom>
          <a:noFill/>
          <a:ln/>
        </p:spPr>
        <p:txBody>
          <a:bodyPr wrap="square" lIns="25400" tIns="25400" rIns="25400" bIns="25400" rtlCol="0" anchor="t">
            <a:normAutofit/>
          </a:bodyPr>
          <a:lstStyle/>
          <a:p>
            <a:pPr algn="l" indent="0" marL="0">
              <a:buNone/>
            </a:pPr>
            <a:r>
              <a:rPr lang="en-US" sz="4050" b="1" spc="-61" kern="0" dirty="0">
                <a:solidFill>
                  <a:srgbClr val="0D2E22"/>
                </a:solidFill>
                <a:latin typeface="Public Sans" pitchFamily="34" charset="0"/>
                <a:ea typeface="Public Sans" pitchFamily="34" charset="-122"/>
                <a:cs typeface="Public Sans" pitchFamily="34" charset="-120"/>
              </a:rPr>
              <a:t>What you have asked us so far</a:t>
            </a:r>
            <a:endParaRPr lang="en-US" sz="4050" dirty="0"/>
          </a:p>
        </p:txBody>
      </p:sp>
      <p:sp>
        <p:nvSpPr>
          <p:cNvPr id="4" name="Shape 2"/>
          <p:cNvSpPr/>
          <p:nvPr/>
        </p:nvSpPr>
        <p:spPr>
          <a:xfrm>
            <a:off x="12893418" y="1100278"/>
            <a:ext cx="4632581" cy="478351"/>
          </a:xfrm>
          <a:prstGeom prst="roundRect">
            <a:avLst>
              <a:gd name="adj" fmla="val 50000"/>
            </a:avLst>
          </a:prstGeom>
          <a:solidFill>
            <a:srgbClr val="FFFFFF"/>
          </a:solidFill>
          <a:ln w="11206">
            <a:solidFill>
              <a:srgbClr val="DBE2EA"/>
            </a:solidFill>
            <a:prstDash val="solid"/>
          </a:ln>
        </p:spPr>
      </p:sp>
      <p:sp>
        <p:nvSpPr>
          <p:cNvPr id="5" name="Text 3"/>
          <p:cNvSpPr/>
          <p:nvPr/>
        </p:nvSpPr>
        <p:spPr>
          <a:xfrm>
            <a:off x="13095124" y="1216258"/>
            <a:ext cx="4368147" cy="284489"/>
          </a:xfrm>
          <a:prstGeom prst="rect">
            <a:avLst/>
          </a:prstGeom>
          <a:noFill/>
          <a:ln/>
        </p:spPr>
        <p:txBody>
          <a:bodyPr wrap="none" lIns="25400" tIns="25400" rIns="25400" bIns="25400" rtlCol="0" anchor="t">
            <a:normAutofit/>
          </a:bodyPr>
          <a:lstStyle/>
          <a:p>
            <a:pPr algn="l" indent="0" marL="0">
              <a:buNone/>
            </a:pPr>
            <a:r>
              <a:rPr lang="en-US" sz="1500" b="1" dirty="0">
                <a:solidFill>
                  <a:srgbClr val="5B6675"/>
                </a:solidFill>
                <a:latin typeface="IBM Plex Mono" pitchFamily="34" charset="0"/>
                <a:ea typeface="IBM Plex Mono" pitchFamily="34" charset="-122"/>
                <a:cs typeface="IBM Plex Mono" pitchFamily="34" charset="-120"/>
              </a:rPr>
              <a:t>Short answers, longer ones on request</a:t>
            </a:r>
            <a:endParaRPr lang="en-US" sz="1500" dirty="0"/>
          </a:p>
        </p:txBody>
      </p:sp>
      <p:sp>
        <p:nvSpPr>
          <p:cNvPr id="6" name="Shape 4"/>
          <p:cNvSpPr/>
          <p:nvPr/>
        </p:nvSpPr>
        <p:spPr>
          <a:xfrm rot="-83999">
            <a:off x="822911" y="1903883"/>
            <a:ext cx="3124198" cy="5543547"/>
          </a:xfrm>
          <a:prstGeom prst="roundRect">
            <a:avLst>
              <a:gd name="adj" fmla="val 1829"/>
            </a:avLst>
          </a:prstGeom>
          <a:solidFill>
            <a:srgbClr val="FDF6EA"/>
          </a:solidFill>
          <a:ln/>
          <a:effectLst>
            <a:outerShdw sx="100000" sy="100000" kx="0" ky="0" algn="bl" rotWithShape="0" blurRad="228600" dist="95250" dir="5400000">
              <a:srgbClr val="3C2D14">
                <a:alpha val="12000"/>
              </a:srgbClr>
            </a:outerShdw>
          </a:effectLst>
        </p:spPr>
      </p:sp>
      <p:sp>
        <p:nvSpPr>
          <p:cNvPr id="7" name="Text 5"/>
          <p:cNvSpPr/>
          <p:nvPr/>
        </p:nvSpPr>
        <p:spPr>
          <a:xfrm>
            <a:off x="986261" y="2118033"/>
            <a:ext cx="2770095" cy="730795"/>
          </a:xfrm>
          <a:prstGeom prst="rect">
            <a:avLst/>
          </a:prstGeom>
          <a:noFill/>
          <a:ln/>
        </p:spPr>
        <p:txBody>
          <a:bodyPr wrap="square" lIns="25400" tIns="25400" rIns="25400" bIns="25400" rtlCol="0" anchor="t">
            <a:normAutofit/>
          </a:bodyPr>
          <a:lstStyle/>
          <a:p>
            <a:pPr algn="l" indent="0" marL="0">
              <a:lnSpc>
                <a:spcPct val="106250"/>
              </a:lnSpc>
              <a:buNone/>
            </a:pPr>
            <a:r>
              <a:rPr lang="en-US" sz="2025" b="1" dirty="0">
                <a:solidFill>
                  <a:srgbClr val="3A2A10"/>
                </a:solidFill>
                <a:latin typeface="Public Sans" pitchFamily="34" charset="0"/>
                <a:ea typeface="Public Sans" pitchFamily="34" charset="-122"/>
                <a:cs typeface="Public Sans" pitchFamily="34" charset="-120"/>
              </a:rPr>
              <a:t>“Why not just use Bookings?”</a:t>
            </a:r>
            <a:endParaRPr lang="en-US" sz="2025" dirty="0"/>
          </a:p>
        </p:txBody>
      </p:sp>
      <p:sp>
        <p:nvSpPr>
          <p:cNvPr id="8" name="Shape 6"/>
          <p:cNvSpPr/>
          <p:nvPr/>
        </p:nvSpPr>
        <p:spPr>
          <a:xfrm>
            <a:off x="1004849" y="2933696"/>
            <a:ext cx="419567" cy="38768"/>
          </a:xfrm>
          <a:prstGeom prst="roundRect">
            <a:avLst>
              <a:gd name="adj" fmla="val 50001"/>
            </a:avLst>
          </a:prstGeom>
          <a:solidFill>
            <a:srgbClr val="C8A45C"/>
          </a:solidFill>
          <a:ln/>
        </p:spPr>
      </p:sp>
      <p:sp>
        <p:nvSpPr>
          <p:cNvPr id="9" name="Text 7"/>
          <p:cNvSpPr/>
          <p:nvPr/>
        </p:nvSpPr>
        <p:spPr>
          <a:xfrm>
            <a:off x="1008802" y="3040317"/>
            <a:ext cx="2785887" cy="1358137"/>
          </a:xfrm>
          <a:prstGeom prst="rect">
            <a:avLst/>
          </a:prstGeom>
          <a:noFill/>
          <a:ln/>
        </p:spPr>
        <p:txBody>
          <a:bodyPr wrap="square" lIns="25400" tIns="25400" rIns="25400" bIns="25400" rtlCol="0" anchor="t">
            <a:normAutofit/>
          </a:bodyPr>
          <a:lstStyle/>
          <a:p>
            <a:pPr algn="l" indent="0" marL="0">
              <a:lnSpc>
                <a:spcPct val="127500"/>
              </a:lnSpc>
              <a:buNone/>
            </a:pPr>
            <a:r>
              <a:rPr lang="en-US" sz="1650" dirty="0">
                <a:solidFill>
                  <a:srgbClr val="584427"/>
                </a:solidFill>
                <a:latin typeface="Public Sans" pitchFamily="34" charset="0"/>
                <a:ea typeface="Public Sans" pitchFamily="34" charset="-122"/>
                <a:cs typeface="Public Sans" pitchFamily="34" charset="-120"/>
              </a:rPr>
              <a:t>It finds a slot. It cannot read the client relationship, hold three options, or bring the partner in.</a:t>
            </a:r>
            <a:endParaRPr lang="en-US" sz="1650" dirty="0"/>
          </a:p>
        </p:txBody>
      </p:sp>
      <p:sp>
        <p:nvSpPr>
          <p:cNvPr id="10" name="Shape 8"/>
          <p:cNvSpPr/>
          <p:nvPr/>
        </p:nvSpPr>
        <p:spPr>
          <a:xfrm rot="65998">
            <a:off x="4202366" y="1903877"/>
            <a:ext cx="3124201" cy="5543552"/>
          </a:xfrm>
          <a:prstGeom prst="roundRect">
            <a:avLst>
              <a:gd name="adj" fmla="val 1829"/>
            </a:avLst>
          </a:prstGeom>
          <a:solidFill>
            <a:srgbClr val="EDF1E0"/>
          </a:solidFill>
          <a:ln/>
          <a:effectLst>
            <a:outerShdw sx="100000" sy="100000" kx="0" ky="0" algn="bl" rotWithShape="0" blurRad="228600" dist="95250" dir="5400000">
              <a:srgbClr val="23371E">
                <a:alpha val="12000"/>
              </a:srgbClr>
            </a:outerShdw>
          </a:effectLst>
        </p:spPr>
      </p:sp>
      <p:sp>
        <p:nvSpPr>
          <p:cNvPr id="11" name="Text 9"/>
          <p:cNvSpPr/>
          <p:nvPr/>
        </p:nvSpPr>
        <p:spPr>
          <a:xfrm>
            <a:off x="4463714" y="2124742"/>
            <a:ext cx="2767026" cy="716864"/>
          </a:xfrm>
          <a:prstGeom prst="rect">
            <a:avLst/>
          </a:prstGeom>
          <a:noFill/>
          <a:ln/>
        </p:spPr>
        <p:txBody>
          <a:bodyPr wrap="square" lIns="25400" tIns="25400" rIns="25400" bIns="25400" rtlCol="0" anchor="t">
            <a:normAutofit/>
          </a:bodyPr>
          <a:lstStyle/>
          <a:p>
            <a:pPr algn="l" indent="0" marL="0">
              <a:lnSpc>
                <a:spcPct val="106250"/>
              </a:lnSpc>
              <a:buNone/>
            </a:pPr>
            <a:r>
              <a:rPr lang="en-US" sz="2025" b="1" dirty="0">
                <a:solidFill>
                  <a:srgbClr val="22331D"/>
                </a:solidFill>
                <a:latin typeface="Public Sans" pitchFamily="34" charset="0"/>
                <a:ea typeface="Public Sans" pitchFamily="34" charset="-122"/>
                <a:cs typeface="Public Sans" pitchFamily="34" charset="-120"/>
              </a:rPr>
              <a:t>“Another app to maintain?”</a:t>
            </a:r>
            <a:endParaRPr lang="en-US" sz="2025" dirty="0"/>
          </a:p>
        </p:txBody>
      </p:sp>
      <p:sp>
        <p:nvSpPr>
          <p:cNvPr id="12" name="Shape 10"/>
          <p:cNvSpPr/>
          <p:nvPr/>
        </p:nvSpPr>
        <p:spPr>
          <a:xfrm>
            <a:off x="4460608" y="2885376"/>
            <a:ext cx="419465" cy="36578"/>
          </a:xfrm>
          <a:prstGeom prst="roundRect">
            <a:avLst>
              <a:gd name="adj" fmla="val 50000"/>
            </a:avLst>
          </a:prstGeom>
          <a:solidFill>
            <a:srgbClr val="7D9455"/>
          </a:solidFill>
          <a:ln/>
        </p:spPr>
      </p:sp>
      <p:sp>
        <p:nvSpPr>
          <p:cNvPr id="13" name="Text 11"/>
          <p:cNvSpPr/>
          <p:nvPr/>
        </p:nvSpPr>
        <p:spPr>
          <a:xfrm>
            <a:off x="4433956" y="3047131"/>
            <a:ext cx="2779434" cy="1344278"/>
          </a:xfrm>
          <a:prstGeom prst="rect">
            <a:avLst/>
          </a:prstGeom>
          <a:noFill/>
          <a:ln/>
        </p:spPr>
        <p:txBody>
          <a:bodyPr wrap="square" lIns="25400" tIns="25400" rIns="25400" bIns="25400" rtlCol="0" anchor="t">
            <a:normAutofit/>
          </a:bodyPr>
          <a:lstStyle/>
          <a:p>
            <a:pPr algn="l" indent="0" marL="0">
              <a:lnSpc>
                <a:spcPct val="127500"/>
              </a:lnSpc>
              <a:buNone/>
            </a:pPr>
            <a:r>
              <a:rPr lang="en-US" sz="1650" dirty="0">
                <a:solidFill>
                  <a:srgbClr val="3F5233"/>
                </a:solidFill>
                <a:latin typeface="Public Sans" pitchFamily="34" charset="0"/>
                <a:ea typeface="Public Sans" pitchFamily="34" charset="-122"/>
                <a:cs typeface="Public Sans" pitchFamily="34" charset="-120"/>
              </a:rPr>
              <a:t>Same tenancy, same pipeline, same support model as our other Power Platform apps.</a:t>
            </a:r>
            <a:endParaRPr lang="en-US" sz="1650" dirty="0"/>
          </a:p>
        </p:txBody>
      </p:sp>
      <p:sp>
        <p:nvSpPr>
          <p:cNvPr id="14" name="Shape 12"/>
          <p:cNvSpPr/>
          <p:nvPr/>
        </p:nvSpPr>
        <p:spPr>
          <a:xfrm rot="-47999">
            <a:off x="7581809" y="1903879"/>
            <a:ext cx="3124201" cy="5543553"/>
          </a:xfrm>
          <a:prstGeom prst="roundRect">
            <a:avLst>
              <a:gd name="adj" fmla="val 1829"/>
            </a:avLst>
          </a:prstGeom>
          <a:solidFill>
            <a:srgbClr val="F3E9F3"/>
          </a:solidFill>
          <a:ln/>
          <a:effectLst>
            <a:outerShdw sx="100000" sy="100000" kx="0" ky="0" algn="bl" rotWithShape="0" blurRad="228600" dist="95250" dir="5400000">
              <a:srgbClr val="3C193C">
                <a:alpha val="12000"/>
              </a:srgbClr>
            </a:outerShdw>
          </a:effectLst>
        </p:spPr>
      </p:sp>
      <p:sp>
        <p:nvSpPr>
          <p:cNvPr id="15" name="Text 13"/>
          <p:cNvSpPr/>
          <p:nvPr/>
        </p:nvSpPr>
        <p:spPr>
          <a:xfrm>
            <a:off x="7771336" y="2131527"/>
            <a:ext cx="2763881" cy="702915"/>
          </a:xfrm>
          <a:prstGeom prst="rect">
            <a:avLst/>
          </a:prstGeom>
          <a:noFill/>
          <a:ln/>
        </p:spPr>
        <p:txBody>
          <a:bodyPr wrap="square" lIns="25400" tIns="25400" rIns="25400" bIns="25400" rtlCol="0" anchor="t">
            <a:normAutofit/>
          </a:bodyPr>
          <a:lstStyle/>
          <a:p>
            <a:pPr algn="l" indent="0" marL="0">
              <a:lnSpc>
                <a:spcPct val="106250"/>
              </a:lnSpc>
              <a:buNone/>
            </a:pPr>
            <a:r>
              <a:rPr lang="en-US" sz="2025" b="1" dirty="0">
                <a:solidFill>
                  <a:srgbClr val="3D143D"/>
                </a:solidFill>
                <a:latin typeface="Public Sans" pitchFamily="34" charset="0"/>
                <a:ea typeface="Public Sans" pitchFamily="34" charset="-122"/>
                <a:cs typeface="Public Sans" pitchFamily="34" charset="-120"/>
              </a:rPr>
              <a:t>“Does the AI decide anything?”</a:t>
            </a:r>
            <a:endParaRPr lang="en-US" sz="2025" dirty="0"/>
          </a:p>
        </p:txBody>
      </p:sp>
      <p:sp>
        <p:nvSpPr>
          <p:cNvPr id="16" name="Shape 14"/>
          <p:cNvSpPr/>
          <p:nvPr/>
        </p:nvSpPr>
        <p:spPr>
          <a:xfrm>
            <a:off x="7781958" y="2923724"/>
            <a:ext cx="419353" cy="34387"/>
          </a:xfrm>
          <a:prstGeom prst="roundRect">
            <a:avLst>
              <a:gd name="adj" fmla="val 50001"/>
            </a:avLst>
          </a:prstGeom>
          <a:solidFill>
            <a:srgbClr val="9C4C9C"/>
          </a:solidFill>
          <a:ln/>
        </p:spPr>
      </p:sp>
      <p:sp>
        <p:nvSpPr>
          <p:cNvPr id="17" name="Text 15"/>
          <p:cNvSpPr/>
          <p:nvPr/>
        </p:nvSpPr>
        <p:spPr>
          <a:xfrm>
            <a:off x="7784217" y="3053997"/>
            <a:ext cx="2772905" cy="1330384"/>
          </a:xfrm>
          <a:prstGeom prst="rect">
            <a:avLst/>
          </a:prstGeom>
          <a:noFill/>
          <a:ln/>
        </p:spPr>
        <p:txBody>
          <a:bodyPr wrap="square" lIns="25400" tIns="25400" rIns="25400" bIns="25400" rtlCol="0" anchor="t">
            <a:normAutofit/>
          </a:bodyPr>
          <a:lstStyle/>
          <a:p>
            <a:pPr algn="l" indent="0" marL="0">
              <a:lnSpc>
                <a:spcPct val="127500"/>
              </a:lnSpc>
              <a:buNone/>
            </a:pPr>
            <a:r>
              <a:rPr lang="en-US" sz="1650" dirty="0">
                <a:solidFill>
                  <a:srgbClr val="5B2A5B"/>
                </a:solidFill>
                <a:latin typeface="Public Sans" pitchFamily="34" charset="0"/>
                <a:ea typeface="Public Sans" pitchFamily="34" charset="-122"/>
                <a:cs typeface="Public Sans" pitchFamily="34" charset="-120"/>
              </a:rPr>
              <a:t>No. It reads the email and drafts the words. The RM approves every time and every send.</a:t>
            </a:r>
            <a:endParaRPr lang="en-US" sz="1650" dirty="0"/>
          </a:p>
        </p:txBody>
      </p:sp>
      <p:sp>
        <p:nvSpPr>
          <p:cNvPr id="18" name="Shape 16"/>
          <p:cNvSpPr/>
          <p:nvPr/>
        </p:nvSpPr>
        <p:spPr>
          <a:xfrm rot="96001">
            <a:off x="10961266" y="1903877"/>
            <a:ext cx="3124200" cy="5543549"/>
          </a:xfrm>
          <a:prstGeom prst="roundRect">
            <a:avLst>
              <a:gd name="adj" fmla="val 1829"/>
            </a:avLst>
          </a:prstGeom>
          <a:solidFill>
            <a:srgbClr val="E6F4F2"/>
          </a:solidFill>
          <a:ln/>
          <a:effectLst>
            <a:outerShdw sx="100000" sy="100000" kx="0" ky="0" algn="bl" rotWithShape="0" blurRad="228600" dist="95250" dir="5400000">
              <a:srgbClr val="0A3732">
                <a:alpha val="12000"/>
              </a:srgbClr>
            </a:outerShdw>
          </a:effectLst>
        </p:spPr>
      </p:sp>
      <p:sp>
        <p:nvSpPr>
          <p:cNvPr id="19" name="Text 17"/>
          <p:cNvSpPr/>
          <p:nvPr/>
        </p:nvSpPr>
        <p:spPr>
          <a:xfrm>
            <a:off x="11239448" y="2113592"/>
            <a:ext cx="2772099" cy="740072"/>
          </a:xfrm>
          <a:prstGeom prst="rect">
            <a:avLst/>
          </a:prstGeom>
          <a:noFill/>
          <a:ln/>
        </p:spPr>
        <p:txBody>
          <a:bodyPr wrap="square" lIns="25400" tIns="25400" rIns="25400" bIns="25400" rtlCol="0" anchor="t">
            <a:normAutofit/>
          </a:bodyPr>
          <a:lstStyle/>
          <a:p>
            <a:pPr algn="l" indent="0" marL="0">
              <a:lnSpc>
                <a:spcPct val="106250"/>
              </a:lnSpc>
              <a:buNone/>
            </a:pPr>
            <a:r>
              <a:rPr lang="en-US" sz="2025" b="1" dirty="0">
                <a:solidFill>
                  <a:srgbClr val="0A3C38"/>
                </a:solidFill>
                <a:latin typeface="Public Sans" pitchFamily="34" charset="0"/>
                <a:ea typeface="Public Sans" pitchFamily="34" charset="-122"/>
                <a:cs typeface="Public Sans" pitchFamily="34" charset="-120"/>
              </a:rPr>
              <a:t>“What about the assistants?”</a:t>
            </a:r>
            <a:endParaRPr lang="en-US" sz="2025" dirty="0"/>
          </a:p>
        </p:txBody>
      </p:sp>
      <p:sp>
        <p:nvSpPr>
          <p:cNvPr id="20" name="Shape 18"/>
          <p:cNvSpPr/>
          <p:nvPr/>
        </p:nvSpPr>
        <p:spPr>
          <a:xfrm>
            <a:off x="11234931" y="2874070"/>
            <a:ext cx="419628" cy="40228"/>
          </a:xfrm>
          <a:prstGeom prst="roundRect">
            <a:avLst>
              <a:gd name="adj" fmla="val 50000"/>
            </a:avLst>
          </a:prstGeom>
          <a:solidFill>
            <a:srgbClr val="0B7A75"/>
          </a:solidFill>
          <a:ln/>
        </p:spPr>
      </p:sp>
      <p:sp>
        <p:nvSpPr>
          <p:cNvPr id="21" name="Text 19"/>
          <p:cNvSpPr/>
          <p:nvPr/>
        </p:nvSpPr>
        <p:spPr>
          <a:xfrm>
            <a:off x="11196167" y="3035792"/>
            <a:ext cx="2790146" cy="1367356"/>
          </a:xfrm>
          <a:prstGeom prst="rect">
            <a:avLst/>
          </a:prstGeom>
          <a:noFill/>
          <a:ln/>
        </p:spPr>
        <p:txBody>
          <a:bodyPr wrap="square" lIns="25400" tIns="25400" rIns="25400" bIns="25400" rtlCol="0" anchor="t">
            <a:normAutofit/>
          </a:bodyPr>
          <a:lstStyle/>
          <a:p>
            <a:pPr algn="l" indent="0" marL="0">
              <a:lnSpc>
                <a:spcPct val="127500"/>
              </a:lnSpc>
              <a:buNone/>
            </a:pPr>
            <a:r>
              <a:rPr lang="en-US" sz="1650" dirty="0">
                <a:solidFill>
                  <a:srgbClr val="1D514D"/>
                </a:solidFill>
                <a:latin typeface="Public Sans" pitchFamily="34" charset="0"/>
                <a:ea typeface="Public Sans" pitchFamily="34" charset="-122"/>
                <a:cs typeface="Public Sans" pitchFamily="34" charset="-120"/>
              </a:rPr>
              <a:t>Lunches, intermediaries and complex meetings stay with them. The repetitive provisioning goes.</a:t>
            </a:r>
            <a:endParaRPr lang="en-US" sz="1650" dirty="0"/>
          </a:p>
        </p:txBody>
      </p:sp>
      <p:sp>
        <p:nvSpPr>
          <p:cNvPr id="22" name="Shape 20"/>
          <p:cNvSpPr/>
          <p:nvPr/>
        </p:nvSpPr>
        <p:spPr>
          <a:xfrm rot="-71999">
            <a:off x="14340705" y="1903880"/>
            <a:ext cx="3124201" cy="5543552"/>
          </a:xfrm>
          <a:prstGeom prst="roundRect">
            <a:avLst>
              <a:gd name="adj" fmla="val 1829"/>
            </a:avLst>
          </a:prstGeom>
          <a:solidFill>
            <a:srgbClr val="FBF1E3"/>
          </a:solidFill>
          <a:ln/>
          <a:effectLst>
            <a:outerShdw sx="100000" sy="100000" kx="0" ky="0" algn="bl" rotWithShape="0" blurRad="228600" dist="95250" dir="5400000">
              <a:srgbClr val="462D0A">
                <a:alpha val="12000"/>
              </a:srgbClr>
            </a:outerShdw>
          </a:effectLst>
        </p:spPr>
      </p:sp>
      <p:sp>
        <p:nvSpPr>
          <p:cNvPr id="23" name="Text 21"/>
          <p:cNvSpPr/>
          <p:nvPr/>
        </p:nvSpPr>
        <p:spPr>
          <a:xfrm>
            <a:off x="14512765" y="2122500"/>
            <a:ext cx="2768057" cy="721510"/>
          </a:xfrm>
          <a:prstGeom prst="rect">
            <a:avLst/>
          </a:prstGeom>
          <a:noFill/>
          <a:ln/>
        </p:spPr>
        <p:txBody>
          <a:bodyPr wrap="square" lIns="25400" tIns="25400" rIns="25400" bIns="25400" rtlCol="0" anchor="t">
            <a:normAutofit/>
          </a:bodyPr>
          <a:lstStyle/>
          <a:p>
            <a:pPr algn="l" indent="0" marL="0">
              <a:lnSpc>
                <a:spcPct val="106250"/>
              </a:lnSpc>
              <a:buNone/>
            </a:pPr>
            <a:r>
              <a:rPr lang="en-US" sz="2025" b="1" dirty="0">
                <a:solidFill>
                  <a:srgbClr val="5A3508"/>
                </a:solidFill>
                <a:latin typeface="Public Sans" pitchFamily="34" charset="0"/>
                <a:ea typeface="Public Sans" pitchFamily="34" charset="-122"/>
                <a:cs typeface="Public Sans" pitchFamily="34" charset="-120"/>
              </a:rPr>
              <a:t>“Why not wait for the roadmap?”</a:t>
            </a:r>
            <a:endParaRPr lang="en-US" sz="2025" dirty="0"/>
          </a:p>
        </p:txBody>
      </p:sp>
      <p:sp>
        <p:nvSpPr>
          <p:cNvPr id="24" name="Shape 22"/>
          <p:cNvSpPr/>
          <p:nvPr/>
        </p:nvSpPr>
        <p:spPr>
          <a:xfrm>
            <a:off x="14528698" y="2930351"/>
            <a:ext cx="419501" cy="37309"/>
          </a:xfrm>
          <a:prstGeom prst="roundRect">
            <a:avLst>
              <a:gd name="adj" fmla="val 49999"/>
            </a:avLst>
          </a:prstGeom>
          <a:solidFill>
            <a:srgbClr val="B4690E"/>
          </a:solidFill>
          <a:ln/>
        </p:spPr>
      </p:sp>
      <p:sp>
        <p:nvSpPr>
          <p:cNvPr id="25" name="Text 23"/>
          <p:cNvSpPr/>
          <p:nvPr/>
        </p:nvSpPr>
        <p:spPr>
          <a:xfrm>
            <a:off x="14532086" y="3044857"/>
            <a:ext cx="2781594" cy="1348902"/>
          </a:xfrm>
          <a:prstGeom prst="rect">
            <a:avLst/>
          </a:prstGeom>
          <a:noFill/>
          <a:ln/>
        </p:spPr>
        <p:txBody>
          <a:bodyPr wrap="square" lIns="25400" tIns="25400" rIns="25400" bIns="25400" rtlCol="0" anchor="t">
            <a:normAutofit/>
          </a:bodyPr>
          <a:lstStyle/>
          <a:p>
            <a:pPr algn="l" indent="0" marL="0">
              <a:lnSpc>
                <a:spcPct val="127500"/>
              </a:lnSpc>
              <a:buNone/>
            </a:pPr>
            <a:r>
              <a:rPr lang="en-US" sz="1650" dirty="0">
                <a:solidFill>
                  <a:srgbClr val="6D4413"/>
                </a:solidFill>
                <a:latin typeface="Public Sans" pitchFamily="34" charset="0"/>
                <a:ea typeface="Public Sans" pitchFamily="34" charset="-122"/>
                <a:cs typeface="Public Sans" pitchFamily="34" charset="-120"/>
              </a:rPr>
              <a:t>Nothing on it joins Dynamics, diaries and rooms into one RM view. That gap is ours to close.</a:t>
            </a:r>
            <a:endParaRPr lang="en-US" sz="1650" dirty="0"/>
          </a:p>
        </p:txBody>
      </p:sp>
      <p:sp>
        <p:nvSpPr>
          <p:cNvPr id="26" name="Shape 24"/>
          <p:cNvSpPr/>
          <p:nvPr/>
        </p:nvSpPr>
        <p:spPr>
          <a:xfrm>
            <a:off x="762000" y="7810850"/>
            <a:ext cx="16763999" cy="1980990"/>
          </a:xfrm>
          <a:prstGeom prst="roundRect">
            <a:avLst>
              <a:gd name="adj" fmla="val 7693"/>
            </a:avLst>
          </a:prstGeom>
          <a:solidFill>
            <a:srgbClr val="0D2E22"/>
          </a:solidFill>
          <a:ln/>
        </p:spPr>
      </p:sp>
      <p:sp>
        <p:nvSpPr>
          <p:cNvPr id="27" name="Text 25"/>
          <p:cNvSpPr/>
          <p:nvPr/>
        </p:nvSpPr>
        <p:spPr>
          <a:xfrm>
            <a:off x="1180995" y="8172765"/>
            <a:ext cx="11651210" cy="284629"/>
          </a:xfrm>
          <a:prstGeom prst="rect">
            <a:avLst/>
          </a:prstGeom>
          <a:noFill/>
          <a:ln/>
        </p:spPr>
        <p:txBody>
          <a:bodyPr wrap="square" lIns="25400" tIns="25400" rIns="25400" bIns="25400" rtlCol="0" anchor="t">
            <a:normAutofit/>
          </a:bodyPr>
          <a:lstStyle/>
          <a:p>
            <a:pPr algn="l" indent="0" marL="0">
              <a:buNone/>
            </a:pPr>
            <a:r>
              <a:rPr lang="en-US" sz="1500" b="1" spc="150" kern="0" dirty="0">
                <a:solidFill>
                  <a:srgbClr val="C8A45C"/>
                </a:solidFill>
                <a:latin typeface="IBM Plex Mono" pitchFamily="34" charset="0"/>
                <a:ea typeface="IBM Plex Mono" pitchFamily="34" charset="-122"/>
                <a:cs typeface="IBM Plex Mono" pitchFamily="34" charset="-120"/>
              </a:rPr>
              <a:t>WHAT WE ARE ASKING FOR TODAY</a:t>
            </a:r>
            <a:endParaRPr lang="en-US" sz="1500" dirty="0"/>
          </a:p>
        </p:txBody>
      </p:sp>
      <p:sp>
        <p:nvSpPr>
          <p:cNvPr id="28" name="Text 26"/>
          <p:cNvSpPr/>
          <p:nvPr/>
        </p:nvSpPr>
        <p:spPr>
          <a:xfrm>
            <a:off x="1180995" y="8533454"/>
            <a:ext cx="10909770" cy="934571"/>
          </a:xfrm>
          <a:prstGeom prst="rect">
            <a:avLst/>
          </a:prstGeom>
          <a:noFill/>
          <a:ln/>
        </p:spPr>
        <p:txBody>
          <a:bodyPr wrap="square" lIns="25400" tIns="25400" rIns="25400" bIns="25400" rtlCol="0" anchor="t">
            <a:normAutofit/>
          </a:bodyPr>
          <a:lstStyle/>
          <a:p>
            <a:pPr algn="l" indent="0" marL="0">
              <a:lnSpc>
                <a:spcPct val="106250"/>
              </a:lnSpc>
              <a:buNone/>
            </a:pPr>
            <a:r>
              <a:rPr lang="en-US" sz="2850" b="1" dirty="0">
                <a:solidFill>
                  <a:srgbClr val="EFF2E4"/>
                </a:solidFill>
                <a:latin typeface="Public Sans" pitchFamily="34" charset="0"/>
                <a:ea typeface="Public Sans" pitchFamily="34" charset="-122"/>
                <a:cs typeface="Public Sans" pitchFamily="34" charset="-120"/>
              </a:rPr>
              <a:t>Your endorsement of the direction — code app, Copilot Studio, this experience.</a:t>
            </a:r>
            <a:endParaRPr lang="en-US" sz="2850" dirty="0"/>
          </a:p>
        </p:txBody>
      </p:sp>
      <p:sp>
        <p:nvSpPr>
          <p:cNvPr id="29" name="Text 27"/>
          <p:cNvSpPr/>
          <p:nvPr/>
        </p:nvSpPr>
        <p:spPr>
          <a:xfrm>
            <a:off x="12154005" y="8297080"/>
            <a:ext cx="5101589" cy="1046629"/>
          </a:xfrm>
          <a:prstGeom prst="rect">
            <a:avLst/>
          </a:prstGeom>
          <a:noFill/>
          <a:ln/>
        </p:spPr>
        <p:txBody>
          <a:bodyPr wrap="square" lIns="25400" tIns="25400" rIns="25400" bIns="25400" rtlCol="0" anchor="t">
            <a:normAutofit/>
          </a:bodyPr>
          <a:lstStyle/>
          <a:p>
            <a:pPr algn="l" indent="0" marL="0">
              <a:lnSpc>
                <a:spcPct val="127500"/>
              </a:lnSpc>
              <a:buNone/>
            </a:pPr>
            <a:r>
              <a:rPr lang="en-US" sz="1800" dirty="0">
                <a:solidFill>
                  <a:srgbClr val="B9C9AC"/>
                </a:solidFill>
                <a:latin typeface="Public Sans" pitchFamily="34" charset="0"/>
                <a:ea typeface="Public Sans" pitchFamily="34" charset="-122"/>
                <a:cs typeface="Public Sans" pitchFamily="34" charset="-120"/>
              </a:rPr>
              <a:t>If you agree, we pilot with a few RMs, baseline the two numbers, and come back with what actually happened.</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2026-07-28T08:22:13Z</dcterms:created>
  <dcterms:modified xsi:type="dcterms:W3CDTF">2026-07-28T08:22:13Z</dcterms:modified>
</cp:coreProperties>
</file>